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37"/>
  </p:notesMasterIdLst>
  <p:sldIdLst>
    <p:sldId id="363" r:id="rId2"/>
    <p:sldId id="336" r:id="rId3"/>
    <p:sldId id="410" r:id="rId4"/>
    <p:sldId id="337" r:id="rId5"/>
    <p:sldId id="411" r:id="rId6"/>
    <p:sldId id="338" r:id="rId7"/>
    <p:sldId id="380" r:id="rId8"/>
    <p:sldId id="381" r:id="rId9"/>
    <p:sldId id="382" r:id="rId10"/>
    <p:sldId id="383" r:id="rId11"/>
    <p:sldId id="384" r:id="rId12"/>
    <p:sldId id="385" r:id="rId13"/>
    <p:sldId id="386" r:id="rId14"/>
    <p:sldId id="387" r:id="rId15"/>
    <p:sldId id="388" r:id="rId16"/>
    <p:sldId id="389" r:id="rId17"/>
    <p:sldId id="390" r:id="rId18"/>
    <p:sldId id="391" r:id="rId19"/>
    <p:sldId id="392" r:id="rId20"/>
    <p:sldId id="393" r:id="rId21"/>
    <p:sldId id="394" r:id="rId22"/>
    <p:sldId id="395" r:id="rId23"/>
    <p:sldId id="396" r:id="rId24"/>
    <p:sldId id="397" r:id="rId25"/>
    <p:sldId id="398" r:id="rId26"/>
    <p:sldId id="399" r:id="rId27"/>
    <p:sldId id="400" r:id="rId28"/>
    <p:sldId id="401" r:id="rId29"/>
    <p:sldId id="402" r:id="rId30"/>
    <p:sldId id="403" r:id="rId31"/>
    <p:sldId id="404" r:id="rId32"/>
    <p:sldId id="405" r:id="rId33"/>
    <p:sldId id="406" r:id="rId34"/>
    <p:sldId id="407" r:id="rId35"/>
    <p:sldId id="408" r:id="rId36"/>
  </p:sldIdLst>
  <p:sldSz cx="9144000" cy="6858000" type="screen4x3"/>
  <p:notesSz cx="6858000" cy="9144000"/>
  <p:defaultTextStyle>
    <a:defPPr>
      <a:defRPr lang="zh-CN"/>
    </a:defPPr>
    <a:lvl1pPr algn="l" rtl="0" fontAlgn="base">
      <a:spcBef>
        <a:spcPct val="0"/>
      </a:spcBef>
      <a:spcAft>
        <a:spcPct val="0"/>
      </a:spcAft>
      <a:defRPr kumimoji="1" sz="2800" kern="1200">
        <a:solidFill>
          <a:schemeClr val="tx2"/>
        </a:solidFill>
        <a:latin typeface="黑体" pitchFamily="2" charset="-122"/>
        <a:ea typeface="黑体" pitchFamily="2" charset="-122"/>
        <a:cs typeface="+mn-cs"/>
      </a:defRPr>
    </a:lvl1pPr>
    <a:lvl2pPr marL="457200" algn="l" rtl="0" fontAlgn="base">
      <a:spcBef>
        <a:spcPct val="0"/>
      </a:spcBef>
      <a:spcAft>
        <a:spcPct val="0"/>
      </a:spcAft>
      <a:defRPr kumimoji="1" sz="2800" kern="1200">
        <a:solidFill>
          <a:schemeClr val="tx2"/>
        </a:solidFill>
        <a:latin typeface="黑体" pitchFamily="2" charset="-122"/>
        <a:ea typeface="黑体" pitchFamily="2" charset="-122"/>
        <a:cs typeface="+mn-cs"/>
      </a:defRPr>
    </a:lvl2pPr>
    <a:lvl3pPr marL="914400" algn="l" rtl="0" fontAlgn="base">
      <a:spcBef>
        <a:spcPct val="0"/>
      </a:spcBef>
      <a:spcAft>
        <a:spcPct val="0"/>
      </a:spcAft>
      <a:defRPr kumimoji="1" sz="2800" kern="1200">
        <a:solidFill>
          <a:schemeClr val="tx2"/>
        </a:solidFill>
        <a:latin typeface="黑体" pitchFamily="2" charset="-122"/>
        <a:ea typeface="黑体" pitchFamily="2" charset="-122"/>
        <a:cs typeface="+mn-cs"/>
      </a:defRPr>
    </a:lvl3pPr>
    <a:lvl4pPr marL="1371600" algn="l" rtl="0" fontAlgn="base">
      <a:spcBef>
        <a:spcPct val="0"/>
      </a:spcBef>
      <a:spcAft>
        <a:spcPct val="0"/>
      </a:spcAft>
      <a:defRPr kumimoji="1" sz="2800" kern="1200">
        <a:solidFill>
          <a:schemeClr val="tx2"/>
        </a:solidFill>
        <a:latin typeface="黑体" pitchFamily="2" charset="-122"/>
        <a:ea typeface="黑体" pitchFamily="2" charset="-122"/>
        <a:cs typeface="+mn-cs"/>
      </a:defRPr>
    </a:lvl4pPr>
    <a:lvl5pPr marL="1828800" algn="l" rtl="0" fontAlgn="base">
      <a:spcBef>
        <a:spcPct val="0"/>
      </a:spcBef>
      <a:spcAft>
        <a:spcPct val="0"/>
      </a:spcAft>
      <a:defRPr kumimoji="1" sz="2800" kern="1200">
        <a:solidFill>
          <a:schemeClr val="tx2"/>
        </a:solidFill>
        <a:latin typeface="黑体" pitchFamily="2" charset="-122"/>
        <a:ea typeface="黑体" pitchFamily="2" charset="-122"/>
        <a:cs typeface="+mn-cs"/>
      </a:defRPr>
    </a:lvl5pPr>
    <a:lvl6pPr marL="2286000" algn="l" defTabSz="914400" rtl="0" eaLnBrk="1" latinLnBrk="0" hangingPunct="1">
      <a:defRPr kumimoji="1" sz="2800" kern="1200">
        <a:solidFill>
          <a:schemeClr val="tx2"/>
        </a:solidFill>
        <a:latin typeface="黑体" pitchFamily="2" charset="-122"/>
        <a:ea typeface="黑体" pitchFamily="2" charset="-122"/>
        <a:cs typeface="+mn-cs"/>
      </a:defRPr>
    </a:lvl6pPr>
    <a:lvl7pPr marL="2743200" algn="l" defTabSz="914400" rtl="0" eaLnBrk="1" latinLnBrk="0" hangingPunct="1">
      <a:defRPr kumimoji="1" sz="2800" kern="1200">
        <a:solidFill>
          <a:schemeClr val="tx2"/>
        </a:solidFill>
        <a:latin typeface="黑体" pitchFamily="2" charset="-122"/>
        <a:ea typeface="黑体" pitchFamily="2" charset="-122"/>
        <a:cs typeface="+mn-cs"/>
      </a:defRPr>
    </a:lvl7pPr>
    <a:lvl8pPr marL="3200400" algn="l" defTabSz="914400" rtl="0" eaLnBrk="1" latinLnBrk="0" hangingPunct="1">
      <a:defRPr kumimoji="1" sz="2800" kern="1200">
        <a:solidFill>
          <a:schemeClr val="tx2"/>
        </a:solidFill>
        <a:latin typeface="黑体" pitchFamily="2" charset="-122"/>
        <a:ea typeface="黑体" pitchFamily="2" charset="-122"/>
        <a:cs typeface="+mn-cs"/>
      </a:defRPr>
    </a:lvl8pPr>
    <a:lvl9pPr marL="3657600" algn="l" defTabSz="914400" rtl="0" eaLnBrk="1" latinLnBrk="0" hangingPunct="1">
      <a:defRPr kumimoji="1" sz="2800" kern="1200">
        <a:solidFill>
          <a:schemeClr val="tx2"/>
        </a:solidFill>
        <a:latin typeface="黑体" pitchFamily="2" charset="-122"/>
        <a:ea typeface="黑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84D08"/>
    <a:srgbClr val="0099FF"/>
    <a:srgbClr val="CC0066"/>
    <a:srgbClr val="CC3300"/>
    <a:srgbClr val="660066"/>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95" autoAdjust="0"/>
    <p:restoredTop sz="86496" autoAdjust="0"/>
  </p:normalViewPr>
  <p:slideViewPr>
    <p:cSldViewPr>
      <p:cViewPr>
        <p:scale>
          <a:sx n="60" d="100"/>
          <a:sy n="60" d="100"/>
        </p:scale>
        <p:origin x="-2280" y="-7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37" d="100"/>
          <a:sy n="37" d="100"/>
        </p:scale>
        <p:origin x="-147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image" Target="../media/image12.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image" Target="../media/image1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defRPr sz="1200">
                <a:solidFill>
                  <a:schemeClr val="tx1"/>
                </a:solidFill>
                <a:latin typeface="Tahoma" pitchFamily="34" charset="0"/>
                <a:ea typeface="宋体" pitchFamily="2" charset="-122"/>
              </a:defRPr>
            </a:lvl1pPr>
          </a:lstStyle>
          <a:p>
            <a:pPr>
              <a:defRPr/>
            </a:pPr>
            <a:endParaRPr lang="en-US" altLang="zh-CN"/>
          </a:p>
        </p:txBody>
      </p:sp>
      <p:sp>
        <p:nvSpPr>
          <p:cNvPr id="542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r">
              <a:defRPr sz="1200">
                <a:solidFill>
                  <a:schemeClr val="tx1"/>
                </a:solidFill>
                <a:latin typeface="Tahoma" pitchFamily="34" charset="0"/>
                <a:ea typeface="宋体" pitchFamily="2" charset="-122"/>
              </a:defRPr>
            </a:lvl1pPr>
          </a:lstStyle>
          <a:p>
            <a:pPr>
              <a:defRPr/>
            </a:pPr>
            <a:endParaRPr lang="en-US" altLang="zh-CN"/>
          </a:p>
        </p:txBody>
      </p:sp>
      <p:sp>
        <p:nvSpPr>
          <p:cNvPr id="276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42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defRPr sz="1200">
                <a:solidFill>
                  <a:schemeClr val="tx1"/>
                </a:solidFill>
                <a:latin typeface="Tahoma" pitchFamily="34" charset="0"/>
                <a:ea typeface="宋体" pitchFamily="2" charset="-122"/>
              </a:defRPr>
            </a:lvl1pPr>
          </a:lstStyle>
          <a:p>
            <a:pPr>
              <a:defRPr/>
            </a:pPr>
            <a:endParaRPr lang="en-US" altLang="zh-CN"/>
          </a:p>
        </p:txBody>
      </p:sp>
      <p:sp>
        <p:nvSpPr>
          <p:cNvPr id="542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a:solidFill>
                  <a:schemeClr val="tx1"/>
                </a:solidFill>
                <a:latin typeface="Tahoma" pitchFamily="34" charset="0"/>
                <a:ea typeface="宋体" pitchFamily="2" charset="-122"/>
              </a:defRPr>
            </a:lvl1pPr>
          </a:lstStyle>
          <a:p>
            <a:pPr>
              <a:defRPr/>
            </a:pPr>
            <a:fld id="{42049318-C3A6-4E21-9DBC-E2BCEAA90960}" type="slidenum">
              <a:rPr lang="en-US" altLang="zh-CN"/>
              <a:pPr>
                <a:defRPr/>
              </a:pPr>
              <a:t>‹#›</a:t>
            </a:fld>
            <a:endParaRPr lang="en-US" altLang="zh-CN"/>
          </a:p>
        </p:txBody>
      </p:sp>
    </p:spTree>
    <p:extLst>
      <p:ext uri="{BB962C8B-B14F-4D97-AF65-F5344CB8AC3E}">
        <p14:creationId xmlns:p14="http://schemas.microsoft.com/office/powerpoint/2010/main" val="25854579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C4E7BF8-815E-432E-97E6-131D1B0B78D8}"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53533C2-60E6-4266-9BD9-FD048B064E0C}" type="slidenum">
              <a:rPr lang="en-US" altLang="zh-CN"/>
              <a:pPr>
                <a:defRPr/>
              </a:pPr>
              <a:t>‹#›</a:t>
            </a:fld>
            <a:endParaRPr lang="en-US" altLang="zh-CN"/>
          </a:p>
        </p:txBody>
      </p:sp>
      <p:pic>
        <p:nvPicPr>
          <p:cNvPr id="7" name="Picture 12" descr="xh"/>
          <p:cNvPicPr>
            <a:picLocks noChangeAspect="1" noChangeArrowheads="1"/>
          </p:cNvPicPr>
          <p:nvPr userDrawn="1"/>
        </p:nvPicPr>
        <p:blipFill>
          <a:blip r:embed="rId2">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8" name="Picture 9" descr="buaa2"/>
          <p:cNvPicPr>
            <a:picLocks noChangeAspect="1" noChangeArrowheads="1"/>
          </p:cNvPicPr>
          <p:nvPr userDrawn="1"/>
        </p:nvPicPr>
        <p:blipFill>
          <a:blip r:embed="rId3">
            <a:lum bright="48000"/>
          </a:blip>
          <a:srcRect/>
          <a:stretch>
            <a:fillRect/>
          </a:stretch>
        </p:blipFill>
        <p:spPr bwMode="auto">
          <a:xfrm>
            <a:off x="1000125" y="285750"/>
            <a:ext cx="2560638" cy="360363"/>
          </a:xfrm>
          <a:prstGeom prst="rect">
            <a:avLst/>
          </a:prstGeom>
          <a:noFill/>
          <a:ln w="9525">
            <a:noFill/>
            <a:miter lim="800000"/>
            <a:headEnd/>
            <a:tailEnd/>
          </a:ln>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53C85CF6-7A98-4199-AEA6-6309CE72A298}"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920E716-B79A-4DA4-8B02-1C816EB51F8B}"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ED7A0563-8B27-4A55-9D33-B237E42AF7DF}"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en-US" altLang="zh-CN"/>
          </a:p>
        </p:txBody>
      </p:sp>
      <p:sp>
        <p:nvSpPr>
          <p:cNvPr id="8" name="页脚占位符 4"/>
          <p:cNvSpPr>
            <a:spLocks noGrp="1"/>
          </p:cNvSpPr>
          <p:nvPr>
            <p:ph type="ftr" sz="quarter" idx="11"/>
          </p:nvPr>
        </p:nvSpPr>
        <p:spPr/>
        <p:txBody>
          <a:bodyPr/>
          <a:lstStyle>
            <a:lvl1pPr>
              <a:defRPr/>
            </a:lvl1pPr>
          </a:lstStyle>
          <a:p>
            <a:pPr>
              <a:defRPr/>
            </a:pP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4CE58033-C211-43F7-86E5-2C9F51C2E8D0}" type="slidenum">
              <a:rPr lang="en-US" altLang="zh-CN"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2D946443-82F9-4ACF-89A7-95BD02D3DF19}" type="slidenum">
              <a:rPr lang="en-US" altLang="zh-CN"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ltLang="zh-CN"/>
          </a:p>
        </p:txBody>
      </p:sp>
      <p:sp>
        <p:nvSpPr>
          <p:cNvPr id="3" name="页脚占位符 4"/>
          <p:cNvSpPr>
            <a:spLocks noGrp="1"/>
          </p:cNvSpPr>
          <p:nvPr>
            <p:ph type="ftr" sz="quarter" idx="11"/>
          </p:nvPr>
        </p:nvSpPr>
        <p:spPr/>
        <p:txBody>
          <a:bodyPr/>
          <a:lstStyle>
            <a:lvl1pPr>
              <a:defRPr/>
            </a:lvl1pPr>
          </a:lstStyle>
          <a:p>
            <a:pPr>
              <a:defRPr/>
            </a:pP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1EB6DC2D-38D7-4BC5-9149-FD58D523C2F2}" type="slidenum">
              <a:rPr lang="en-US" altLang="zh-CN" smtClean="0"/>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48C70892-4E4D-4B72-891B-A561DC57BFBE}" type="slidenum">
              <a:rPr lang="en-US" altLang="zh-CN" smtClean="0"/>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F0BF41E9-125D-49FD-9E96-ADCF9DBC32A5}" type="slidenum">
              <a:rPr lang="en-US" altLang="zh-CN"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1BC8169B-CEED-4181-8B1F-84352171E54C}" type="slidenum">
              <a:rPr lang="en-US" altLang="zh-CN" smtClean="0"/>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42C44A08-038E-4E03-B25B-66737764DED3}" type="slidenum">
              <a:rPr lang="en-US" altLang="zh-CN"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5E9EFF"/>
            </a:gs>
            <a:gs pos="999">
              <a:srgbClr val="5E9EFF"/>
            </a:gs>
            <a:gs pos="39999">
              <a:srgbClr val="85C2FF"/>
            </a:gs>
            <a:gs pos="70000">
              <a:srgbClr val="C4D6EB"/>
            </a:gs>
            <a:gs pos="100000">
              <a:srgbClr val="FFEBFA"/>
            </a:gs>
          </a:gsLst>
          <a:lin ang="5400000"/>
        </a:gradFill>
        <a:effectLst/>
      </p:bgPr>
    </p:bg>
    <p:spTree>
      <p:nvGrpSpPr>
        <p:cNvPr id="1" name=""/>
        <p:cNvGrpSpPr/>
        <p:nvPr/>
      </p:nvGrpSpPr>
      <p:grpSpPr>
        <a:xfrm>
          <a:off x="0" y="0"/>
          <a:ext cx="0" cy="0"/>
          <a:chOff x="0" y="0"/>
          <a:chExt cx="0" cy="0"/>
        </a:xfrm>
      </p:grpSpPr>
      <p:sp>
        <p:nvSpPr>
          <p:cNvPr id="37890"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7891"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itchFamily="2" charset="-122"/>
              </a:defRPr>
            </a:lvl1pPr>
          </a:lstStyle>
          <a:p>
            <a:pPr>
              <a:defRPr/>
            </a:pPr>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itchFamily="2" charset="-122"/>
              </a:defRPr>
            </a:lvl1pPr>
          </a:lstStyle>
          <a:p>
            <a:pPr>
              <a:defRPr/>
            </a:pP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ea typeface="宋体" pitchFamily="2" charset="-122"/>
              </a:defRPr>
            </a:lvl1pPr>
          </a:lstStyle>
          <a:p>
            <a:pPr>
              <a:defRPr/>
            </a:pPr>
            <a:fld id="{53C85CF6-7A98-4199-AEA6-6309CE72A298}" type="slidenum">
              <a:rPr lang="en-US" altLang="zh-CN" smtClean="0"/>
              <a:pPr>
                <a:defRPr/>
              </a:pPr>
              <a:t>‹#›</a:t>
            </a:fld>
            <a:endParaRPr lang="en-US" altLang="zh-CN"/>
          </a:p>
        </p:txBody>
      </p:sp>
      <p:pic>
        <p:nvPicPr>
          <p:cNvPr id="37895" name="Picture 12" descr="xh"/>
          <p:cNvPicPr>
            <a:picLocks noChangeAspect="1" noChangeArrowheads="1"/>
          </p:cNvPicPr>
          <p:nvPr/>
        </p:nvPicPr>
        <p:blipFill>
          <a:blip r:embed="rId14">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37896" name="Picture 9" descr="buaa2"/>
          <p:cNvPicPr>
            <a:picLocks noChangeAspect="1" noChangeArrowheads="1"/>
          </p:cNvPicPr>
          <p:nvPr/>
        </p:nvPicPr>
        <p:blipFill>
          <a:blip r:embed="rId15">
            <a:lum bright="48000"/>
          </a:blip>
          <a:srcRect/>
          <a:stretch>
            <a:fillRect/>
          </a:stretch>
        </p:blipFill>
        <p:spPr bwMode="auto">
          <a:xfrm>
            <a:off x="1000125" y="285750"/>
            <a:ext cx="2560638" cy="360363"/>
          </a:xfrm>
          <a:prstGeom prst="rect">
            <a:avLst/>
          </a:prstGeom>
          <a:noFill/>
          <a:ln w="9525">
            <a:noFill/>
            <a:miter lim="800000"/>
            <a:headEnd/>
            <a:tailEnd/>
          </a:ln>
        </p:spPr>
      </p:pic>
      <p:pic>
        <p:nvPicPr>
          <p:cNvPr id="9" name="Picture 12" descr="xh"/>
          <p:cNvPicPr>
            <a:picLocks noChangeAspect="1" noChangeArrowheads="1"/>
          </p:cNvPicPr>
          <p:nvPr userDrawn="1"/>
        </p:nvPicPr>
        <p:blipFill>
          <a:blip r:embed="rId14">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10" name="Picture 9" descr="buaa2"/>
          <p:cNvPicPr>
            <a:picLocks noChangeAspect="1" noChangeArrowheads="1"/>
          </p:cNvPicPr>
          <p:nvPr userDrawn="1"/>
        </p:nvPicPr>
        <p:blipFill>
          <a:blip r:embed="rId15">
            <a:lum bright="48000"/>
          </a:blip>
          <a:srcRect/>
          <a:stretch>
            <a:fillRect/>
          </a:stretch>
        </p:blipFill>
        <p:spPr bwMode="auto">
          <a:xfrm>
            <a:off x="1000125" y="285750"/>
            <a:ext cx="2560638" cy="3603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iming>
    <p:tnLst>
      <p:par>
        <p:cTn id="1" dur="indefinite" restart="never" nodeType="tmRoot"/>
      </p:par>
    </p:tnLst>
  </p:timing>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ea typeface="宋体" pitchFamily="2" charset="-122"/>
        </a:defRPr>
      </a:lvl2pPr>
      <a:lvl3pPr algn="ctr" rtl="0" eaLnBrk="1" fontAlgn="base" hangingPunct="1">
        <a:spcBef>
          <a:spcPct val="0"/>
        </a:spcBef>
        <a:spcAft>
          <a:spcPct val="0"/>
        </a:spcAft>
        <a:defRPr sz="4400">
          <a:solidFill>
            <a:schemeClr val="tx1"/>
          </a:solidFill>
          <a:latin typeface="Calibri" pitchFamily="34" charset="0"/>
          <a:ea typeface="宋体" pitchFamily="2" charset="-122"/>
        </a:defRPr>
      </a:lvl3pPr>
      <a:lvl4pPr algn="ctr" rtl="0" eaLnBrk="1" fontAlgn="base" hangingPunct="1">
        <a:spcBef>
          <a:spcPct val="0"/>
        </a:spcBef>
        <a:spcAft>
          <a:spcPct val="0"/>
        </a:spcAft>
        <a:defRPr sz="4400">
          <a:solidFill>
            <a:schemeClr val="tx1"/>
          </a:solidFill>
          <a:latin typeface="Calibri" pitchFamily="34" charset="0"/>
          <a:ea typeface="宋体" pitchFamily="2" charset="-122"/>
        </a:defRPr>
      </a:lvl4pPr>
      <a:lvl5pPr algn="ctr" rtl="0" eaLnBrk="1" fontAlgn="base" hangingPunct="1">
        <a:spcBef>
          <a:spcPct val="0"/>
        </a:spcBef>
        <a:spcAft>
          <a:spcPct val="0"/>
        </a:spcAft>
        <a:defRPr sz="4400">
          <a:solidFill>
            <a:schemeClr val="tx1"/>
          </a:solidFill>
          <a:latin typeface="Calibri" pitchFamily="34" charset="0"/>
          <a:ea typeface="宋体" pitchFamily="2" charset="-122"/>
        </a:defRPr>
      </a:lvl5pPr>
      <a:lvl6pPr marL="457200" algn="ctr" rtl="0" eaLnBrk="1" fontAlgn="base" hangingPunct="1">
        <a:spcBef>
          <a:spcPct val="0"/>
        </a:spcBef>
        <a:spcAft>
          <a:spcPct val="0"/>
        </a:spcAft>
        <a:defRPr sz="4400">
          <a:solidFill>
            <a:schemeClr val="tx1"/>
          </a:solidFill>
          <a:latin typeface="Calibri"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oleObject" Target="../embeddings/oleObject2.bin"/><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en.wikipedia.org/wiki/File:Fotodio.jpg" TargetMode="Externa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3.png"/><Relationship Id="rId5" Type="http://schemas.openxmlformats.org/officeDocument/2006/relationships/oleObject" Target="../embeddings/oleObject5.bin"/><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7.png"/><Relationship Id="rId5" Type="http://schemas.openxmlformats.org/officeDocument/2006/relationships/oleObject" Target="../embeddings/oleObject7.bin"/><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3.png"/><Relationship Id="rId5" Type="http://schemas.openxmlformats.org/officeDocument/2006/relationships/oleObject" Target="../embeddings/oleObject13.bin"/><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14282" y="1857375"/>
            <a:ext cx="8643997" cy="862013"/>
          </a:xfrm>
        </p:spPr>
        <p:txBody>
          <a:bodyPr anchor="b"/>
          <a:lstStyle/>
          <a:p>
            <a:r>
              <a:rPr lang="zh-CN" altLang="en-US" sz="5400" b="1" dirty="0" smtClean="0">
                <a:solidFill>
                  <a:srgbClr val="FF0000"/>
                </a:solidFill>
                <a:latin typeface="黑体" pitchFamily="49" charset="-122"/>
                <a:ea typeface="黑体" pitchFamily="49" charset="-122"/>
              </a:rPr>
              <a:t>第</a:t>
            </a:r>
            <a:r>
              <a:rPr lang="en-US" altLang="zh-CN" sz="5400" b="1" dirty="0" smtClean="0">
                <a:solidFill>
                  <a:srgbClr val="FF0000"/>
                </a:solidFill>
                <a:latin typeface="黑体" pitchFamily="49" charset="-122"/>
                <a:ea typeface="黑体" pitchFamily="49" charset="-122"/>
              </a:rPr>
              <a:t>8</a:t>
            </a:r>
            <a:r>
              <a:rPr lang="zh-CN" altLang="en-US" sz="5400" b="1" dirty="0" smtClean="0">
                <a:solidFill>
                  <a:srgbClr val="FF0000"/>
                </a:solidFill>
                <a:latin typeface="黑体" pitchFamily="49" charset="-122"/>
                <a:ea typeface="黑体" pitchFamily="49" charset="-122"/>
              </a:rPr>
              <a:t>章</a:t>
            </a:r>
            <a:r>
              <a:rPr lang="zh-CN" altLang="en-US" sz="5400" b="1" dirty="0" smtClean="0">
                <a:latin typeface="黑体" pitchFamily="49" charset="-122"/>
                <a:ea typeface="黑体" pitchFamily="49" charset="-122"/>
              </a:rPr>
              <a:t> 光电式传感器（</a:t>
            </a:r>
            <a:r>
              <a:rPr lang="en-US" altLang="zh-CN" sz="5400" b="1" dirty="0" smtClean="0">
                <a:latin typeface="黑体" pitchFamily="49" charset="-122"/>
                <a:ea typeface="黑体" pitchFamily="49" charset="-122"/>
              </a:rPr>
              <a:t>1</a:t>
            </a:r>
            <a:r>
              <a:rPr lang="zh-CN" altLang="en-US" sz="5400" b="1" dirty="0" smtClean="0">
                <a:latin typeface="黑体" pitchFamily="49" charset="-122"/>
                <a:ea typeface="黑体" pitchFamily="49" charset="-122"/>
              </a:rPr>
              <a:t>）</a:t>
            </a:r>
          </a:p>
        </p:txBody>
      </p:sp>
      <p:sp>
        <p:nvSpPr>
          <p:cNvPr id="6" name="Rectangle 5"/>
          <p:cNvSpPr>
            <a:spLocks noGrp="1" noChangeArrowheads="1"/>
          </p:cNvSpPr>
          <p:nvPr>
            <p:ph idx="1"/>
          </p:nvPr>
        </p:nvSpPr>
        <p:spPr>
          <a:xfrm>
            <a:off x="857250" y="3429000"/>
            <a:ext cx="7772400" cy="2451100"/>
          </a:xfrm>
        </p:spPr>
        <p:txBody>
          <a:bodyPr rtlCol="0">
            <a:normAutofit fontScale="70000" lnSpcReduction="20000"/>
          </a:bodyPr>
          <a:lstStyle/>
          <a:p>
            <a:pPr eaLnBrk="1" fontAlgn="auto" hangingPunct="1">
              <a:spcAft>
                <a:spcPts val="0"/>
              </a:spcAft>
              <a:buFont typeface="Wingdings" pitchFamily="2" charset="2"/>
              <a:buNone/>
              <a:defRPr/>
            </a:pPr>
            <a:endParaRPr lang="en-US" altLang="zh-CN" sz="6400" b="1" dirty="0">
              <a:latin typeface="黑体" pitchFamily="49" charset="-122"/>
              <a:ea typeface="黑体" pitchFamily="49" charset="-122"/>
              <a:cs typeface="+mj-cs"/>
            </a:endParaRPr>
          </a:p>
          <a:p>
            <a:pPr algn="ctr" eaLnBrk="1" fontAlgn="auto" hangingPunct="1">
              <a:spcAft>
                <a:spcPts val="0"/>
              </a:spcAft>
              <a:buFont typeface="Arial" pitchFamily="34" charset="0"/>
              <a:buNone/>
              <a:defRPr/>
            </a:pPr>
            <a:r>
              <a:rPr lang="zh-CN" altLang="en-US" sz="3900" b="1" dirty="0" smtClean="0">
                <a:solidFill>
                  <a:srgbClr val="0033CC"/>
                </a:solidFill>
                <a:effectLst>
                  <a:outerShdw blurRad="38100" dist="38100" dir="2700000" algn="tl">
                    <a:srgbClr val="C0C0C0"/>
                  </a:outerShdw>
                </a:effectLst>
              </a:rPr>
              <a:t>主讲教师：徐 平</a:t>
            </a:r>
          </a:p>
          <a:p>
            <a:pPr algn="ctr" eaLnBrk="1" fontAlgn="auto" hangingPunct="1">
              <a:lnSpc>
                <a:spcPct val="160000"/>
              </a:lnSpc>
              <a:spcBef>
                <a:spcPct val="50000"/>
              </a:spcBef>
              <a:spcAft>
                <a:spcPts val="0"/>
              </a:spcAft>
              <a:buFontTx/>
              <a:buNone/>
              <a:defRPr/>
            </a:pPr>
            <a:r>
              <a:rPr lang="en-US" altLang="zh-CN" b="1" dirty="0" smtClean="0">
                <a:solidFill>
                  <a:srgbClr val="660066"/>
                </a:solidFill>
                <a:latin typeface="Times New Roman" pitchFamily="18" charset="0"/>
                <a:ea typeface="楷体_GB2312" pitchFamily="49" charset="-122"/>
                <a:cs typeface="Times New Roman" pitchFamily="18" charset="0"/>
              </a:rPr>
              <a:t>xuping@buaa.edu.cn</a:t>
            </a:r>
          </a:p>
          <a:p>
            <a:pPr algn="ctr" eaLnBrk="1" fontAlgn="auto" hangingPunct="1">
              <a:lnSpc>
                <a:spcPct val="160000"/>
              </a:lnSpc>
              <a:spcAft>
                <a:spcPts val="0"/>
              </a:spcAft>
              <a:buFont typeface="Arial" pitchFamily="34" charset="0"/>
              <a:buNone/>
              <a:defRPr/>
            </a:pPr>
            <a:r>
              <a:rPr lang="zh-CN" altLang="en-US" sz="4000" b="1" dirty="0">
                <a:solidFill>
                  <a:srgbClr val="0033CC"/>
                </a:solidFill>
                <a:effectLst>
                  <a:outerShdw blurRad="38100" dist="38100" dir="2700000" algn="tl">
                    <a:srgbClr val="C0C0C0"/>
                  </a:outerShdw>
                </a:effectLst>
                <a:latin typeface="华文行楷" pitchFamily="2" charset="-122"/>
                <a:ea typeface="华文行楷" pitchFamily="2" charset="-122"/>
              </a:rPr>
              <a:t>物理科学与核能工程</a:t>
            </a:r>
            <a:r>
              <a:rPr lang="zh-CN" altLang="en-US" sz="4000" b="1" dirty="0" smtClean="0">
                <a:solidFill>
                  <a:srgbClr val="0033CC"/>
                </a:solidFill>
                <a:effectLst>
                  <a:outerShdw blurRad="38100" dist="38100" dir="2700000" algn="tl">
                    <a:srgbClr val="C0C0C0"/>
                  </a:outerShdw>
                </a:effectLst>
                <a:latin typeface="华文行楷" pitchFamily="2" charset="-122"/>
                <a:ea typeface="华文行楷" pitchFamily="2" charset="-122"/>
              </a:rPr>
              <a:t>学院</a:t>
            </a:r>
            <a:endParaRPr lang="en-US" altLang="zh-CN" sz="2800" dirty="0">
              <a:solidFill>
                <a:srgbClr val="0099FF"/>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7"/>
          <p:cNvSpPr>
            <a:spLocks noGrp="1" noChangeArrowheads="1"/>
          </p:cNvSpPr>
          <p:nvPr>
            <p:ph type="title"/>
          </p:nvPr>
        </p:nvSpPr>
        <p:spPr bwMode="auto">
          <a:xfrm>
            <a:off x="785786"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zh-CN" altLang="en-US" b="1" dirty="0" smtClean="0">
                <a:solidFill>
                  <a:schemeClr val="tx2"/>
                </a:solidFill>
                <a:latin typeface="黑体" pitchFamily="49" charset="-122"/>
                <a:ea typeface="黑体" pitchFamily="49" charset="-122"/>
              </a:rPr>
              <a:t>第</a:t>
            </a:r>
            <a:r>
              <a:rPr lang="en-US" altLang="zh-CN" b="1" dirty="0" smtClean="0">
                <a:solidFill>
                  <a:schemeClr val="tx2"/>
                </a:solidFill>
                <a:latin typeface="黑体" pitchFamily="49" charset="-122"/>
                <a:ea typeface="黑体" pitchFamily="49" charset="-122"/>
              </a:rPr>
              <a:t>8</a:t>
            </a:r>
            <a:r>
              <a:rPr lang="zh-CN" altLang="en-US" b="1" dirty="0" smtClean="0">
                <a:solidFill>
                  <a:schemeClr val="tx2"/>
                </a:solidFill>
                <a:latin typeface="黑体" pitchFamily="49" charset="-122"/>
                <a:ea typeface="黑体" pitchFamily="49" charset="-122"/>
              </a:rPr>
              <a:t>章 光电式传感器</a:t>
            </a:r>
            <a:endParaRPr lang="zh-CN" altLang="en-US" dirty="0" smtClean="0">
              <a:solidFill>
                <a:srgbClr val="F84D08"/>
              </a:solidFill>
              <a:latin typeface="黑体" pitchFamily="2" charset="-122"/>
              <a:ea typeface="黑体" pitchFamily="2" charset="-122"/>
            </a:endParaRPr>
          </a:p>
        </p:txBody>
      </p:sp>
      <p:sp>
        <p:nvSpPr>
          <p:cNvPr id="13316" name="Text Box 8"/>
          <p:cNvSpPr txBox="1">
            <a:spLocks noChangeArrowheads="1"/>
          </p:cNvSpPr>
          <p:nvPr/>
        </p:nvSpPr>
        <p:spPr bwMode="auto">
          <a:xfrm>
            <a:off x="285720" y="1643050"/>
            <a:ext cx="8572560" cy="2074414"/>
          </a:xfrm>
          <a:prstGeom prst="rect">
            <a:avLst/>
          </a:prstGeom>
          <a:noFill/>
          <a:ln w="9525" algn="ctr">
            <a:noFill/>
            <a:miter lim="800000"/>
            <a:headEnd/>
            <a:tailEnd/>
          </a:ln>
        </p:spPr>
        <p:txBody>
          <a:bodyPr wrap="square">
            <a:spAutoFit/>
          </a:bodyPr>
          <a:lstStyle/>
          <a:p>
            <a:pPr indent="536575" algn="just">
              <a:spcBef>
                <a:spcPct val="20000"/>
              </a:spcBef>
              <a:buClr>
                <a:schemeClr val="folHlink"/>
              </a:buClr>
            </a:pPr>
            <a:r>
              <a:rPr lang="zh-CN" altLang="en-US" b="1" dirty="0" smtClean="0">
                <a:solidFill>
                  <a:srgbClr val="FF0000"/>
                </a:solidFill>
                <a:latin typeface="黑体" pitchFamily="49" charset="-122"/>
                <a:ea typeface="黑体" pitchFamily="49" charset="-122"/>
              </a:rPr>
              <a:t>光电式传感器</a:t>
            </a:r>
            <a:endParaRPr lang="en-US" altLang="zh-CN" b="1" dirty="0" smtClean="0">
              <a:solidFill>
                <a:srgbClr val="FF0000"/>
              </a:solidFill>
              <a:latin typeface="黑体" pitchFamily="49" charset="-122"/>
              <a:ea typeface="黑体" pitchFamily="49" charset="-122"/>
            </a:endParaRPr>
          </a:p>
          <a:p>
            <a:pPr indent="536575" algn="just">
              <a:spcBef>
                <a:spcPct val="20000"/>
              </a:spcBef>
              <a:buClr>
                <a:schemeClr val="folHlink"/>
              </a:buClr>
            </a:pPr>
            <a:r>
              <a:rPr lang="zh-CN" altLang="en-US" b="1" dirty="0" smtClean="0">
                <a:solidFill>
                  <a:schemeClr val="tx1"/>
                </a:solidFill>
                <a:latin typeface="宋体" pitchFamily="2" charset="-122"/>
                <a:ea typeface="宋体" pitchFamily="2" charset="-122"/>
              </a:rPr>
              <a:t>一种能将光信号转换成电信号输出的传感器。</a:t>
            </a:r>
            <a:endParaRPr lang="en-US" altLang="zh-CN" b="1" dirty="0" smtClean="0">
              <a:solidFill>
                <a:schemeClr val="tx1"/>
              </a:solidFill>
              <a:latin typeface="宋体" pitchFamily="2" charset="-122"/>
              <a:ea typeface="宋体" pitchFamily="2" charset="-122"/>
            </a:endParaRPr>
          </a:p>
          <a:p>
            <a:pPr indent="536575" algn="just">
              <a:spcBef>
                <a:spcPct val="20000"/>
              </a:spcBef>
              <a:buClr>
                <a:schemeClr val="folHlink"/>
              </a:buClr>
            </a:pPr>
            <a:r>
              <a:rPr lang="zh-CN" altLang="en-US" b="1" dirty="0" smtClean="0">
                <a:solidFill>
                  <a:schemeClr val="tx1"/>
                </a:solidFill>
                <a:latin typeface="宋体" pitchFamily="2" charset="-122"/>
                <a:ea typeface="宋体" pitchFamily="2" charset="-122"/>
              </a:rPr>
              <a:t>光信号：光强度、波长、偏振态</a:t>
            </a:r>
            <a:r>
              <a:rPr lang="en-US" altLang="zh-CN" b="1" dirty="0" smtClean="0">
                <a:solidFill>
                  <a:schemeClr val="tx1"/>
                </a:solidFill>
                <a:latin typeface="宋体" pitchFamily="2" charset="-122"/>
                <a:ea typeface="宋体" pitchFamily="2" charset="-122"/>
              </a:rPr>
              <a:t>…</a:t>
            </a:r>
          </a:p>
          <a:p>
            <a:pPr indent="536575" algn="just">
              <a:spcBef>
                <a:spcPct val="20000"/>
              </a:spcBef>
              <a:buClr>
                <a:schemeClr val="folHlink"/>
              </a:buClr>
            </a:pPr>
            <a:r>
              <a:rPr lang="zh-CN" altLang="en-US" b="1" dirty="0" smtClean="0">
                <a:solidFill>
                  <a:schemeClr val="tx1"/>
                </a:solidFill>
                <a:latin typeface="宋体" pitchFamily="2" charset="-122"/>
                <a:ea typeface="宋体" pitchFamily="2" charset="-122"/>
              </a:rPr>
              <a:t>        干涉、衍射、散射</a:t>
            </a:r>
            <a:r>
              <a:rPr lang="en-US" altLang="zh-CN" b="1" dirty="0" smtClean="0">
                <a:solidFill>
                  <a:schemeClr val="tx1"/>
                </a:solidFill>
                <a:latin typeface="宋体" pitchFamily="2" charset="-122"/>
                <a:ea typeface="宋体" pitchFamily="2" charset="-122"/>
              </a:rPr>
              <a:t>…</a:t>
            </a:r>
          </a:p>
        </p:txBody>
      </p:sp>
      <p:cxnSp>
        <p:nvCxnSpPr>
          <p:cNvPr id="5" name="直接连接符 4"/>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6" name="TextBox 5"/>
          <p:cNvSpPr txBox="1"/>
          <p:nvPr/>
        </p:nvSpPr>
        <p:spPr>
          <a:xfrm>
            <a:off x="285720" y="3714752"/>
            <a:ext cx="8643998" cy="2850011"/>
          </a:xfrm>
          <a:prstGeom prst="rect">
            <a:avLst/>
          </a:prstGeom>
          <a:noFill/>
        </p:spPr>
        <p:txBody>
          <a:bodyPr wrap="square" rtlCol="0">
            <a:spAutoFit/>
          </a:bodyPr>
          <a:lstStyle/>
          <a:p>
            <a:pPr indent="536575" algn="just">
              <a:spcBef>
                <a:spcPct val="20000"/>
              </a:spcBef>
              <a:buClr>
                <a:schemeClr val="folHlink"/>
              </a:buClr>
            </a:pPr>
            <a:r>
              <a:rPr lang="zh-CN" altLang="en-US" b="1" dirty="0" smtClean="0">
                <a:solidFill>
                  <a:schemeClr val="tx1"/>
                </a:solidFill>
                <a:latin typeface="宋体" pitchFamily="2" charset="-122"/>
                <a:ea typeface="宋体" pitchFamily="2" charset="-122"/>
              </a:rPr>
              <a:t>当用于测量其它非光物理量时，首先把被测量的变化转换成光信号的变化，然后再通过光电转换元件变换成电信号。</a:t>
            </a:r>
            <a:endParaRPr lang="en-US" altLang="zh-CN" b="1" dirty="0" smtClean="0">
              <a:solidFill>
                <a:schemeClr val="tx1"/>
              </a:solidFill>
              <a:latin typeface="宋体" pitchFamily="2" charset="-122"/>
              <a:ea typeface="宋体" pitchFamily="2" charset="-122"/>
            </a:endParaRPr>
          </a:p>
          <a:p>
            <a:pPr indent="365125">
              <a:lnSpc>
                <a:spcPct val="120000"/>
              </a:lnSpc>
            </a:pPr>
            <a:r>
              <a:rPr lang="zh-CN" altLang="en-US" b="1" dirty="0" smtClean="0">
                <a:solidFill>
                  <a:schemeClr val="tx1"/>
                </a:solidFill>
                <a:latin typeface="宋体" pitchFamily="2" charset="-122"/>
                <a:ea typeface="宋体" pitchFamily="2" charset="-122"/>
              </a:rPr>
              <a:t>具有非接触、高精度、高分辨力、高可靠性和反应快等优点；</a:t>
            </a:r>
            <a:endParaRPr lang="en-US" altLang="zh-CN" b="1" dirty="0" smtClean="0">
              <a:solidFill>
                <a:schemeClr val="tx1"/>
              </a:solidFill>
              <a:latin typeface="宋体" pitchFamily="2" charset="-122"/>
              <a:ea typeface="宋体" pitchFamily="2" charset="-122"/>
            </a:endParaRP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7"/>
          <p:cNvSpPr>
            <a:spLocks noGrp="1" noChangeArrowheads="1"/>
          </p:cNvSpPr>
          <p:nvPr>
            <p:ph type="title"/>
          </p:nvPr>
        </p:nvSpPr>
        <p:spPr bwMode="auto">
          <a:xfrm>
            <a:off x="785786"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zh-CN" altLang="en-US" b="1" dirty="0" smtClean="0">
                <a:solidFill>
                  <a:schemeClr val="tx2"/>
                </a:solidFill>
                <a:latin typeface="黑体" pitchFamily="49" charset="-122"/>
                <a:ea typeface="黑体" pitchFamily="49" charset="-122"/>
              </a:rPr>
              <a:t>第</a:t>
            </a:r>
            <a:r>
              <a:rPr lang="en-US" altLang="zh-CN" b="1" dirty="0" smtClean="0">
                <a:solidFill>
                  <a:schemeClr val="tx2"/>
                </a:solidFill>
                <a:latin typeface="黑体" pitchFamily="49" charset="-122"/>
                <a:ea typeface="黑体" pitchFamily="49" charset="-122"/>
              </a:rPr>
              <a:t>8</a:t>
            </a:r>
            <a:r>
              <a:rPr lang="zh-CN" altLang="en-US" b="1" dirty="0" smtClean="0">
                <a:solidFill>
                  <a:schemeClr val="tx2"/>
                </a:solidFill>
                <a:latin typeface="黑体" pitchFamily="49" charset="-122"/>
                <a:ea typeface="黑体" pitchFamily="49" charset="-122"/>
              </a:rPr>
              <a:t>章 光电式传感器</a:t>
            </a:r>
            <a:endParaRPr lang="zh-CN" altLang="en-US" dirty="0" smtClean="0">
              <a:solidFill>
                <a:srgbClr val="F84D08"/>
              </a:solidFill>
              <a:latin typeface="黑体" pitchFamily="2" charset="-122"/>
              <a:ea typeface="黑体" pitchFamily="2" charset="-122"/>
            </a:endParaRPr>
          </a:p>
        </p:txBody>
      </p:sp>
      <p:sp>
        <p:nvSpPr>
          <p:cNvPr id="13316" name="Text Box 8"/>
          <p:cNvSpPr txBox="1">
            <a:spLocks noChangeArrowheads="1"/>
          </p:cNvSpPr>
          <p:nvPr/>
        </p:nvSpPr>
        <p:spPr bwMode="auto">
          <a:xfrm>
            <a:off x="285720" y="1643050"/>
            <a:ext cx="8572560" cy="2160591"/>
          </a:xfrm>
          <a:prstGeom prst="rect">
            <a:avLst/>
          </a:prstGeom>
          <a:noFill/>
          <a:ln w="9525" algn="ctr">
            <a:noFill/>
            <a:miter lim="800000"/>
            <a:headEnd/>
            <a:tailEnd/>
          </a:ln>
        </p:spPr>
        <p:txBody>
          <a:bodyPr wrap="square">
            <a:spAutoFit/>
          </a:bodyPr>
          <a:lstStyle/>
          <a:p>
            <a:pPr indent="365125">
              <a:lnSpc>
                <a:spcPct val="120000"/>
              </a:lnSpc>
            </a:pPr>
            <a:r>
              <a:rPr lang="zh-CN" altLang="en-US" b="1" dirty="0" smtClean="0">
                <a:solidFill>
                  <a:schemeClr val="tx1"/>
                </a:solidFill>
                <a:latin typeface="宋体" pitchFamily="2" charset="-122"/>
                <a:ea typeface="宋体" pitchFamily="2" charset="-122"/>
              </a:rPr>
              <a:t>激光光源、光栅、光学码盘、</a:t>
            </a:r>
            <a:r>
              <a:rPr lang="en-US" altLang="zh-CN" b="1" dirty="0" smtClean="0">
                <a:solidFill>
                  <a:schemeClr val="tx1"/>
                </a:solidFill>
                <a:latin typeface="宋体" pitchFamily="2" charset="-122"/>
                <a:ea typeface="宋体" pitchFamily="2" charset="-122"/>
              </a:rPr>
              <a:t>CCD</a:t>
            </a:r>
            <a:r>
              <a:rPr lang="zh-CN" altLang="en-US" b="1" dirty="0" smtClean="0">
                <a:solidFill>
                  <a:schemeClr val="tx1"/>
                </a:solidFill>
                <a:latin typeface="宋体" pitchFamily="2" charset="-122"/>
                <a:ea typeface="宋体" pitchFamily="2" charset="-122"/>
              </a:rPr>
              <a:t>器件、</a:t>
            </a:r>
            <a:r>
              <a:rPr lang="en-US" altLang="zh-CN" b="1" dirty="0" smtClean="0">
                <a:solidFill>
                  <a:schemeClr val="tx1"/>
                </a:solidFill>
                <a:latin typeface="宋体" pitchFamily="2" charset="-122"/>
                <a:ea typeface="宋体" pitchFamily="2" charset="-122"/>
              </a:rPr>
              <a:t> CMOS</a:t>
            </a:r>
            <a:r>
              <a:rPr lang="zh-CN" altLang="en-US" b="1" dirty="0" smtClean="0">
                <a:solidFill>
                  <a:schemeClr val="tx1"/>
                </a:solidFill>
                <a:latin typeface="宋体" pitchFamily="2" charset="-122"/>
                <a:ea typeface="宋体" pitchFamily="2" charset="-122"/>
              </a:rPr>
              <a:t>器件、光导纤维等的相继出现和成功应用，使得光电传感器的种类更多，并在检测和控制领域中获得了广泛的应用。</a:t>
            </a:r>
            <a:endParaRPr kumimoji="0" lang="en-US" altLang="zh-CN" b="1" dirty="0" smtClean="0">
              <a:solidFill>
                <a:schemeClr val="tx1"/>
              </a:solidFill>
              <a:latin typeface="宋体" pitchFamily="2" charset="-122"/>
              <a:ea typeface="宋体" pitchFamily="2" charset="-122"/>
            </a:endParaRPr>
          </a:p>
        </p:txBody>
      </p:sp>
      <p:cxnSp>
        <p:nvCxnSpPr>
          <p:cNvPr id="5" name="直接连接符 4"/>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8.1 </a:t>
            </a:r>
            <a:r>
              <a:rPr lang="zh-CN" altLang="en-US" b="1" dirty="0" smtClean="0">
                <a:solidFill>
                  <a:schemeClr val="tx2"/>
                </a:solidFill>
                <a:latin typeface="黑体" pitchFamily="49" charset="-122"/>
                <a:ea typeface="黑体" pitchFamily="49" charset="-122"/>
              </a:rPr>
              <a:t>光电效应</a:t>
            </a:r>
          </a:p>
        </p:txBody>
      </p:sp>
      <p:sp>
        <p:nvSpPr>
          <p:cNvPr id="14340" name="Text Box 4"/>
          <p:cNvSpPr txBox="1">
            <a:spLocks noChangeArrowheads="1"/>
          </p:cNvSpPr>
          <p:nvPr/>
        </p:nvSpPr>
        <p:spPr bwMode="auto">
          <a:xfrm>
            <a:off x="214282" y="1643050"/>
            <a:ext cx="8643998" cy="2893100"/>
          </a:xfrm>
          <a:prstGeom prst="rect">
            <a:avLst/>
          </a:prstGeom>
          <a:noFill/>
          <a:ln w="9525" algn="ctr">
            <a:noFill/>
            <a:miter lim="800000"/>
            <a:headEnd/>
            <a:tailEnd/>
          </a:ln>
        </p:spPr>
        <p:txBody>
          <a:bodyPr wrap="square">
            <a:spAutoFit/>
          </a:bodyPr>
          <a:lstStyle/>
          <a:p>
            <a:pPr indent="365125">
              <a:lnSpc>
                <a:spcPct val="130000"/>
              </a:lnSpc>
            </a:pPr>
            <a:r>
              <a:rPr lang="zh-CN" altLang="en-US" b="1" dirty="0" smtClean="0">
                <a:solidFill>
                  <a:schemeClr val="tx1"/>
                </a:solidFill>
                <a:latin typeface="宋体" pitchFamily="2" charset="-122"/>
                <a:ea typeface="宋体" pitchFamily="2" charset="-122"/>
              </a:rPr>
              <a:t>光电转换元件的作用原理是基于一些物质的光电效应。</a:t>
            </a:r>
            <a:r>
              <a:rPr lang="zh-CN" altLang="en-US" b="1" dirty="0" smtClean="0">
                <a:solidFill>
                  <a:srgbClr val="FF0000"/>
                </a:solidFill>
                <a:latin typeface="宋体" pitchFamily="2" charset="-122"/>
                <a:ea typeface="宋体" pitchFamily="2" charset="-122"/>
              </a:rPr>
              <a:t>所谓光电效应是指物体吸收光能量后所产生的电效应。</a:t>
            </a:r>
            <a:endParaRPr lang="en-US" altLang="zh-CN" b="1" dirty="0" smtClean="0">
              <a:solidFill>
                <a:schemeClr val="tx1"/>
              </a:solidFill>
              <a:latin typeface="宋体" pitchFamily="2" charset="-122"/>
              <a:ea typeface="宋体" pitchFamily="2" charset="-122"/>
            </a:endParaRPr>
          </a:p>
          <a:p>
            <a:pPr indent="365125">
              <a:lnSpc>
                <a:spcPct val="130000"/>
              </a:lnSpc>
            </a:pPr>
            <a:r>
              <a:rPr kumimoji="0" lang="zh-CN" altLang="en-US" b="1" dirty="0" smtClean="0">
                <a:solidFill>
                  <a:schemeClr val="tx1"/>
                </a:solidFill>
                <a:latin typeface="宋体" pitchFamily="2" charset="-122"/>
                <a:ea typeface="宋体" pitchFamily="2" charset="-122"/>
              </a:rPr>
              <a:t>光照射在物体上就可看成是一连串的具有能量为</a:t>
            </a:r>
            <a:r>
              <a:rPr kumimoji="0" lang="en-US" altLang="zh-CN" b="1" dirty="0" smtClean="0">
                <a:solidFill>
                  <a:schemeClr val="tx1"/>
                </a:solidFill>
                <a:latin typeface="宋体" pitchFamily="2" charset="-122"/>
                <a:ea typeface="宋体" pitchFamily="2" charset="-122"/>
              </a:rPr>
              <a:t>E</a:t>
            </a:r>
            <a:r>
              <a:rPr kumimoji="0" lang="zh-CN" altLang="en-US" b="1" dirty="0" smtClean="0">
                <a:solidFill>
                  <a:schemeClr val="tx1"/>
                </a:solidFill>
                <a:latin typeface="宋体" pitchFamily="2" charset="-122"/>
                <a:ea typeface="宋体" pitchFamily="2" charset="-122"/>
              </a:rPr>
              <a:t>的粒子轰击在物体上。</a:t>
            </a:r>
            <a:endParaRPr lang="zh-CN" altLang="en-US" b="1" dirty="0" smtClean="0">
              <a:solidFill>
                <a:srgbClr val="FF0000"/>
              </a:solidFill>
              <a:latin typeface="宋体" pitchFamily="2" charset="-122"/>
              <a:ea typeface="宋体" pitchFamily="2"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40">
                                            <p:txEl>
                                              <p:pRg st="1" end="1"/>
                                            </p:txEl>
                                          </p:spTgt>
                                        </p:tgtEl>
                                        <p:attrNameLst>
                                          <p:attrName>style.visibility</p:attrName>
                                        </p:attrNameLst>
                                      </p:cBhvr>
                                      <p:to>
                                        <p:strVal val="visible"/>
                                      </p:to>
                                    </p:set>
                                    <p:animEffect transition="in" filter="blinds(horizontal)">
                                      <p:cBhvr>
                                        <p:cTn id="7" dur="500"/>
                                        <p:tgtEl>
                                          <p:spTgt spid="1434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8.1 </a:t>
            </a:r>
            <a:r>
              <a:rPr lang="zh-CN" altLang="en-US" b="1" dirty="0" smtClean="0">
                <a:solidFill>
                  <a:schemeClr val="tx2"/>
                </a:solidFill>
                <a:latin typeface="黑体" pitchFamily="49" charset="-122"/>
                <a:ea typeface="黑体" pitchFamily="49" charset="-122"/>
              </a:rPr>
              <a:t>光电效应</a:t>
            </a:r>
          </a:p>
        </p:txBody>
      </p:sp>
      <p:sp>
        <p:nvSpPr>
          <p:cNvPr id="14340" name="Text Box 4"/>
          <p:cNvSpPr txBox="1">
            <a:spLocks noChangeArrowheads="1"/>
          </p:cNvSpPr>
          <p:nvPr/>
        </p:nvSpPr>
        <p:spPr bwMode="auto">
          <a:xfrm>
            <a:off x="214282" y="1643050"/>
            <a:ext cx="8643998" cy="2813655"/>
          </a:xfrm>
          <a:prstGeom prst="rect">
            <a:avLst/>
          </a:prstGeom>
          <a:noFill/>
          <a:ln w="9525" algn="ctr">
            <a:noFill/>
            <a:miter lim="800000"/>
            <a:headEnd/>
            <a:tailEnd/>
          </a:ln>
        </p:spPr>
        <p:txBody>
          <a:bodyPr wrap="square">
            <a:spAutoFit/>
          </a:bodyPr>
          <a:lstStyle/>
          <a:p>
            <a:pPr indent="365125">
              <a:lnSpc>
                <a:spcPct val="130000"/>
              </a:lnSpc>
            </a:pPr>
            <a:r>
              <a:rPr lang="zh-CN" altLang="en-US" b="1" dirty="0" smtClean="0">
                <a:solidFill>
                  <a:schemeClr val="tx1"/>
                </a:solidFill>
                <a:latin typeface="宋体" pitchFamily="2" charset="-122"/>
                <a:ea typeface="宋体" pitchFamily="2" charset="-122"/>
              </a:rPr>
              <a:t>根据波粒二象性原理，每一个光子的能量与频率成正比：</a:t>
            </a:r>
            <a:r>
              <a:rPr lang="en-US" altLang="zh-CN" b="1" i="1" dirty="0" smtClean="0">
                <a:solidFill>
                  <a:srgbClr val="CC3300"/>
                </a:solidFill>
                <a:latin typeface="Times New Roman" pitchFamily="18" charset="0"/>
                <a:ea typeface="宋体" pitchFamily="2" charset="-122"/>
              </a:rPr>
              <a:t>E = h</a:t>
            </a:r>
            <a:r>
              <a:rPr lang="el-GR" altLang="zh-CN" b="1" i="1" dirty="0" smtClean="0">
                <a:solidFill>
                  <a:srgbClr val="CC3300"/>
                </a:solidFill>
                <a:latin typeface="Times New Roman" pitchFamily="18" charset="0"/>
                <a:ea typeface="宋体" pitchFamily="2" charset="-122"/>
                <a:cs typeface="Times New Roman" pitchFamily="18" charset="0"/>
              </a:rPr>
              <a:t>ν</a:t>
            </a:r>
            <a:r>
              <a:rPr lang="zh-CN" altLang="en-US" b="1" dirty="0" smtClean="0">
                <a:solidFill>
                  <a:schemeClr val="tx1"/>
                </a:solidFill>
                <a:latin typeface="宋体" pitchFamily="2" charset="-122"/>
                <a:ea typeface="宋体" pitchFamily="2" charset="-122"/>
              </a:rPr>
              <a:t>，</a:t>
            </a:r>
            <a:r>
              <a:rPr lang="zh-CN" altLang="en-US" b="1" dirty="0" smtClean="0">
                <a:solidFill>
                  <a:schemeClr val="folHlink"/>
                </a:solidFill>
                <a:latin typeface="宋体" pitchFamily="2" charset="-122"/>
                <a:ea typeface="宋体" pitchFamily="2" charset="-122"/>
              </a:rPr>
              <a:t> </a:t>
            </a:r>
            <a:r>
              <a:rPr lang="zh-CN" altLang="en-US" b="1" dirty="0" smtClean="0">
                <a:solidFill>
                  <a:schemeClr val="tx1"/>
                </a:solidFill>
                <a:latin typeface="宋体" pitchFamily="2" charset="-122"/>
                <a:ea typeface="宋体" pitchFamily="2" charset="-122"/>
              </a:rPr>
              <a:t>其中普朗克常数 </a:t>
            </a:r>
            <a:r>
              <a:rPr lang="en-US" altLang="zh-CN" b="1" i="1" dirty="0" smtClean="0">
                <a:solidFill>
                  <a:srgbClr val="CC3300"/>
                </a:solidFill>
                <a:latin typeface="Times New Roman" pitchFamily="18" charset="0"/>
                <a:ea typeface="宋体" pitchFamily="2" charset="-122"/>
              </a:rPr>
              <a:t>h = 6.626×10</a:t>
            </a:r>
            <a:r>
              <a:rPr lang="en-US" altLang="zh-CN" b="1" i="1" baseline="30000" dirty="0" smtClean="0">
                <a:solidFill>
                  <a:srgbClr val="CC3300"/>
                </a:solidFill>
                <a:latin typeface="Times New Roman" pitchFamily="18" charset="0"/>
                <a:ea typeface="宋体" pitchFamily="2" charset="-122"/>
              </a:rPr>
              <a:t>-34</a:t>
            </a:r>
            <a:r>
              <a:rPr lang="zh-CN" altLang="en-US" b="1" dirty="0" smtClean="0">
                <a:solidFill>
                  <a:schemeClr val="tx1"/>
                </a:solidFill>
                <a:latin typeface="宋体" pitchFamily="2" charset="-122"/>
                <a:ea typeface="宋体" pitchFamily="2" charset="-122"/>
              </a:rPr>
              <a:t>焦耳秒。</a:t>
            </a:r>
            <a:endParaRPr lang="en-US" altLang="zh-CN" b="1" dirty="0" smtClean="0">
              <a:solidFill>
                <a:schemeClr val="tx1"/>
              </a:solidFill>
              <a:latin typeface="宋体" pitchFamily="2" charset="-122"/>
              <a:ea typeface="宋体" pitchFamily="2" charset="-122"/>
            </a:endParaRPr>
          </a:p>
          <a:p>
            <a:pPr indent="365125">
              <a:lnSpc>
                <a:spcPct val="130000"/>
              </a:lnSpc>
            </a:pPr>
            <a:r>
              <a:rPr kumimoji="0" lang="zh-CN" altLang="en-US" b="1" dirty="0" smtClean="0">
                <a:solidFill>
                  <a:schemeClr val="tx1"/>
                </a:solidFill>
                <a:latin typeface="宋体" pitchFamily="2" charset="-122"/>
                <a:ea typeface="宋体" pitchFamily="2" charset="-122"/>
              </a:rPr>
              <a:t>从传感器的角度看</a:t>
            </a:r>
            <a:r>
              <a:rPr kumimoji="0"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光电效应可以分为</a:t>
            </a:r>
            <a:r>
              <a:rPr lang="zh-CN" altLang="en-US" b="1" dirty="0" smtClean="0">
                <a:solidFill>
                  <a:srgbClr val="CC3300"/>
                </a:solidFill>
                <a:latin typeface="宋体" pitchFamily="2" charset="-122"/>
                <a:ea typeface="宋体" pitchFamily="2" charset="-122"/>
              </a:rPr>
              <a:t>外光电效应</a:t>
            </a:r>
            <a:r>
              <a:rPr lang="zh-CN" altLang="en-US" b="1" dirty="0" smtClean="0">
                <a:solidFill>
                  <a:schemeClr val="tx1"/>
                </a:solidFill>
                <a:latin typeface="宋体" pitchFamily="2" charset="-122"/>
                <a:ea typeface="宋体" pitchFamily="2" charset="-122"/>
              </a:rPr>
              <a:t>和</a:t>
            </a:r>
            <a:r>
              <a:rPr lang="zh-CN" altLang="en-US" b="1" dirty="0" smtClean="0">
                <a:solidFill>
                  <a:srgbClr val="CC3300"/>
                </a:solidFill>
                <a:latin typeface="宋体" pitchFamily="2" charset="-122"/>
                <a:ea typeface="宋体" pitchFamily="2" charset="-122"/>
              </a:rPr>
              <a:t>内光电效应</a:t>
            </a:r>
            <a:r>
              <a:rPr lang="zh-CN" altLang="en-US" b="1" dirty="0" smtClean="0">
                <a:solidFill>
                  <a:schemeClr val="tx1"/>
                </a:solidFill>
                <a:latin typeface="宋体" pitchFamily="2" charset="-122"/>
                <a:ea typeface="宋体" pitchFamily="2" charset="-122"/>
              </a:rPr>
              <a:t>两大类。</a:t>
            </a:r>
            <a:endParaRPr lang="zh-CN" altLang="en-US" b="1" dirty="0">
              <a:solidFill>
                <a:schemeClr val="folHlink"/>
              </a:solidFill>
              <a:latin typeface="宋体" pitchFamily="2" charset="-122"/>
              <a:ea typeface="宋体" pitchFamily="2"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40">
                                            <p:txEl>
                                              <p:pRg st="1" end="1"/>
                                            </p:txEl>
                                          </p:spTgt>
                                        </p:tgtEl>
                                        <p:attrNameLst>
                                          <p:attrName>style.visibility</p:attrName>
                                        </p:attrNameLst>
                                      </p:cBhvr>
                                      <p:to>
                                        <p:strVal val="visible"/>
                                      </p:to>
                                    </p:set>
                                    <p:animEffect transition="in" filter="blinds(horizontal)">
                                      <p:cBhvr>
                                        <p:cTn id="7" dur="500"/>
                                        <p:tgtEl>
                                          <p:spTgt spid="1434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49" charset="-122"/>
                <a:ea typeface="黑体" pitchFamily="49" charset="-122"/>
              </a:rPr>
              <a:t>外光电效应</a:t>
            </a:r>
          </a:p>
        </p:txBody>
      </p:sp>
      <p:sp>
        <p:nvSpPr>
          <p:cNvPr id="1029" name="Text Box 4"/>
          <p:cNvSpPr txBox="1">
            <a:spLocks noChangeArrowheads="1"/>
          </p:cNvSpPr>
          <p:nvPr/>
        </p:nvSpPr>
        <p:spPr bwMode="auto">
          <a:xfrm>
            <a:off x="285720" y="1989138"/>
            <a:ext cx="8572560" cy="3280898"/>
          </a:xfrm>
          <a:prstGeom prst="rect">
            <a:avLst/>
          </a:prstGeom>
          <a:noFill/>
          <a:ln w="9525" algn="ctr">
            <a:noFill/>
            <a:miter lim="800000"/>
            <a:headEnd/>
            <a:tailEnd/>
          </a:ln>
        </p:spPr>
        <p:txBody>
          <a:bodyPr wrap="square">
            <a:spAutoFit/>
          </a:bodyPr>
          <a:lstStyle/>
          <a:p>
            <a:pPr indent="536575">
              <a:spcBef>
                <a:spcPct val="20000"/>
              </a:spcBef>
              <a:buClr>
                <a:schemeClr val="folHlink"/>
              </a:buClr>
              <a:buFont typeface="Wingdings" pitchFamily="2" charset="2"/>
              <a:buNone/>
            </a:pPr>
            <a:r>
              <a:rPr kumimoji="0" lang="zh-CN" altLang="en-US" b="1" dirty="0" smtClean="0">
                <a:solidFill>
                  <a:schemeClr val="tx1"/>
                </a:solidFill>
                <a:latin typeface="宋体" pitchFamily="2" charset="-122"/>
                <a:ea typeface="宋体" pitchFamily="2" charset="-122"/>
              </a:rPr>
              <a:t>在光线作用下电子逸出物体表面的现象，称为外光电效应。</a:t>
            </a:r>
            <a:endParaRPr kumimoji="0" lang="en-US" altLang="zh-CN" b="1" dirty="0" smtClean="0">
              <a:solidFill>
                <a:schemeClr val="tx1"/>
              </a:solidFill>
              <a:latin typeface="宋体" pitchFamily="2" charset="-122"/>
              <a:ea typeface="宋体" pitchFamily="2" charset="-122"/>
            </a:endParaRPr>
          </a:p>
          <a:p>
            <a:pPr indent="536575">
              <a:spcBef>
                <a:spcPct val="20000"/>
              </a:spcBef>
              <a:buClr>
                <a:schemeClr val="folHlink"/>
              </a:buClr>
            </a:pPr>
            <a:r>
              <a:rPr kumimoji="0" lang="zh-CN" altLang="en-US" b="1" dirty="0" smtClean="0">
                <a:solidFill>
                  <a:schemeClr val="tx1"/>
                </a:solidFill>
                <a:latin typeface="宋体" pitchFamily="2" charset="-122"/>
                <a:ea typeface="宋体" pitchFamily="2" charset="-122"/>
              </a:rPr>
              <a:t>光电子逸出物体时所具有的初始动能与光的</a:t>
            </a:r>
            <a:r>
              <a:rPr kumimoji="0" lang="zh-CN" altLang="en-US" b="1" dirty="0" smtClean="0">
                <a:solidFill>
                  <a:srgbClr val="FF0000"/>
                </a:solidFill>
                <a:latin typeface="宋体" pitchFamily="2" charset="-122"/>
                <a:ea typeface="宋体" pitchFamily="2" charset="-122"/>
              </a:rPr>
              <a:t>频率</a:t>
            </a:r>
            <a:r>
              <a:rPr kumimoji="0" lang="zh-CN" altLang="en-US" b="1" dirty="0" smtClean="0">
                <a:solidFill>
                  <a:schemeClr val="tx1"/>
                </a:solidFill>
                <a:latin typeface="宋体" pitchFamily="2" charset="-122"/>
                <a:ea typeface="宋体" pitchFamily="2" charset="-122"/>
              </a:rPr>
              <a:t>有关，频率高则动能大</a:t>
            </a:r>
            <a:r>
              <a:rPr kumimoji="0" lang="en-US" altLang="zh-CN" b="1" dirty="0" smtClean="0">
                <a:solidFill>
                  <a:schemeClr val="tx1"/>
                </a:solidFill>
                <a:latin typeface="宋体" pitchFamily="2" charset="-122"/>
                <a:ea typeface="宋体" pitchFamily="2" charset="-122"/>
              </a:rPr>
              <a:t>(</a:t>
            </a:r>
            <a:r>
              <a:rPr lang="en-US" altLang="zh-CN" b="1" i="1" dirty="0" smtClean="0">
                <a:solidFill>
                  <a:srgbClr val="CC3300"/>
                </a:solidFill>
                <a:latin typeface="Times New Roman" pitchFamily="18" charset="0"/>
                <a:ea typeface="宋体" pitchFamily="2" charset="-122"/>
              </a:rPr>
              <a:t>E = h</a:t>
            </a:r>
            <a:r>
              <a:rPr lang="el-GR" altLang="zh-CN" b="1" i="1" dirty="0" smtClean="0">
                <a:solidFill>
                  <a:srgbClr val="CC3300"/>
                </a:solidFill>
                <a:latin typeface="Times New Roman" pitchFamily="18" charset="0"/>
                <a:ea typeface="宋体" pitchFamily="2" charset="-122"/>
                <a:cs typeface="Times New Roman" pitchFamily="18" charset="0"/>
              </a:rPr>
              <a:t>ν</a:t>
            </a:r>
            <a:r>
              <a:rPr kumimoji="0" lang="en-US" altLang="zh-CN" b="1" dirty="0" smtClean="0">
                <a:solidFill>
                  <a:schemeClr val="tx1"/>
                </a:solidFill>
                <a:latin typeface="宋体" pitchFamily="2" charset="-122"/>
                <a:ea typeface="宋体" pitchFamily="2" charset="-122"/>
              </a:rPr>
              <a:t>)</a:t>
            </a:r>
            <a:r>
              <a:rPr kumimoji="0" lang="zh-CN" altLang="en-US" b="1" dirty="0" smtClean="0">
                <a:solidFill>
                  <a:schemeClr val="tx1"/>
                </a:solidFill>
                <a:latin typeface="宋体" pitchFamily="2" charset="-122"/>
                <a:ea typeface="宋体" pitchFamily="2" charset="-122"/>
              </a:rPr>
              <a:t>。</a:t>
            </a:r>
            <a:endParaRPr kumimoji="0" lang="en-US" altLang="zh-CN" b="1" dirty="0" smtClean="0">
              <a:solidFill>
                <a:schemeClr val="tx1"/>
              </a:solidFill>
              <a:latin typeface="宋体" pitchFamily="2" charset="-122"/>
              <a:ea typeface="宋体" pitchFamily="2" charset="-122"/>
            </a:endParaRPr>
          </a:p>
          <a:p>
            <a:pPr indent="536575">
              <a:spcBef>
                <a:spcPct val="20000"/>
              </a:spcBef>
              <a:buClr>
                <a:schemeClr val="folHlink"/>
              </a:buClr>
            </a:pPr>
            <a:r>
              <a:rPr kumimoji="0" lang="zh-CN" altLang="en-US" b="1" dirty="0" smtClean="0">
                <a:solidFill>
                  <a:schemeClr val="tx1"/>
                </a:solidFill>
                <a:latin typeface="宋体" pitchFamily="2" charset="-122"/>
                <a:ea typeface="宋体" pitchFamily="2" charset="-122"/>
              </a:rPr>
              <a:t>只有当入射光频率高于材料频率限即“红限”（能量大于逸出功）时，才能激发光电子。此时的光波长称为</a:t>
            </a:r>
            <a:r>
              <a:rPr kumimoji="0" lang="zh-CN" altLang="en-US" b="1" dirty="0" smtClean="0">
                <a:solidFill>
                  <a:srgbClr val="FF0000"/>
                </a:solidFill>
                <a:latin typeface="宋体" pitchFamily="2" charset="-122"/>
                <a:ea typeface="宋体" pitchFamily="2" charset="-122"/>
              </a:rPr>
              <a:t>临界波长</a:t>
            </a:r>
            <a:r>
              <a:rPr kumimoji="0" lang="zh-CN" altLang="en-US" b="1" dirty="0" smtClean="0">
                <a:solidFill>
                  <a:schemeClr val="folHlink"/>
                </a:solidFill>
                <a:latin typeface="宋体" pitchFamily="2" charset="-122"/>
                <a:ea typeface="宋体" pitchFamily="2" charset="-122"/>
              </a:rPr>
              <a:t>。</a:t>
            </a:r>
            <a:endParaRPr kumimoji="0"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8.1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光电效应</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9">
                                            <p:txEl>
                                              <p:pRg st="2" end="2"/>
                                            </p:txEl>
                                          </p:spTgt>
                                        </p:tgtEl>
                                        <p:attrNameLst>
                                          <p:attrName>style.visibility</p:attrName>
                                        </p:attrNameLst>
                                      </p:cBhvr>
                                      <p:to>
                                        <p:strVal val="visible"/>
                                      </p:to>
                                    </p:set>
                                    <p:animEffect transition="in" filter="blinds(horizontal)">
                                      <p:cBhvr>
                                        <p:cTn id="7" dur="500"/>
                                        <p:tgtEl>
                                          <p:spTgt spid="10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49" charset="-122"/>
                <a:ea typeface="黑体" pitchFamily="49" charset="-122"/>
              </a:rPr>
              <a:t>外光电效应</a:t>
            </a:r>
          </a:p>
        </p:txBody>
      </p:sp>
      <p:sp>
        <p:nvSpPr>
          <p:cNvPr id="1029" name="Text Box 4"/>
          <p:cNvSpPr txBox="1">
            <a:spLocks noChangeArrowheads="1"/>
          </p:cNvSpPr>
          <p:nvPr/>
        </p:nvSpPr>
        <p:spPr bwMode="auto">
          <a:xfrm>
            <a:off x="285720" y="1989138"/>
            <a:ext cx="8572560" cy="3280898"/>
          </a:xfrm>
          <a:prstGeom prst="rect">
            <a:avLst/>
          </a:prstGeom>
          <a:noFill/>
          <a:ln w="9525" algn="ctr">
            <a:noFill/>
            <a:miter lim="800000"/>
            <a:headEnd/>
            <a:tailEnd/>
          </a:ln>
        </p:spPr>
        <p:txBody>
          <a:bodyPr wrap="square">
            <a:spAutoFit/>
          </a:bodyPr>
          <a:lstStyle/>
          <a:p>
            <a:pPr indent="536575">
              <a:spcBef>
                <a:spcPct val="20000"/>
              </a:spcBef>
              <a:buClr>
                <a:schemeClr val="folHlink"/>
              </a:buClr>
              <a:buFont typeface="Wingdings" pitchFamily="2" charset="2"/>
              <a:buNone/>
            </a:pPr>
            <a:r>
              <a:rPr lang="en-US" altLang="zh-CN" b="1" dirty="0" smtClean="0">
                <a:solidFill>
                  <a:srgbClr val="0000FF"/>
                </a:solidFill>
                <a:latin typeface="宋体" pitchFamily="2" charset="-122"/>
                <a:ea typeface="宋体" pitchFamily="2" charset="-122"/>
              </a:rPr>
              <a:t> </a:t>
            </a:r>
            <a:r>
              <a:rPr lang="zh-CN" altLang="en-US" b="1" dirty="0" smtClean="0">
                <a:solidFill>
                  <a:schemeClr val="tx1"/>
                </a:solidFill>
                <a:latin typeface="宋体" pitchFamily="2" charset="-122"/>
                <a:ea typeface="宋体" pitchFamily="2" charset="-122"/>
              </a:rPr>
              <a:t>利用外光电效应制作的光电元件主要有</a:t>
            </a:r>
            <a:r>
              <a:rPr lang="zh-CN" altLang="en-US" b="1" dirty="0" smtClean="0">
                <a:solidFill>
                  <a:srgbClr val="993300"/>
                </a:solidFill>
                <a:latin typeface="宋体" pitchFamily="2" charset="-122"/>
                <a:ea typeface="宋体" pitchFamily="2" charset="-122"/>
              </a:rPr>
              <a:t>真空光电管</a:t>
            </a:r>
            <a:r>
              <a:rPr lang="zh-CN" altLang="en-US" b="1" dirty="0" smtClean="0">
                <a:solidFill>
                  <a:schemeClr val="tx1"/>
                </a:solidFill>
                <a:latin typeface="宋体" pitchFamily="2" charset="-122"/>
                <a:ea typeface="宋体" pitchFamily="2" charset="-122"/>
              </a:rPr>
              <a:t>和</a:t>
            </a:r>
            <a:r>
              <a:rPr lang="zh-CN" altLang="en-US" b="1" dirty="0" smtClean="0">
                <a:solidFill>
                  <a:srgbClr val="993300"/>
                </a:solidFill>
                <a:latin typeface="宋体" pitchFamily="2" charset="-122"/>
                <a:ea typeface="宋体" pitchFamily="2" charset="-122"/>
              </a:rPr>
              <a:t>光电倍增管</a:t>
            </a:r>
            <a:r>
              <a:rPr lang="zh-CN" altLang="en-US" b="1" dirty="0" smtClean="0">
                <a:solidFill>
                  <a:schemeClr val="tx1"/>
                </a:solidFill>
                <a:latin typeface="宋体" pitchFamily="2" charset="-122"/>
                <a:ea typeface="宋体" pitchFamily="2" charset="-122"/>
              </a:rPr>
              <a:t>等，特别是用这种原理制成的辐射计数管目前仍在普遍使用着。  </a:t>
            </a:r>
            <a:endParaRPr lang="en-US" altLang="zh-CN" b="1" dirty="0" smtClean="0">
              <a:solidFill>
                <a:schemeClr val="tx1"/>
              </a:solidFill>
              <a:latin typeface="宋体" pitchFamily="2" charset="-122"/>
              <a:ea typeface="宋体" pitchFamily="2" charset="-122"/>
            </a:endParaRPr>
          </a:p>
          <a:p>
            <a:pPr indent="536575">
              <a:spcBef>
                <a:spcPct val="20000"/>
              </a:spcBef>
              <a:buClr>
                <a:schemeClr val="folHlink"/>
              </a:buClr>
            </a:pPr>
            <a:r>
              <a:rPr lang="zh-CN" altLang="en-US" b="1" dirty="0" smtClean="0">
                <a:solidFill>
                  <a:schemeClr val="tx1"/>
                </a:solidFill>
                <a:latin typeface="宋体" pitchFamily="2" charset="-122"/>
                <a:ea typeface="宋体" pitchFamily="2" charset="-122"/>
              </a:rPr>
              <a:t>光电子逸出物体表面具有初始动能。因此光电管即使没加阳极电压，也会有光电流产生，为使光电流为零，必须加负的截止电压。</a:t>
            </a:r>
            <a:endParaRPr lang="en-US" altLang="zh-CN" b="1" dirty="0" smtClean="0">
              <a:solidFill>
                <a:schemeClr val="tx1"/>
              </a:solidFill>
              <a:latin typeface="宋体" pitchFamily="2" charset="-122"/>
              <a:ea typeface="宋体" pitchFamily="2" charset="-122"/>
            </a:endParaRPr>
          </a:p>
          <a:p>
            <a:pPr indent="536575">
              <a:spcBef>
                <a:spcPct val="20000"/>
              </a:spcBef>
              <a:buClr>
                <a:schemeClr val="folHlink"/>
              </a:buClr>
            </a:pPr>
            <a:r>
              <a:rPr lang="zh-CN" altLang="en-US" b="1" dirty="0" smtClean="0">
                <a:solidFill>
                  <a:schemeClr val="tx1"/>
                </a:solidFill>
                <a:latin typeface="宋体" pitchFamily="2" charset="-122"/>
                <a:ea typeface="宋体" pitchFamily="2" charset="-122"/>
              </a:rPr>
              <a:t>截止电压与</a:t>
            </a:r>
            <a:r>
              <a:rPr lang="zh-CN" altLang="en-US" b="1" dirty="0" smtClean="0">
                <a:solidFill>
                  <a:srgbClr val="FF0000"/>
                </a:solidFill>
                <a:latin typeface="宋体" pitchFamily="2" charset="-122"/>
                <a:ea typeface="宋体" pitchFamily="2" charset="-122"/>
              </a:rPr>
              <a:t>入射光的频率</a:t>
            </a:r>
            <a:r>
              <a:rPr lang="zh-CN" altLang="en-US" b="1" dirty="0" smtClean="0">
                <a:solidFill>
                  <a:schemeClr val="tx1"/>
                </a:solidFill>
                <a:latin typeface="宋体" pitchFamily="2" charset="-122"/>
                <a:ea typeface="宋体" pitchFamily="2" charset="-122"/>
              </a:rPr>
              <a:t>成正比</a:t>
            </a:r>
            <a:r>
              <a:rPr lang="zh-CN" altLang="en-US" sz="2400" b="1" dirty="0" smtClean="0">
                <a:solidFill>
                  <a:schemeClr val="tx1"/>
                </a:solidFill>
                <a:latin typeface="宋体" pitchFamily="2" charset="-122"/>
                <a:ea typeface="宋体" pitchFamily="2" charset="-122"/>
              </a:rPr>
              <a:t>。</a:t>
            </a:r>
            <a:endParaRPr kumimoji="0"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8.1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光电效应</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9">
                                            <p:txEl>
                                              <p:pRg st="1" end="1"/>
                                            </p:txEl>
                                          </p:spTgt>
                                        </p:tgtEl>
                                        <p:attrNameLst>
                                          <p:attrName>style.visibility</p:attrName>
                                        </p:attrNameLst>
                                      </p:cBhvr>
                                      <p:to>
                                        <p:strVal val="visible"/>
                                      </p:to>
                                    </p:set>
                                    <p:animEffect transition="in" filter="blinds(horizontal)">
                                      <p:cBhvr>
                                        <p:cTn id="7" dur="500"/>
                                        <p:tgtEl>
                                          <p:spTgt spid="102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29">
                                            <p:txEl>
                                              <p:pRg st="2" end="2"/>
                                            </p:txEl>
                                          </p:spTgt>
                                        </p:tgtEl>
                                        <p:attrNameLst>
                                          <p:attrName>style.visibility</p:attrName>
                                        </p:attrNameLst>
                                      </p:cBhvr>
                                      <p:to>
                                        <p:strVal val="visible"/>
                                      </p:to>
                                    </p:set>
                                    <p:animEffect transition="in" filter="blinds(horizontal)">
                                      <p:cBhvr>
                                        <p:cTn id="10" dur="500"/>
                                        <p:tgtEl>
                                          <p:spTgt spid="10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49" charset="-122"/>
                <a:ea typeface="黑体" pitchFamily="49" charset="-122"/>
              </a:rPr>
              <a:t>内光电效应</a:t>
            </a:r>
          </a:p>
        </p:txBody>
      </p:sp>
      <p:sp>
        <p:nvSpPr>
          <p:cNvPr id="1029" name="Text Box 4"/>
          <p:cNvSpPr txBox="1">
            <a:spLocks noChangeArrowheads="1"/>
          </p:cNvSpPr>
          <p:nvPr/>
        </p:nvSpPr>
        <p:spPr bwMode="auto">
          <a:xfrm>
            <a:off x="285720" y="1989138"/>
            <a:ext cx="8572560" cy="3797963"/>
          </a:xfrm>
          <a:prstGeom prst="rect">
            <a:avLst/>
          </a:prstGeom>
          <a:noFill/>
          <a:ln w="9525" algn="ctr">
            <a:noFill/>
            <a:miter lim="800000"/>
            <a:headEnd/>
            <a:tailEnd/>
          </a:ln>
        </p:spPr>
        <p:txBody>
          <a:bodyPr wrap="square">
            <a:spAutoFit/>
          </a:bodyPr>
          <a:lstStyle/>
          <a:p>
            <a:pPr indent="536575">
              <a:spcBef>
                <a:spcPct val="20000"/>
              </a:spcBef>
              <a:buClr>
                <a:schemeClr val="folHlink"/>
              </a:buClr>
              <a:buFont typeface="Wingdings" pitchFamily="2" charset="2"/>
              <a:buNone/>
            </a:pPr>
            <a:r>
              <a:rPr lang="zh-CN" altLang="en-US" b="1" dirty="0" smtClean="0">
                <a:solidFill>
                  <a:schemeClr val="tx1"/>
                </a:solidFill>
                <a:latin typeface="宋体" pitchFamily="2" charset="-122"/>
                <a:ea typeface="宋体" pitchFamily="2" charset="-122"/>
              </a:rPr>
              <a:t>是指在光的照射下，材料的电阻率发生改变的现象</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如：光敏电阻。</a:t>
            </a:r>
            <a:endParaRPr lang="en-US" altLang="zh-CN" b="1" dirty="0" smtClean="0">
              <a:solidFill>
                <a:schemeClr val="tx1"/>
              </a:solidFill>
              <a:latin typeface="宋体" pitchFamily="2" charset="-122"/>
              <a:ea typeface="宋体" pitchFamily="2" charset="-122"/>
            </a:endParaRPr>
          </a:p>
          <a:p>
            <a:pPr indent="536575">
              <a:spcBef>
                <a:spcPct val="20000"/>
              </a:spcBef>
              <a:buClr>
                <a:schemeClr val="folHlink"/>
              </a:buClr>
            </a:pPr>
            <a:r>
              <a:rPr lang="zh-CN" altLang="en-US" b="1" dirty="0" smtClean="0">
                <a:solidFill>
                  <a:srgbClr val="993300"/>
                </a:solidFill>
                <a:latin typeface="宋体" pitchFamily="2" charset="-122"/>
                <a:ea typeface="宋体" pitchFamily="2" charset="-122"/>
              </a:rPr>
              <a:t>物理过程</a:t>
            </a:r>
            <a:r>
              <a:rPr lang="zh-CN" altLang="en-US" b="1" dirty="0" smtClean="0">
                <a:solidFill>
                  <a:schemeClr val="tx1"/>
                </a:solidFill>
                <a:latin typeface="宋体" pitchFamily="2" charset="-122"/>
                <a:ea typeface="宋体" pitchFamily="2" charset="-122"/>
              </a:rPr>
              <a:t>：光照射到半导体材料上时，价带中的电子受到能量大于或等于禁带宽度的光子轰击，并使其由价带越过禁带跃入导带，使材料中导带内的电子和价带内的空穴浓度增大，从而使电导率增大。</a:t>
            </a:r>
            <a:endParaRPr lang="en-US" altLang="zh-CN" b="1" dirty="0" smtClean="0">
              <a:solidFill>
                <a:schemeClr val="tx1"/>
              </a:solidFill>
              <a:latin typeface="宋体" pitchFamily="2" charset="-122"/>
              <a:ea typeface="宋体" pitchFamily="2" charset="-122"/>
            </a:endParaRPr>
          </a:p>
          <a:p>
            <a:pPr indent="536575">
              <a:spcBef>
                <a:spcPct val="20000"/>
              </a:spcBef>
              <a:buClr>
                <a:schemeClr val="folHlink"/>
              </a:buClr>
            </a:pPr>
            <a:r>
              <a:rPr lang="zh-CN" altLang="en-US" b="1" dirty="0" smtClean="0">
                <a:solidFill>
                  <a:schemeClr val="tx1"/>
                </a:solidFill>
                <a:latin typeface="宋体" pitchFamily="2" charset="-122"/>
                <a:ea typeface="宋体" pitchFamily="2" charset="-122"/>
              </a:rPr>
              <a:t>材料的光导性能决定于禁带宽度。</a:t>
            </a:r>
            <a:endParaRPr lang="zh-CN" altLang="en-US" dirty="0" smtClean="0">
              <a:solidFill>
                <a:schemeClr val="tx1"/>
              </a:solidFill>
            </a:endParaRPr>
          </a:p>
          <a:p>
            <a:pPr indent="536575">
              <a:spcBef>
                <a:spcPct val="20000"/>
              </a:spcBef>
              <a:buClr>
                <a:schemeClr val="folHlink"/>
              </a:buClr>
              <a:buFont typeface="Wingdings" pitchFamily="2" charset="2"/>
              <a:buNone/>
            </a:pPr>
            <a:endParaRPr kumimoji="0"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8.1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光电效应</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9">
                                            <p:txEl>
                                              <p:pRg st="1" end="1"/>
                                            </p:txEl>
                                          </p:spTgt>
                                        </p:tgtEl>
                                        <p:attrNameLst>
                                          <p:attrName>style.visibility</p:attrName>
                                        </p:attrNameLst>
                                      </p:cBhvr>
                                      <p:to>
                                        <p:strVal val="visible"/>
                                      </p:to>
                                    </p:set>
                                    <p:animEffect transition="in" filter="blinds(horizontal)">
                                      <p:cBhvr>
                                        <p:cTn id="7" dur="500"/>
                                        <p:tgtEl>
                                          <p:spTgt spid="102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29">
                                            <p:txEl>
                                              <p:pRg st="2" end="2"/>
                                            </p:txEl>
                                          </p:spTgt>
                                        </p:tgtEl>
                                        <p:attrNameLst>
                                          <p:attrName>style.visibility</p:attrName>
                                        </p:attrNameLst>
                                      </p:cBhvr>
                                      <p:to>
                                        <p:strVal val="visible"/>
                                      </p:to>
                                    </p:set>
                                    <p:animEffect transition="in" filter="blinds(horizontal)">
                                      <p:cBhvr>
                                        <p:cTn id="10" dur="500"/>
                                        <p:tgtEl>
                                          <p:spTgt spid="10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r>
              <a:rPr lang="zh-CN" altLang="en-US" sz="2800" b="1" dirty="0" smtClean="0">
                <a:solidFill>
                  <a:srgbClr val="F84D08"/>
                </a:solidFill>
                <a:latin typeface="黑体" pitchFamily="49" charset="-122"/>
                <a:ea typeface="黑体" pitchFamily="49" charset="-122"/>
              </a:rPr>
              <a:t>光生伏特效应</a:t>
            </a:r>
          </a:p>
        </p:txBody>
      </p:sp>
      <p:sp>
        <p:nvSpPr>
          <p:cNvPr id="1029" name="Text Box 4"/>
          <p:cNvSpPr txBox="1">
            <a:spLocks noChangeArrowheads="1"/>
          </p:cNvSpPr>
          <p:nvPr/>
        </p:nvSpPr>
        <p:spPr bwMode="auto">
          <a:xfrm>
            <a:off x="285720" y="1989138"/>
            <a:ext cx="8572560" cy="3341492"/>
          </a:xfrm>
          <a:prstGeom prst="rect">
            <a:avLst/>
          </a:prstGeom>
          <a:noFill/>
          <a:ln w="9525" algn="ctr">
            <a:noFill/>
            <a:miter lim="800000"/>
            <a:headEnd/>
            <a:tailEnd/>
          </a:ln>
        </p:spPr>
        <p:txBody>
          <a:bodyPr wrap="square">
            <a:spAutoFit/>
          </a:bodyPr>
          <a:lstStyle/>
          <a:p>
            <a:pPr indent="446088">
              <a:lnSpc>
                <a:spcPct val="120000"/>
              </a:lnSpc>
              <a:spcBef>
                <a:spcPct val="50000"/>
              </a:spcBef>
            </a:pPr>
            <a:r>
              <a:rPr lang="zh-CN" altLang="en-US" b="1" dirty="0" smtClean="0">
                <a:solidFill>
                  <a:schemeClr val="tx1"/>
                </a:solidFill>
                <a:latin typeface="宋体" pitchFamily="2" charset="-122"/>
                <a:ea typeface="宋体" pitchFamily="2" charset="-122"/>
              </a:rPr>
              <a:t>光生伏特效应利用光势垒效应。</a:t>
            </a:r>
            <a:endParaRPr lang="en-US" altLang="zh-CN" b="1" dirty="0" smtClean="0">
              <a:solidFill>
                <a:schemeClr val="tx1"/>
              </a:solidFill>
              <a:latin typeface="宋体" pitchFamily="2" charset="-122"/>
              <a:ea typeface="宋体" pitchFamily="2" charset="-122"/>
            </a:endParaRPr>
          </a:p>
          <a:p>
            <a:pPr indent="446088">
              <a:lnSpc>
                <a:spcPct val="120000"/>
              </a:lnSpc>
              <a:spcBef>
                <a:spcPts val="0"/>
              </a:spcBef>
            </a:pPr>
            <a:r>
              <a:rPr lang="zh-CN" altLang="en-US" b="1" dirty="0" smtClean="0">
                <a:solidFill>
                  <a:schemeClr val="tx1"/>
                </a:solidFill>
                <a:latin typeface="宋体" pitchFamily="2" charset="-122"/>
                <a:ea typeface="宋体" pitchFamily="2" charset="-122"/>
              </a:rPr>
              <a:t>光势垒效应指在光的照射下，物体内部产生一定方向的电势。</a:t>
            </a:r>
            <a:endParaRPr lang="en-US" altLang="zh-CN" b="1" dirty="0" smtClean="0">
              <a:solidFill>
                <a:schemeClr val="tx1"/>
              </a:solidFill>
              <a:latin typeface="宋体" pitchFamily="2" charset="-122"/>
              <a:ea typeface="宋体" pitchFamily="2" charset="-122"/>
            </a:endParaRPr>
          </a:p>
          <a:p>
            <a:pPr indent="446088">
              <a:lnSpc>
                <a:spcPct val="120000"/>
              </a:lnSpc>
              <a:spcBef>
                <a:spcPct val="50000"/>
              </a:spcBef>
            </a:pPr>
            <a:r>
              <a:rPr lang="zh-CN" altLang="en-US" b="1" dirty="0" smtClean="0">
                <a:solidFill>
                  <a:schemeClr val="tx1"/>
                </a:solidFill>
                <a:latin typeface="宋体" pitchFamily="2" charset="-122"/>
                <a:ea typeface="宋体" pitchFamily="2" charset="-122"/>
              </a:rPr>
              <a:t>光电伏特型光电元件是自发电式的，是有源器件。当受到光照时这种半导体器件就产生一定方向的电动势，而不需外部电源。</a:t>
            </a:r>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8.1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光电效应</a:t>
            </a: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9">
                                            <p:txEl>
                                              <p:pRg st="2" end="2"/>
                                            </p:txEl>
                                          </p:spTgt>
                                        </p:tgtEl>
                                        <p:attrNameLst>
                                          <p:attrName>style.visibility</p:attrName>
                                        </p:attrNameLst>
                                      </p:cBhvr>
                                      <p:to>
                                        <p:strVal val="visible"/>
                                      </p:to>
                                    </p:set>
                                    <p:animEffect transition="in" filter="blinds(horizontal)">
                                      <p:cBhvr>
                                        <p:cTn id="7" dur="500"/>
                                        <p:tgtEl>
                                          <p:spTgt spid="10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8.2 </a:t>
            </a:r>
            <a:r>
              <a:rPr lang="zh-CN" altLang="en-US" b="1" dirty="0" smtClean="0">
                <a:solidFill>
                  <a:schemeClr val="tx2"/>
                </a:solidFill>
                <a:latin typeface="黑体" pitchFamily="49" charset="-122"/>
                <a:ea typeface="黑体" pitchFamily="49" charset="-122"/>
              </a:rPr>
              <a:t>光电器件及特征</a:t>
            </a:r>
          </a:p>
        </p:txBody>
      </p:sp>
      <p:sp>
        <p:nvSpPr>
          <p:cNvPr id="14340" name="Text Box 4"/>
          <p:cNvSpPr txBox="1">
            <a:spLocks noChangeArrowheads="1"/>
          </p:cNvSpPr>
          <p:nvPr/>
        </p:nvSpPr>
        <p:spPr bwMode="auto">
          <a:xfrm>
            <a:off x="214282" y="1643050"/>
            <a:ext cx="8643998" cy="573042"/>
          </a:xfrm>
          <a:prstGeom prst="rect">
            <a:avLst/>
          </a:prstGeom>
          <a:noFill/>
          <a:ln w="9525" algn="ctr">
            <a:noFill/>
            <a:miter lim="800000"/>
            <a:headEnd/>
            <a:tailEnd/>
          </a:ln>
        </p:spPr>
        <p:txBody>
          <a:bodyPr wrap="square">
            <a:spAutoFit/>
          </a:bodyPr>
          <a:lstStyle/>
          <a:p>
            <a:pPr indent="365125">
              <a:lnSpc>
                <a:spcPct val="130000"/>
              </a:lnSpc>
            </a:pPr>
            <a:r>
              <a:rPr lang="zh-CN" altLang="en-US" b="1" dirty="0" smtClean="0">
                <a:solidFill>
                  <a:srgbClr val="F84D08"/>
                </a:solidFill>
                <a:latin typeface="黑体" pitchFamily="49" charset="-122"/>
                <a:ea typeface="黑体" pitchFamily="49" charset="-122"/>
                <a:cs typeface="+mj-cs"/>
              </a:rPr>
              <a:t>光电倍增管</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85720" y="2214554"/>
            <a:ext cx="8572560" cy="2246769"/>
          </a:xfrm>
          <a:prstGeom prst="rect">
            <a:avLst/>
          </a:prstGeom>
        </p:spPr>
        <p:txBody>
          <a:bodyPr wrap="square">
            <a:spAutoFit/>
          </a:bodyPr>
          <a:lstStyle/>
          <a:p>
            <a:pPr indent="719138"/>
            <a:r>
              <a:rPr lang="zh-CN" altLang="en-US" b="1" dirty="0" smtClean="0">
                <a:solidFill>
                  <a:schemeClr val="tx1"/>
                </a:solidFill>
                <a:latin typeface="宋体" pitchFamily="2" charset="-122"/>
                <a:ea typeface="宋体" pitchFamily="2" charset="-122"/>
              </a:rPr>
              <a:t>在光电阴极和阳极之间有若干个光电倍增极。它们的电位逐级升高。当有入射光照射时，阴极发射的光电子到倍增极上引起二次电子发射，在阴极和阳极间的电场作用下，逐级产生二次电子发射，电子数量迅速递增</a:t>
            </a:r>
            <a:r>
              <a:rPr lang="zh-CN" altLang="en-US" dirty="0" smtClean="0">
                <a:solidFill>
                  <a:schemeClr val="tx1"/>
                </a:solidFill>
                <a:latin typeface="Verdana" pitchFamily="34" charset="0"/>
                <a:ea typeface="宋体" pitchFamily="2" charset="-122"/>
              </a:rPr>
              <a:t>。</a:t>
            </a:r>
            <a:endParaRPr lang="zh-CN" altLang="en-US" dirty="0">
              <a:solidFill>
                <a:schemeClr val="tx1"/>
              </a:solidFill>
              <a:latin typeface="Verdana" pitchFamily="34" charset="0"/>
              <a:ea typeface="宋体" pitchFamily="2" charset="-122"/>
            </a:endParaRPr>
          </a:p>
        </p:txBody>
      </p:sp>
      <p:graphicFrame>
        <p:nvGraphicFramePr>
          <p:cNvPr id="602130" name="Object 18"/>
          <p:cNvGraphicFramePr>
            <a:graphicFrameLocks noGrp="1" noChangeAspect="1"/>
          </p:cNvGraphicFramePr>
          <p:nvPr/>
        </p:nvGraphicFramePr>
        <p:xfrm>
          <a:off x="1785918" y="4500570"/>
          <a:ext cx="3535363" cy="2135187"/>
        </p:xfrm>
        <a:graphic>
          <a:graphicData uri="http://schemas.openxmlformats.org/presentationml/2006/ole">
            <mc:AlternateContent xmlns:mc="http://schemas.openxmlformats.org/markup-compatibility/2006">
              <mc:Choice xmlns:v="urn:schemas-microsoft-com:vml" Requires="v">
                <p:oleObj spid="_x0000_s64528" name="Image" r:id="rId3" imgW="14400000" imgH="8698776" progId="">
                  <p:embed/>
                </p:oleObj>
              </mc:Choice>
              <mc:Fallback>
                <p:oleObj name="Image" r:id="rId3" imgW="14400000" imgH="8698776" progId="">
                  <p:embed/>
                  <p:pic>
                    <p:nvPicPr>
                      <p:cNvPr id="0" name="Object 1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18" y="4500570"/>
                        <a:ext cx="3535363" cy="213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2132" name="Object 20"/>
          <p:cNvGraphicFramePr>
            <a:graphicFrameLocks noGrp="1" noChangeAspect="1"/>
          </p:cNvGraphicFramePr>
          <p:nvPr/>
        </p:nvGraphicFramePr>
        <p:xfrm>
          <a:off x="6107093" y="4070357"/>
          <a:ext cx="2062163" cy="2565400"/>
        </p:xfrm>
        <a:graphic>
          <a:graphicData uri="http://schemas.openxmlformats.org/presentationml/2006/ole">
            <mc:AlternateContent xmlns:mc="http://schemas.openxmlformats.org/markup-compatibility/2006">
              <mc:Choice xmlns:v="urn:schemas-microsoft-com:vml" Requires="v">
                <p:oleObj spid="_x0000_s64529" name="Image" r:id="rId5" imgW="11578776" imgH="14400000" progId="">
                  <p:embed/>
                </p:oleObj>
              </mc:Choice>
              <mc:Fallback>
                <p:oleObj name="Image" r:id="rId5" imgW="11578776" imgH="14400000" progId="">
                  <p:embed/>
                  <p:pic>
                    <p:nvPicPr>
                      <p:cNvPr id="0" name="Object 20"/>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07093" y="4070357"/>
                        <a:ext cx="2062163"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2130"/>
                                        </p:tgtEl>
                                        <p:attrNameLst>
                                          <p:attrName>style.visibility</p:attrName>
                                        </p:attrNameLst>
                                      </p:cBhvr>
                                      <p:to>
                                        <p:strVal val="visible"/>
                                      </p:to>
                                    </p:set>
                                    <p:animEffect transition="in" filter="blinds(horizontal)">
                                      <p:cBhvr>
                                        <p:cTn id="7" dur="500"/>
                                        <p:tgtEl>
                                          <p:spTgt spid="6021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02132"/>
                                        </p:tgtEl>
                                        <p:attrNameLst>
                                          <p:attrName>style.visibility</p:attrName>
                                        </p:attrNameLst>
                                      </p:cBhvr>
                                      <p:to>
                                        <p:strVal val="visible"/>
                                      </p:to>
                                    </p:set>
                                    <p:animEffect transition="in" filter="blinds(horizontal)">
                                      <p:cBhvr>
                                        <p:cTn id="12" dur="500"/>
                                        <p:tgtEl>
                                          <p:spTgt spid="602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光电倍增管</a:t>
            </a:r>
          </a:p>
        </p:txBody>
      </p:sp>
      <p:sp>
        <p:nvSpPr>
          <p:cNvPr id="1029" name="Text Box 4"/>
          <p:cNvSpPr txBox="1">
            <a:spLocks noChangeArrowheads="1"/>
          </p:cNvSpPr>
          <p:nvPr/>
        </p:nvSpPr>
        <p:spPr bwMode="auto">
          <a:xfrm>
            <a:off x="285720" y="1989138"/>
            <a:ext cx="8572560" cy="3970318"/>
          </a:xfrm>
          <a:prstGeom prst="rect">
            <a:avLst/>
          </a:prstGeom>
          <a:noFill/>
          <a:ln w="9525" algn="ctr">
            <a:noFill/>
            <a:miter lim="800000"/>
            <a:headEnd/>
            <a:tailEnd/>
          </a:ln>
        </p:spPr>
        <p:txBody>
          <a:bodyPr wrap="square">
            <a:spAutoFit/>
          </a:bodyPr>
          <a:lstStyle/>
          <a:p>
            <a:pPr indent="446088">
              <a:lnSpc>
                <a:spcPct val="120000"/>
              </a:lnSpc>
              <a:spcBef>
                <a:spcPct val="50000"/>
              </a:spcBef>
            </a:pPr>
            <a:r>
              <a:rPr lang="zh-CN" altLang="en-US" b="1" dirty="0" smtClean="0">
                <a:solidFill>
                  <a:srgbClr val="993300"/>
                </a:solidFill>
                <a:latin typeface="楷体_GB2312" pitchFamily="49" charset="-122"/>
                <a:ea typeface="楷体_GB2312" pitchFamily="49" charset="-122"/>
              </a:rPr>
              <a:t>主要特性参数</a:t>
            </a:r>
            <a:endParaRPr lang="en-US" altLang="zh-CN" b="1" dirty="0" smtClean="0">
              <a:solidFill>
                <a:srgbClr val="993300"/>
              </a:solidFill>
              <a:latin typeface="楷体_GB2312" pitchFamily="49" charset="-122"/>
              <a:ea typeface="楷体_GB2312" pitchFamily="49" charset="-122"/>
            </a:endParaRPr>
          </a:p>
          <a:p>
            <a:pPr>
              <a:lnSpc>
                <a:spcPct val="130000"/>
              </a:lnSpc>
              <a:buClr>
                <a:schemeClr val="tx1"/>
              </a:buClr>
              <a:buFont typeface="Wingdings" pitchFamily="2" charset="2"/>
              <a:buChar char="l"/>
            </a:pPr>
            <a:r>
              <a:rPr lang="zh-CN" altLang="en-US" b="1" dirty="0" smtClean="0">
                <a:solidFill>
                  <a:srgbClr val="993300"/>
                </a:solidFill>
                <a:latin typeface="宋体" pitchFamily="2" charset="-122"/>
                <a:ea typeface="宋体" pitchFamily="2" charset="-122"/>
              </a:rPr>
              <a:t> 倍增系数：</a:t>
            </a:r>
            <a:r>
              <a:rPr lang="zh-CN" altLang="en-US" b="1" dirty="0" smtClean="0">
                <a:solidFill>
                  <a:schemeClr val="tx1"/>
                </a:solidFill>
                <a:latin typeface="宋体" pitchFamily="2" charset="-122"/>
                <a:ea typeface="宋体" pitchFamily="2" charset="-122"/>
              </a:rPr>
              <a:t>倍增极收集电子的效率。</a:t>
            </a:r>
          </a:p>
          <a:p>
            <a:pPr>
              <a:lnSpc>
                <a:spcPct val="130000"/>
              </a:lnSpc>
              <a:buClr>
                <a:schemeClr val="tx1"/>
              </a:buClr>
              <a:buFont typeface="Wingdings" pitchFamily="2" charset="2"/>
              <a:buChar char="l"/>
            </a:pPr>
            <a:r>
              <a:rPr lang="zh-CN" altLang="en-US" b="1" dirty="0" smtClean="0">
                <a:solidFill>
                  <a:srgbClr val="993300"/>
                </a:solidFill>
                <a:latin typeface="宋体" pitchFamily="2" charset="-122"/>
                <a:ea typeface="宋体" pitchFamily="2" charset="-122"/>
              </a:rPr>
              <a:t> 光电阴极的灵敏度及光电倍增管的灵敏度：</a:t>
            </a:r>
            <a:endParaRPr lang="en-US" altLang="zh-CN" b="1" dirty="0" smtClean="0">
              <a:solidFill>
                <a:srgbClr val="993300"/>
              </a:solidFill>
              <a:latin typeface="宋体" pitchFamily="2" charset="-122"/>
              <a:ea typeface="宋体" pitchFamily="2" charset="-122"/>
            </a:endParaRPr>
          </a:p>
          <a:p>
            <a:pPr lvl="1">
              <a:lnSpc>
                <a:spcPct val="130000"/>
              </a:lnSpc>
              <a:buClr>
                <a:schemeClr val="tx1"/>
              </a:buClr>
              <a:buFont typeface="Wingdings" pitchFamily="2" charset="2"/>
              <a:buChar char="u"/>
            </a:pPr>
            <a:r>
              <a:rPr lang="zh-CN" altLang="en-US" b="1" dirty="0" smtClean="0">
                <a:solidFill>
                  <a:schemeClr val="tx1"/>
                </a:solidFill>
                <a:latin typeface="宋体" pitchFamily="2" charset="-122"/>
                <a:ea typeface="宋体" pitchFamily="2" charset="-122"/>
              </a:rPr>
              <a:t>光电阴极灵敏度是指一个光子射在阴极上所能激发的电子数。</a:t>
            </a:r>
            <a:endParaRPr lang="en-US" altLang="zh-CN" b="1" dirty="0" smtClean="0">
              <a:solidFill>
                <a:schemeClr val="tx1"/>
              </a:solidFill>
              <a:latin typeface="宋体" pitchFamily="2" charset="-122"/>
              <a:ea typeface="宋体" pitchFamily="2" charset="-122"/>
            </a:endParaRPr>
          </a:p>
          <a:p>
            <a:pPr lvl="1">
              <a:lnSpc>
                <a:spcPct val="130000"/>
              </a:lnSpc>
              <a:buClr>
                <a:schemeClr val="tx1"/>
              </a:buClr>
              <a:buFont typeface="Wingdings" pitchFamily="2" charset="2"/>
              <a:buChar char="u"/>
            </a:pPr>
            <a:r>
              <a:rPr lang="zh-CN" altLang="en-US" b="1" dirty="0" smtClean="0">
                <a:solidFill>
                  <a:schemeClr val="tx1"/>
                </a:solidFill>
                <a:latin typeface="宋体" pitchFamily="2" charset="-122"/>
                <a:ea typeface="宋体" pitchFamily="2" charset="-122"/>
              </a:rPr>
              <a:t> 光电倍增管的灵敏度是指一个光子入射之后，在阳极上所得到的总电子数，与加速电压有关。</a:t>
            </a:r>
            <a:endParaRPr lang="en-US" altLang="zh-CN" b="1" dirty="0" smtClean="0">
              <a:solidFill>
                <a:srgbClr val="993300"/>
              </a:solidFill>
              <a:latin typeface="楷体_GB2312" pitchFamily="49" charset="-122"/>
              <a:ea typeface="楷体_GB2312" pitchFamily="49"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9">
                                            <p:txEl>
                                              <p:pRg st="3" end="3"/>
                                            </p:txEl>
                                          </p:spTgt>
                                        </p:tgtEl>
                                        <p:attrNameLst>
                                          <p:attrName>style.visibility</p:attrName>
                                        </p:attrNameLst>
                                      </p:cBhvr>
                                      <p:to>
                                        <p:strVal val="visible"/>
                                      </p:to>
                                    </p:set>
                                    <p:animEffect transition="in" filter="blinds(horizontal)">
                                      <p:cBhvr>
                                        <p:cTn id="7" dur="500"/>
                                        <p:tgtEl>
                                          <p:spTgt spid="1029">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29">
                                            <p:txEl>
                                              <p:pRg st="4" end="4"/>
                                            </p:txEl>
                                          </p:spTgt>
                                        </p:tgtEl>
                                        <p:attrNameLst>
                                          <p:attrName>style.visibility</p:attrName>
                                        </p:attrNameLst>
                                      </p:cBhvr>
                                      <p:to>
                                        <p:strVal val="visible"/>
                                      </p:to>
                                    </p:set>
                                    <p:animEffect transition="in" filter="blinds(horizontal)">
                                      <p:cBhvr>
                                        <p:cTn id="10" dur="500"/>
                                        <p:tgtEl>
                                          <p:spTgt spid="102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光电倍增管</a:t>
            </a:r>
          </a:p>
        </p:txBody>
      </p:sp>
      <p:sp>
        <p:nvSpPr>
          <p:cNvPr id="1029" name="Text Box 4"/>
          <p:cNvSpPr txBox="1">
            <a:spLocks noChangeArrowheads="1"/>
          </p:cNvSpPr>
          <p:nvPr/>
        </p:nvSpPr>
        <p:spPr bwMode="auto">
          <a:xfrm>
            <a:off x="285720" y="1989138"/>
            <a:ext cx="8572560" cy="4228850"/>
          </a:xfrm>
          <a:prstGeom prst="rect">
            <a:avLst/>
          </a:prstGeom>
          <a:noFill/>
          <a:ln w="9525" algn="ctr">
            <a:noFill/>
            <a:miter lim="800000"/>
            <a:headEnd/>
            <a:tailEnd/>
          </a:ln>
        </p:spPr>
        <p:txBody>
          <a:bodyPr wrap="square">
            <a:spAutoFit/>
          </a:bodyPr>
          <a:lstStyle/>
          <a:p>
            <a:pPr>
              <a:lnSpc>
                <a:spcPct val="120000"/>
              </a:lnSpc>
              <a:buClr>
                <a:schemeClr val="tx1"/>
              </a:buClr>
              <a:buFont typeface="Wingdings" pitchFamily="2" charset="2"/>
              <a:buChar char="l"/>
            </a:pPr>
            <a:r>
              <a:rPr lang="zh-CN" altLang="en-US" b="1" dirty="0" smtClean="0">
                <a:solidFill>
                  <a:srgbClr val="993300"/>
                </a:solidFill>
                <a:latin typeface="宋体" pitchFamily="2" charset="-122"/>
                <a:ea typeface="宋体" pitchFamily="2" charset="-122"/>
              </a:rPr>
              <a:t> 暗电流：</a:t>
            </a:r>
            <a:r>
              <a:rPr lang="zh-CN" altLang="en-US" b="1" dirty="0" smtClean="0">
                <a:solidFill>
                  <a:schemeClr val="tx1"/>
                </a:solidFill>
                <a:latin typeface="宋体" pitchFamily="2" charset="-122"/>
                <a:ea typeface="宋体" pitchFamily="2" charset="-122"/>
              </a:rPr>
              <a:t>光电倍增管不受光照，但极间加入电压时在阳极上会收集到电子，这时的电流称为</a:t>
            </a:r>
            <a:r>
              <a:rPr lang="zh-CN" altLang="en-US" b="1" dirty="0" smtClean="0">
                <a:solidFill>
                  <a:srgbClr val="FF0000"/>
                </a:solidFill>
                <a:latin typeface="宋体" pitchFamily="2" charset="-122"/>
                <a:ea typeface="宋体" pitchFamily="2" charset="-122"/>
              </a:rPr>
              <a:t>暗电流</a:t>
            </a:r>
            <a:r>
              <a:rPr lang="zh-CN" altLang="en-US" b="1" dirty="0" smtClean="0">
                <a:solidFill>
                  <a:schemeClr val="tx1"/>
                </a:solidFill>
                <a:latin typeface="宋体" pitchFamily="2" charset="-122"/>
                <a:ea typeface="宋体" pitchFamily="2" charset="-122"/>
              </a:rPr>
              <a:t>，这是热发射所致或是场致发射造成的。</a:t>
            </a:r>
            <a:endParaRPr lang="en-US" altLang="zh-CN" b="1" dirty="0" smtClean="0">
              <a:solidFill>
                <a:schemeClr val="tx1"/>
              </a:solidFill>
              <a:latin typeface="宋体" pitchFamily="2" charset="-122"/>
              <a:ea typeface="宋体" pitchFamily="2" charset="-122"/>
            </a:endParaRPr>
          </a:p>
          <a:p>
            <a:pPr>
              <a:lnSpc>
                <a:spcPct val="120000"/>
              </a:lnSpc>
              <a:buClr>
                <a:schemeClr val="tx1"/>
              </a:buClr>
              <a:buFont typeface="Wingdings" pitchFamily="2" charset="2"/>
              <a:buChar char="l"/>
            </a:pPr>
            <a:r>
              <a:rPr lang="zh-CN" altLang="en-US" b="1" dirty="0" smtClean="0">
                <a:solidFill>
                  <a:srgbClr val="993300"/>
                </a:solidFill>
                <a:latin typeface="宋体" pitchFamily="2" charset="-122"/>
                <a:ea typeface="宋体" pitchFamily="2" charset="-122"/>
              </a:rPr>
              <a:t> 本底电流：</a:t>
            </a:r>
            <a:r>
              <a:rPr lang="zh-CN" altLang="en-US" b="1" dirty="0" smtClean="0">
                <a:solidFill>
                  <a:schemeClr val="tx1"/>
                </a:solidFill>
                <a:latin typeface="宋体" pitchFamily="2" charset="-122"/>
                <a:ea typeface="宋体" pitchFamily="2" charset="-122"/>
              </a:rPr>
              <a:t>如果光电倍增管与</a:t>
            </a:r>
            <a:r>
              <a:rPr lang="zh-CN" altLang="en-US" b="1" dirty="0" smtClean="0">
                <a:solidFill>
                  <a:srgbClr val="FF0000"/>
                </a:solidFill>
                <a:latin typeface="宋体" pitchFamily="2" charset="-122"/>
                <a:ea typeface="宋体" pitchFamily="2" charset="-122"/>
              </a:rPr>
              <a:t>闪烁体</a:t>
            </a:r>
            <a:r>
              <a:rPr lang="zh-CN" altLang="en-US" b="1" dirty="0" smtClean="0">
                <a:solidFill>
                  <a:schemeClr val="tx1"/>
                </a:solidFill>
                <a:latin typeface="宋体" pitchFamily="2" charset="-122"/>
                <a:ea typeface="宋体" pitchFamily="2" charset="-122"/>
              </a:rPr>
              <a:t>放在一处，在完全蔽光情况下，出现的电流称本底电流，其值大于暗电流。这是宇宙射线对闪烁体的照射而使其发光，照射在光电倍增管上而造成的；</a:t>
            </a:r>
            <a:endParaRPr lang="en-US" altLang="zh-CN" b="1" dirty="0" smtClean="0">
              <a:solidFill>
                <a:schemeClr val="tx1"/>
              </a:solidFill>
              <a:latin typeface="宋体" pitchFamily="2" charset="-122"/>
              <a:ea typeface="宋体" pitchFamily="2" charset="-122"/>
            </a:endParaRPr>
          </a:p>
          <a:p>
            <a:pPr>
              <a:lnSpc>
                <a:spcPct val="120000"/>
              </a:lnSpc>
              <a:buClr>
                <a:schemeClr val="tx1"/>
              </a:buClr>
            </a:pPr>
            <a:r>
              <a:rPr lang="zh-CN" altLang="en-US" b="1" dirty="0" smtClean="0">
                <a:solidFill>
                  <a:schemeClr val="tx1"/>
                </a:solidFill>
                <a:latin typeface="宋体" pitchFamily="2" charset="-122"/>
                <a:ea typeface="宋体" pitchFamily="2" charset="-122"/>
              </a:rPr>
              <a:t>   本底电流具有脉冲形式。</a:t>
            </a:r>
            <a:endParaRPr lang="en-US" altLang="zh-CN"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9">
                                            <p:txEl>
                                              <p:pRg st="1" end="1"/>
                                            </p:txEl>
                                          </p:spTgt>
                                        </p:tgtEl>
                                        <p:attrNameLst>
                                          <p:attrName>style.visibility</p:attrName>
                                        </p:attrNameLst>
                                      </p:cBhvr>
                                      <p:to>
                                        <p:strVal val="visible"/>
                                      </p:to>
                                    </p:set>
                                    <p:animEffect transition="in" filter="blinds(horizontal)">
                                      <p:cBhvr>
                                        <p:cTn id="7" dur="500"/>
                                        <p:tgtEl>
                                          <p:spTgt spid="102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29">
                                            <p:txEl>
                                              <p:pRg st="2" end="2"/>
                                            </p:txEl>
                                          </p:spTgt>
                                        </p:tgtEl>
                                        <p:attrNameLst>
                                          <p:attrName>style.visibility</p:attrName>
                                        </p:attrNameLst>
                                      </p:cBhvr>
                                      <p:to>
                                        <p:strVal val="visible"/>
                                      </p:to>
                                    </p:set>
                                    <p:animEffect transition="in" filter="blinds(horizontal)">
                                      <p:cBhvr>
                                        <p:cTn id="10" dur="500"/>
                                        <p:tgtEl>
                                          <p:spTgt spid="10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光电倍增管</a:t>
            </a:r>
          </a:p>
        </p:txBody>
      </p:sp>
      <p:sp>
        <p:nvSpPr>
          <p:cNvPr id="1029" name="Text Box 4"/>
          <p:cNvSpPr txBox="1">
            <a:spLocks noChangeArrowheads="1"/>
          </p:cNvSpPr>
          <p:nvPr/>
        </p:nvSpPr>
        <p:spPr bwMode="auto">
          <a:xfrm>
            <a:off x="285720" y="1989138"/>
            <a:ext cx="8572560" cy="2091919"/>
          </a:xfrm>
          <a:prstGeom prst="rect">
            <a:avLst/>
          </a:prstGeom>
          <a:noFill/>
          <a:ln w="9525" algn="ctr">
            <a:noFill/>
            <a:miter lim="800000"/>
            <a:headEnd/>
            <a:tailEnd/>
          </a:ln>
        </p:spPr>
        <p:txBody>
          <a:bodyPr wrap="square">
            <a:spAutoFit/>
          </a:bodyPr>
          <a:lstStyle/>
          <a:p>
            <a:pPr>
              <a:lnSpc>
                <a:spcPct val="120000"/>
              </a:lnSpc>
              <a:buClr>
                <a:schemeClr val="tx1"/>
              </a:buClr>
              <a:buFont typeface="Wingdings" pitchFamily="2" charset="2"/>
              <a:buChar char="l"/>
            </a:pPr>
            <a:r>
              <a:rPr lang="zh-CN" altLang="en-US" b="1" dirty="0" smtClean="0">
                <a:solidFill>
                  <a:srgbClr val="993300"/>
                </a:solidFill>
                <a:latin typeface="宋体" pitchFamily="2" charset="-122"/>
                <a:ea typeface="宋体" pitchFamily="2" charset="-122"/>
              </a:rPr>
              <a:t>飞行时间及其涨落：</a:t>
            </a:r>
            <a:r>
              <a:rPr lang="zh-CN" altLang="en-US" b="1" dirty="0" smtClean="0">
                <a:solidFill>
                  <a:schemeClr val="tx1"/>
                </a:solidFill>
                <a:latin typeface="宋体" pitchFamily="2" charset="-122"/>
                <a:ea typeface="宋体" pitchFamily="2" charset="-122"/>
              </a:rPr>
              <a:t>飞行时间是指从光电阴极发射出电子开始，到收集阳极接受到电子为止所经过的时间。</a:t>
            </a:r>
            <a:endParaRPr lang="en-US" altLang="zh-CN" b="1" dirty="0" smtClean="0">
              <a:solidFill>
                <a:schemeClr val="tx1"/>
              </a:solidFill>
              <a:latin typeface="宋体" pitchFamily="2" charset="-122"/>
              <a:ea typeface="宋体" pitchFamily="2" charset="-122"/>
            </a:endParaRPr>
          </a:p>
          <a:p>
            <a:pPr indent="620713">
              <a:lnSpc>
                <a:spcPct val="120000"/>
              </a:lnSpc>
              <a:buClr>
                <a:schemeClr val="tx1"/>
              </a:buClr>
            </a:pPr>
            <a:r>
              <a:rPr lang="zh-CN" altLang="en-US" b="1" dirty="0" smtClean="0">
                <a:solidFill>
                  <a:schemeClr val="tx1"/>
                </a:solidFill>
                <a:latin typeface="宋体" pitchFamily="2" charset="-122"/>
                <a:ea typeface="宋体" pitchFamily="2" charset="-122"/>
              </a:rPr>
              <a:t>飞行时间不恒定，其波动值用时间涨落表示。</a:t>
            </a:r>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光电倍增管</a:t>
            </a:r>
          </a:p>
        </p:txBody>
      </p:sp>
      <p:sp>
        <p:nvSpPr>
          <p:cNvPr id="1029" name="Text Box 4"/>
          <p:cNvSpPr txBox="1">
            <a:spLocks noChangeArrowheads="1"/>
          </p:cNvSpPr>
          <p:nvPr/>
        </p:nvSpPr>
        <p:spPr bwMode="auto">
          <a:xfrm>
            <a:off x="285720" y="1989138"/>
            <a:ext cx="8572560" cy="2677656"/>
          </a:xfrm>
          <a:prstGeom prst="rect">
            <a:avLst/>
          </a:prstGeom>
          <a:noFill/>
          <a:ln w="9525" algn="ctr">
            <a:noFill/>
            <a:miter lim="800000"/>
            <a:headEnd/>
            <a:tailEnd/>
          </a:ln>
        </p:spPr>
        <p:txBody>
          <a:bodyPr wrap="square">
            <a:spAutoFit/>
          </a:bodyPr>
          <a:lstStyle/>
          <a:p>
            <a:pPr indent="446088">
              <a:lnSpc>
                <a:spcPct val="120000"/>
              </a:lnSpc>
              <a:spcBef>
                <a:spcPct val="50000"/>
              </a:spcBef>
            </a:pPr>
            <a:r>
              <a:rPr lang="zh-CN" altLang="en-US" b="1" dirty="0" smtClean="0">
                <a:solidFill>
                  <a:srgbClr val="993300"/>
                </a:solidFill>
                <a:latin typeface="楷体_GB2312" pitchFamily="49" charset="-122"/>
                <a:ea typeface="楷体_GB2312" pitchFamily="49" charset="-122"/>
              </a:rPr>
              <a:t>主要特性</a:t>
            </a:r>
            <a:endParaRPr lang="en-US" altLang="zh-CN" b="1" dirty="0" smtClean="0">
              <a:solidFill>
                <a:srgbClr val="993300"/>
              </a:solidFill>
              <a:latin typeface="楷体_GB2312" pitchFamily="49" charset="-122"/>
              <a:ea typeface="楷体_GB2312" pitchFamily="49" charset="-122"/>
            </a:endParaRPr>
          </a:p>
          <a:p>
            <a:pPr indent="446088">
              <a:lnSpc>
                <a:spcPct val="120000"/>
              </a:lnSpc>
              <a:spcBef>
                <a:spcPts val="0"/>
              </a:spcBef>
            </a:pPr>
            <a:r>
              <a:rPr kumimoji="0" lang="zh-CN" altLang="en-US" b="1" dirty="0" smtClean="0">
                <a:solidFill>
                  <a:schemeClr val="tx1"/>
                </a:solidFill>
                <a:latin typeface="宋体" pitchFamily="2" charset="-122"/>
                <a:ea typeface="宋体" pitchFamily="2" charset="-122"/>
              </a:rPr>
              <a:t> </a:t>
            </a:r>
            <a:r>
              <a:rPr kumimoji="0" lang="zh-CN" altLang="en-US" b="1" dirty="0" smtClean="0">
                <a:solidFill>
                  <a:srgbClr val="C00000"/>
                </a:solidFill>
                <a:latin typeface="宋体" pitchFamily="2" charset="-122"/>
                <a:ea typeface="宋体" pitchFamily="2" charset="-122"/>
              </a:rPr>
              <a:t>光电特性</a:t>
            </a:r>
            <a:r>
              <a:rPr kumimoji="0" lang="zh-CN" altLang="en-US" b="1" dirty="0" smtClean="0">
                <a:solidFill>
                  <a:schemeClr val="tx1"/>
                </a:solidFill>
                <a:latin typeface="宋体" pitchFamily="2" charset="-122"/>
                <a:ea typeface="宋体" pitchFamily="2" charset="-122"/>
              </a:rPr>
              <a:t>：表示当光电管的阳极电压一定时，阳极电流</a:t>
            </a:r>
            <a:r>
              <a:rPr kumimoji="0" lang="en-US" altLang="zh-CN" b="1" dirty="0" smtClean="0">
                <a:solidFill>
                  <a:schemeClr val="tx1"/>
                </a:solidFill>
                <a:latin typeface="宋体" pitchFamily="2" charset="-122"/>
                <a:ea typeface="宋体" pitchFamily="2" charset="-122"/>
              </a:rPr>
              <a:t>I</a:t>
            </a:r>
            <a:r>
              <a:rPr kumimoji="0" lang="zh-CN" altLang="en-US" b="1" dirty="0" smtClean="0">
                <a:solidFill>
                  <a:schemeClr val="tx1"/>
                </a:solidFill>
                <a:latin typeface="宋体" pitchFamily="2" charset="-122"/>
                <a:ea typeface="宋体" pitchFamily="2" charset="-122"/>
              </a:rPr>
              <a:t>与入射在阴极上光通量</a:t>
            </a:r>
            <a:r>
              <a:rPr kumimoji="0" lang="en-US" altLang="zh-CN" b="1" dirty="0" smtClean="0">
                <a:solidFill>
                  <a:schemeClr val="tx1"/>
                </a:solidFill>
                <a:latin typeface="宋体" pitchFamily="2" charset="-122"/>
                <a:ea typeface="宋体" pitchFamily="2" charset="-122"/>
              </a:rPr>
              <a:t>φ</a:t>
            </a:r>
            <a:r>
              <a:rPr kumimoji="0" lang="zh-CN" altLang="en-US" b="1" dirty="0" smtClean="0">
                <a:solidFill>
                  <a:schemeClr val="tx1"/>
                </a:solidFill>
                <a:latin typeface="宋体" pitchFamily="2" charset="-122"/>
                <a:ea typeface="宋体" pitchFamily="2" charset="-122"/>
              </a:rPr>
              <a:t>之间的关系。 </a:t>
            </a:r>
          </a:p>
          <a:p>
            <a:pPr indent="446088">
              <a:lnSpc>
                <a:spcPct val="120000"/>
              </a:lnSpc>
              <a:spcBef>
                <a:spcPts val="0"/>
              </a:spcBef>
            </a:pPr>
            <a:r>
              <a:rPr kumimoji="0" lang="zh-CN" altLang="en-US" b="1" dirty="0" smtClean="0">
                <a:solidFill>
                  <a:schemeClr val="tx1"/>
                </a:solidFill>
                <a:latin typeface="宋体" pitchFamily="2" charset="-122"/>
                <a:ea typeface="宋体" pitchFamily="2" charset="-122"/>
              </a:rPr>
              <a:t> </a:t>
            </a:r>
            <a:r>
              <a:rPr kumimoji="0" lang="zh-CN" altLang="en-US" b="1" dirty="0" smtClean="0">
                <a:solidFill>
                  <a:srgbClr val="C00000"/>
                </a:solidFill>
                <a:latin typeface="宋体" pitchFamily="2" charset="-122"/>
                <a:ea typeface="宋体" pitchFamily="2" charset="-122"/>
              </a:rPr>
              <a:t>伏安特性</a:t>
            </a:r>
            <a:r>
              <a:rPr kumimoji="0" lang="zh-CN" altLang="en-US" b="1" dirty="0" smtClean="0">
                <a:solidFill>
                  <a:schemeClr val="tx1"/>
                </a:solidFill>
                <a:latin typeface="宋体" pitchFamily="2" charset="-122"/>
                <a:ea typeface="宋体" pitchFamily="2" charset="-122"/>
              </a:rPr>
              <a:t>：当入射光的频谱及光通量一定时，阳极与阴极之间的电压同光电流的关系叫伏安特性；</a:t>
            </a:r>
            <a:endParaRPr lang="en-US" altLang="zh-CN" b="1" dirty="0" smtClean="0">
              <a:solidFill>
                <a:srgbClr val="993300"/>
              </a:solidFill>
              <a:latin typeface="楷体_GB2312" pitchFamily="49" charset="-122"/>
              <a:ea typeface="楷体_GB2312" pitchFamily="49"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pic>
        <p:nvPicPr>
          <p:cNvPr id="6" name="Picture 1"/>
          <p:cNvPicPr>
            <a:picLocks noChangeAspect="1" noChangeArrowheads="1"/>
          </p:cNvPicPr>
          <p:nvPr/>
        </p:nvPicPr>
        <p:blipFill>
          <a:blip r:embed="rId2"/>
          <a:srcRect/>
          <a:stretch>
            <a:fillRect/>
          </a:stretch>
        </p:blipFill>
        <p:spPr bwMode="auto">
          <a:xfrm>
            <a:off x="1214414" y="4733925"/>
            <a:ext cx="2600325" cy="1933575"/>
          </a:xfrm>
          <a:prstGeom prst="rect">
            <a:avLst/>
          </a:prstGeom>
          <a:noFill/>
          <a:ln w="9525">
            <a:noFill/>
            <a:miter lim="800000"/>
            <a:headEnd/>
            <a:tailEnd/>
          </a:ln>
          <a:effectLst/>
        </p:spPr>
      </p:pic>
      <p:pic>
        <p:nvPicPr>
          <p:cNvPr id="7" name="Picture 2"/>
          <p:cNvPicPr>
            <a:picLocks noChangeAspect="1" noChangeArrowheads="1"/>
          </p:cNvPicPr>
          <p:nvPr/>
        </p:nvPicPr>
        <p:blipFill>
          <a:blip r:embed="rId3"/>
          <a:srcRect/>
          <a:stretch>
            <a:fillRect/>
          </a:stretch>
        </p:blipFill>
        <p:spPr bwMode="auto">
          <a:xfrm>
            <a:off x="4643438" y="4733925"/>
            <a:ext cx="2628900" cy="21240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光电倍增管</a:t>
            </a:r>
          </a:p>
        </p:txBody>
      </p:sp>
      <p:sp>
        <p:nvSpPr>
          <p:cNvPr id="1029" name="Text Box 4"/>
          <p:cNvSpPr txBox="1">
            <a:spLocks noChangeArrowheads="1"/>
          </p:cNvSpPr>
          <p:nvPr/>
        </p:nvSpPr>
        <p:spPr bwMode="auto">
          <a:xfrm>
            <a:off x="285720" y="1989138"/>
            <a:ext cx="8572560" cy="2246769"/>
          </a:xfrm>
          <a:prstGeom prst="rect">
            <a:avLst/>
          </a:prstGeom>
          <a:noFill/>
          <a:ln w="9525" algn="ctr">
            <a:noFill/>
            <a:miter lim="800000"/>
            <a:headEnd/>
            <a:tailEnd/>
          </a:ln>
        </p:spPr>
        <p:txBody>
          <a:bodyPr wrap="square">
            <a:spAutoFit/>
          </a:bodyPr>
          <a:lstStyle/>
          <a:p>
            <a:pPr>
              <a:buClr>
                <a:schemeClr val="tx1"/>
              </a:buClr>
              <a:buFont typeface="Wingdings" pitchFamily="2" charset="2"/>
              <a:buChar char="l"/>
            </a:pPr>
            <a:r>
              <a:rPr kumimoji="0" lang="zh-CN" altLang="en-US" b="1" dirty="0" smtClean="0">
                <a:solidFill>
                  <a:srgbClr val="C00000"/>
                </a:solidFill>
                <a:latin typeface="宋体" pitchFamily="2" charset="-122"/>
                <a:ea typeface="宋体" pitchFamily="2" charset="-122"/>
              </a:rPr>
              <a:t>光谱特性</a:t>
            </a:r>
            <a:r>
              <a:rPr kumimoji="0" lang="zh-CN" altLang="en-US" b="1" dirty="0" smtClean="0">
                <a:solidFill>
                  <a:schemeClr val="tx1"/>
                </a:solidFill>
                <a:latin typeface="宋体" pitchFamily="2" charset="-122"/>
                <a:ea typeface="宋体" pitchFamily="2" charset="-122"/>
              </a:rPr>
              <a:t>：由于光阴极对光谱有选择性，因此光电管对光谱也有选择性。保持光通量和阳极电压不变，阳极电流与光波长之间的关系叫光电管的光谱特性。</a:t>
            </a:r>
            <a:endParaRPr kumimoji="0" lang="en-US" altLang="zh-CN" b="1" dirty="0" smtClean="0">
              <a:solidFill>
                <a:schemeClr val="tx1"/>
              </a:solidFill>
              <a:latin typeface="宋体" pitchFamily="2" charset="-122"/>
              <a:ea typeface="宋体" pitchFamily="2" charset="-122"/>
            </a:endParaRPr>
          </a:p>
          <a:p>
            <a:pPr>
              <a:buClr>
                <a:schemeClr val="tx1"/>
              </a:buClr>
              <a:buFont typeface="Wingdings" pitchFamily="2" charset="2"/>
              <a:buChar char="l"/>
            </a:pPr>
            <a:r>
              <a:rPr kumimoji="0" lang="zh-CN" altLang="en-US" b="1" dirty="0" smtClean="0">
                <a:solidFill>
                  <a:schemeClr val="tx1"/>
                </a:solidFill>
                <a:latin typeface="宋体" pitchFamily="2" charset="-122"/>
                <a:ea typeface="宋体" pitchFamily="2" charset="-122"/>
              </a:rPr>
              <a:t> 温度特性、疲劳特性、惯性特性、暗电流和衰老特性。</a:t>
            </a:r>
            <a:endParaRPr kumimoji="0"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pic>
        <p:nvPicPr>
          <p:cNvPr id="10" name="Picture 2"/>
          <p:cNvPicPr>
            <a:picLocks noChangeAspect="1" noChangeArrowheads="1"/>
          </p:cNvPicPr>
          <p:nvPr/>
        </p:nvPicPr>
        <p:blipFill>
          <a:blip r:embed="rId2"/>
          <a:srcRect/>
          <a:stretch>
            <a:fillRect/>
          </a:stretch>
        </p:blipFill>
        <p:spPr bwMode="auto">
          <a:xfrm>
            <a:off x="3143240" y="4000504"/>
            <a:ext cx="3553101" cy="25003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光敏电阻</a:t>
            </a:r>
          </a:p>
        </p:txBody>
      </p:sp>
      <p:sp>
        <p:nvSpPr>
          <p:cNvPr id="1029" name="Text Box 4"/>
          <p:cNvSpPr txBox="1">
            <a:spLocks noChangeArrowheads="1"/>
          </p:cNvSpPr>
          <p:nvPr/>
        </p:nvSpPr>
        <p:spPr bwMode="auto">
          <a:xfrm>
            <a:off x="285720" y="1989138"/>
            <a:ext cx="5749082" cy="4832092"/>
          </a:xfrm>
          <a:prstGeom prst="rect">
            <a:avLst/>
          </a:prstGeom>
          <a:noFill/>
          <a:ln w="9525" algn="ctr">
            <a:noFill/>
            <a:miter lim="800000"/>
            <a:headEnd/>
            <a:tailEnd/>
          </a:ln>
        </p:spPr>
        <p:txBody>
          <a:bodyPr wrap="square">
            <a:spAutoFit/>
          </a:bodyPr>
          <a:lstStyle/>
          <a:p>
            <a:pPr indent="352425"/>
            <a:r>
              <a:rPr lang="zh-CN" altLang="en-US" b="1" dirty="0" smtClean="0">
                <a:solidFill>
                  <a:schemeClr val="tx1"/>
                </a:solidFill>
                <a:latin typeface="宋体" pitchFamily="2" charset="-122"/>
                <a:ea typeface="宋体" pitchFamily="2" charset="-122"/>
              </a:rPr>
              <a:t>光敏电阻（</a:t>
            </a:r>
            <a:r>
              <a:rPr lang="en-US" altLang="zh-CN" dirty="0">
                <a:latin typeface="Times New Roman" pitchFamily="18" charset="0"/>
                <a:cs typeface="Times New Roman" pitchFamily="18" charset="0"/>
              </a:rPr>
              <a:t> </a:t>
            </a:r>
            <a:r>
              <a:rPr lang="en-US" altLang="zh-CN" dirty="0" err="1" smtClean="0">
                <a:solidFill>
                  <a:schemeClr val="tx1"/>
                </a:solidFill>
                <a:latin typeface="Times New Roman" pitchFamily="18" charset="0"/>
                <a:cs typeface="Times New Roman" pitchFamily="18" charset="0"/>
              </a:rPr>
              <a:t>photoresistor</a:t>
            </a:r>
            <a:r>
              <a:rPr lang="en-US" altLang="zh-CN" dirty="0" smtClean="0">
                <a:solidFill>
                  <a:schemeClr val="tx1"/>
                </a:solidFill>
                <a:latin typeface="Times New Roman" pitchFamily="18" charset="0"/>
                <a:cs typeface="Times New Roman" pitchFamily="18" charset="0"/>
              </a:rPr>
              <a:t> </a:t>
            </a:r>
            <a:r>
              <a:rPr lang="zh-CN" altLang="en-US" dirty="0">
                <a:solidFill>
                  <a:schemeClr val="tx1"/>
                </a:solidFill>
                <a:latin typeface="Times New Roman" pitchFamily="18" charset="0"/>
                <a:cs typeface="Times New Roman" pitchFamily="18" charset="0"/>
              </a:rPr>
              <a:t>，</a:t>
            </a:r>
            <a:r>
              <a:rPr lang="en-US" altLang="zh-CN" dirty="0" smtClean="0">
                <a:solidFill>
                  <a:schemeClr val="tx1"/>
                </a:solidFill>
                <a:latin typeface="Times New Roman" pitchFamily="18" charset="0"/>
                <a:cs typeface="Times New Roman" pitchFamily="18" charset="0"/>
              </a:rPr>
              <a:t> </a:t>
            </a:r>
            <a:r>
              <a:rPr lang="en-US" altLang="zh-CN" dirty="0">
                <a:solidFill>
                  <a:schemeClr val="tx1"/>
                </a:solidFill>
                <a:latin typeface="Times New Roman" pitchFamily="18" charset="0"/>
                <a:cs typeface="Times New Roman" pitchFamily="18" charset="0"/>
              </a:rPr>
              <a:t>light-dependent resistor, LDR, </a:t>
            </a:r>
            <a:r>
              <a:rPr lang="en-US" altLang="zh-CN" dirty="0" smtClean="0">
                <a:solidFill>
                  <a:schemeClr val="tx1"/>
                </a:solidFill>
                <a:latin typeface="Times New Roman" pitchFamily="18" charset="0"/>
                <a:cs typeface="Times New Roman" pitchFamily="18" charset="0"/>
              </a:rPr>
              <a:t>photocell </a:t>
            </a:r>
            <a:r>
              <a:rPr lang="zh-CN" altLang="en-US" b="1" dirty="0" smtClean="0">
                <a:solidFill>
                  <a:schemeClr val="tx1"/>
                </a:solidFill>
                <a:latin typeface="宋体" pitchFamily="2" charset="-122"/>
                <a:ea typeface="宋体" pitchFamily="2" charset="-122"/>
              </a:rPr>
              <a:t>）是</a:t>
            </a:r>
            <a:r>
              <a:rPr lang="zh-CN" altLang="en-US" b="1" dirty="0" smtClean="0">
                <a:solidFill>
                  <a:schemeClr val="tx1"/>
                </a:solidFill>
                <a:latin typeface="宋体" pitchFamily="2" charset="-122"/>
                <a:ea typeface="宋体" pitchFamily="2" charset="-122"/>
              </a:rPr>
              <a:t>用具有内光电效应的光导材料制成的，为纯电阻元件，其阻值随光照增强而减小。</a:t>
            </a:r>
          </a:p>
          <a:p>
            <a:pPr indent="352425"/>
            <a:r>
              <a:rPr lang="zh-CN" altLang="en-US" b="1" dirty="0" smtClean="0">
                <a:solidFill>
                  <a:schemeClr val="tx1"/>
                </a:solidFill>
                <a:latin typeface="宋体" pitchFamily="2" charset="-122"/>
                <a:ea typeface="宋体" pitchFamily="2" charset="-122"/>
              </a:rPr>
              <a:t>优点</a:t>
            </a:r>
            <a:r>
              <a:rPr lang="zh-CN" altLang="en-US" b="1" dirty="0" smtClean="0">
                <a:solidFill>
                  <a:schemeClr val="tx1"/>
                </a:solidFill>
                <a:latin typeface="宋体" pitchFamily="2" charset="-122"/>
                <a:ea typeface="宋体" pitchFamily="2" charset="-122"/>
              </a:rPr>
              <a:t>：灵敏度高，体积小、重量轻，光谱响应范围宽，机械强度高、耐冲击和振动，寿命长。</a:t>
            </a:r>
            <a:endParaRPr lang="en-US" altLang="zh-CN" b="1" dirty="0" smtClean="0">
              <a:solidFill>
                <a:schemeClr val="tx1"/>
              </a:solidFill>
              <a:latin typeface="宋体" pitchFamily="2" charset="-122"/>
              <a:ea typeface="宋体" pitchFamily="2" charset="-122"/>
            </a:endParaRPr>
          </a:p>
          <a:p>
            <a:pPr indent="352425"/>
            <a:r>
              <a:rPr lang="zh-CN" altLang="en-US" b="1" dirty="0" smtClean="0">
                <a:solidFill>
                  <a:schemeClr val="tx1"/>
                </a:solidFill>
                <a:latin typeface="宋体" pitchFamily="2" charset="-122"/>
                <a:ea typeface="宋体" pitchFamily="2" charset="-122"/>
              </a:rPr>
              <a:t>特点：</a:t>
            </a:r>
            <a:r>
              <a:rPr lang="zh-CN" altLang="en-US" b="1" dirty="0" smtClean="0">
                <a:solidFill>
                  <a:schemeClr val="tx1"/>
                </a:solidFill>
                <a:latin typeface="宋体" pitchFamily="2" charset="-122"/>
                <a:ea typeface="宋体" pitchFamily="2" charset="-122"/>
              </a:rPr>
              <a:t>是</a:t>
            </a:r>
            <a:r>
              <a:rPr lang="zh-CN" altLang="en-US" b="1" dirty="0" smtClean="0">
                <a:solidFill>
                  <a:schemeClr val="tx1"/>
                </a:solidFill>
                <a:latin typeface="宋体" pitchFamily="2" charset="-122"/>
                <a:ea typeface="宋体" pitchFamily="2" charset="-122"/>
              </a:rPr>
              <a:t>纯电阻元件，使用时需要有外部</a:t>
            </a:r>
            <a:r>
              <a:rPr lang="zh-CN" altLang="en-US" b="1" dirty="0" smtClean="0">
                <a:solidFill>
                  <a:schemeClr val="tx1"/>
                </a:solidFill>
                <a:latin typeface="宋体" pitchFamily="2" charset="-122"/>
                <a:ea typeface="宋体" pitchFamily="2" charset="-122"/>
              </a:rPr>
              <a:t>电源；当</a:t>
            </a:r>
            <a:r>
              <a:rPr lang="zh-CN" altLang="en-US" b="1" dirty="0" smtClean="0">
                <a:solidFill>
                  <a:schemeClr val="tx1"/>
                </a:solidFill>
                <a:latin typeface="宋体" pitchFamily="2" charset="-122"/>
                <a:ea typeface="宋体" pitchFamily="2" charset="-122"/>
              </a:rPr>
              <a:t>有电流</a:t>
            </a:r>
            <a:r>
              <a:rPr lang="zh-CN" altLang="en-US" b="1" dirty="0" smtClean="0">
                <a:solidFill>
                  <a:schemeClr val="tx1"/>
                </a:solidFill>
                <a:latin typeface="宋体" pitchFamily="2" charset="-122"/>
                <a:ea typeface="宋体" pitchFamily="2" charset="-122"/>
              </a:rPr>
              <a:t>通过时</a:t>
            </a:r>
            <a:r>
              <a:rPr lang="zh-CN" altLang="en-US" b="1" dirty="0" smtClean="0">
                <a:solidFill>
                  <a:schemeClr val="tx1"/>
                </a:solidFill>
                <a:latin typeface="宋体" pitchFamily="2" charset="-122"/>
                <a:ea typeface="宋体" pitchFamily="2" charset="-122"/>
              </a:rPr>
              <a:t>，由于本身发热会导致误差。</a:t>
            </a:r>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pic>
        <p:nvPicPr>
          <p:cNvPr id="82946" name="Picture 2" descr="http://b.hiphotos.baidu.com/baike/c0%3Dbaike72%2C5%2C5%2C72%2C24/sign=5e5c419dd933c895b2739029b07a1895/242dd42a2834349b5243588fc9ea15ce36d3be7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4802" y="2132856"/>
            <a:ext cx="2857500" cy="26574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9">
                                            <p:txEl>
                                              <p:pRg st="1" end="1"/>
                                            </p:txEl>
                                          </p:spTgt>
                                        </p:tgtEl>
                                        <p:attrNameLst>
                                          <p:attrName>style.visibility</p:attrName>
                                        </p:attrNameLst>
                                      </p:cBhvr>
                                      <p:to>
                                        <p:strVal val="visible"/>
                                      </p:to>
                                    </p:set>
                                    <p:animEffect transition="in" filter="blinds(horizontal)">
                                      <p:cBhvr>
                                        <p:cTn id="7" dur="500"/>
                                        <p:tgtEl>
                                          <p:spTgt spid="102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29">
                                            <p:txEl>
                                              <p:pRg st="2" end="2"/>
                                            </p:txEl>
                                          </p:spTgt>
                                        </p:tgtEl>
                                        <p:attrNameLst>
                                          <p:attrName>style.visibility</p:attrName>
                                        </p:attrNameLst>
                                      </p:cBhvr>
                                      <p:to>
                                        <p:strVal val="visible"/>
                                      </p:to>
                                    </p:set>
                                    <p:animEffect transition="in" filter="blinds(horizontal)">
                                      <p:cBhvr>
                                        <p:cTn id="10" dur="500"/>
                                        <p:tgtEl>
                                          <p:spTgt spid="10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光敏电阻</a:t>
            </a:r>
          </a:p>
        </p:txBody>
      </p:sp>
      <p:sp>
        <p:nvSpPr>
          <p:cNvPr id="1029" name="Text Box 4"/>
          <p:cNvSpPr txBox="1">
            <a:spLocks noChangeArrowheads="1"/>
          </p:cNvSpPr>
          <p:nvPr/>
        </p:nvSpPr>
        <p:spPr bwMode="auto">
          <a:xfrm>
            <a:off x="285720" y="1989138"/>
            <a:ext cx="8572560" cy="1815882"/>
          </a:xfrm>
          <a:prstGeom prst="rect">
            <a:avLst/>
          </a:prstGeom>
          <a:noFill/>
          <a:ln w="9525" algn="ctr">
            <a:noFill/>
            <a:miter lim="800000"/>
            <a:headEnd/>
            <a:tailEnd/>
          </a:ln>
        </p:spPr>
        <p:txBody>
          <a:bodyPr wrap="square">
            <a:spAutoFit/>
          </a:bodyPr>
          <a:lstStyle/>
          <a:p>
            <a:pPr indent="352425"/>
            <a:r>
              <a:rPr lang="en-US" altLang="zh-CN" b="1" dirty="0" smtClean="0">
                <a:solidFill>
                  <a:schemeClr val="tx1"/>
                </a:solidFill>
                <a:latin typeface="Verdana" pitchFamily="34" charset="0"/>
                <a:ea typeface="宋体" pitchFamily="2" charset="-122"/>
              </a:rPr>
              <a:t> </a:t>
            </a:r>
            <a:r>
              <a:rPr lang="zh-CN" altLang="en-US" b="1" dirty="0" smtClean="0">
                <a:solidFill>
                  <a:schemeClr val="tx1"/>
                </a:solidFill>
                <a:latin typeface="Verdana" pitchFamily="34" charset="0"/>
                <a:ea typeface="宋体" pitchFamily="2" charset="-122"/>
              </a:rPr>
              <a:t>由于光电效应发生在表面层，因此光敏电阻通常很薄；为了得到高灵敏度，电极做成梳状，密闭外壳上有滤光片窗口</a:t>
            </a:r>
            <a:r>
              <a:rPr lang="zh-CN" altLang="en-US" sz="2000" dirty="0" smtClean="0">
                <a:solidFill>
                  <a:schemeClr val="tx1"/>
                </a:solidFill>
                <a:latin typeface="Verdana" pitchFamily="34" charset="0"/>
                <a:ea typeface="宋体" pitchFamily="2" charset="-122"/>
              </a:rPr>
              <a:t>。</a:t>
            </a:r>
            <a:endParaRPr lang="en-US" altLang="zh-CN" sz="2000" dirty="0" smtClean="0">
              <a:solidFill>
                <a:schemeClr val="tx1"/>
              </a:solidFill>
              <a:latin typeface="Verdana" pitchFamily="34" charset="0"/>
              <a:ea typeface="宋体" pitchFamily="2" charset="-122"/>
            </a:endParaRPr>
          </a:p>
          <a:p>
            <a:pPr indent="352425"/>
            <a:r>
              <a:rPr lang="zh-CN" altLang="en-US" dirty="0" smtClean="0"/>
              <a:t>紫外光</a:t>
            </a:r>
            <a:r>
              <a:rPr lang="zh-CN" altLang="en-US" dirty="0"/>
              <a:t>敏</a:t>
            </a:r>
            <a:r>
              <a:rPr lang="zh-CN" altLang="en-US" dirty="0" smtClean="0"/>
              <a:t>电阻、</a:t>
            </a:r>
            <a:r>
              <a:rPr lang="zh-CN" altLang="en-US" dirty="0"/>
              <a:t>红外</a:t>
            </a:r>
            <a:r>
              <a:rPr lang="zh-CN" altLang="en-US" dirty="0" smtClean="0"/>
              <a:t>光敏电阻、</a:t>
            </a:r>
            <a:r>
              <a:rPr lang="zh-CN" altLang="en-US" dirty="0"/>
              <a:t>可见光</a:t>
            </a:r>
            <a:r>
              <a:rPr lang="zh-CN" altLang="en-US" dirty="0" smtClean="0"/>
              <a:t>光敏电阻</a:t>
            </a:r>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609288" name="Object 8"/>
          <p:cNvGraphicFramePr>
            <a:graphicFrameLocks noGrp="1" noChangeAspect="1"/>
          </p:cNvGraphicFramePr>
          <p:nvPr>
            <p:extLst>
              <p:ext uri="{D42A27DB-BD31-4B8C-83A1-F6EECF244321}">
                <p14:modId xmlns:p14="http://schemas.microsoft.com/office/powerpoint/2010/main" val="3989788130"/>
              </p:ext>
            </p:extLst>
          </p:nvPr>
        </p:nvGraphicFramePr>
        <p:xfrm>
          <a:off x="2418592" y="4042785"/>
          <a:ext cx="6236196" cy="2645739"/>
        </p:xfrm>
        <a:graphic>
          <a:graphicData uri="http://schemas.openxmlformats.org/presentationml/2006/ole">
            <mc:AlternateContent xmlns:mc="http://schemas.openxmlformats.org/markup-compatibility/2006">
              <mc:Choice xmlns:v="urn:schemas-microsoft-com:vml" Requires="v">
                <p:oleObj spid="_x0000_s65545" name="Flash 影片" r:id="rId3" imgW="8160840" imgH="3462120" progId="">
                  <p:embed/>
                </p:oleObj>
              </mc:Choice>
              <mc:Fallback>
                <p:oleObj name="Flash 影片" r:id="rId3" imgW="8160840" imgH="3462120" progId="">
                  <p:embed/>
                  <p:pic>
                    <p:nvPicPr>
                      <p:cNvPr id="0" name="Object 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8592" y="4042785"/>
                        <a:ext cx="6236196" cy="2645739"/>
                      </a:xfrm>
                      <a:prstGeom prst="rect">
                        <a:avLst/>
                      </a:prstGeom>
                      <a:noFill/>
                      <a:ln>
                        <a:noFill/>
                      </a:ln>
                      <a:effectLst/>
                    </p:spPr>
                  </p:pic>
                </p:oleObj>
              </mc:Fallback>
            </mc:AlternateContent>
          </a:graphicData>
        </a:graphic>
      </p:graphicFrame>
      <p:sp>
        <p:nvSpPr>
          <p:cNvPr id="2" name="TextBox 1"/>
          <p:cNvSpPr txBox="1"/>
          <p:nvPr/>
        </p:nvSpPr>
        <p:spPr>
          <a:xfrm>
            <a:off x="0" y="4005064"/>
            <a:ext cx="2410923" cy="954107"/>
          </a:xfrm>
          <a:prstGeom prst="rect">
            <a:avLst/>
          </a:prstGeom>
          <a:noFill/>
        </p:spPr>
        <p:txBody>
          <a:bodyPr wrap="square" rtlCol="0">
            <a:spAutoFit/>
          </a:bodyPr>
          <a:lstStyle/>
          <a:p>
            <a:r>
              <a:rPr lang="en-US" altLang="zh-CN" dirty="0">
                <a:solidFill>
                  <a:schemeClr val="tx1"/>
                </a:solidFill>
                <a:latin typeface="Times New Roman" pitchFamily="18" charset="0"/>
                <a:cs typeface="Times New Roman" pitchFamily="18" charset="0"/>
              </a:rPr>
              <a:t>Halogen </a:t>
            </a:r>
            <a:r>
              <a:rPr lang="en-US" altLang="zh-CN" dirty="0">
                <a:solidFill>
                  <a:schemeClr val="tx1"/>
                </a:solidFill>
                <a:latin typeface="Times New Roman" pitchFamily="18" charset="0"/>
                <a:cs typeface="Times New Roman" pitchFamily="18" charset="0"/>
              </a:rPr>
              <a:t>lamp</a:t>
            </a:r>
            <a:r>
              <a:rPr lang="zh-CN" altLang="en-US" dirty="0">
                <a:solidFill>
                  <a:schemeClr val="tx1"/>
                </a:solidFill>
                <a:latin typeface="Times New Roman" pitchFamily="18" charset="0"/>
                <a:cs typeface="Times New Roman" pitchFamily="18" charset="0"/>
              </a:rPr>
              <a:t>，</a:t>
            </a:r>
            <a:r>
              <a:rPr lang="en-US" altLang="zh-CN" dirty="0">
                <a:solidFill>
                  <a:schemeClr val="tx1"/>
                </a:solidFill>
                <a:latin typeface="Times New Roman" pitchFamily="18" charset="0"/>
                <a:cs typeface="Times New Roman" pitchFamily="18" charset="0"/>
              </a:rPr>
              <a:t>EPROM</a:t>
            </a:r>
            <a:endParaRPr lang="zh-CN" alt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光敏二极管及光敏三极管</a:t>
            </a:r>
          </a:p>
        </p:txBody>
      </p:sp>
      <p:sp>
        <p:nvSpPr>
          <p:cNvPr id="1029" name="Text Box 4"/>
          <p:cNvSpPr txBox="1">
            <a:spLocks noChangeArrowheads="1"/>
          </p:cNvSpPr>
          <p:nvPr/>
        </p:nvSpPr>
        <p:spPr bwMode="auto">
          <a:xfrm>
            <a:off x="285720" y="1989138"/>
            <a:ext cx="6502288" cy="4832092"/>
          </a:xfrm>
          <a:prstGeom prst="rect">
            <a:avLst/>
          </a:prstGeom>
          <a:noFill/>
          <a:ln w="9525" algn="ctr">
            <a:noFill/>
            <a:miter lim="800000"/>
            <a:headEnd/>
            <a:tailEnd/>
          </a:ln>
        </p:spPr>
        <p:txBody>
          <a:bodyPr wrap="square">
            <a:spAutoFit/>
          </a:bodyPr>
          <a:lstStyle/>
          <a:p>
            <a:pPr indent="352425"/>
            <a:r>
              <a:rPr lang="zh-CN" altLang="en-US" b="1" dirty="0" smtClean="0">
                <a:solidFill>
                  <a:schemeClr val="tx1"/>
                </a:solidFill>
                <a:latin typeface="宋体" pitchFamily="2" charset="-122"/>
                <a:ea typeface="宋体" pitchFamily="2" charset="-122"/>
              </a:rPr>
              <a:t>工作原理与光电导型相同，但光照在半导体结上。当二极管或三极管受光照射时，通过</a:t>
            </a:r>
            <a:r>
              <a:rPr lang="en-US" altLang="zh-CN" b="1" dirty="0" smtClean="0">
                <a:solidFill>
                  <a:schemeClr val="tx1"/>
                </a:solidFill>
                <a:latin typeface="宋体" pitchFamily="2" charset="-122"/>
                <a:ea typeface="宋体" pitchFamily="2" charset="-122"/>
              </a:rPr>
              <a:t>PN</a:t>
            </a:r>
            <a:r>
              <a:rPr lang="zh-CN" altLang="en-US" b="1" dirty="0" smtClean="0">
                <a:solidFill>
                  <a:schemeClr val="tx1"/>
                </a:solidFill>
                <a:latin typeface="宋体" pitchFamily="2" charset="-122"/>
                <a:ea typeface="宋体" pitchFamily="2" charset="-122"/>
              </a:rPr>
              <a:t>结电流增大。</a:t>
            </a:r>
            <a:endParaRPr lang="en-US" altLang="zh-CN" b="1" dirty="0" smtClean="0">
              <a:solidFill>
                <a:schemeClr val="tx1"/>
              </a:solidFill>
              <a:latin typeface="宋体" pitchFamily="2" charset="-122"/>
              <a:ea typeface="宋体" pitchFamily="2" charset="-122"/>
            </a:endParaRPr>
          </a:p>
          <a:p>
            <a:pPr indent="352425"/>
            <a:r>
              <a:rPr lang="zh-CN" altLang="en-US" b="1" dirty="0" smtClean="0">
                <a:solidFill>
                  <a:schemeClr val="tx1"/>
                </a:solidFill>
                <a:latin typeface="宋体" pitchFamily="2" charset="-122"/>
                <a:ea typeface="宋体" pitchFamily="2" charset="-122"/>
              </a:rPr>
              <a:t>大多数半导体二极管和三极管都是对光敏感的</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indent="352425"/>
            <a:r>
              <a:rPr lang="zh-CN" altLang="en-US" b="1" dirty="0" smtClean="0">
                <a:solidFill>
                  <a:schemeClr val="tx1"/>
                </a:solidFill>
                <a:latin typeface="宋体" pitchFamily="2" charset="-122"/>
                <a:ea typeface="宋体" pitchFamily="2" charset="-122"/>
              </a:rPr>
              <a:t>当</a:t>
            </a:r>
            <a:r>
              <a:rPr lang="zh-CN" altLang="en-US" b="1" dirty="0" smtClean="0">
                <a:solidFill>
                  <a:schemeClr val="tx1"/>
                </a:solidFill>
                <a:latin typeface="宋体" pitchFamily="2" charset="-122"/>
                <a:ea typeface="宋体" pitchFamily="2" charset="-122"/>
              </a:rPr>
              <a:t>二极管和三极管的</a:t>
            </a:r>
            <a:r>
              <a:rPr lang="en-US" altLang="zh-CN" b="1" dirty="0" smtClean="0">
                <a:solidFill>
                  <a:schemeClr val="tx1"/>
                </a:solidFill>
                <a:latin typeface="宋体" pitchFamily="2" charset="-122"/>
                <a:ea typeface="宋体" pitchFamily="2" charset="-122"/>
              </a:rPr>
              <a:t>PN</a:t>
            </a:r>
            <a:r>
              <a:rPr lang="zh-CN" altLang="en-US" b="1" dirty="0" smtClean="0">
                <a:solidFill>
                  <a:schemeClr val="tx1"/>
                </a:solidFill>
                <a:latin typeface="宋体" pitchFamily="2" charset="-122"/>
                <a:ea typeface="宋体" pitchFamily="2" charset="-122"/>
              </a:rPr>
              <a:t>结受到光照射时，通过</a:t>
            </a:r>
            <a:r>
              <a:rPr lang="en-US" altLang="zh-CN" b="1" dirty="0" smtClean="0">
                <a:solidFill>
                  <a:schemeClr val="tx1"/>
                </a:solidFill>
                <a:latin typeface="宋体" pitchFamily="2" charset="-122"/>
                <a:ea typeface="宋体" pitchFamily="2" charset="-122"/>
              </a:rPr>
              <a:t>PN</a:t>
            </a:r>
            <a:r>
              <a:rPr lang="zh-CN" altLang="en-US" b="1" dirty="0" smtClean="0">
                <a:solidFill>
                  <a:schemeClr val="tx1"/>
                </a:solidFill>
                <a:latin typeface="宋体" pitchFamily="2" charset="-122"/>
                <a:ea typeface="宋体" pitchFamily="2" charset="-122"/>
              </a:rPr>
              <a:t>结的电流将增大，因此，常规的二极管和三极管都用金属罐或其它壳体密封起来，以防光照。而光敏二极管和光敏三极管则必须使</a:t>
            </a:r>
            <a:r>
              <a:rPr lang="en-US" altLang="zh-CN" b="1" dirty="0" smtClean="0">
                <a:solidFill>
                  <a:schemeClr val="tx1"/>
                </a:solidFill>
                <a:latin typeface="宋体" pitchFamily="2" charset="-122"/>
                <a:ea typeface="宋体" pitchFamily="2" charset="-122"/>
              </a:rPr>
              <a:t>PN</a:t>
            </a:r>
            <a:r>
              <a:rPr lang="zh-CN" altLang="en-US" b="1" dirty="0" smtClean="0">
                <a:solidFill>
                  <a:schemeClr val="tx1"/>
                </a:solidFill>
                <a:latin typeface="宋体" pitchFamily="2" charset="-122"/>
                <a:ea typeface="宋体" pitchFamily="2" charset="-122"/>
              </a:rPr>
              <a:t>结能受到最大的光照射</a:t>
            </a:r>
            <a:r>
              <a:rPr lang="zh-CN" altLang="en-US" b="1" dirty="0" smtClean="0">
                <a:solidFill>
                  <a:schemeClr val="tx1"/>
                </a:solidFill>
                <a:latin typeface="宋体" pitchFamily="2" charset="-122"/>
                <a:ea typeface="宋体" pitchFamily="2" charset="-122"/>
              </a:rPr>
              <a:t>。</a:t>
            </a:r>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 name="AutoShape 2" descr="data:image/jpeg;base64,/9j/4AAQSkZJRgABAQEAAQABAAD/2wBDAAUDBAQEAwUEBAQFBQUGBwwIBwcHBw8LCwkMEQ8SEhEPERETFhwXExQaFRERGCEYGh0dHx8fExciJCIeJBweHx7/2wBDAQUFBQcGBw4ICA4eFBEUHh4eHh4eHh4eHh4eHh4eHh4eHh4eHh4eHh4eHh4eHh4eHh4eHh4eHh4eHh4eHh4eHh7/wAARCABLAEsDASIAAhEBAxEB/8QAGwAAAwADAQEAAAAAAAAAAAAABAUGAAMHAgH/xABCEAABAwMCAwMGCgcJAAAAAAABAgMEAAURBiESEzFBUWEHFCKRobEVMkJScXKBorLBJDRTYnOCgyYzRJOzwtHS4f/EABsBAAMBAQEBAQAAAAAAAAAAAAIDBAUBAAYH/8QAMREAAQMBBgMGBQUAAAAAAAAAAQACAwQFERIhMfATMkEiUXGBscEUI2GRoTOywtHh/9oADAMBAAIRAxEAPwACQBwKPo9PlKwKHRHedjuP8DfAhXDlLoJP2daptFcI1CySGSrgWUc5PEgEJJyR4AE0f5TNR2qR5PmX0O2eVMluHlLjR+StSc8KiRj0iFDc+Nfq89oSRVTYQ3I9V8PFTMfCXk5hQZRvVOz5PtQv2Nm+pjtC3O5PNKwDwjtx17D6qk7PvCbLpKgdzv2V2Ny82N523qfuEuGItnM6OyHVJjpYyUL40bg5Hb1zg16166emawxDU+K7Q00UhcH9Fxx9nluKbJBKVFJx4Ubp+1t3Scph2U3EbS3zFOr2SBkDc9gyetIfOWJGqLg5EVmKXllk96eLbNVOjJCGr15upgvJksuIIAGRhBUMZ8Uir5ppDSuezmuU7ImiYNdos1HpN60WGPdvO4sxhyUqMpcZwLQFAZG46ZHQGppKQVAZ2JxT/WepfPfJzZ4cOE+0u5OOPSSpacKUyspBwkYJ8eyp5lR5aStODgZBqeypqiSA8bNwvTa2ONj+xoreL5P2XrdNkuaktKH4zLjnmgdHOKkdU8Padt+6oNBSpAUEKUCM5CcirtGqHYz87lWKO4+7p/4QStxZKePg9LKR1GAfVXNoKFtxG0KVuBjpSLLnqnF/GN/dsJlZDCQ0syXV9ItlM2bKyAItukvHP8MpHtUKm9Tx2zB0zG4ckwi90+e8tXuAqrsyCxpfVE9W3LtyWge4uPJHuTSDU7ZReLZGP+Gs8UEdylI4j+I0pr8dZ4ew/wBXg3DFfvVLUp4cAfZVXcDgPJUkHzbRaG+v7RxH/eplxOASOwGq/VLHm0jV4x+q2S2xhjsyWSfaKK1XDFG3eoHuhpBzFc1gNpDalhKcqUdwPGn+jSoamhlBwRzN/wCkuk8VPDHR9Gab6P21FH7+W+R/kuVq1F3Ad4KVmcgSa4hR0tpjfIDk4DH8UH86GT1FGSt9GaZV3SJ49rR/Ogxsv7aVZw+UR9T6plVzBOEl1yU2ONY4tKPoTv2BLu3sqYbxy09uwqygN8dxtScf3mnJafuyv+BUYzjkt/UHupFDhD3jepTZuUHfRdcl5Y8mF7I+NLnRIw8fjr/KlWrkY1vdk4PDGSxHHd6DKAfbTq5oKtJWaGR+uX1a1DvDbKR73K2RLPO1FqTVrcCQ0y/JlSWWVOKIHGV8KPwmsZtQIZnyu0z/AIj2VhiL2ho+nupJhvmyG29/TUE5+k4qr8oCwljyjOAje5Qoaf5Sdvu0jgsOjynN2R5YW7HlsRpHCSUl4KSFkZ8c0RrOWHrBqRwn0pmqk9O5IeVTqqQTzxEdw/cP6QQsMcbgd5KCuVzg2qMhydIS0k+iNiST29O6nWjJLbt/iOtLStBQ6QoHYgsrqM195omwS5ElxKViK40wg9XHFKa2T4gcRx3CvXkhlcE/llawGmXsBWMgBlzriqX2g59RJSkZAaoG0YELZwc70/cOdDWA5GUz5afW0yaFSRxD6a3rV/Y20o7rg8fXHaq68ngsSGbc1cmgt+ZIUloqUOEAtuo4inqUgkZI6HGab8X8FAXkX9ooODx5A0G7JKbMR8N2DI62WSPWZQqBjqBjtHPyE+6rWyLKbpYELcQtbdokoUpCgpJUl2QkkEbEdSD2jFQEZ0CM0P3E+6u2ccb3OHUe5QVYLGAb0XdFp5krRcfOQXX3iPrSEIz6kGp67PLcsBCVuIXOvqlcaVFJ6k9Rv8utlxmKkCEOHl+aMclGCc7uKXxeByrp4VpnqKoemoyDjju7i8AdgLQrOFM5gxO6k5fcqnigm4b6LIlwiwPK9cru+FBhm+FxzAJVhC//ACll5eW5pGI4vIVKvch5Q+qyPcXKXS3eZd7s/nIcuEhWf6hoeTJeXHbjLdUWGlrW2jsSpWAoj6eFPqrUp7PxCN41F32Cllqbi4L5ehGd0lHbdKVZvCSUnoE8Cd/f6jWiRJZia21DKZbbWFzpSU8IwMLC0gjw9LNerslpdgtbZRu7diFeKQGxj2n10tmKR8O3dTeQgz3uHfsCyB7KdFA19SQ4d/qFx0hEIuPcmUoFOlbcgZJE98ephoVvedYVc9ILBTll1xO++Bzkn/dSRSyUhJUopBJAzsCep9gp1EQ0blppK+E7vq/m5jZHuNHVQCNmfUk/hDBIXv33ofRtxbXdraw6G2moUSXGSoK2VnnLCjnpurH2VNMKww2CN+EZ9Va2iAlwY25i9v5jWFW+9U01K2MYm9QN/lDLJjOErqLrhJFbFuhd80lHJ3S848odm7439SaCcJ4xv216BJ1dp5OdhFyPp5y6zqhuQ8/ROizKnIj/ADWFuftHVr9ayaxZ2NCWcn4KjHvQKIc6GtenFzAFHNzlfZyss2Br51wWr7yB+VKkr5kqa78+W8r76qYSD+l6fHZ50v8AGmlML4jn8Vz8aqng/XPn6p7x8keSIJpvb1YvGnDgdHhuf300nNMoRPwtp36zv+oKO0Bewb6FDSjtJNCgLkRnHxKhtJ5jp4XXeFWAo74odcfgWUmTHJBxniO/soZPxM9eJSs57fSNDqJ4jS28VrAcWXgjdgB0X//Z"/>
          <p:cNvSpPr>
            <a:spLocks noChangeAspect="1" noChangeArrowheads="1"/>
          </p:cNvSpPr>
          <p:nvPr/>
        </p:nvSpPr>
        <p:spPr bwMode="auto">
          <a:xfrm>
            <a:off x="63500" y="-15081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data:image/jpeg;base64,/9j/4AAQSkZJRgABAQEAAQABAAD/2wBDAAUDBAQEAwUEBAQFBQUGBwwIBwcHBw8LCwkMEQ8SEhEPERETFhwXExQaFRERGCEYGh0dHx8fExciJCIeJBweHx7/2wBDAQUFBQcGBw4ICA4eFBEUHh4eHh4eHh4eHh4eHh4eHh4eHh4eHh4eHh4eHh4eHh4eHh4eHh4eHh4eHh4eHh4eHh7/wAARCABLAEsDASIAAhEBAxEB/8QAGwAAAwADAQEAAAAAAAAAAAAABAUGAAMHAgH/xABCEAABAwMCAwMGCgcJAAAAAAABAgMEAAURBiESEzFBUWEHFCKRobEVMkJScXKBorLBJDRTYnOCgyYzRJOzwtHS4f/EABsBAAMBAQEBAQAAAAAAAAAAAAIDBAUBAAYH/8QAMREAAQMBBgMGBQUAAAAAAAAAAQACAwQFERIhMfATMkEiUXGBscEUI2GRoTOywtHh/9oADAMBAAIRAxEAPwACQBwKPo9PlKwKHRHedjuP8DfAhXDlLoJP2daptFcI1CySGSrgWUc5PEgEJJyR4AE0f5TNR2qR5PmX0O2eVMluHlLjR+StSc8KiRj0iFDc+Nfq89oSRVTYQ3I9V8PFTMfCXk5hQZRvVOz5PtQv2Nm+pjtC3O5PNKwDwjtx17D6qk7PvCbLpKgdzv2V2Ny82N523qfuEuGItnM6OyHVJjpYyUL40bg5Hb1zg16166emawxDU+K7Q00UhcH9Fxx9nluKbJBKVFJx4Ubp+1t3Scph2U3EbS3zFOr2SBkDc9gyetIfOWJGqLg5EVmKXllk96eLbNVOjJCGr15upgvJksuIIAGRhBUMZ8Uir5ppDSuezmuU7ImiYNdos1HpN60WGPdvO4sxhyUqMpcZwLQFAZG46ZHQGppKQVAZ2JxT/WepfPfJzZ4cOE+0u5OOPSSpacKUyspBwkYJ8eyp5lR5aStODgZBqeypqiSA8bNwvTa2ONj+xoreL5P2XrdNkuaktKH4zLjnmgdHOKkdU8Padt+6oNBSpAUEKUCM5CcirtGqHYz87lWKO4+7p/4QStxZKePg9LKR1GAfVXNoKFtxG0KVuBjpSLLnqnF/GN/dsJlZDCQ0syXV9ItlM2bKyAItukvHP8MpHtUKm9Tx2zB0zG4ckwi90+e8tXuAqrsyCxpfVE9W3LtyWge4uPJHuTSDU7ZReLZGP+Gs8UEdylI4j+I0pr8dZ4ew/wBXg3DFfvVLUp4cAfZVXcDgPJUkHzbRaG+v7RxH/eplxOASOwGq/VLHm0jV4x+q2S2xhjsyWSfaKK1XDFG3eoHuhpBzFc1gNpDalhKcqUdwPGn+jSoamhlBwRzN/wCkuk8VPDHR9Gab6P21FH7+W+R/kuVq1F3Ad4KVmcgSa4hR0tpjfIDk4DH8UH86GT1FGSt9GaZV3SJ49rR/Ogxsv7aVZw+UR9T6plVzBOEl1yU2ONY4tKPoTv2BLu3sqYbxy09uwqygN8dxtScf3mnJafuyv+BUYzjkt/UHupFDhD3jepTZuUHfRdcl5Y8mF7I+NLnRIw8fjr/KlWrkY1vdk4PDGSxHHd6DKAfbTq5oKtJWaGR+uX1a1DvDbKR73K2RLPO1FqTVrcCQ0y/JlSWWVOKIHGV8KPwmsZtQIZnyu0z/AIj2VhiL2ho+nupJhvmyG29/TUE5+k4qr8oCwljyjOAje5Qoaf5Sdvu0jgsOjynN2R5YW7HlsRpHCSUl4KSFkZ8c0RrOWHrBqRwn0pmqk9O5IeVTqqQTzxEdw/cP6QQsMcbgd5KCuVzg2qMhydIS0k+iNiST29O6nWjJLbt/iOtLStBQ6QoHYgsrqM195omwS5ElxKViK40wg9XHFKa2T4gcRx3CvXkhlcE/llawGmXsBWMgBlzriqX2g59RJSkZAaoG0YELZwc70/cOdDWA5GUz5afW0yaFSRxD6a3rV/Y20o7rg8fXHaq68ngsSGbc1cmgt+ZIUloqUOEAtuo4inqUgkZI6HGab8X8FAXkX9ooODx5A0G7JKbMR8N2DI62WSPWZQqBjqBjtHPyE+6rWyLKbpYELcQtbdokoUpCgpJUl2QkkEbEdSD2jFQEZ0CM0P3E+6u2ccb3OHUe5QVYLGAb0XdFp5krRcfOQXX3iPrSEIz6kGp67PLcsBCVuIXOvqlcaVFJ6k9Rv8utlxmKkCEOHl+aMclGCc7uKXxeByrp4VpnqKoemoyDjju7i8AdgLQrOFM5gxO6k5fcqnigm4b6LIlwiwPK9cru+FBhm+FxzAJVhC//ACll5eW5pGI4vIVKvch5Q+qyPcXKXS3eZd7s/nIcuEhWf6hoeTJeXHbjLdUWGlrW2jsSpWAoj6eFPqrUp7PxCN41F32Cllqbi4L5ehGd0lHbdKVZvCSUnoE8Cd/f6jWiRJZia21DKZbbWFzpSU8IwMLC0gjw9LNerslpdgtbZRu7diFeKQGxj2n10tmKR8O3dTeQgz3uHfsCyB7KdFA19SQ4d/qFx0hEIuPcmUoFOlbcgZJE98ephoVvedYVc9ILBTll1xO++Bzkn/dSRSyUhJUopBJAzsCep9gp1EQ0blppK+E7vq/m5jZHuNHVQCNmfUk/hDBIXv33ofRtxbXdraw6G2moUSXGSoK2VnnLCjnpurH2VNMKww2CN+EZ9Va2iAlwY25i9v5jWFW+9U01K2MYm9QN/lDLJjOErqLrhJFbFuhd80lHJ3S848odm7439SaCcJ4xv216BJ1dp5OdhFyPp5y6zqhuQ8/ROizKnIj/ADWFuftHVr9ayaxZ2NCWcn4KjHvQKIc6GtenFzAFHNzlfZyss2Br51wWr7yB+VKkr5kqa78+W8r76qYSD+l6fHZ50v8AGmlML4jn8Vz8aqng/XPn6p7x8keSIJpvb1YvGnDgdHhuf300nNMoRPwtp36zv+oKO0Bewb6FDSjtJNCgLkRnHxKhtJ5jp4XXeFWAo74odcfgWUmTHJBxniO/soZPxM9eJSs57fSNDqJ4jS28VrAcWXgjdgB0X//Z"/>
          <p:cNvSpPr>
            <a:spLocks noChangeAspect="1" noChangeArrowheads="1"/>
          </p:cNvSpPr>
          <p:nvPr/>
        </p:nvSpPr>
        <p:spPr bwMode="auto">
          <a:xfrm>
            <a:off x="215900" y="158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6" descr="data:image/jpeg;base64,/9j/4AAQSkZJRgABAQEAAQABAAD/2wBDAAUDBAQEAwUEBAQFBQUGBwwIBwcHBw8LCwkMEQ8SEhEPERETFhwXExQaFRERGCEYGh0dHx8fExciJCIeJBweHx7/2wBDAQUFBQcGBw4ICA4eFBEUHh4eHh4eHh4eHh4eHh4eHh4eHh4eHh4eHh4eHh4eHh4eHh4eHh4eHh4eHh4eHh4eHh7/wAARCABLAEsDASIAAhEBAxEB/8QAGwAAAwADAQEAAAAAAAAAAAAABAUGAAMHAgH/xABCEAABAwMCAwMGCgcJAAAAAAABAgMEAAURBiESEzFBUWEHFCKRobEVMkJScXKBorLBJDRTYnOCgyYzRJOzwtHS4f/EABsBAAMBAQEBAQAAAAAAAAAAAAIDBAUBAAYH/8QAMREAAQMBBgMGBQUAAAAAAAAAAQACAwQFERIhMfATMkEiUXGBscEUI2GRoTOywtHh/9oADAMBAAIRAxEAPwACQBwKPo9PlKwKHRHedjuP8DfAhXDlLoJP2daptFcI1CySGSrgWUc5PEgEJJyR4AE0f5TNR2qR5PmX0O2eVMluHlLjR+StSc8KiRj0iFDc+Nfq89oSRVTYQ3I9V8PFTMfCXk5hQZRvVOz5PtQv2Nm+pjtC3O5PNKwDwjtx17D6qk7PvCbLpKgdzv2V2Ny82N523qfuEuGItnM6OyHVJjpYyUL40bg5Hb1zg16166emawxDU+K7Q00UhcH9Fxx9nluKbJBKVFJx4Ubp+1t3Scph2U3EbS3zFOr2SBkDc9gyetIfOWJGqLg5EVmKXllk96eLbNVOjJCGr15upgvJksuIIAGRhBUMZ8Uir5ppDSuezmuU7ImiYNdos1HpN60WGPdvO4sxhyUqMpcZwLQFAZG46ZHQGppKQVAZ2JxT/WepfPfJzZ4cOE+0u5OOPSSpacKUyspBwkYJ8eyp5lR5aStODgZBqeypqiSA8bNwvTa2ONj+xoreL5P2XrdNkuaktKH4zLjnmgdHOKkdU8Padt+6oNBSpAUEKUCM5CcirtGqHYz87lWKO4+7p/4QStxZKePg9LKR1GAfVXNoKFtxG0KVuBjpSLLnqnF/GN/dsJlZDCQ0syXV9ItlM2bKyAItukvHP8MpHtUKm9Tx2zB0zG4ckwi90+e8tXuAqrsyCxpfVE9W3LtyWge4uPJHuTSDU7ZReLZGP+Gs8UEdylI4j+I0pr8dZ4ew/wBXg3DFfvVLUp4cAfZVXcDgPJUkHzbRaG+v7RxH/eplxOASOwGq/VLHm0jV4x+q2S2xhjsyWSfaKK1XDFG3eoHuhpBzFc1gNpDalhKcqUdwPGn+jSoamhlBwRzN/wCkuk8VPDHR9Gab6P21FH7+W+R/kuVq1F3Ad4KVmcgSa4hR0tpjfIDk4DH8UH86GT1FGSt9GaZV3SJ49rR/Ogxsv7aVZw+UR9T6plVzBOEl1yU2ONY4tKPoTv2BLu3sqYbxy09uwqygN8dxtScf3mnJafuyv+BUYzjkt/UHupFDhD3jepTZuUHfRdcl5Y8mF7I+NLnRIw8fjr/KlWrkY1vdk4PDGSxHHd6DKAfbTq5oKtJWaGR+uX1a1DvDbKR73K2RLPO1FqTVrcCQ0y/JlSWWVOKIHGV8KPwmsZtQIZnyu0z/AIj2VhiL2ho+nupJhvmyG29/TUE5+k4qr8oCwljyjOAje5Qoaf5Sdvu0jgsOjynN2R5YW7HlsRpHCSUl4KSFkZ8c0RrOWHrBqRwn0pmqk9O5IeVTqqQTzxEdw/cP6QQsMcbgd5KCuVzg2qMhydIS0k+iNiST29O6nWjJLbt/iOtLStBQ6QoHYgsrqM195omwS5ElxKViK40wg9XHFKa2T4gcRx3CvXkhlcE/llawGmXsBWMgBlzriqX2g59RJSkZAaoG0YELZwc70/cOdDWA5GUz5afW0yaFSRxD6a3rV/Y20o7rg8fXHaq68ngsSGbc1cmgt+ZIUloqUOEAtuo4inqUgkZI6HGab8X8FAXkX9ooODx5A0G7JKbMR8N2DI62WSPWZQqBjqBjtHPyE+6rWyLKbpYELcQtbdokoUpCgpJUl2QkkEbEdSD2jFQEZ0CM0P3E+6u2ccb3OHUe5QVYLGAb0XdFp5krRcfOQXX3iPrSEIz6kGp67PLcsBCVuIXOvqlcaVFJ6k9Rv8utlxmKkCEOHl+aMclGCc7uKXxeByrp4VpnqKoemoyDjju7i8AdgLQrOFM5gxO6k5fcqnigm4b6LIlwiwPK9cru+FBhm+FxzAJVhC//ACll5eW5pGI4vIVKvch5Q+qyPcXKXS3eZd7s/nIcuEhWf6hoeTJeXHbjLdUWGlrW2jsSpWAoj6eFPqrUp7PxCN41F32Cllqbi4L5ehGd0lHbdKVZvCSUnoE8Cd/f6jWiRJZia21DKZbbWFzpSU8IwMLC0gjw9LNerslpdgtbZRu7diFeKQGxj2n10tmKR8O3dTeQgz3uHfsCyB7KdFA19SQ4d/qFx0hEIuPcmUoFOlbcgZJE98ephoVvedYVc9ILBTll1xO++Bzkn/dSRSyUhJUopBJAzsCep9gp1EQ0blppK+E7vq/m5jZHuNHVQCNmfUk/hDBIXv33ofRtxbXdraw6G2moUSXGSoK2VnnLCjnpurH2VNMKww2CN+EZ9Va2iAlwY25i9v5jWFW+9U01K2MYm9QN/lDLJjOErqLrhJFbFuhd80lHJ3S848odm7439SaCcJ4xv216BJ1dp5OdhFyPp5y6zqhuQ8/ROizKnIj/ADWFuftHVr9ayaxZ2NCWcn4KjHvQKIc6GtenFzAFHNzlfZyss2Br51wWr7yB+VKkr5kqa78+W8r76qYSD+l6fHZ50v8AGmlML4jn8Vz8aqng/XPn6p7x8keSIJpvb1YvGnDgdHhuf300nNMoRPwtp36zv+oKO0Bewb6FDSjtJNCgLkRnHxKhtJ5jp4XXeFWAo74odcfgWUmTHJBxniO/soZPxM9eJSs57fSNDqJ4jS28VrAcWXgjdgB0X//Z"/>
          <p:cNvSpPr>
            <a:spLocks noChangeAspect="1" noChangeArrowheads="1"/>
          </p:cNvSpPr>
          <p:nvPr/>
        </p:nvSpPr>
        <p:spPr bwMode="auto">
          <a:xfrm>
            <a:off x="368300" y="15398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8" descr="data:image/jpeg;base64,/9j/4AAQSkZJRgABAQEAAQABAAD/2wBDAAUDBAQEAwUEBAQFBQUGBwwIBwcHBw8LCwkMEQ8SEhEPERETFhwXExQaFRERGCEYGh0dHx8fExciJCIeJBweHx7/2wBDAQUFBQcGBw4ICA4eFBEUHh4eHh4eHh4eHh4eHh4eHh4eHh4eHh4eHh4eHh4eHh4eHh4eHh4eHh4eHh4eHh4eHh7/wAARCABLAEsDASIAAhEBAxEB/8QAGwAAAwADAQEAAAAAAAAAAAAABAUGAAMHAgH/xABCEAABAwMCAwMGCgcJAAAAAAABAgMEAAURBiESEzFBUWEHFCKRobEVMkJScXKBorLBJDRTYnOCgyYzRJOzwtHS4f/EABsBAAMBAQEBAQAAAAAAAAAAAAIDBAUBAAYH/8QAMREAAQMBBgMGBQUAAAAAAAAAAQACAwQFERIhMfATMkEiUXGBscEUI2GRoTOywtHh/9oADAMBAAIRAxEAPwACQBwKPo9PlKwKHRHedjuP8DfAhXDlLoJP2daptFcI1CySGSrgWUc5PEgEJJyR4AE0f5TNR2qR5PmX0O2eVMluHlLjR+StSc8KiRj0iFDc+Nfq89oSRVTYQ3I9V8PFTMfCXk5hQZRvVOz5PtQv2Nm+pjtC3O5PNKwDwjtx17D6qk7PvCbLpKgdzv2V2Ny82N523qfuEuGItnM6OyHVJjpYyUL40bg5Hb1zg16166emawxDU+K7Q00UhcH9Fxx9nluKbJBKVFJx4Ubp+1t3Scph2U3EbS3zFOr2SBkDc9gyetIfOWJGqLg5EVmKXllk96eLbNVOjJCGr15upgvJksuIIAGRhBUMZ8Uir5ppDSuezmuU7ImiYNdos1HpN60WGPdvO4sxhyUqMpcZwLQFAZG46ZHQGppKQVAZ2JxT/WepfPfJzZ4cOE+0u5OOPSSpacKUyspBwkYJ8eyp5lR5aStODgZBqeypqiSA8bNwvTa2ONj+xoreL5P2XrdNkuaktKH4zLjnmgdHOKkdU8Padt+6oNBSpAUEKUCM5CcirtGqHYz87lWKO4+7p/4QStxZKePg9LKR1GAfVXNoKFtxG0KVuBjpSLLnqnF/GN/dsJlZDCQ0syXV9ItlM2bKyAItukvHP8MpHtUKm9Tx2zB0zG4ckwi90+e8tXuAqrsyCxpfVE9W3LtyWge4uPJHuTSDU7ZReLZGP+Gs8UEdylI4j+I0pr8dZ4ew/wBXg3DFfvVLUp4cAfZVXcDgPJUkHzbRaG+v7RxH/eplxOASOwGq/VLHm0jV4x+q2S2xhjsyWSfaKK1XDFG3eoHuhpBzFc1gNpDalhKcqUdwPGn+jSoamhlBwRzN/wCkuk8VPDHR9Gab6P21FH7+W+R/kuVq1F3Ad4KVmcgSa4hR0tpjfIDk4DH8UH86GT1FGSt9GaZV3SJ49rR/Ogxsv7aVZw+UR9T6plVzBOEl1yU2ONY4tKPoTv2BLu3sqYbxy09uwqygN8dxtScf3mnJafuyv+BUYzjkt/UHupFDhD3jepTZuUHfRdcl5Y8mF7I+NLnRIw8fjr/KlWrkY1vdk4PDGSxHHd6DKAfbTq5oKtJWaGR+uX1a1DvDbKR73K2RLPO1FqTVrcCQ0y/JlSWWVOKIHGV8KPwmsZtQIZnyu0z/AIj2VhiL2ho+nupJhvmyG29/TUE5+k4qr8oCwljyjOAje5Qoaf5Sdvu0jgsOjynN2R5YW7HlsRpHCSUl4KSFkZ8c0RrOWHrBqRwn0pmqk9O5IeVTqqQTzxEdw/cP6QQsMcbgd5KCuVzg2qMhydIS0k+iNiST29O6nWjJLbt/iOtLStBQ6QoHYgsrqM195omwS5ElxKViK40wg9XHFKa2T4gcRx3CvXkhlcE/llawGmXsBWMgBlzriqX2g59RJSkZAaoG0YELZwc70/cOdDWA5GUz5afW0yaFSRxD6a3rV/Y20o7rg8fXHaq68ngsSGbc1cmgt+ZIUloqUOEAtuo4inqUgkZI6HGab8X8FAXkX9ooODx5A0G7JKbMR8N2DI62WSPWZQqBjqBjtHPyE+6rWyLKbpYELcQtbdokoUpCgpJUl2QkkEbEdSD2jFQEZ0CM0P3E+6u2ccb3OHUe5QVYLGAb0XdFp5krRcfOQXX3iPrSEIz6kGp67PLcsBCVuIXOvqlcaVFJ6k9Rv8utlxmKkCEOHl+aMclGCc7uKXxeByrp4VpnqKoemoyDjju7i8AdgLQrOFM5gxO6k5fcqnigm4b6LIlwiwPK9cru+FBhm+FxzAJVhC//ACll5eW5pGI4vIVKvch5Q+qyPcXKXS3eZd7s/nIcuEhWf6hoeTJeXHbjLdUWGlrW2jsSpWAoj6eFPqrUp7PxCN41F32Cllqbi4L5ehGd0lHbdKVZvCSUnoE8Cd/f6jWiRJZia21DKZbbWFzpSU8IwMLC0gjw9LNerslpdgtbZRu7diFeKQGxj2n10tmKR8O3dTeQgz3uHfsCyB7KdFA19SQ4d/qFx0hEIuPcmUoFOlbcgZJE98ephoVvedYVc9ILBTll1xO++Bzkn/dSRSyUhJUopBJAzsCep9gp1EQ0blppK+E7vq/m5jZHuNHVQCNmfUk/hDBIXv33ofRtxbXdraw6G2moUSXGSoK2VnnLCjnpurH2VNMKww2CN+EZ9Va2iAlwY25i9v5jWFW+9U01K2MYm9QN/lDLJjOErqLrhJFbFuhd80lHJ3S848odm7439SaCcJ4xv216BJ1dp5OdhFyPp5y6zqhuQ8/ROizKnIj/ADWFuftHVr9ayaxZ2NCWcn4KjHvQKIc6GtenFzAFHNzlfZyss2Br51wWr7yB+VKkr5kqa78+W8r76qYSD+l6fHZ50v8AGmlML4jn8Vz8aqng/XPn6p7x8keSIJpvb1YvGnDgdHhuf300nNMoRPwtp36zv+oKO0Bewb6FDSjtJNCgLkRnHxKhtJ5jp4XXeFWAo74odcfgWUmTHJBxniO/soZPxM9eJSs57fSNDqJ4jS28VrAcWXgjdgB0X//Z"/>
          <p:cNvSpPr>
            <a:spLocks noChangeAspect="1" noChangeArrowheads="1"/>
          </p:cNvSpPr>
          <p:nvPr/>
        </p:nvSpPr>
        <p:spPr bwMode="auto">
          <a:xfrm>
            <a:off x="520700" y="30638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83978" name="Picture 10" descr="Fotodio.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1007" y="1989138"/>
            <a:ext cx="2095500" cy="2190750"/>
          </a:xfrm>
          <a:prstGeom prst="rect">
            <a:avLst/>
          </a:prstGeom>
          <a:noFill/>
          <a:extLst>
            <a:ext uri="{909E8E84-426E-40DD-AFC4-6F175D3DCCD1}">
              <a14:hiddenFill xmlns:a14="http://schemas.microsoft.com/office/drawing/2010/main">
                <a:solidFill>
                  <a:srgbClr val="FFFFFF"/>
                </a:solidFill>
              </a14:hiddenFill>
            </a:ext>
          </a:extLst>
        </p:spPr>
      </p:pic>
      <p:pic>
        <p:nvPicPr>
          <p:cNvPr id="83980" name="Picture 12" descr="https://ss2.baidu.com/6ONYsjip0QIZ8tyhnq/it/u=2650319276,2353555760&amp;fm=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0570" y="4405184"/>
            <a:ext cx="1152525" cy="11525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9">
                                            <p:txEl>
                                              <p:pRg st="1" end="1"/>
                                            </p:txEl>
                                          </p:spTgt>
                                        </p:tgtEl>
                                        <p:attrNameLst>
                                          <p:attrName>style.visibility</p:attrName>
                                        </p:attrNameLst>
                                      </p:cBhvr>
                                      <p:to>
                                        <p:strVal val="visible"/>
                                      </p:to>
                                    </p:set>
                                    <p:animEffect transition="in" filter="blinds(horizontal)">
                                      <p:cBhvr>
                                        <p:cTn id="7" dur="500"/>
                                        <p:tgtEl>
                                          <p:spTgt spid="102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9">
                                            <p:txEl>
                                              <p:pRg st="2" end="2"/>
                                            </p:txEl>
                                          </p:spTgt>
                                        </p:tgtEl>
                                        <p:attrNameLst>
                                          <p:attrName>style.visibility</p:attrName>
                                        </p:attrNameLst>
                                      </p:cBhvr>
                                      <p:to>
                                        <p:strVal val="visible"/>
                                      </p:to>
                                    </p:set>
                                    <p:animEffect transition="in" filter="blinds(horizontal)">
                                      <p:cBhvr>
                                        <p:cTn id="12" dur="500"/>
                                        <p:tgtEl>
                                          <p:spTgt spid="10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光敏二极管及光敏三极管</a:t>
            </a:r>
          </a:p>
        </p:txBody>
      </p:sp>
      <p:sp>
        <p:nvSpPr>
          <p:cNvPr id="1029" name="Text Box 4"/>
          <p:cNvSpPr txBox="1">
            <a:spLocks noChangeArrowheads="1"/>
          </p:cNvSpPr>
          <p:nvPr/>
        </p:nvSpPr>
        <p:spPr bwMode="auto">
          <a:xfrm>
            <a:off x="285720" y="1989138"/>
            <a:ext cx="8572560" cy="3108543"/>
          </a:xfrm>
          <a:prstGeom prst="rect">
            <a:avLst/>
          </a:prstGeom>
          <a:noFill/>
          <a:ln w="9525" algn="ctr">
            <a:noFill/>
            <a:miter lim="800000"/>
            <a:headEnd/>
            <a:tailEnd/>
          </a:ln>
        </p:spPr>
        <p:txBody>
          <a:bodyPr wrap="square">
            <a:spAutoFit/>
          </a:bodyPr>
          <a:lstStyle/>
          <a:p>
            <a:pPr indent="447675"/>
            <a:r>
              <a:rPr lang="zh-CN" altLang="en-US" b="1" dirty="0" smtClean="0">
                <a:solidFill>
                  <a:schemeClr val="tx1"/>
                </a:solidFill>
                <a:latin typeface="宋体" pitchFamily="2" charset="-122"/>
                <a:ea typeface="宋体" pitchFamily="2" charset="-122"/>
              </a:rPr>
              <a:t>光敏二极管和三极管的体积很小，所需偏置电压不大于几十伏。光敏二极管有很高的带宽，而</a:t>
            </a:r>
            <a:r>
              <a:rPr lang="zh-CN" altLang="en-US" b="1" dirty="0" smtClean="0">
                <a:solidFill>
                  <a:srgbClr val="993300"/>
                </a:solidFill>
                <a:latin typeface="宋体" pitchFamily="2" charset="-122"/>
                <a:ea typeface="宋体" pitchFamily="2" charset="-122"/>
              </a:rPr>
              <a:t>雪崩光敏二极管</a:t>
            </a:r>
            <a:r>
              <a:rPr lang="zh-CN" altLang="en-US" b="1" dirty="0" smtClean="0">
                <a:solidFill>
                  <a:schemeClr val="tx1"/>
                </a:solidFill>
                <a:latin typeface="宋体" pitchFamily="2" charset="-122"/>
                <a:ea typeface="宋体" pitchFamily="2" charset="-122"/>
              </a:rPr>
              <a:t>的性能可与光电倍增管相媲美。光敏二极管在光耦合隔离器、光学数据传输装置和测试技术中得到广泛应用。光敏三极管的带宽较窄，但作为一种高电流响应器件，应用十分广泛。</a:t>
            </a:r>
          </a:p>
          <a:p>
            <a:pPr indent="352425"/>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610313" name="Object 9"/>
          <p:cNvGraphicFramePr>
            <a:graphicFrameLocks noGrp="1" noChangeAspect="1"/>
          </p:cNvGraphicFramePr>
          <p:nvPr/>
        </p:nvGraphicFramePr>
        <p:xfrm>
          <a:off x="500034" y="4786322"/>
          <a:ext cx="4038600" cy="1558925"/>
        </p:xfrm>
        <a:graphic>
          <a:graphicData uri="http://schemas.openxmlformats.org/presentationml/2006/ole">
            <mc:AlternateContent xmlns:mc="http://schemas.openxmlformats.org/markup-compatibility/2006">
              <mc:Choice xmlns:v="urn:schemas-microsoft-com:vml" Requires="v">
                <p:oleObj spid="_x0000_s67600" name="Image" r:id="rId3" imgW="22569796" imgH="8708571" progId="">
                  <p:embed/>
                </p:oleObj>
              </mc:Choice>
              <mc:Fallback>
                <p:oleObj name="Image" r:id="rId3" imgW="22569796" imgH="8708571" progId="">
                  <p:embed/>
                  <p:pic>
                    <p:nvPicPr>
                      <p:cNvPr id="0" name="Object 9"/>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34" y="4786322"/>
                        <a:ext cx="4038600"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0315" name="Object 11"/>
          <p:cNvGraphicFramePr>
            <a:graphicFrameLocks noGrp="1" noChangeAspect="1"/>
          </p:cNvGraphicFramePr>
          <p:nvPr/>
        </p:nvGraphicFramePr>
        <p:xfrm>
          <a:off x="4460847" y="4799022"/>
          <a:ext cx="4325937" cy="1546225"/>
        </p:xfrm>
        <a:graphic>
          <a:graphicData uri="http://schemas.openxmlformats.org/presentationml/2006/ole">
            <mc:AlternateContent xmlns:mc="http://schemas.openxmlformats.org/markup-compatibility/2006">
              <mc:Choice xmlns:v="urn:schemas-microsoft-com:vml" Requires="v">
                <p:oleObj spid="_x0000_s67601" name="Image" r:id="rId5" imgW="20835918" imgH="7444898" progId="">
                  <p:embed/>
                </p:oleObj>
              </mc:Choice>
              <mc:Fallback>
                <p:oleObj name="Image" r:id="rId5" imgW="20835918" imgH="7444898" progId="">
                  <p:embed/>
                  <p:pic>
                    <p:nvPicPr>
                      <p:cNvPr id="0" name="Object 11"/>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0847" y="4799022"/>
                        <a:ext cx="4325937" cy="154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光电池</a:t>
            </a:r>
          </a:p>
        </p:txBody>
      </p:sp>
      <p:sp>
        <p:nvSpPr>
          <p:cNvPr id="1029" name="Text Box 4"/>
          <p:cNvSpPr txBox="1">
            <a:spLocks noChangeArrowheads="1"/>
          </p:cNvSpPr>
          <p:nvPr/>
        </p:nvSpPr>
        <p:spPr bwMode="auto">
          <a:xfrm>
            <a:off x="285720" y="1989138"/>
            <a:ext cx="8572560" cy="1815882"/>
          </a:xfrm>
          <a:prstGeom prst="rect">
            <a:avLst/>
          </a:prstGeom>
          <a:noFill/>
          <a:ln w="9525" algn="ctr">
            <a:noFill/>
            <a:miter lim="800000"/>
            <a:headEnd/>
            <a:tailEnd/>
          </a:ln>
        </p:spPr>
        <p:txBody>
          <a:bodyPr wrap="square">
            <a:spAutoFit/>
          </a:bodyPr>
          <a:lstStyle/>
          <a:p>
            <a:pPr indent="354013"/>
            <a:r>
              <a:rPr lang="zh-CN" altLang="en-US" b="1" dirty="0" smtClean="0">
                <a:solidFill>
                  <a:schemeClr val="tx1"/>
                </a:solidFill>
                <a:latin typeface="宋体" pitchFamily="2" charset="-122"/>
                <a:ea typeface="宋体" pitchFamily="2" charset="-122"/>
              </a:rPr>
              <a:t>光电池（</a:t>
            </a:r>
            <a:r>
              <a:rPr lang="en-US" altLang="zh-CN" dirty="0"/>
              <a:t> </a:t>
            </a:r>
            <a:r>
              <a:rPr lang="en-US" altLang="zh-CN" dirty="0">
                <a:solidFill>
                  <a:schemeClr val="tx1"/>
                </a:solidFill>
                <a:latin typeface="Times New Roman" pitchFamily="18" charset="0"/>
                <a:cs typeface="Times New Roman" pitchFamily="18" charset="0"/>
              </a:rPr>
              <a:t>photovoltaic cell </a:t>
            </a:r>
            <a:r>
              <a:rPr lang="zh-CN" altLang="en-US" b="1" dirty="0" smtClean="0">
                <a:solidFill>
                  <a:schemeClr val="tx1"/>
                </a:solidFill>
                <a:latin typeface="宋体" pitchFamily="2" charset="-122"/>
                <a:ea typeface="宋体" pitchFamily="2" charset="-122"/>
              </a:rPr>
              <a:t>）是</a:t>
            </a:r>
            <a:r>
              <a:rPr lang="zh-CN" altLang="en-US" b="1" dirty="0" smtClean="0">
                <a:solidFill>
                  <a:schemeClr val="tx1"/>
                </a:solidFill>
                <a:latin typeface="宋体" pitchFamily="2" charset="-122"/>
                <a:ea typeface="宋体" pitchFamily="2" charset="-122"/>
              </a:rPr>
              <a:t>基于光生伏特效应制成的，是自发电式有源器件。它有较大面积的</a:t>
            </a:r>
            <a:r>
              <a:rPr lang="en-US" altLang="zh-CN" b="1" dirty="0" smtClean="0">
                <a:solidFill>
                  <a:schemeClr val="tx1"/>
                </a:solidFill>
                <a:latin typeface="宋体" pitchFamily="2" charset="-122"/>
                <a:ea typeface="宋体" pitchFamily="2" charset="-122"/>
              </a:rPr>
              <a:t>PN</a:t>
            </a:r>
            <a:r>
              <a:rPr lang="zh-CN" altLang="en-US" b="1" dirty="0" smtClean="0">
                <a:solidFill>
                  <a:schemeClr val="tx1"/>
                </a:solidFill>
                <a:latin typeface="宋体" pitchFamily="2" charset="-122"/>
                <a:ea typeface="宋体" pitchFamily="2" charset="-122"/>
              </a:rPr>
              <a:t>结，当光照射在</a:t>
            </a:r>
            <a:r>
              <a:rPr lang="en-US" altLang="zh-CN" b="1" dirty="0" smtClean="0">
                <a:solidFill>
                  <a:schemeClr val="tx1"/>
                </a:solidFill>
                <a:latin typeface="宋体" pitchFamily="2" charset="-122"/>
                <a:ea typeface="宋体" pitchFamily="2" charset="-122"/>
              </a:rPr>
              <a:t>PN</a:t>
            </a:r>
            <a:r>
              <a:rPr lang="zh-CN" altLang="en-US" b="1" dirty="0" smtClean="0">
                <a:solidFill>
                  <a:schemeClr val="tx1"/>
                </a:solidFill>
                <a:latin typeface="宋体" pitchFamily="2" charset="-122"/>
                <a:ea typeface="宋体" pitchFamily="2" charset="-122"/>
              </a:rPr>
              <a:t>结上时，在结的两端出现电动势。</a:t>
            </a:r>
          </a:p>
          <a:p>
            <a:pPr indent="352425"/>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pic>
        <p:nvPicPr>
          <p:cNvPr id="68618" name="Picture 10" descr="http://g.hiphotos.baidu.com/baike/c0%3Dbaike180%2C5%2C5%2C180%2C60/sign=259239d78601a18be4e61a1dff466c6d/b3fb43166d224f4a8ee2cce808f790529922d1d6.jpg"/>
          <p:cNvPicPr preferRelativeResize="0">
            <a:picLocks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10074" y="3429000"/>
            <a:ext cx="4010001" cy="3007501"/>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8620" name="Picture 12" descr="http://d.hiphotos.baidu.com/baike/c0%3Dbaike150%2C5%2C5%2C150%2C50/sign=9520b8b3a9773912d02b8d339970ed7d/622762d0f703918fc3cfc3c4513d269759eec4a6.jpg"/>
          <p:cNvPicPr preferRelativeResize="0">
            <a:picLocks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906143" y="3456020"/>
            <a:ext cx="3779730" cy="3027701"/>
          </a:xfrm>
          <a:prstGeom prst="rect">
            <a:avLst/>
          </a:prstGeom>
          <a:noFill/>
          <a:ln>
            <a:noFill/>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光电池</a:t>
            </a:r>
          </a:p>
        </p:txBody>
      </p:sp>
      <p:sp>
        <p:nvSpPr>
          <p:cNvPr id="1029" name="Text Box 4"/>
          <p:cNvSpPr txBox="1">
            <a:spLocks noChangeArrowheads="1"/>
          </p:cNvSpPr>
          <p:nvPr/>
        </p:nvSpPr>
        <p:spPr bwMode="auto">
          <a:xfrm>
            <a:off x="285720" y="1989138"/>
            <a:ext cx="8572560" cy="3625608"/>
          </a:xfrm>
          <a:prstGeom prst="rect">
            <a:avLst/>
          </a:prstGeom>
          <a:noFill/>
          <a:ln w="9525" algn="ctr">
            <a:noFill/>
            <a:miter lim="800000"/>
            <a:headEnd/>
            <a:tailEnd/>
          </a:ln>
        </p:spPr>
        <p:txBody>
          <a:bodyPr wrap="square">
            <a:spAutoFit/>
          </a:bodyPr>
          <a:lstStyle/>
          <a:p>
            <a:pPr indent="354013">
              <a:lnSpc>
                <a:spcPct val="120000"/>
              </a:lnSpc>
            </a:pPr>
            <a:r>
              <a:rPr lang="zh-CN" altLang="en-US" b="1" dirty="0" smtClean="0">
                <a:solidFill>
                  <a:schemeClr val="tx1"/>
                </a:solidFill>
                <a:latin typeface="宋体" pitchFamily="2" charset="-122"/>
                <a:ea typeface="宋体" pitchFamily="2" charset="-122"/>
              </a:rPr>
              <a:t>用可见光作光源的光电池是最常见的光电伏特型元件。</a:t>
            </a:r>
            <a:endParaRPr lang="en-US" altLang="zh-CN" b="1" dirty="0" smtClean="0">
              <a:solidFill>
                <a:schemeClr val="tx1"/>
              </a:solidFill>
              <a:latin typeface="宋体" pitchFamily="2" charset="-122"/>
              <a:ea typeface="宋体" pitchFamily="2" charset="-122"/>
            </a:endParaRPr>
          </a:p>
          <a:p>
            <a:pPr indent="354013">
              <a:lnSpc>
                <a:spcPct val="120000"/>
              </a:lnSpc>
            </a:pPr>
            <a:r>
              <a:rPr lang="zh-CN" altLang="en-US" b="1" dirty="0" smtClean="0">
                <a:solidFill>
                  <a:schemeClr val="tx1"/>
                </a:solidFill>
                <a:latin typeface="宋体" pitchFamily="2" charset="-122"/>
                <a:ea typeface="宋体" pitchFamily="2" charset="-122"/>
              </a:rPr>
              <a:t>硒和硅是光电池最常用的材料，也可使用锗。</a:t>
            </a:r>
            <a:endParaRPr lang="en-US" altLang="zh-CN" b="1" dirty="0" smtClean="0">
              <a:solidFill>
                <a:schemeClr val="tx1"/>
              </a:solidFill>
              <a:latin typeface="宋体" pitchFamily="2" charset="-122"/>
              <a:ea typeface="宋体" pitchFamily="2" charset="-122"/>
            </a:endParaRPr>
          </a:p>
          <a:p>
            <a:pPr indent="354013">
              <a:lnSpc>
                <a:spcPct val="120000"/>
              </a:lnSpc>
            </a:pPr>
            <a:r>
              <a:rPr lang="zh-CN" altLang="en-US" b="1" dirty="0" smtClean="0">
                <a:solidFill>
                  <a:schemeClr val="tx1"/>
                </a:solidFill>
                <a:latin typeface="宋体" pitchFamily="2" charset="-122"/>
                <a:ea typeface="宋体" pitchFamily="2" charset="-122"/>
              </a:rPr>
              <a:t>光电池也称为太阳能电池，以硅电池为多，因为硅光电池的转换效率高（可达</a:t>
            </a:r>
            <a:r>
              <a:rPr lang="en-US" altLang="zh-CN" b="1" dirty="0" smtClean="0">
                <a:solidFill>
                  <a:schemeClr val="tx1"/>
                </a:solidFill>
                <a:latin typeface="宋体" pitchFamily="2" charset="-122"/>
                <a:ea typeface="宋体" pitchFamily="2" charset="-122"/>
              </a:rPr>
              <a:t>12%</a:t>
            </a:r>
            <a:r>
              <a:rPr lang="zh-CN" altLang="en-US" b="1" dirty="0" smtClean="0">
                <a:solidFill>
                  <a:schemeClr val="tx1"/>
                </a:solidFill>
                <a:latin typeface="宋体" pitchFamily="2" charset="-122"/>
                <a:ea typeface="宋体" pitchFamily="2" charset="-122"/>
              </a:rPr>
              <a:t>以上，正常光照下</a:t>
            </a:r>
            <a:r>
              <a:rPr lang="en-US" altLang="zh-CN" b="1" dirty="0" smtClean="0">
                <a:solidFill>
                  <a:schemeClr val="tx1"/>
                </a:solidFill>
                <a:latin typeface="宋体" pitchFamily="2" charset="-122"/>
                <a:ea typeface="宋体" pitchFamily="2" charset="-122"/>
              </a:rPr>
              <a:t>100W/m</a:t>
            </a:r>
            <a:r>
              <a:rPr lang="en-US" altLang="zh-CN" b="1" baseline="30000" dirty="0" smtClean="0">
                <a:solidFill>
                  <a:schemeClr val="tx1"/>
                </a:solidFill>
                <a:latin typeface="宋体" pitchFamily="2" charset="-122"/>
                <a:ea typeface="宋体" pitchFamily="2" charset="-122"/>
              </a:rPr>
              <a:t>2</a:t>
            </a:r>
            <a:r>
              <a:rPr lang="zh-CN" altLang="en-US" b="1" dirty="0" smtClean="0">
                <a:solidFill>
                  <a:schemeClr val="tx1"/>
                </a:solidFill>
                <a:latin typeface="宋体" pitchFamily="2" charset="-122"/>
                <a:ea typeface="宋体" pitchFamily="2" charset="-122"/>
              </a:rPr>
              <a:t>）可用于宇宙飞行器供电</a:t>
            </a:r>
            <a:r>
              <a:rPr lang="zh-CN" altLang="en-US" dirty="0" smtClean="0">
                <a:solidFill>
                  <a:schemeClr val="tx1"/>
                </a:solidFill>
              </a:rPr>
              <a:t>。</a:t>
            </a:r>
          </a:p>
          <a:p>
            <a:pPr indent="352425"/>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F84D08"/>
                </a:solidFill>
                <a:latin typeface="黑体" pitchFamily="49" charset="-122"/>
                <a:ea typeface="黑体" pitchFamily="49" charset="-122"/>
              </a:rPr>
              <a:t>半导体光电元件的特性</a:t>
            </a:r>
          </a:p>
        </p:txBody>
      </p:sp>
      <p:sp>
        <p:nvSpPr>
          <p:cNvPr id="1029" name="Text Box 4"/>
          <p:cNvSpPr txBox="1">
            <a:spLocks noChangeArrowheads="1"/>
          </p:cNvSpPr>
          <p:nvPr/>
        </p:nvSpPr>
        <p:spPr bwMode="auto">
          <a:xfrm>
            <a:off x="285720" y="1989138"/>
            <a:ext cx="8572560" cy="2074414"/>
          </a:xfrm>
          <a:prstGeom prst="rect">
            <a:avLst/>
          </a:prstGeom>
          <a:noFill/>
          <a:ln w="9525" algn="ctr">
            <a:noFill/>
            <a:miter lim="800000"/>
            <a:headEnd/>
            <a:tailEnd/>
          </a:ln>
        </p:spPr>
        <p:txBody>
          <a:bodyPr wrap="square">
            <a:spAutoFit/>
          </a:bodyPr>
          <a:lstStyle/>
          <a:p>
            <a:pPr>
              <a:lnSpc>
                <a:spcPct val="120000"/>
              </a:lnSpc>
            </a:pPr>
            <a:r>
              <a:rPr lang="zh-CN" altLang="en-US" b="1" dirty="0" smtClean="0">
                <a:solidFill>
                  <a:schemeClr val="tx1"/>
                </a:solidFill>
                <a:latin typeface="Verdana" pitchFamily="34" charset="0"/>
                <a:ea typeface="宋体" pitchFamily="2" charset="-122"/>
              </a:rPr>
              <a:t>光敏电阻、光敏二极管和光敏三极管、光电池等三种光电元件都是半导体传感器件。它们各有特性，但又有</a:t>
            </a:r>
            <a:r>
              <a:rPr lang="zh-CN" altLang="en-US" b="1" dirty="0" smtClean="0">
                <a:solidFill>
                  <a:schemeClr val="tx1"/>
                </a:solidFill>
                <a:latin typeface="Verdana" pitchFamily="34" charset="0"/>
                <a:ea typeface="宋体" pitchFamily="2" charset="-122"/>
              </a:rPr>
              <a:t>相似之处。</a:t>
            </a:r>
            <a:endParaRPr lang="en-US" altLang="zh-CN" b="1" dirty="0" smtClean="0">
              <a:solidFill>
                <a:schemeClr val="tx1"/>
              </a:solidFill>
              <a:latin typeface="Verdana" pitchFamily="34" charset="0"/>
              <a:ea typeface="宋体" pitchFamily="2" charset="-122"/>
            </a:endParaRPr>
          </a:p>
          <a:p>
            <a:pPr indent="352425"/>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C00000"/>
                </a:solidFill>
                <a:latin typeface="宋体" pitchFamily="2" charset="-122"/>
                <a:ea typeface="宋体" pitchFamily="2" charset="-122"/>
              </a:rPr>
              <a:t>光电特性</a:t>
            </a:r>
            <a:endParaRPr lang="zh-CN" altLang="en-US" sz="2800" b="1" dirty="0" smtClean="0">
              <a:solidFill>
                <a:srgbClr val="F84D08"/>
              </a:solidFill>
              <a:latin typeface="黑体" pitchFamily="49" charset="-122"/>
              <a:ea typeface="黑体" pitchFamily="49" charset="-122"/>
            </a:endParaRPr>
          </a:p>
        </p:txBody>
      </p:sp>
      <p:sp>
        <p:nvSpPr>
          <p:cNvPr id="1029" name="Text Box 4"/>
          <p:cNvSpPr txBox="1">
            <a:spLocks noChangeArrowheads="1"/>
          </p:cNvSpPr>
          <p:nvPr/>
        </p:nvSpPr>
        <p:spPr bwMode="auto">
          <a:xfrm>
            <a:off x="285720" y="1989138"/>
            <a:ext cx="8572560" cy="1057790"/>
          </a:xfrm>
          <a:prstGeom prst="rect">
            <a:avLst/>
          </a:prstGeom>
          <a:noFill/>
          <a:ln w="9525" algn="ctr">
            <a:noFill/>
            <a:miter lim="800000"/>
            <a:headEnd/>
            <a:tailEnd/>
          </a:ln>
        </p:spPr>
        <p:txBody>
          <a:bodyPr wrap="square">
            <a:spAutoFit/>
          </a:bodyPr>
          <a:lstStyle/>
          <a:p>
            <a:pPr indent="620713">
              <a:lnSpc>
                <a:spcPct val="120000"/>
              </a:lnSpc>
            </a:pPr>
            <a:r>
              <a:rPr lang="zh-CN" altLang="en-US" b="1" dirty="0" smtClean="0">
                <a:solidFill>
                  <a:schemeClr val="tx1"/>
                </a:solidFill>
                <a:latin typeface="宋体" pitchFamily="2" charset="-122"/>
                <a:ea typeface="宋体" pitchFamily="2" charset="-122"/>
              </a:rPr>
              <a:t>是指在某条件下这些半导体光电元件产生的光电流与光照之间的关系；</a:t>
            </a:r>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6" name="Object 4"/>
          <p:cNvGraphicFramePr>
            <a:graphicFrameLocks noChangeAspect="1"/>
          </p:cNvGraphicFramePr>
          <p:nvPr/>
        </p:nvGraphicFramePr>
        <p:xfrm>
          <a:off x="755650" y="3357563"/>
          <a:ext cx="4724400" cy="2135187"/>
        </p:xfrm>
        <a:graphic>
          <a:graphicData uri="http://schemas.openxmlformats.org/presentationml/2006/ole">
            <mc:AlternateContent xmlns:mc="http://schemas.openxmlformats.org/markup-compatibility/2006">
              <mc:Choice xmlns:v="urn:schemas-microsoft-com:vml" Requires="v">
                <p:oleObj spid="_x0000_s70672" name="Image" r:id="rId3" imgW="12618426" imgH="5705612" progId="Photoshop.Image.6">
                  <p:embed/>
                </p:oleObj>
              </mc:Choice>
              <mc:Fallback>
                <p:oleObj name="Image" r:id="rId3" imgW="12618426" imgH="5705612" progId="Photoshop.Image.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3357563"/>
                        <a:ext cx="4724400" cy="213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5"/>
          <p:cNvSpPr txBox="1">
            <a:spLocks noChangeArrowheads="1"/>
          </p:cNvSpPr>
          <p:nvPr/>
        </p:nvSpPr>
        <p:spPr bwMode="auto">
          <a:xfrm>
            <a:off x="827088" y="5589588"/>
            <a:ext cx="2438400" cy="1006475"/>
          </a:xfrm>
          <a:prstGeom prst="rect">
            <a:avLst/>
          </a:prstGeom>
          <a:noFill/>
          <a:ln w="9525">
            <a:noFill/>
            <a:miter lim="800000"/>
            <a:headEnd/>
            <a:tailEnd/>
          </a:ln>
        </p:spPr>
        <p:txBody>
          <a:bodyPr>
            <a:spAutoFit/>
          </a:bodyPr>
          <a:lstStyle/>
          <a:p>
            <a:r>
              <a:rPr lang="zh-CN" altLang="en-US" sz="2000" b="1" dirty="0" smtClean="0">
                <a:solidFill>
                  <a:schemeClr val="tx1"/>
                </a:solidFill>
                <a:latin typeface="Verdana" pitchFamily="34" charset="0"/>
                <a:ea typeface="宋体" pitchFamily="2" charset="-122"/>
              </a:rPr>
              <a:t>硒</a:t>
            </a:r>
            <a:r>
              <a:rPr lang="zh-CN" altLang="en-US" sz="2000" b="1" dirty="0">
                <a:solidFill>
                  <a:schemeClr val="tx1"/>
                </a:solidFill>
                <a:latin typeface="Verdana" pitchFamily="34" charset="0"/>
                <a:ea typeface="宋体" pitchFamily="2" charset="-122"/>
              </a:rPr>
              <a:t>光敏电阻：非线性强，适合作开关</a:t>
            </a:r>
            <a:r>
              <a:rPr lang="zh-CN" altLang="en-US" sz="2000" b="1" dirty="0" smtClean="0">
                <a:solidFill>
                  <a:schemeClr val="tx1"/>
                </a:solidFill>
                <a:latin typeface="Verdana" pitchFamily="34" charset="0"/>
                <a:ea typeface="宋体" pitchFamily="2" charset="-122"/>
              </a:rPr>
              <a:t>检测元件</a:t>
            </a:r>
            <a:endParaRPr lang="zh-CN" altLang="en-US" sz="2000" b="1" dirty="0">
              <a:solidFill>
                <a:schemeClr val="tx1"/>
              </a:solidFill>
              <a:latin typeface="Verdana" pitchFamily="34" charset="0"/>
              <a:ea typeface="宋体" pitchFamily="2" charset="-122"/>
            </a:endParaRPr>
          </a:p>
        </p:txBody>
      </p:sp>
      <p:sp>
        <p:nvSpPr>
          <p:cNvPr id="10" name="Text Box 6"/>
          <p:cNvSpPr txBox="1">
            <a:spLocks noChangeArrowheads="1"/>
          </p:cNvSpPr>
          <p:nvPr/>
        </p:nvSpPr>
        <p:spPr bwMode="auto">
          <a:xfrm>
            <a:off x="3203575" y="5546725"/>
            <a:ext cx="2498725" cy="1311275"/>
          </a:xfrm>
          <a:prstGeom prst="rect">
            <a:avLst/>
          </a:prstGeom>
          <a:noFill/>
          <a:ln w="9525">
            <a:noFill/>
            <a:miter lim="800000"/>
            <a:headEnd/>
            <a:tailEnd/>
          </a:ln>
        </p:spPr>
        <p:txBody>
          <a:bodyPr>
            <a:spAutoFit/>
          </a:bodyPr>
          <a:lstStyle/>
          <a:p>
            <a:r>
              <a:rPr lang="zh-CN" altLang="en-US" sz="2000" b="1" dirty="0" smtClean="0">
                <a:solidFill>
                  <a:schemeClr val="tx1"/>
                </a:solidFill>
                <a:latin typeface="Verdana" pitchFamily="34" charset="0"/>
                <a:ea typeface="宋体" pitchFamily="2" charset="-122"/>
              </a:rPr>
              <a:t>光敏晶体管</a:t>
            </a:r>
            <a:r>
              <a:rPr lang="zh-CN" altLang="en-US" sz="2000" b="1" dirty="0">
                <a:solidFill>
                  <a:schemeClr val="tx1"/>
                </a:solidFill>
                <a:latin typeface="Verdana" pitchFamily="34" charset="0"/>
                <a:ea typeface="宋体" pitchFamily="2" charset="-122"/>
              </a:rPr>
              <a:t>：光照特性曲线基本线性，但入射光过强会导致</a:t>
            </a:r>
            <a:r>
              <a:rPr lang="zh-CN" altLang="en-US" sz="2000" b="1" dirty="0" smtClean="0">
                <a:solidFill>
                  <a:schemeClr val="tx1"/>
                </a:solidFill>
                <a:latin typeface="Verdana" pitchFamily="34" charset="0"/>
                <a:ea typeface="宋体" pitchFamily="2" charset="-122"/>
              </a:rPr>
              <a:t>饱和</a:t>
            </a:r>
            <a:endParaRPr lang="zh-CN" altLang="en-US" sz="2000" b="1" dirty="0">
              <a:solidFill>
                <a:schemeClr val="tx1"/>
              </a:solidFill>
              <a:latin typeface="Verdana" pitchFamily="34" charset="0"/>
              <a:ea typeface="宋体" pitchFamily="2" charset="-122"/>
            </a:endParaRPr>
          </a:p>
        </p:txBody>
      </p:sp>
      <p:grpSp>
        <p:nvGrpSpPr>
          <p:cNvPr id="11" name="组合 10"/>
          <p:cNvGrpSpPr/>
          <p:nvPr/>
        </p:nvGrpSpPr>
        <p:grpSpPr>
          <a:xfrm>
            <a:off x="5651500" y="3068638"/>
            <a:ext cx="3492500" cy="3789362"/>
            <a:chOff x="5651500" y="3068638"/>
            <a:chExt cx="3492500" cy="3789362"/>
          </a:xfrm>
        </p:grpSpPr>
        <p:graphicFrame>
          <p:nvGraphicFramePr>
            <p:cNvPr id="12" name="Object 7"/>
            <p:cNvGraphicFramePr>
              <a:graphicFrameLocks noChangeAspect="1"/>
            </p:cNvGraphicFramePr>
            <p:nvPr/>
          </p:nvGraphicFramePr>
          <p:xfrm>
            <a:off x="5651500" y="3068638"/>
            <a:ext cx="3276600" cy="2203450"/>
          </p:xfrm>
          <a:graphic>
            <a:graphicData uri="http://schemas.openxmlformats.org/presentationml/2006/ole">
              <mc:AlternateContent xmlns:mc="http://schemas.openxmlformats.org/markup-compatibility/2006">
                <mc:Choice xmlns:v="urn:schemas-microsoft-com:vml" Requires="v">
                  <p:oleObj spid="_x0000_s70673" name="Image" r:id="rId5" imgW="6823862" imgH="4587363" progId="Photoshop.Image.6">
                    <p:embed/>
                  </p:oleObj>
                </mc:Choice>
                <mc:Fallback>
                  <p:oleObj name="Image" r:id="rId5" imgW="6823862" imgH="4587363" progId="Photoshop.Image.6">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1500" y="3068638"/>
                          <a:ext cx="3276600" cy="220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Text Box 8"/>
            <p:cNvSpPr txBox="1">
              <a:spLocks noChangeArrowheads="1"/>
            </p:cNvSpPr>
            <p:nvPr/>
          </p:nvSpPr>
          <p:spPr bwMode="auto">
            <a:xfrm>
              <a:off x="5791200" y="5546725"/>
              <a:ext cx="3352800" cy="1311275"/>
            </a:xfrm>
            <a:prstGeom prst="rect">
              <a:avLst/>
            </a:prstGeom>
            <a:noFill/>
            <a:ln w="9525">
              <a:noFill/>
              <a:miter lim="800000"/>
              <a:headEnd/>
              <a:tailEnd/>
            </a:ln>
          </p:spPr>
          <p:txBody>
            <a:bodyPr>
              <a:spAutoFit/>
            </a:bodyPr>
            <a:lstStyle/>
            <a:p>
              <a:r>
                <a:rPr lang="zh-CN" altLang="en-US" sz="2000" b="1" dirty="0" smtClean="0">
                  <a:solidFill>
                    <a:schemeClr val="tx1"/>
                  </a:solidFill>
                  <a:latin typeface="Times New Roman" pitchFamily="18" charset="0"/>
                  <a:ea typeface="宋体" pitchFamily="2" charset="-122"/>
                </a:rPr>
                <a:t>硅</a:t>
              </a:r>
              <a:r>
                <a:rPr lang="zh-CN" altLang="en-US" sz="2000" b="1" dirty="0">
                  <a:solidFill>
                    <a:schemeClr val="tx1"/>
                  </a:solidFill>
                  <a:latin typeface="Times New Roman" pitchFamily="18" charset="0"/>
                  <a:ea typeface="宋体" pitchFamily="2" charset="-122"/>
                </a:rPr>
                <a:t>光电池：短路电流与光照度有良好的线性关系，用作检测元件时，负载电阻尽可能小。</a:t>
              </a:r>
              <a:endParaRPr lang="zh-CN" altLang="en-US" sz="2000" b="1" dirty="0">
                <a:solidFill>
                  <a:schemeClr val="tx1"/>
                </a:solidFill>
                <a:latin typeface="Verdana" pitchFamily="34" charset="0"/>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algn="l">
              <a:lnSpc>
                <a:spcPct val="130000"/>
              </a:lnSpc>
            </a:pPr>
            <a:r>
              <a:rPr lang="zh-CN" altLang="en-US" sz="2800" b="1" dirty="0" smtClean="0">
                <a:solidFill>
                  <a:srgbClr val="C00000"/>
                </a:solidFill>
                <a:latin typeface="宋体" pitchFamily="2" charset="-122"/>
                <a:ea typeface="宋体" pitchFamily="2" charset="-122"/>
              </a:rPr>
              <a:t>伏安特性</a:t>
            </a:r>
            <a:endParaRPr lang="zh-CN" altLang="en-US" sz="2800" b="1" dirty="0" smtClean="0">
              <a:solidFill>
                <a:srgbClr val="F84D08"/>
              </a:solidFill>
              <a:latin typeface="黑体" pitchFamily="49" charset="-122"/>
              <a:ea typeface="黑体" pitchFamily="49" charset="-122"/>
            </a:endParaRPr>
          </a:p>
        </p:txBody>
      </p:sp>
      <p:sp>
        <p:nvSpPr>
          <p:cNvPr id="1029" name="Text Box 4"/>
          <p:cNvSpPr txBox="1">
            <a:spLocks noChangeArrowheads="1"/>
          </p:cNvSpPr>
          <p:nvPr/>
        </p:nvSpPr>
        <p:spPr bwMode="auto">
          <a:xfrm>
            <a:off x="285720" y="1989138"/>
            <a:ext cx="8572560" cy="1057790"/>
          </a:xfrm>
          <a:prstGeom prst="rect">
            <a:avLst/>
          </a:prstGeom>
          <a:noFill/>
          <a:ln w="9525" algn="ctr">
            <a:noFill/>
            <a:miter lim="800000"/>
            <a:headEnd/>
            <a:tailEnd/>
          </a:ln>
        </p:spPr>
        <p:txBody>
          <a:bodyPr wrap="square">
            <a:spAutoFit/>
          </a:bodyPr>
          <a:lstStyle/>
          <a:p>
            <a:pPr marL="93663" indent="620713">
              <a:lnSpc>
                <a:spcPct val="120000"/>
              </a:lnSpc>
            </a:pPr>
            <a:r>
              <a:rPr lang="zh-CN" altLang="en-US" b="1" dirty="0" smtClean="0">
                <a:solidFill>
                  <a:schemeClr val="tx1"/>
                </a:solidFill>
                <a:latin typeface="宋体" pitchFamily="2" charset="-122"/>
                <a:ea typeface="宋体" pitchFamily="2" charset="-122"/>
              </a:rPr>
              <a:t>当入射光的频谱及光通量一定时，光电元件的端电压</a:t>
            </a:r>
            <a:r>
              <a:rPr lang="en-US" altLang="zh-CN" b="1" dirty="0" smtClean="0">
                <a:solidFill>
                  <a:schemeClr val="tx1"/>
                </a:solidFill>
                <a:latin typeface="宋体" pitchFamily="2" charset="-122"/>
                <a:ea typeface="宋体" pitchFamily="2" charset="-122"/>
              </a:rPr>
              <a:t>U</a:t>
            </a:r>
            <a:r>
              <a:rPr lang="zh-CN" altLang="en-US" b="1" dirty="0" smtClean="0">
                <a:solidFill>
                  <a:schemeClr val="tx1"/>
                </a:solidFill>
                <a:latin typeface="宋体" pitchFamily="2" charset="-122"/>
                <a:ea typeface="宋体" pitchFamily="2" charset="-122"/>
              </a:rPr>
              <a:t>与电流</a:t>
            </a:r>
            <a:r>
              <a:rPr lang="en-US" altLang="zh-CN" b="1" dirty="0" smtClean="0">
                <a:solidFill>
                  <a:schemeClr val="tx1"/>
                </a:solidFill>
                <a:latin typeface="宋体" pitchFamily="2" charset="-122"/>
                <a:ea typeface="宋体" pitchFamily="2" charset="-122"/>
              </a:rPr>
              <a:t>I</a:t>
            </a:r>
            <a:r>
              <a:rPr lang="zh-CN" altLang="en-US" b="1" dirty="0" smtClean="0">
                <a:solidFill>
                  <a:schemeClr val="tx1"/>
                </a:solidFill>
                <a:latin typeface="宋体" pitchFamily="2" charset="-122"/>
                <a:ea typeface="宋体" pitchFamily="2" charset="-122"/>
              </a:rPr>
              <a:t>之间的关系。</a:t>
            </a:r>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14" name="Object 3"/>
          <p:cNvGraphicFramePr>
            <a:graphicFrameLocks noChangeAspect="1"/>
          </p:cNvGraphicFramePr>
          <p:nvPr/>
        </p:nvGraphicFramePr>
        <p:xfrm>
          <a:off x="1785918" y="3286124"/>
          <a:ext cx="6096000" cy="1906588"/>
        </p:xfrm>
        <a:graphic>
          <a:graphicData uri="http://schemas.openxmlformats.org/presentationml/2006/ole">
            <mc:AlternateContent xmlns:mc="http://schemas.openxmlformats.org/markup-compatibility/2006">
              <mc:Choice xmlns:v="urn:schemas-microsoft-com:vml" Requires="v">
                <p:oleObj spid="_x0000_s71691" name="Image" r:id="rId3" imgW="18209672" imgH="5692905" progId="Photoshop.Image.6">
                  <p:embed/>
                </p:oleObj>
              </mc:Choice>
              <mc:Fallback>
                <p:oleObj name="Image" r:id="rId3" imgW="18209672" imgH="5692905" progId="Photoshop.Image.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18" y="3286124"/>
                        <a:ext cx="6096000" cy="190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Text Box 4"/>
          <p:cNvSpPr txBox="1">
            <a:spLocks noChangeArrowheads="1"/>
          </p:cNvSpPr>
          <p:nvPr/>
        </p:nvSpPr>
        <p:spPr bwMode="auto">
          <a:xfrm>
            <a:off x="2071670" y="5429264"/>
            <a:ext cx="1616075" cy="1006475"/>
          </a:xfrm>
          <a:prstGeom prst="rect">
            <a:avLst/>
          </a:prstGeom>
          <a:noFill/>
          <a:ln w="9525">
            <a:noFill/>
            <a:miter lim="800000"/>
            <a:headEnd/>
            <a:tailEnd/>
          </a:ln>
        </p:spPr>
        <p:txBody>
          <a:bodyPr>
            <a:spAutoFit/>
          </a:bodyPr>
          <a:lstStyle/>
          <a:p>
            <a:r>
              <a:rPr lang="zh-CN" altLang="en-US" sz="2000" b="1" dirty="0">
                <a:solidFill>
                  <a:schemeClr val="tx1"/>
                </a:solidFill>
                <a:latin typeface="Verdana" pitchFamily="34" charset="0"/>
                <a:ea typeface="宋体" pitchFamily="2" charset="-122"/>
              </a:rPr>
              <a:t>光敏电阻</a:t>
            </a:r>
          </a:p>
          <a:p>
            <a:r>
              <a:rPr lang="zh-CN" altLang="en-US" sz="2000" b="1" dirty="0">
                <a:solidFill>
                  <a:schemeClr val="tx1"/>
                </a:solidFill>
                <a:latin typeface="Verdana" pitchFamily="34" charset="0"/>
                <a:ea typeface="宋体" pitchFamily="2" charset="-122"/>
              </a:rPr>
              <a:t>具有良好的线性关系</a:t>
            </a:r>
          </a:p>
        </p:txBody>
      </p:sp>
      <p:sp>
        <p:nvSpPr>
          <p:cNvPr id="16" name="Text Box 5"/>
          <p:cNvSpPr txBox="1">
            <a:spLocks noChangeArrowheads="1"/>
          </p:cNvSpPr>
          <p:nvPr/>
        </p:nvSpPr>
        <p:spPr bwMode="auto">
          <a:xfrm>
            <a:off x="4214810" y="5286388"/>
            <a:ext cx="2003436" cy="1311275"/>
          </a:xfrm>
          <a:prstGeom prst="rect">
            <a:avLst/>
          </a:prstGeom>
          <a:noFill/>
          <a:ln w="9525">
            <a:noFill/>
            <a:miter lim="800000"/>
            <a:headEnd/>
            <a:tailEnd/>
          </a:ln>
        </p:spPr>
        <p:txBody>
          <a:bodyPr wrap="square">
            <a:spAutoFit/>
          </a:bodyPr>
          <a:lstStyle/>
          <a:p>
            <a:r>
              <a:rPr lang="zh-CN" altLang="en-US" sz="2000" b="1" dirty="0">
                <a:solidFill>
                  <a:schemeClr val="tx1"/>
                </a:solidFill>
                <a:latin typeface="Verdana" pitchFamily="34" charset="0"/>
                <a:ea typeface="宋体" pitchFamily="2" charset="-122"/>
              </a:rPr>
              <a:t>光敏晶体管</a:t>
            </a:r>
          </a:p>
          <a:p>
            <a:r>
              <a:rPr lang="en-US" altLang="zh-CN" sz="2000" b="1" dirty="0">
                <a:solidFill>
                  <a:schemeClr val="tx1"/>
                </a:solidFill>
                <a:latin typeface="Verdana" pitchFamily="34" charset="0"/>
                <a:ea typeface="宋体" pitchFamily="2" charset="-122"/>
              </a:rPr>
              <a:t>PN</a:t>
            </a:r>
            <a:r>
              <a:rPr lang="zh-CN" altLang="en-US" sz="2000" b="1" dirty="0">
                <a:solidFill>
                  <a:schemeClr val="tx1"/>
                </a:solidFill>
                <a:latin typeface="Verdana" pitchFamily="34" charset="0"/>
                <a:ea typeface="宋体" pitchFamily="2" charset="-122"/>
              </a:rPr>
              <a:t>结产生的电流相当于基极电流</a:t>
            </a:r>
          </a:p>
        </p:txBody>
      </p:sp>
      <p:sp>
        <p:nvSpPr>
          <p:cNvPr id="17" name="Text Box 6"/>
          <p:cNvSpPr txBox="1">
            <a:spLocks noChangeArrowheads="1"/>
          </p:cNvSpPr>
          <p:nvPr/>
        </p:nvSpPr>
        <p:spPr bwMode="auto">
          <a:xfrm>
            <a:off x="6429388" y="5643578"/>
            <a:ext cx="1217000" cy="400110"/>
          </a:xfrm>
          <a:prstGeom prst="rect">
            <a:avLst/>
          </a:prstGeom>
          <a:noFill/>
          <a:ln w="9525">
            <a:noFill/>
            <a:miter lim="800000"/>
            <a:headEnd/>
            <a:tailEnd/>
          </a:ln>
        </p:spPr>
        <p:txBody>
          <a:bodyPr wrap="none">
            <a:spAutoFit/>
          </a:bodyPr>
          <a:lstStyle/>
          <a:p>
            <a:r>
              <a:rPr lang="zh-CN" altLang="en-US" sz="2000" b="1" dirty="0">
                <a:solidFill>
                  <a:schemeClr val="tx1"/>
                </a:solidFill>
                <a:latin typeface="Verdana" pitchFamily="34" charset="0"/>
                <a:ea typeface="宋体" pitchFamily="2" charset="-122"/>
              </a:rPr>
              <a:t>硅光电池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marL="93663" indent="-93663" algn="l"/>
            <a:r>
              <a:rPr lang="zh-CN" altLang="en-US" sz="2800" b="1" dirty="0" smtClean="0">
                <a:solidFill>
                  <a:srgbClr val="C00000"/>
                </a:solidFill>
                <a:latin typeface="宋体" pitchFamily="2" charset="-122"/>
                <a:ea typeface="宋体" pitchFamily="2" charset="-122"/>
              </a:rPr>
              <a:t>光谱特性</a:t>
            </a:r>
            <a:endParaRPr lang="zh-CN" altLang="en-US" sz="2800" b="1" dirty="0">
              <a:solidFill>
                <a:srgbClr val="C00000"/>
              </a:solidFill>
              <a:latin typeface="宋体" pitchFamily="2" charset="-122"/>
              <a:ea typeface="宋体" pitchFamily="2" charset="-122"/>
            </a:endParaRPr>
          </a:p>
        </p:txBody>
      </p:sp>
      <p:sp>
        <p:nvSpPr>
          <p:cNvPr id="1029" name="Text Box 4"/>
          <p:cNvSpPr txBox="1">
            <a:spLocks noChangeArrowheads="1"/>
          </p:cNvSpPr>
          <p:nvPr/>
        </p:nvSpPr>
        <p:spPr bwMode="auto">
          <a:xfrm>
            <a:off x="285720" y="1989138"/>
            <a:ext cx="8572560" cy="1384995"/>
          </a:xfrm>
          <a:prstGeom prst="rect">
            <a:avLst/>
          </a:prstGeom>
          <a:noFill/>
          <a:ln w="9525" algn="ctr">
            <a:noFill/>
            <a:miter lim="800000"/>
            <a:headEnd/>
            <a:tailEnd/>
          </a:ln>
        </p:spPr>
        <p:txBody>
          <a:bodyPr wrap="square">
            <a:spAutoFit/>
          </a:bodyPr>
          <a:lstStyle/>
          <a:p>
            <a:pPr indent="538163"/>
            <a:r>
              <a:rPr lang="zh-CN" altLang="en-US" b="1" dirty="0" smtClean="0">
                <a:solidFill>
                  <a:schemeClr val="tx1"/>
                </a:solidFill>
                <a:latin typeface="宋体" pitchFamily="2" charset="-122"/>
                <a:ea typeface="宋体" pitchFamily="2" charset="-122"/>
              </a:rPr>
              <a:t>半导体光电元件对不同波长的光灵敏度不同，只有能量大于半导体材料禁带宽度的光子才能激发出光生电子</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空穴对。而光子能量的大小与其波长有关。</a:t>
            </a:r>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0" name="Rectangle 2"/>
          <p:cNvSpPr>
            <a:spLocks noChangeArrowheads="1"/>
          </p:cNvSpPr>
          <p:nvPr/>
        </p:nvSpPr>
        <p:spPr bwMode="auto">
          <a:xfrm>
            <a:off x="2103408" y="3943290"/>
            <a:ext cx="228600" cy="1981200"/>
          </a:xfrm>
          <a:prstGeom prst="rect">
            <a:avLst/>
          </a:prstGeom>
          <a:solidFill>
            <a:schemeClr val="accent1"/>
          </a:solidFill>
          <a:ln w="9525">
            <a:solidFill>
              <a:srgbClr val="FF0000"/>
            </a:solidFill>
            <a:miter lim="800000"/>
            <a:headEnd/>
            <a:tailEnd/>
          </a:ln>
        </p:spPr>
        <p:txBody>
          <a:bodyPr wrap="none" anchor="ctr"/>
          <a:lstStyle/>
          <a:p>
            <a:endParaRPr lang="zh-CN" altLang="en-US"/>
          </a:p>
        </p:txBody>
      </p:sp>
      <p:graphicFrame>
        <p:nvGraphicFramePr>
          <p:cNvPr id="11" name="Object 5"/>
          <p:cNvGraphicFramePr>
            <a:graphicFrameLocks noChangeAspect="1"/>
          </p:cNvGraphicFramePr>
          <p:nvPr/>
        </p:nvGraphicFramePr>
        <p:xfrm>
          <a:off x="357158" y="3362265"/>
          <a:ext cx="8305800" cy="2990850"/>
        </p:xfrm>
        <a:graphic>
          <a:graphicData uri="http://schemas.openxmlformats.org/presentationml/2006/ole">
            <mc:AlternateContent xmlns:mc="http://schemas.openxmlformats.org/markup-compatibility/2006">
              <mc:Choice xmlns:v="urn:schemas-microsoft-com:vml" Requires="v">
                <p:oleObj spid="_x0000_s72714" name="Image" r:id="rId3" imgW="17498059" imgH="6302859" progId="Photoshop.Image.6">
                  <p:embed/>
                </p:oleObj>
              </mc:Choice>
              <mc:Fallback>
                <p:oleObj name="Image" r:id="rId3" imgW="17498059" imgH="6302859" progId="Photoshop.Image.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58" y="3362265"/>
                        <a:ext cx="8305800" cy="299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Text Box 6"/>
          <p:cNvSpPr txBox="1">
            <a:spLocks noChangeArrowheads="1"/>
          </p:cNvSpPr>
          <p:nvPr/>
        </p:nvSpPr>
        <p:spPr bwMode="auto">
          <a:xfrm>
            <a:off x="2332008" y="6457890"/>
            <a:ext cx="1217000" cy="400110"/>
          </a:xfrm>
          <a:prstGeom prst="rect">
            <a:avLst/>
          </a:prstGeom>
          <a:noFill/>
          <a:ln w="9525">
            <a:noFill/>
            <a:miter lim="800000"/>
            <a:headEnd/>
            <a:tailEnd/>
          </a:ln>
        </p:spPr>
        <p:txBody>
          <a:bodyPr wrap="none">
            <a:spAutoFit/>
          </a:bodyPr>
          <a:lstStyle/>
          <a:p>
            <a:r>
              <a:rPr lang="zh-CN" altLang="en-US" sz="2000" b="1" dirty="0">
                <a:solidFill>
                  <a:schemeClr val="tx1"/>
                </a:solidFill>
                <a:latin typeface="Verdana" pitchFamily="34" charset="0"/>
                <a:ea typeface="宋体" pitchFamily="2" charset="-122"/>
              </a:rPr>
              <a:t>光敏电阻</a:t>
            </a:r>
          </a:p>
        </p:txBody>
      </p:sp>
      <p:sp>
        <p:nvSpPr>
          <p:cNvPr id="13" name="Text Box 7"/>
          <p:cNvSpPr txBox="1">
            <a:spLocks noChangeArrowheads="1"/>
          </p:cNvSpPr>
          <p:nvPr/>
        </p:nvSpPr>
        <p:spPr bwMode="auto">
          <a:xfrm>
            <a:off x="5761008" y="6381690"/>
            <a:ext cx="2514600" cy="396875"/>
          </a:xfrm>
          <a:prstGeom prst="rect">
            <a:avLst/>
          </a:prstGeom>
          <a:noFill/>
          <a:ln w="9525">
            <a:noFill/>
            <a:miter lim="800000"/>
            <a:headEnd/>
            <a:tailEnd/>
          </a:ln>
        </p:spPr>
        <p:txBody>
          <a:bodyPr>
            <a:spAutoFit/>
          </a:bodyPr>
          <a:lstStyle/>
          <a:p>
            <a:r>
              <a:rPr lang="zh-CN" altLang="en-US" sz="2000" b="1" dirty="0">
                <a:solidFill>
                  <a:schemeClr val="tx1"/>
                </a:solidFill>
                <a:latin typeface="Verdana" pitchFamily="34" charset="0"/>
                <a:ea typeface="宋体" pitchFamily="2" charset="-122"/>
              </a:rPr>
              <a:t>光电池和光敏管</a:t>
            </a:r>
          </a:p>
        </p:txBody>
      </p:sp>
      <p:sp>
        <p:nvSpPr>
          <p:cNvPr id="18" name="Text Box 8"/>
          <p:cNvSpPr txBox="1">
            <a:spLocks noChangeArrowheads="1"/>
          </p:cNvSpPr>
          <p:nvPr/>
        </p:nvSpPr>
        <p:spPr bwMode="auto">
          <a:xfrm>
            <a:off x="2697133" y="4016315"/>
            <a:ext cx="184150" cy="396875"/>
          </a:xfrm>
          <a:prstGeom prst="rect">
            <a:avLst/>
          </a:prstGeom>
          <a:noFill/>
          <a:ln w="9525">
            <a:noFill/>
            <a:miter lim="800000"/>
            <a:headEnd/>
            <a:tailEnd/>
          </a:ln>
        </p:spPr>
        <p:txBody>
          <a:bodyPr wrap="none">
            <a:spAutoFit/>
          </a:bodyPr>
          <a:lstStyle/>
          <a:p>
            <a:endParaRPr lang="zh-CN" altLang="zh-CN" sz="2000">
              <a:solidFill>
                <a:schemeClr val="tx1"/>
              </a:solidFill>
              <a:latin typeface="Verdana" pitchFamily="34" charset="0"/>
              <a:ea typeface="宋体" pitchFamily="2" charset="-122"/>
            </a:endParaRPr>
          </a:p>
        </p:txBody>
      </p:sp>
      <p:sp>
        <p:nvSpPr>
          <p:cNvPr id="19" name="Line 9"/>
          <p:cNvSpPr>
            <a:spLocks noChangeShapeType="1"/>
          </p:cNvSpPr>
          <p:nvPr/>
        </p:nvSpPr>
        <p:spPr bwMode="auto">
          <a:xfrm>
            <a:off x="2103408" y="3867090"/>
            <a:ext cx="0" cy="2209800"/>
          </a:xfrm>
          <a:prstGeom prst="line">
            <a:avLst/>
          </a:prstGeom>
          <a:noFill/>
          <a:ln w="9525">
            <a:solidFill>
              <a:srgbClr val="FF0000"/>
            </a:solidFill>
            <a:miter lim="800000"/>
            <a:headEnd/>
            <a:tailEnd/>
          </a:ln>
        </p:spPr>
        <p:txBody>
          <a:bodyPr wrap="none"/>
          <a:lstStyle/>
          <a:p>
            <a:endParaRPr lang="zh-CN" altLang="en-US"/>
          </a:p>
        </p:txBody>
      </p:sp>
      <p:sp>
        <p:nvSpPr>
          <p:cNvPr id="20" name="Line 10"/>
          <p:cNvSpPr>
            <a:spLocks noChangeShapeType="1"/>
          </p:cNvSpPr>
          <p:nvPr/>
        </p:nvSpPr>
        <p:spPr bwMode="auto">
          <a:xfrm>
            <a:off x="2255808" y="3867090"/>
            <a:ext cx="0" cy="2209800"/>
          </a:xfrm>
          <a:prstGeom prst="line">
            <a:avLst/>
          </a:prstGeom>
          <a:noFill/>
          <a:ln w="9525">
            <a:solidFill>
              <a:srgbClr val="FF0000"/>
            </a:solidFill>
            <a:miter lim="800000"/>
            <a:headEnd/>
            <a:tailEnd/>
          </a:ln>
        </p:spPr>
        <p:txBody>
          <a:bodyPr wrap="none"/>
          <a:lstStyle/>
          <a:p>
            <a:endParaRPr lang="zh-CN" altLang="en-US"/>
          </a:p>
        </p:txBody>
      </p:sp>
      <p:sp>
        <p:nvSpPr>
          <p:cNvPr id="21" name="Text Box 11"/>
          <p:cNvSpPr txBox="1">
            <a:spLocks noChangeArrowheads="1"/>
          </p:cNvSpPr>
          <p:nvPr/>
        </p:nvSpPr>
        <p:spPr bwMode="auto">
          <a:xfrm>
            <a:off x="4160808" y="6305490"/>
            <a:ext cx="1219200" cy="396875"/>
          </a:xfrm>
          <a:prstGeom prst="rect">
            <a:avLst/>
          </a:prstGeom>
          <a:noFill/>
          <a:ln w="9525">
            <a:noFill/>
            <a:miter lim="800000"/>
            <a:headEnd/>
            <a:tailEnd/>
          </a:ln>
        </p:spPr>
        <p:txBody>
          <a:bodyPr>
            <a:spAutoFit/>
          </a:bodyPr>
          <a:lstStyle/>
          <a:p>
            <a:pPr>
              <a:spcBef>
                <a:spcPct val="50000"/>
              </a:spcBef>
            </a:pPr>
            <a:r>
              <a:rPr lang="zh-CN" altLang="en-US" sz="2000">
                <a:solidFill>
                  <a:schemeClr val="folHlink"/>
                </a:solidFill>
                <a:latin typeface="Verdana" pitchFamily="34" charset="0"/>
                <a:ea typeface="宋体" pitchFamily="2" charset="-122"/>
              </a:rPr>
              <a:t>可见光区</a:t>
            </a:r>
          </a:p>
        </p:txBody>
      </p:sp>
      <p:sp>
        <p:nvSpPr>
          <p:cNvPr id="22" name="Line 12"/>
          <p:cNvSpPr>
            <a:spLocks noChangeShapeType="1"/>
          </p:cNvSpPr>
          <p:nvPr/>
        </p:nvSpPr>
        <p:spPr bwMode="auto">
          <a:xfrm flipH="1" flipV="1">
            <a:off x="2255808" y="6000690"/>
            <a:ext cx="1981200" cy="457200"/>
          </a:xfrm>
          <a:prstGeom prst="line">
            <a:avLst/>
          </a:prstGeom>
          <a:noFill/>
          <a:ln w="9525">
            <a:solidFill>
              <a:srgbClr val="FF0000"/>
            </a:solidFill>
            <a:miter lim="800000"/>
            <a:headEnd/>
            <a:tailEnd type="triangle" w="med" len="med"/>
          </a:ln>
        </p:spPr>
        <p:txBody>
          <a:bodyPr wrap="none"/>
          <a:lstStyle/>
          <a:p>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marL="93663" indent="-93663" algn="l"/>
            <a:r>
              <a:rPr lang="zh-CN" altLang="en-US" sz="2800" b="1" dirty="0" smtClean="0">
                <a:solidFill>
                  <a:srgbClr val="C00000"/>
                </a:solidFill>
                <a:latin typeface="宋体" pitchFamily="2" charset="-122"/>
                <a:ea typeface="宋体" pitchFamily="2" charset="-122"/>
              </a:rPr>
              <a:t>频率特性</a:t>
            </a:r>
            <a:endParaRPr lang="zh-CN" altLang="en-US" sz="2800" b="1" dirty="0">
              <a:solidFill>
                <a:srgbClr val="C00000"/>
              </a:solidFill>
              <a:latin typeface="宋体" pitchFamily="2" charset="-122"/>
              <a:ea typeface="宋体" pitchFamily="2" charset="-122"/>
            </a:endParaRPr>
          </a:p>
        </p:txBody>
      </p:sp>
      <p:sp>
        <p:nvSpPr>
          <p:cNvPr id="1029" name="Text Box 4"/>
          <p:cNvSpPr txBox="1">
            <a:spLocks noChangeArrowheads="1"/>
          </p:cNvSpPr>
          <p:nvPr/>
        </p:nvSpPr>
        <p:spPr bwMode="auto">
          <a:xfrm>
            <a:off x="285720" y="1989138"/>
            <a:ext cx="8572560" cy="1057790"/>
          </a:xfrm>
          <a:prstGeom prst="rect">
            <a:avLst/>
          </a:prstGeom>
          <a:noFill/>
          <a:ln w="9525" algn="ctr">
            <a:noFill/>
            <a:miter lim="800000"/>
            <a:headEnd/>
            <a:tailEnd/>
          </a:ln>
        </p:spPr>
        <p:txBody>
          <a:bodyPr wrap="square">
            <a:spAutoFit/>
          </a:bodyPr>
          <a:lstStyle/>
          <a:p>
            <a:pPr indent="538163">
              <a:lnSpc>
                <a:spcPct val="120000"/>
              </a:lnSpc>
            </a:pPr>
            <a:r>
              <a:rPr lang="zh-CN" altLang="en-US" b="1" dirty="0" smtClean="0">
                <a:solidFill>
                  <a:schemeClr val="tx1"/>
                </a:solidFill>
                <a:latin typeface="宋体" pitchFamily="2" charset="-122"/>
                <a:ea typeface="宋体" pitchFamily="2" charset="-122"/>
              </a:rPr>
              <a:t>半导体光电元件的频率特性是指它们的输出电信号与调制光频率变化的关系。</a:t>
            </a:r>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5" name="Text Box 4"/>
          <p:cNvSpPr txBox="1">
            <a:spLocks noChangeArrowheads="1"/>
          </p:cNvSpPr>
          <p:nvPr/>
        </p:nvSpPr>
        <p:spPr bwMode="auto">
          <a:xfrm>
            <a:off x="2114520" y="6457890"/>
            <a:ext cx="2249334" cy="400110"/>
          </a:xfrm>
          <a:prstGeom prst="rect">
            <a:avLst/>
          </a:prstGeom>
          <a:noFill/>
          <a:ln w="9525">
            <a:noFill/>
            <a:miter lim="800000"/>
            <a:headEnd/>
            <a:tailEnd/>
          </a:ln>
        </p:spPr>
        <p:txBody>
          <a:bodyPr wrap="none">
            <a:spAutoFit/>
          </a:bodyPr>
          <a:lstStyle/>
          <a:p>
            <a:r>
              <a:rPr lang="zh-CN" altLang="en-US" sz="2000" b="1" dirty="0">
                <a:solidFill>
                  <a:schemeClr val="tx1"/>
                </a:solidFill>
                <a:latin typeface="Verdana" pitchFamily="34" charset="0"/>
                <a:ea typeface="宋体" pitchFamily="2" charset="-122"/>
              </a:rPr>
              <a:t>光敏电阻和光电池</a:t>
            </a:r>
          </a:p>
        </p:txBody>
      </p:sp>
      <p:sp>
        <p:nvSpPr>
          <p:cNvPr id="16" name="Text Box 5"/>
          <p:cNvSpPr txBox="1">
            <a:spLocks noChangeArrowheads="1"/>
          </p:cNvSpPr>
          <p:nvPr/>
        </p:nvSpPr>
        <p:spPr bwMode="auto">
          <a:xfrm>
            <a:off x="6000720" y="6457890"/>
            <a:ext cx="2514600" cy="396875"/>
          </a:xfrm>
          <a:prstGeom prst="rect">
            <a:avLst/>
          </a:prstGeom>
          <a:noFill/>
          <a:ln w="9525">
            <a:noFill/>
            <a:miter lim="800000"/>
            <a:headEnd/>
            <a:tailEnd/>
          </a:ln>
        </p:spPr>
        <p:txBody>
          <a:bodyPr>
            <a:spAutoFit/>
          </a:bodyPr>
          <a:lstStyle/>
          <a:p>
            <a:r>
              <a:rPr lang="zh-CN" altLang="en-US" sz="2000" b="1" dirty="0">
                <a:solidFill>
                  <a:schemeClr val="tx1"/>
                </a:solidFill>
                <a:latin typeface="Verdana" pitchFamily="34" charset="0"/>
                <a:ea typeface="宋体" pitchFamily="2" charset="-122"/>
              </a:rPr>
              <a:t>光敏管</a:t>
            </a:r>
          </a:p>
        </p:txBody>
      </p:sp>
      <p:sp>
        <p:nvSpPr>
          <p:cNvPr id="17" name="Text Box 6"/>
          <p:cNvSpPr txBox="1">
            <a:spLocks noChangeArrowheads="1"/>
          </p:cNvSpPr>
          <p:nvPr/>
        </p:nvSpPr>
        <p:spPr bwMode="auto">
          <a:xfrm>
            <a:off x="2479645" y="3940115"/>
            <a:ext cx="184150" cy="396875"/>
          </a:xfrm>
          <a:prstGeom prst="rect">
            <a:avLst/>
          </a:prstGeom>
          <a:noFill/>
          <a:ln w="9525">
            <a:noFill/>
            <a:miter lim="800000"/>
            <a:headEnd/>
            <a:tailEnd/>
          </a:ln>
        </p:spPr>
        <p:txBody>
          <a:bodyPr wrap="none">
            <a:spAutoFit/>
          </a:bodyPr>
          <a:lstStyle/>
          <a:p>
            <a:endParaRPr lang="zh-CN" altLang="zh-CN" sz="2000">
              <a:solidFill>
                <a:schemeClr val="tx1"/>
              </a:solidFill>
              <a:latin typeface="Verdana" pitchFamily="34" charset="0"/>
              <a:ea typeface="宋体" pitchFamily="2" charset="-122"/>
            </a:endParaRPr>
          </a:p>
        </p:txBody>
      </p:sp>
      <p:graphicFrame>
        <p:nvGraphicFramePr>
          <p:cNvPr id="23" name="Object 7"/>
          <p:cNvGraphicFramePr>
            <a:graphicFrameLocks noChangeAspect="1"/>
          </p:cNvGraphicFramePr>
          <p:nvPr/>
        </p:nvGraphicFramePr>
        <p:xfrm>
          <a:off x="285720" y="3257490"/>
          <a:ext cx="8458200" cy="3149600"/>
        </p:xfrm>
        <a:graphic>
          <a:graphicData uri="http://schemas.openxmlformats.org/presentationml/2006/ole">
            <mc:AlternateContent xmlns:mc="http://schemas.openxmlformats.org/markup-compatibility/2006">
              <mc:Choice xmlns:v="urn:schemas-microsoft-com:vml" Requires="v">
                <p:oleObj spid="_x0000_s73738" name="Image" r:id="rId3" imgW="16684786" imgH="6213908" progId="Photoshop.Image.6">
                  <p:embed/>
                </p:oleObj>
              </mc:Choice>
              <mc:Fallback>
                <p:oleObj name="Image" r:id="rId3" imgW="16684786" imgH="6213908" progId="Photoshop.Image.6">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20" y="3257490"/>
                        <a:ext cx="8458200" cy="314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marL="93663" indent="-93663" algn="l"/>
            <a:r>
              <a:rPr lang="zh-CN" altLang="en-US" sz="2800" b="1" dirty="0" smtClean="0">
                <a:solidFill>
                  <a:srgbClr val="C00000"/>
                </a:solidFill>
                <a:latin typeface="宋体" pitchFamily="2" charset="-122"/>
                <a:ea typeface="宋体" pitchFamily="2" charset="-122"/>
              </a:rPr>
              <a:t>温度特性</a:t>
            </a:r>
            <a:endParaRPr lang="zh-CN" altLang="en-US" sz="2800" b="1" dirty="0">
              <a:solidFill>
                <a:srgbClr val="C00000"/>
              </a:solidFill>
              <a:latin typeface="宋体" pitchFamily="2" charset="-122"/>
              <a:ea typeface="宋体" pitchFamily="2" charset="-122"/>
            </a:endParaRPr>
          </a:p>
        </p:txBody>
      </p:sp>
      <p:sp>
        <p:nvSpPr>
          <p:cNvPr id="1029" name="Text Box 4"/>
          <p:cNvSpPr txBox="1">
            <a:spLocks noChangeArrowheads="1"/>
          </p:cNvSpPr>
          <p:nvPr/>
        </p:nvSpPr>
        <p:spPr bwMode="auto">
          <a:xfrm>
            <a:off x="285720" y="1989138"/>
            <a:ext cx="8572560" cy="2091919"/>
          </a:xfrm>
          <a:prstGeom prst="rect">
            <a:avLst/>
          </a:prstGeom>
          <a:noFill/>
          <a:ln w="9525" algn="ctr">
            <a:noFill/>
            <a:miter lim="800000"/>
            <a:headEnd/>
            <a:tailEnd/>
          </a:ln>
        </p:spPr>
        <p:txBody>
          <a:bodyPr wrap="square">
            <a:spAutoFit/>
          </a:bodyPr>
          <a:lstStyle/>
          <a:p>
            <a:pPr indent="620713">
              <a:lnSpc>
                <a:spcPct val="120000"/>
              </a:lnSpc>
            </a:pPr>
            <a:r>
              <a:rPr lang="zh-CN" altLang="en-US" b="1" dirty="0" smtClean="0">
                <a:solidFill>
                  <a:schemeClr val="tx1"/>
                </a:solidFill>
                <a:latin typeface="宋体" pitchFamily="2" charset="-122"/>
                <a:ea typeface="宋体" pitchFamily="2" charset="-122"/>
              </a:rPr>
              <a:t>半导体材料易受温度的影响，它直接影响光电流的值。随着温度的升高，光敏电阻的暗电阻值和灵敏度都下降，而频谱特性向短波方向移动。这是它的一大缺点。所以有时用温控的方法来调节其灵敏度。</a:t>
            </a:r>
            <a:endParaRPr lang="zh-CN" altLang="en-US" b="1" dirty="0">
              <a:solidFill>
                <a:schemeClr val="tx1"/>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7" name="Text Box 6"/>
          <p:cNvSpPr txBox="1">
            <a:spLocks noChangeArrowheads="1"/>
          </p:cNvSpPr>
          <p:nvPr/>
        </p:nvSpPr>
        <p:spPr bwMode="auto">
          <a:xfrm>
            <a:off x="2479645" y="3940115"/>
            <a:ext cx="184150" cy="396875"/>
          </a:xfrm>
          <a:prstGeom prst="rect">
            <a:avLst/>
          </a:prstGeom>
          <a:noFill/>
          <a:ln w="9525">
            <a:noFill/>
            <a:miter lim="800000"/>
            <a:headEnd/>
            <a:tailEnd/>
          </a:ln>
        </p:spPr>
        <p:txBody>
          <a:bodyPr wrap="none">
            <a:spAutoFit/>
          </a:bodyPr>
          <a:lstStyle/>
          <a:p>
            <a:endParaRPr lang="zh-CN" altLang="zh-CN" sz="2000">
              <a:solidFill>
                <a:schemeClr val="tx1"/>
              </a:solidFill>
              <a:latin typeface="Verdana" pitchFamily="34" charset="0"/>
              <a:ea typeface="宋体"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3" y="1484313"/>
            <a:ext cx="8572528" cy="587365"/>
          </a:xfrm>
          <a:noFill/>
          <a:ln>
            <a:miter lim="800000"/>
            <a:headEnd/>
            <a:tailEnd/>
          </a:ln>
        </p:spPr>
        <p:txBody>
          <a:bodyPr vert="horz" wrap="square" lIns="91440" tIns="45720" rIns="91440" bIns="45720" numCol="1" anchor="t" anchorCtr="0" compatLnSpc="1">
            <a:prstTxWarp prst="textNoShape">
              <a:avLst/>
            </a:prstTxWarp>
          </a:bodyPr>
          <a:lstStyle/>
          <a:p>
            <a:pPr marL="93663" indent="-93663" algn="l"/>
            <a:r>
              <a:rPr lang="zh-CN" altLang="en-US" sz="2800" b="1" dirty="0" smtClean="0">
                <a:solidFill>
                  <a:srgbClr val="C00000"/>
                </a:solidFill>
                <a:latin typeface="宋体" pitchFamily="2" charset="-122"/>
                <a:ea typeface="宋体" pitchFamily="2" charset="-122"/>
              </a:rPr>
              <a:t>温度特性</a:t>
            </a:r>
            <a:endParaRPr lang="zh-CN" altLang="en-US" sz="2800" b="1" dirty="0">
              <a:solidFill>
                <a:srgbClr val="C00000"/>
              </a:solidFill>
              <a:latin typeface="宋体" pitchFamily="2" charset="-122"/>
              <a:ea typeface="宋体" pitchFamily="2" charset="-122"/>
            </a:endParaRP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8.2 </a:t>
            </a:r>
            <a:r>
              <a:rPr lang="zh-CN" altLang="en-US" sz="4400" b="1" dirty="0" smtClean="0">
                <a:latin typeface="黑体" pitchFamily="49" charset="-122"/>
                <a:ea typeface="黑体" pitchFamily="49" charset="-122"/>
              </a:rPr>
              <a:t>光电器件及特征</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7" name="Text Box 6"/>
          <p:cNvSpPr txBox="1">
            <a:spLocks noChangeArrowheads="1"/>
          </p:cNvSpPr>
          <p:nvPr/>
        </p:nvSpPr>
        <p:spPr bwMode="auto">
          <a:xfrm>
            <a:off x="2479645" y="3940115"/>
            <a:ext cx="184150" cy="396875"/>
          </a:xfrm>
          <a:prstGeom prst="rect">
            <a:avLst/>
          </a:prstGeom>
          <a:noFill/>
          <a:ln w="9525">
            <a:noFill/>
            <a:miter lim="800000"/>
            <a:headEnd/>
            <a:tailEnd/>
          </a:ln>
        </p:spPr>
        <p:txBody>
          <a:bodyPr wrap="none">
            <a:spAutoFit/>
          </a:bodyPr>
          <a:lstStyle/>
          <a:p>
            <a:endParaRPr lang="zh-CN" altLang="zh-CN" sz="2000">
              <a:solidFill>
                <a:schemeClr val="tx1"/>
              </a:solidFill>
              <a:latin typeface="Verdana" pitchFamily="34" charset="0"/>
              <a:ea typeface="宋体" pitchFamily="2" charset="-122"/>
            </a:endParaRPr>
          </a:p>
        </p:txBody>
      </p:sp>
      <p:sp>
        <p:nvSpPr>
          <p:cNvPr id="7" name="Text Box 4"/>
          <p:cNvSpPr txBox="1">
            <a:spLocks noChangeArrowheads="1"/>
          </p:cNvSpPr>
          <p:nvPr/>
        </p:nvSpPr>
        <p:spPr bwMode="auto">
          <a:xfrm>
            <a:off x="4929190" y="4857760"/>
            <a:ext cx="2449553" cy="1015663"/>
          </a:xfrm>
          <a:prstGeom prst="rect">
            <a:avLst/>
          </a:prstGeom>
          <a:noFill/>
          <a:ln w="9525">
            <a:noFill/>
            <a:miter lim="800000"/>
            <a:headEnd/>
            <a:tailEnd/>
          </a:ln>
        </p:spPr>
        <p:txBody>
          <a:bodyPr wrap="square">
            <a:spAutoFit/>
          </a:bodyPr>
          <a:lstStyle/>
          <a:p>
            <a:r>
              <a:rPr lang="zh-CN" altLang="en-US" sz="2000" b="1" dirty="0">
                <a:solidFill>
                  <a:schemeClr val="tx1"/>
                </a:solidFill>
                <a:latin typeface="Verdana" pitchFamily="34" charset="0"/>
                <a:ea typeface="宋体" pitchFamily="2" charset="-122"/>
              </a:rPr>
              <a:t>光电池</a:t>
            </a:r>
            <a:r>
              <a:rPr lang="en-US" altLang="zh-CN" sz="2000" b="1" dirty="0">
                <a:solidFill>
                  <a:schemeClr val="tx1"/>
                </a:solidFill>
                <a:latin typeface="Times New Roman" pitchFamily="18" charset="0"/>
                <a:ea typeface="宋体" pitchFamily="2" charset="-122"/>
              </a:rPr>
              <a:t>—</a:t>
            </a:r>
            <a:r>
              <a:rPr lang="zh-CN" altLang="en-US" sz="2000" b="1" dirty="0">
                <a:solidFill>
                  <a:schemeClr val="tx1"/>
                </a:solidFill>
                <a:latin typeface="Verdana" pitchFamily="34" charset="0"/>
                <a:ea typeface="宋体" pitchFamily="2" charset="-122"/>
              </a:rPr>
              <a:t>开路电压与短路电流受温度影响大</a:t>
            </a:r>
          </a:p>
        </p:txBody>
      </p:sp>
      <p:sp>
        <p:nvSpPr>
          <p:cNvPr id="10" name="Text Box 5"/>
          <p:cNvSpPr txBox="1">
            <a:spLocks noChangeArrowheads="1"/>
          </p:cNvSpPr>
          <p:nvPr/>
        </p:nvSpPr>
        <p:spPr bwMode="auto">
          <a:xfrm>
            <a:off x="1500166" y="4786322"/>
            <a:ext cx="3255963" cy="1015663"/>
          </a:xfrm>
          <a:prstGeom prst="rect">
            <a:avLst/>
          </a:prstGeom>
          <a:noFill/>
          <a:ln w="9525">
            <a:noFill/>
            <a:miter lim="800000"/>
            <a:headEnd/>
            <a:tailEnd/>
          </a:ln>
        </p:spPr>
        <p:txBody>
          <a:bodyPr wrap="square">
            <a:spAutoFit/>
          </a:bodyPr>
          <a:lstStyle/>
          <a:p>
            <a:r>
              <a:rPr lang="zh-CN" altLang="en-US" sz="2000" b="1" dirty="0">
                <a:solidFill>
                  <a:schemeClr val="tx1"/>
                </a:solidFill>
                <a:latin typeface="Verdana" pitchFamily="34" charset="0"/>
                <a:ea typeface="宋体" pitchFamily="2" charset="-122"/>
              </a:rPr>
              <a:t>光敏管</a:t>
            </a:r>
            <a:r>
              <a:rPr lang="en-US" altLang="zh-CN" sz="2000" b="1" dirty="0">
                <a:solidFill>
                  <a:schemeClr val="tx1"/>
                </a:solidFill>
                <a:latin typeface="Verdana" pitchFamily="34" charset="0"/>
                <a:ea typeface="宋体" pitchFamily="2" charset="-122"/>
              </a:rPr>
              <a:t>--</a:t>
            </a:r>
            <a:r>
              <a:rPr lang="zh-CN" altLang="en-US" sz="2000" b="1" dirty="0">
                <a:solidFill>
                  <a:schemeClr val="tx1"/>
                </a:solidFill>
                <a:latin typeface="Verdana" pitchFamily="34" charset="0"/>
                <a:ea typeface="宋体" pitchFamily="2" charset="-122"/>
              </a:rPr>
              <a:t>温度变化对输出电流的影响很小，而暗电流的变化很大</a:t>
            </a:r>
          </a:p>
        </p:txBody>
      </p:sp>
      <p:sp>
        <p:nvSpPr>
          <p:cNvPr id="11" name="Text Box 6"/>
          <p:cNvSpPr txBox="1">
            <a:spLocks noChangeArrowheads="1"/>
          </p:cNvSpPr>
          <p:nvPr/>
        </p:nvSpPr>
        <p:spPr bwMode="auto">
          <a:xfrm>
            <a:off x="2606654" y="3067041"/>
            <a:ext cx="184150" cy="396875"/>
          </a:xfrm>
          <a:prstGeom prst="rect">
            <a:avLst/>
          </a:prstGeom>
          <a:noFill/>
          <a:ln w="9525">
            <a:noFill/>
            <a:miter lim="800000"/>
            <a:headEnd/>
            <a:tailEnd/>
          </a:ln>
        </p:spPr>
        <p:txBody>
          <a:bodyPr wrap="none">
            <a:spAutoFit/>
          </a:bodyPr>
          <a:lstStyle/>
          <a:p>
            <a:endParaRPr lang="zh-CN" altLang="zh-CN" sz="2000">
              <a:solidFill>
                <a:schemeClr val="tx1"/>
              </a:solidFill>
              <a:latin typeface="Verdana" pitchFamily="34" charset="0"/>
              <a:ea typeface="宋体" pitchFamily="2" charset="-122"/>
            </a:endParaRPr>
          </a:p>
        </p:txBody>
      </p:sp>
      <p:graphicFrame>
        <p:nvGraphicFramePr>
          <p:cNvPr id="12" name="Object 12"/>
          <p:cNvGraphicFramePr>
            <a:graphicFrameLocks noGrp="1" noChangeAspect="1"/>
          </p:cNvGraphicFramePr>
          <p:nvPr>
            <p:ph/>
          </p:nvPr>
        </p:nvGraphicFramePr>
        <p:xfrm>
          <a:off x="1571604" y="2143116"/>
          <a:ext cx="5627688" cy="2538413"/>
        </p:xfrm>
        <a:graphic>
          <a:graphicData uri="http://schemas.openxmlformats.org/presentationml/2006/ole">
            <mc:AlternateContent xmlns:mc="http://schemas.openxmlformats.org/markup-compatibility/2006">
              <mc:Choice xmlns:v="urn:schemas-microsoft-com:vml" Requires="v">
                <p:oleObj spid="_x0000_s75785" name="Image" r:id="rId3" imgW="29495510" imgH="13302857" progId="">
                  <p:embed/>
                </p:oleObj>
              </mc:Choice>
              <mc:Fallback>
                <p:oleObj name="Image" r:id="rId3" imgW="29495510" imgH="13302857" progId="">
                  <p:embed/>
                  <p:pic>
                    <p:nvPicPr>
                      <p:cNvPr id="0" name="Object 1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04" y="2143116"/>
                        <a:ext cx="5627688" cy="253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8.3 </a:t>
            </a:r>
            <a:r>
              <a:rPr lang="zh-CN" altLang="en-US" b="1" dirty="0" smtClean="0">
                <a:solidFill>
                  <a:schemeClr val="tx2"/>
                </a:solidFill>
                <a:latin typeface="黑体" pitchFamily="49" charset="-122"/>
                <a:ea typeface="黑体" pitchFamily="49" charset="-122"/>
              </a:rPr>
              <a:t>光电式传感器测量电路</a:t>
            </a:r>
          </a:p>
        </p:txBody>
      </p:sp>
      <p:sp>
        <p:nvSpPr>
          <p:cNvPr id="14340" name="Text Box 4"/>
          <p:cNvSpPr txBox="1">
            <a:spLocks noChangeArrowheads="1"/>
          </p:cNvSpPr>
          <p:nvPr/>
        </p:nvSpPr>
        <p:spPr bwMode="auto">
          <a:xfrm>
            <a:off x="214282" y="2786058"/>
            <a:ext cx="8643998" cy="3711785"/>
          </a:xfrm>
          <a:prstGeom prst="rect">
            <a:avLst/>
          </a:prstGeom>
          <a:noFill/>
          <a:ln w="9525" algn="ctr">
            <a:noFill/>
            <a:miter lim="800000"/>
            <a:headEnd/>
            <a:tailEnd/>
          </a:ln>
        </p:spPr>
        <p:txBody>
          <a:bodyPr wrap="square">
            <a:spAutoFit/>
          </a:bodyPr>
          <a:lstStyle/>
          <a:p>
            <a:pPr indent="365125">
              <a:lnSpc>
                <a:spcPct val="130000"/>
              </a:lnSpc>
            </a:pPr>
            <a:r>
              <a:rPr lang="zh-CN" altLang="en-US" b="1" dirty="0" smtClean="0">
                <a:solidFill>
                  <a:srgbClr val="F84D08"/>
                </a:solidFill>
                <a:latin typeface="黑体" pitchFamily="49" charset="-122"/>
                <a:ea typeface="黑体" pitchFamily="49" charset="-122"/>
                <a:cs typeface="+mj-cs"/>
              </a:rPr>
              <a:t>光源</a:t>
            </a:r>
            <a:endParaRPr lang="en-US" altLang="zh-CN" b="1" dirty="0" smtClean="0">
              <a:solidFill>
                <a:srgbClr val="F84D08"/>
              </a:solidFill>
              <a:latin typeface="黑体" pitchFamily="49" charset="-122"/>
              <a:ea typeface="黑体" pitchFamily="49" charset="-122"/>
              <a:cs typeface="+mj-cs"/>
            </a:endParaRPr>
          </a:p>
          <a:p>
            <a:pPr indent="365125">
              <a:lnSpc>
                <a:spcPct val="130000"/>
              </a:lnSpc>
            </a:pPr>
            <a:r>
              <a:rPr lang="zh-CN" altLang="en-US" b="1" dirty="0" smtClean="0">
                <a:solidFill>
                  <a:schemeClr val="tx1"/>
                </a:solidFill>
                <a:latin typeface="宋体" pitchFamily="2" charset="-122"/>
                <a:ea typeface="宋体" pitchFamily="2" charset="-122"/>
              </a:rPr>
              <a:t>光电器件的工作状况与光源密切相关。</a:t>
            </a:r>
            <a:endParaRPr lang="en-US" altLang="zh-CN" b="1" dirty="0" smtClean="0">
              <a:solidFill>
                <a:schemeClr val="tx1"/>
              </a:solidFill>
              <a:latin typeface="宋体" pitchFamily="2" charset="-122"/>
              <a:ea typeface="宋体" pitchFamily="2" charset="-122"/>
            </a:endParaRPr>
          </a:p>
          <a:p>
            <a:pPr indent="274638">
              <a:buClr>
                <a:schemeClr val="tx1"/>
              </a:buClr>
              <a:buFont typeface="Wingdings" pitchFamily="2" charset="2"/>
              <a:buChar char="l"/>
            </a:pPr>
            <a:r>
              <a:rPr lang="zh-CN" altLang="en-US" b="1" dirty="0" smtClean="0">
                <a:solidFill>
                  <a:srgbClr val="C00000"/>
                </a:solidFill>
                <a:latin typeface="宋体" pitchFamily="2" charset="-122"/>
                <a:ea typeface="宋体" pitchFamily="2" charset="-122"/>
              </a:rPr>
              <a:t> 发光二极管</a:t>
            </a:r>
          </a:p>
          <a:p>
            <a:pPr indent="274638">
              <a:lnSpc>
                <a:spcPct val="120000"/>
              </a:lnSpc>
            </a:pPr>
            <a:r>
              <a:rPr lang="zh-CN" altLang="en-US" b="1" dirty="0" smtClean="0">
                <a:solidFill>
                  <a:schemeClr val="tx1"/>
                </a:solidFill>
                <a:latin typeface="宋体" pitchFamily="2" charset="-122"/>
                <a:ea typeface="宋体" pitchFamily="2" charset="-122"/>
              </a:rPr>
              <a:t>发光二极管是一种半导体器件。和白炽灯相比，它具有体积小、功耗低、寿命长、响应快、机械强度高以及能和集成电路相匹配等优点。因此广泛地应用于计算机、仪器仪表和自动控制等设备中。</a:t>
            </a:r>
            <a:endParaRPr lang="zh-CN" altLang="en-US" b="1" dirty="0" smtClean="0">
              <a:solidFill>
                <a:srgbClr val="F84D08"/>
              </a:solidFill>
              <a:latin typeface="黑体" pitchFamily="49" charset="-122"/>
              <a:ea typeface="黑体" pitchFamily="49" charset="-122"/>
              <a:cs typeface="+mj-cs"/>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85720" y="1714488"/>
            <a:ext cx="8572560" cy="982385"/>
          </a:xfrm>
          <a:prstGeom prst="rect">
            <a:avLst/>
          </a:prstGeom>
        </p:spPr>
        <p:txBody>
          <a:bodyPr wrap="square">
            <a:spAutoFit/>
          </a:bodyPr>
          <a:lstStyle/>
          <a:p>
            <a:pPr indent="274638">
              <a:lnSpc>
                <a:spcPct val="110000"/>
              </a:lnSpc>
            </a:pPr>
            <a:r>
              <a:rPr kumimoji="0" lang="zh-CN" altLang="en-US" b="1" dirty="0" smtClean="0">
                <a:solidFill>
                  <a:schemeClr val="tx1"/>
                </a:solidFill>
                <a:latin typeface="宋体" pitchFamily="2" charset="-122"/>
                <a:ea typeface="宋体" pitchFamily="2" charset="-122"/>
              </a:rPr>
              <a:t>要使光电式传感器能正常地工作，除了合理选用光电转换元件外，还必须配备合适的光源和测量线路。</a:t>
            </a:r>
            <a:endParaRPr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Effect transition="in" filter="blinds(horizontal)">
                                      <p:cBhvr>
                                        <p:cTn id="7" dur="500"/>
                                        <p:tgtEl>
                                          <p:spTgt spid="14340">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340">
                                            <p:txEl>
                                              <p:pRg st="1" end="1"/>
                                            </p:txEl>
                                          </p:spTgt>
                                        </p:tgtEl>
                                        <p:attrNameLst>
                                          <p:attrName>style.visibility</p:attrName>
                                        </p:attrNameLst>
                                      </p:cBhvr>
                                      <p:to>
                                        <p:strVal val="visible"/>
                                      </p:to>
                                    </p:set>
                                    <p:animEffect transition="in" filter="blinds(horizontal)">
                                      <p:cBhvr>
                                        <p:cTn id="10" dur="500"/>
                                        <p:tgtEl>
                                          <p:spTgt spid="1434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4340">
                                            <p:txEl>
                                              <p:pRg st="2" end="2"/>
                                            </p:txEl>
                                          </p:spTgt>
                                        </p:tgtEl>
                                        <p:attrNameLst>
                                          <p:attrName>style.visibility</p:attrName>
                                        </p:attrNameLst>
                                      </p:cBhvr>
                                      <p:to>
                                        <p:strVal val="visible"/>
                                      </p:to>
                                    </p:set>
                                    <p:animEffect transition="in" filter="blinds(horizontal)">
                                      <p:cBhvr>
                                        <p:cTn id="15" dur="500"/>
                                        <p:tgtEl>
                                          <p:spTgt spid="14340">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4340">
                                            <p:txEl>
                                              <p:pRg st="3" end="3"/>
                                            </p:txEl>
                                          </p:spTgt>
                                        </p:tgtEl>
                                        <p:attrNameLst>
                                          <p:attrName>style.visibility</p:attrName>
                                        </p:attrNameLst>
                                      </p:cBhvr>
                                      <p:to>
                                        <p:strVal val="visible"/>
                                      </p:to>
                                    </p:set>
                                    <p:animEffect transition="in" filter="blinds(horizontal)">
                                      <p:cBhvr>
                                        <p:cTn id="18" dur="500"/>
                                        <p:tgtEl>
                                          <p:spTgt spid="1434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2" y="1571612"/>
            <a:ext cx="8572528" cy="587365"/>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光源</a:t>
            </a: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8.3 </a:t>
            </a:r>
            <a:r>
              <a:rPr lang="zh-CN" altLang="en-US" sz="4400" b="1" dirty="0" smtClean="0">
                <a:latin typeface="黑体" pitchFamily="49" charset="-122"/>
                <a:ea typeface="黑体" pitchFamily="49" charset="-122"/>
              </a:rPr>
              <a:t>光电式传感器测量电路</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1" name="Text Box 6"/>
          <p:cNvSpPr txBox="1">
            <a:spLocks noChangeArrowheads="1"/>
          </p:cNvSpPr>
          <p:nvPr/>
        </p:nvSpPr>
        <p:spPr bwMode="auto">
          <a:xfrm>
            <a:off x="2606654" y="3067041"/>
            <a:ext cx="184150" cy="396875"/>
          </a:xfrm>
          <a:prstGeom prst="rect">
            <a:avLst/>
          </a:prstGeom>
          <a:noFill/>
          <a:ln w="9525">
            <a:noFill/>
            <a:miter lim="800000"/>
            <a:headEnd/>
            <a:tailEnd/>
          </a:ln>
        </p:spPr>
        <p:txBody>
          <a:bodyPr wrap="none">
            <a:spAutoFit/>
          </a:bodyPr>
          <a:lstStyle/>
          <a:p>
            <a:endParaRPr lang="zh-CN" altLang="zh-CN" sz="2000">
              <a:solidFill>
                <a:schemeClr val="tx1"/>
              </a:solidFill>
              <a:latin typeface="Verdana" pitchFamily="34" charset="0"/>
              <a:ea typeface="宋体" pitchFamily="2" charset="-122"/>
            </a:endParaRPr>
          </a:p>
        </p:txBody>
      </p:sp>
      <p:sp>
        <p:nvSpPr>
          <p:cNvPr id="14" name="矩形 13"/>
          <p:cNvSpPr/>
          <p:nvPr/>
        </p:nvSpPr>
        <p:spPr>
          <a:xfrm>
            <a:off x="285720" y="2285992"/>
            <a:ext cx="8572560" cy="4056495"/>
          </a:xfrm>
          <a:prstGeom prst="rect">
            <a:avLst/>
          </a:prstGeom>
        </p:spPr>
        <p:txBody>
          <a:bodyPr wrap="square">
            <a:spAutoFit/>
          </a:bodyPr>
          <a:lstStyle/>
          <a:p>
            <a:pPr indent="274638">
              <a:buClr>
                <a:schemeClr val="tx1"/>
              </a:buClr>
              <a:buFont typeface="Wingdings" pitchFamily="2" charset="2"/>
              <a:buChar char="l"/>
            </a:pPr>
            <a:r>
              <a:rPr lang="zh-CN" altLang="en-US" b="1" dirty="0" smtClean="0">
                <a:solidFill>
                  <a:srgbClr val="C00000"/>
                </a:solidFill>
                <a:latin typeface="宋体" pitchFamily="2" charset="-122"/>
                <a:ea typeface="宋体" pitchFamily="2" charset="-122"/>
              </a:rPr>
              <a:t>钨丝灯泡 </a:t>
            </a:r>
          </a:p>
          <a:p>
            <a:pPr indent="620713">
              <a:lnSpc>
                <a:spcPct val="120000"/>
              </a:lnSpc>
            </a:pPr>
            <a:r>
              <a:rPr lang="zh-CN" altLang="en-US" b="1" dirty="0" smtClean="0">
                <a:solidFill>
                  <a:schemeClr val="tx1"/>
                </a:solidFill>
                <a:latin typeface="宋体" pitchFamily="2" charset="-122"/>
                <a:ea typeface="宋体" pitchFamily="2" charset="-122"/>
              </a:rPr>
              <a:t>是一种最常用的光源，它具有丰富的红外线。使用时可加滤色片将钨丝灯泡的可见光滤去，而仅用它的红外线作光源，可防止其它光线的干扰。</a:t>
            </a:r>
            <a:endParaRPr lang="en-US" altLang="zh-CN" b="1" dirty="0" smtClean="0">
              <a:solidFill>
                <a:schemeClr val="tx1"/>
              </a:solidFill>
              <a:latin typeface="宋体" pitchFamily="2" charset="-122"/>
              <a:ea typeface="宋体" pitchFamily="2" charset="-122"/>
            </a:endParaRPr>
          </a:p>
          <a:p>
            <a:pPr indent="274638">
              <a:buClr>
                <a:schemeClr val="tx1"/>
              </a:buClr>
              <a:buFont typeface="Wingdings" pitchFamily="2" charset="2"/>
              <a:buChar char="l"/>
            </a:pPr>
            <a:r>
              <a:rPr lang="zh-CN" altLang="en-US" b="1" dirty="0" smtClean="0">
                <a:solidFill>
                  <a:srgbClr val="C00000"/>
                </a:solidFill>
                <a:latin typeface="宋体" pitchFamily="2" charset="-122"/>
                <a:ea typeface="宋体" pitchFamily="2" charset="-122"/>
              </a:rPr>
              <a:t>电弧灯或石英灯</a:t>
            </a:r>
          </a:p>
          <a:p>
            <a:pPr indent="538163">
              <a:lnSpc>
                <a:spcPct val="120000"/>
              </a:lnSpc>
            </a:pPr>
            <a:r>
              <a:rPr lang="zh-CN" altLang="en-US" b="1" dirty="0" smtClean="0">
                <a:solidFill>
                  <a:schemeClr val="tx1"/>
                </a:solidFill>
                <a:latin typeface="宋体" pitchFamily="2" charset="-122"/>
                <a:ea typeface="宋体" pitchFamily="2" charset="-122"/>
              </a:rPr>
              <a:t>能产生紫外线，常用于测量液体中悬浮的化学药品含量。紫外线灯的聚光镜头用石英材料制造而不能使用普通玻璃。</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animEffect transition="in" filter="blinds(horizontal)">
                                      <p:cBhvr>
                                        <p:cTn id="7" dur="500"/>
                                        <p:tgtEl>
                                          <p:spTgt spid="14">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
                                            <p:txEl>
                                              <p:pRg st="3" end="3"/>
                                            </p:txEl>
                                          </p:spTgt>
                                        </p:tgtEl>
                                        <p:attrNameLst>
                                          <p:attrName>style.visibility</p:attrName>
                                        </p:attrNameLst>
                                      </p:cBhvr>
                                      <p:to>
                                        <p:strVal val="visible"/>
                                      </p:to>
                                    </p:set>
                                    <p:animEffect transition="in" filter="blinds(horizontal)">
                                      <p:cBhvr>
                                        <p:cTn id="10"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571472" y="1571612"/>
            <a:ext cx="8572528" cy="587365"/>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光源</a:t>
            </a: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8.3 </a:t>
            </a:r>
            <a:r>
              <a:rPr lang="zh-CN" altLang="en-US" sz="4400" b="1" dirty="0" smtClean="0">
                <a:latin typeface="黑体" pitchFamily="49" charset="-122"/>
                <a:ea typeface="黑体" pitchFamily="49" charset="-122"/>
              </a:rPr>
              <a:t>光电式传感器测量电路</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1" name="Text Box 6"/>
          <p:cNvSpPr txBox="1">
            <a:spLocks noChangeArrowheads="1"/>
          </p:cNvSpPr>
          <p:nvPr/>
        </p:nvSpPr>
        <p:spPr bwMode="auto">
          <a:xfrm>
            <a:off x="2606654" y="3067041"/>
            <a:ext cx="184150" cy="396875"/>
          </a:xfrm>
          <a:prstGeom prst="rect">
            <a:avLst/>
          </a:prstGeom>
          <a:noFill/>
          <a:ln w="9525">
            <a:noFill/>
            <a:miter lim="800000"/>
            <a:headEnd/>
            <a:tailEnd/>
          </a:ln>
        </p:spPr>
        <p:txBody>
          <a:bodyPr wrap="none">
            <a:spAutoFit/>
          </a:bodyPr>
          <a:lstStyle/>
          <a:p>
            <a:endParaRPr lang="zh-CN" altLang="zh-CN" sz="2000">
              <a:solidFill>
                <a:schemeClr val="tx1"/>
              </a:solidFill>
              <a:latin typeface="Verdana" pitchFamily="34" charset="0"/>
              <a:ea typeface="宋体" pitchFamily="2" charset="-122"/>
            </a:endParaRPr>
          </a:p>
        </p:txBody>
      </p:sp>
      <p:sp>
        <p:nvSpPr>
          <p:cNvPr id="14" name="矩形 13"/>
          <p:cNvSpPr/>
          <p:nvPr/>
        </p:nvSpPr>
        <p:spPr>
          <a:xfrm>
            <a:off x="285720" y="2285992"/>
            <a:ext cx="8572560" cy="2005742"/>
          </a:xfrm>
          <a:prstGeom prst="rect">
            <a:avLst/>
          </a:prstGeom>
        </p:spPr>
        <p:txBody>
          <a:bodyPr wrap="square">
            <a:spAutoFit/>
          </a:bodyPr>
          <a:lstStyle/>
          <a:p>
            <a:pPr indent="274638">
              <a:buClr>
                <a:schemeClr val="tx1"/>
              </a:buClr>
              <a:buFont typeface="Wingdings" pitchFamily="2" charset="2"/>
              <a:buChar char="l"/>
            </a:pPr>
            <a:r>
              <a:rPr lang="zh-CN" altLang="en-US" b="1" dirty="0" smtClean="0">
                <a:solidFill>
                  <a:srgbClr val="C00000"/>
                </a:solidFill>
                <a:latin typeface="宋体" pitchFamily="2" charset="-122"/>
                <a:ea typeface="宋体" pitchFamily="2" charset="-122"/>
              </a:rPr>
              <a:t>激光</a:t>
            </a:r>
          </a:p>
          <a:p>
            <a:pPr indent="538163">
              <a:lnSpc>
                <a:spcPct val="120000"/>
              </a:lnSpc>
            </a:pPr>
            <a:r>
              <a:rPr lang="zh-CN" altLang="en-US" b="1" dirty="0" smtClean="0">
                <a:solidFill>
                  <a:schemeClr val="tx1"/>
                </a:solidFill>
                <a:latin typeface="宋体" pitchFamily="2" charset="-122"/>
                <a:ea typeface="宋体" pitchFamily="2" charset="-122"/>
              </a:rPr>
              <a:t>激光是一种人造光源，与一般光相比，具有单色性强（频率纯）、能量高度集中，方向性好，相干性好等特点，是一种非常理想的光源。</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285720" y="1500174"/>
            <a:ext cx="785818" cy="587365"/>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测量电路</a:t>
            </a:r>
          </a:p>
        </p:txBody>
      </p:sp>
      <p:sp>
        <p:nvSpPr>
          <p:cNvPr id="8"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defRPr/>
            </a:pPr>
            <a:r>
              <a:rPr lang="en-US" altLang="zh-CN" sz="4400" b="1" dirty="0" smtClean="0">
                <a:latin typeface="黑体" pitchFamily="49" charset="-122"/>
                <a:ea typeface="黑体" pitchFamily="49" charset="-122"/>
              </a:rPr>
              <a:t>8.3 </a:t>
            </a:r>
            <a:r>
              <a:rPr lang="zh-CN" altLang="en-US" sz="4400" b="1" dirty="0" smtClean="0">
                <a:latin typeface="黑体" pitchFamily="49" charset="-122"/>
                <a:ea typeface="黑体" pitchFamily="49" charset="-122"/>
              </a:rPr>
              <a:t>光电式传感器测量电路</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cxnSp>
        <p:nvCxnSpPr>
          <p:cNvPr id="9" name="直接连接符 8"/>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1" name="Text Box 6"/>
          <p:cNvSpPr txBox="1">
            <a:spLocks noChangeArrowheads="1"/>
          </p:cNvSpPr>
          <p:nvPr/>
        </p:nvSpPr>
        <p:spPr bwMode="auto">
          <a:xfrm>
            <a:off x="2392340" y="2995603"/>
            <a:ext cx="184150" cy="396875"/>
          </a:xfrm>
          <a:prstGeom prst="rect">
            <a:avLst/>
          </a:prstGeom>
          <a:noFill/>
          <a:ln w="9525">
            <a:noFill/>
            <a:miter lim="800000"/>
            <a:headEnd/>
            <a:tailEnd/>
          </a:ln>
        </p:spPr>
        <p:txBody>
          <a:bodyPr wrap="none">
            <a:spAutoFit/>
          </a:bodyPr>
          <a:lstStyle/>
          <a:p>
            <a:endParaRPr lang="zh-CN" altLang="zh-CN" sz="2000">
              <a:solidFill>
                <a:schemeClr val="tx1"/>
              </a:solidFill>
              <a:latin typeface="Verdana" pitchFamily="34" charset="0"/>
              <a:ea typeface="宋体" pitchFamily="2" charset="-122"/>
            </a:endParaRPr>
          </a:p>
        </p:txBody>
      </p:sp>
      <p:sp>
        <p:nvSpPr>
          <p:cNvPr id="7" name="Text Box 4"/>
          <p:cNvSpPr txBox="1">
            <a:spLocks noChangeArrowheads="1"/>
          </p:cNvSpPr>
          <p:nvPr/>
        </p:nvSpPr>
        <p:spPr bwMode="auto">
          <a:xfrm>
            <a:off x="3049565" y="3305162"/>
            <a:ext cx="184150" cy="396875"/>
          </a:xfrm>
          <a:prstGeom prst="rect">
            <a:avLst/>
          </a:prstGeom>
          <a:noFill/>
          <a:ln w="9525">
            <a:noFill/>
            <a:miter lim="800000"/>
            <a:headEnd/>
            <a:tailEnd/>
          </a:ln>
        </p:spPr>
        <p:txBody>
          <a:bodyPr wrap="none">
            <a:spAutoFit/>
          </a:bodyPr>
          <a:lstStyle/>
          <a:p>
            <a:endParaRPr lang="zh-CN" altLang="zh-CN" sz="2000">
              <a:solidFill>
                <a:schemeClr val="tx1"/>
              </a:solidFill>
              <a:latin typeface="Verdana" pitchFamily="34" charset="0"/>
              <a:ea typeface="宋体" pitchFamily="2" charset="-122"/>
            </a:endParaRPr>
          </a:p>
        </p:txBody>
      </p:sp>
      <p:sp>
        <p:nvSpPr>
          <p:cNvPr id="10" name="Text Box 7"/>
          <p:cNvSpPr txBox="1">
            <a:spLocks noChangeArrowheads="1"/>
          </p:cNvSpPr>
          <p:nvPr/>
        </p:nvSpPr>
        <p:spPr bwMode="auto">
          <a:xfrm>
            <a:off x="5368922" y="3886187"/>
            <a:ext cx="2249334" cy="400110"/>
          </a:xfrm>
          <a:prstGeom prst="rect">
            <a:avLst/>
          </a:prstGeom>
          <a:noFill/>
          <a:ln w="9525">
            <a:noFill/>
            <a:miter lim="800000"/>
            <a:headEnd/>
            <a:tailEnd/>
          </a:ln>
        </p:spPr>
        <p:txBody>
          <a:bodyPr wrap="none">
            <a:spAutoFit/>
          </a:bodyPr>
          <a:lstStyle/>
          <a:p>
            <a:r>
              <a:rPr lang="zh-CN" altLang="en-US" sz="2000" b="1" dirty="0">
                <a:solidFill>
                  <a:schemeClr val="tx1"/>
                </a:solidFill>
                <a:latin typeface="Verdana" pitchFamily="34" charset="0"/>
                <a:ea typeface="宋体" pitchFamily="2" charset="-122"/>
              </a:rPr>
              <a:t>光敏电阻开关电路</a:t>
            </a:r>
          </a:p>
        </p:txBody>
      </p:sp>
      <p:sp>
        <p:nvSpPr>
          <p:cNvPr id="12" name="Text Box 8"/>
          <p:cNvSpPr txBox="1">
            <a:spLocks noChangeArrowheads="1"/>
          </p:cNvSpPr>
          <p:nvPr/>
        </p:nvSpPr>
        <p:spPr bwMode="auto">
          <a:xfrm>
            <a:off x="4357686" y="6461125"/>
            <a:ext cx="3622675" cy="396875"/>
          </a:xfrm>
          <a:prstGeom prst="rect">
            <a:avLst/>
          </a:prstGeom>
          <a:noFill/>
          <a:ln w="9525">
            <a:noFill/>
            <a:miter lim="800000"/>
            <a:headEnd/>
            <a:tailEnd/>
          </a:ln>
        </p:spPr>
        <p:txBody>
          <a:bodyPr>
            <a:spAutoFit/>
          </a:bodyPr>
          <a:lstStyle/>
          <a:p>
            <a:r>
              <a:rPr lang="zh-CN" altLang="en-US" sz="2000" b="1" dirty="0">
                <a:solidFill>
                  <a:schemeClr val="tx1"/>
                </a:solidFill>
                <a:latin typeface="Verdana" pitchFamily="34" charset="0"/>
                <a:ea typeface="宋体" pitchFamily="2" charset="-122"/>
              </a:rPr>
              <a:t>带温度补偿的光敏二极管电路</a:t>
            </a:r>
          </a:p>
        </p:txBody>
      </p:sp>
      <p:graphicFrame>
        <p:nvGraphicFramePr>
          <p:cNvPr id="13" name="Object 13"/>
          <p:cNvGraphicFramePr>
            <a:graphicFrameLocks noGrp="1" noChangeAspect="1"/>
          </p:cNvGraphicFramePr>
          <p:nvPr>
            <p:ph sz="half" idx="1"/>
          </p:nvPr>
        </p:nvGraphicFramePr>
        <p:xfrm>
          <a:off x="1428728" y="1643050"/>
          <a:ext cx="2263775" cy="4525962"/>
        </p:xfrm>
        <a:graphic>
          <a:graphicData uri="http://schemas.openxmlformats.org/presentationml/2006/ole">
            <mc:AlternateContent xmlns:mc="http://schemas.openxmlformats.org/markup-compatibility/2006">
              <mc:Choice xmlns:v="urn:schemas-microsoft-com:vml" Requires="v">
                <p:oleObj spid="_x0000_s78871" name="Image" r:id="rId3" imgW="11578776" imgH="23147755" progId="">
                  <p:embed/>
                </p:oleObj>
              </mc:Choice>
              <mc:Fallback>
                <p:oleObj name="Image" r:id="rId3" imgW="11578776" imgH="23147755" progId="">
                  <p:embed/>
                  <p:pic>
                    <p:nvPicPr>
                      <p:cNvPr id="0" name="Object 1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28" y="1643050"/>
                        <a:ext cx="226377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5"/>
          <p:cNvGraphicFramePr>
            <a:graphicFrameLocks noGrp="1" noChangeAspect="1"/>
          </p:cNvGraphicFramePr>
          <p:nvPr/>
        </p:nvGraphicFramePr>
        <p:xfrm>
          <a:off x="4143372" y="1571612"/>
          <a:ext cx="4465638" cy="2351088"/>
        </p:xfrm>
        <a:graphic>
          <a:graphicData uri="http://schemas.openxmlformats.org/presentationml/2006/ole">
            <mc:AlternateContent xmlns:mc="http://schemas.openxmlformats.org/markup-compatibility/2006">
              <mc:Choice xmlns:v="urn:schemas-microsoft-com:vml" Requires="v">
                <p:oleObj spid="_x0000_s78872" name="Image" r:id="rId5" imgW="21991837" imgH="11578776" progId="">
                  <p:embed/>
                </p:oleObj>
              </mc:Choice>
              <mc:Fallback>
                <p:oleObj name="Image" r:id="rId5" imgW="21991837" imgH="11578776" progId="">
                  <p:embed/>
                  <p:pic>
                    <p:nvPicPr>
                      <p:cNvPr id="0" name="Object 1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3372" y="1571612"/>
                        <a:ext cx="4465638" cy="235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17"/>
          <p:cNvSpPr txBox="1">
            <a:spLocks noChangeArrowheads="1"/>
          </p:cNvSpPr>
          <p:nvPr/>
        </p:nvSpPr>
        <p:spPr bwMode="auto">
          <a:xfrm>
            <a:off x="1098502" y="6127737"/>
            <a:ext cx="2808287" cy="420821"/>
          </a:xfrm>
          <a:prstGeom prst="rect">
            <a:avLst/>
          </a:prstGeom>
          <a:noFill/>
          <a:ln w="9525">
            <a:noFill/>
            <a:miter lim="800000"/>
            <a:headEnd/>
            <a:tailEnd/>
          </a:ln>
        </p:spPr>
        <p:txBody>
          <a:bodyPr>
            <a:spAutoFit/>
          </a:bodyPr>
          <a:lstStyle/>
          <a:p>
            <a:pPr>
              <a:lnSpc>
                <a:spcPct val="120000"/>
              </a:lnSpc>
              <a:spcBef>
                <a:spcPct val="20000"/>
              </a:spcBef>
            </a:pPr>
            <a:r>
              <a:rPr lang="zh-CN" altLang="en-US" sz="2000" b="1" dirty="0">
                <a:solidFill>
                  <a:schemeClr val="tx1"/>
                </a:solidFill>
                <a:latin typeface="Verdana" pitchFamily="34" charset="0"/>
                <a:ea typeface="宋体" pitchFamily="2" charset="-122"/>
              </a:rPr>
              <a:t>光电倍增管的测量电路</a:t>
            </a:r>
          </a:p>
        </p:txBody>
      </p:sp>
      <p:graphicFrame>
        <p:nvGraphicFramePr>
          <p:cNvPr id="17" name="Object 18"/>
          <p:cNvGraphicFramePr>
            <a:graphicFrameLocks noGrp="1" noChangeAspect="1"/>
          </p:cNvGraphicFramePr>
          <p:nvPr/>
        </p:nvGraphicFramePr>
        <p:xfrm>
          <a:off x="4357686" y="4292600"/>
          <a:ext cx="3600450" cy="2154238"/>
        </p:xfrm>
        <a:graphic>
          <a:graphicData uri="http://schemas.openxmlformats.org/presentationml/2006/ole">
            <mc:AlternateContent xmlns:mc="http://schemas.openxmlformats.org/markup-compatibility/2006">
              <mc:Choice xmlns:v="urn:schemas-microsoft-com:vml" Requires="v">
                <p:oleObj spid="_x0000_s78873" name="Image" r:id="rId7" imgW="12734694" imgH="7621224" progId="">
                  <p:embed/>
                </p:oleObj>
              </mc:Choice>
              <mc:Fallback>
                <p:oleObj name="Image" r:id="rId7" imgW="12734694" imgH="7621224" progId="">
                  <p:embed/>
                  <p:pic>
                    <p:nvPicPr>
                      <p:cNvPr id="0" name="Object 18"/>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57686" y="4292600"/>
                        <a:ext cx="360045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par>
                                <p:cTn id="8" presetID="3" presetClass="entr" presetSubtype="1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par>
                                <p:cTn id="16" presetID="3" presetClass="entr" presetSubtype="1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linds(horizontal)">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8.4 </a:t>
            </a:r>
            <a:r>
              <a:rPr lang="zh-CN" altLang="en-US" b="1" dirty="0" smtClean="0">
                <a:solidFill>
                  <a:schemeClr val="tx2"/>
                </a:solidFill>
                <a:latin typeface="黑体" pitchFamily="49" charset="-122"/>
                <a:ea typeface="黑体" pitchFamily="49" charset="-122"/>
              </a:rPr>
              <a:t>光电式传感器应用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85720" y="1714488"/>
            <a:ext cx="8572560" cy="1075103"/>
          </a:xfrm>
          <a:prstGeom prst="rect">
            <a:avLst/>
          </a:prstGeom>
        </p:spPr>
        <p:txBody>
          <a:bodyPr wrap="square">
            <a:spAutoFit/>
          </a:bodyPr>
          <a:lstStyle/>
          <a:p>
            <a:pPr indent="274638">
              <a:lnSpc>
                <a:spcPct val="120000"/>
              </a:lnSpc>
            </a:pPr>
            <a:r>
              <a:rPr kumimoji="0" lang="zh-CN" altLang="en-US" b="1" dirty="0" smtClean="0">
                <a:solidFill>
                  <a:schemeClr val="tx1"/>
                </a:solidFill>
                <a:latin typeface="Arial" charset="0"/>
                <a:ea typeface="宋体" pitchFamily="2" charset="-122"/>
              </a:rPr>
              <a:t>光电传感器按其接收状态可分为模拟和脉冲式光电传感器两大类。</a:t>
            </a:r>
            <a:endParaRPr kumimoji="0" lang="zh-CN" altLang="en-US" b="1" dirty="0">
              <a:solidFill>
                <a:schemeClr val="tx1"/>
              </a:solidFill>
              <a:latin typeface="Arial" charset="0"/>
              <a:ea typeface="宋体" pitchFamily="2" charset="-122"/>
            </a:endParaRPr>
          </a:p>
        </p:txBody>
      </p:sp>
      <p:grpSp>
        <p:nvGrpSpPr>
          <p:cNvPr id="7" name="Group 11"/>
          <p:cNvGrpSpPr>
            <a:grpSpLocks/>
          </p:cNvGrpSpPr>
          <p:nvPr/>
        </p:nvGrpSpPr>
        <p:grpSpPr bwMode="auto">
          <a:xfrm>
            <a:off x="928662" y="3143248"/>
            <a:ext cx="7634287" cy="1752600"/>
            <a:chOff x="480" y="2208"/>
            <a:chExt cx="4809" cy="1104"/>
          </a:xfrm>
        </p:grpSpPr>
        <p:pic>
          <p:nvPicPr>
            <p:cNvPr id="8" name="Picture 12" descr="y2"/>
            <p:cNvPicPr>
              <a:picLocks noChangeAspect="1" noChangeArrowheads="1"/>
            </p:cNvPicPr>
            <p:nvPr/>
          </p:nvPicPr>
          <p:blipFill>
            <a:blip r:embed="rId2"/>
            <a:srcRect/>
            <a:stretch>
              <a:fillRect/>
            </a:stretch>
          </p:blipFill>
          <p:spPr bwMode="auto">
            <a:xfrm>
              <a:off x="1248" y="2208"/>
              <a:ext cx="826" cy="1104"/>
            </a:xfrm>
            <a:prstGeom prst="rect">
              <a:avLst/>
            </a:prstGeom>
            <a:noFill/>
            <a:ln w="9525">
              <a:noFill/>
              <a:miter lim="800000"/>
              <a:headEnd/>
              <a:tailEnd/>
            </a:ln>
          </p:spPr>
        </p:pic>
        <p:pic>
          <p:nvPicPr>
            <p:cNvPr id="9" name="Picture 13" descr="y1"/>
            <p:cNvPicPr>
              <a:picLocks noChangeAspect="1" noChangeArrowheads="1"/>
            </p:cNvPicPr>
            <p:nvPr/>
          </p:nvPicPr>
          <p:blipFill>
            <a:blip r:embed="rId3"/>
            <a:srcRect/>
            <a:stretch>
              <a:fillRect/>
            </a:stretch>
          </p:blipFill>
          <p:spPr bwMode="auto">
            <a:xfrm>
              <a:off x="480" y="2208"/>
              <a:ext cx="826" cy="1104"/>
            </a:xfrm>
            <a:prstGeom prst="rect">
              <a:avLst/>
            </a:prstGeom>
            <a:noFill/>
            <a:ln w="9525">
              <a:noFill/>
              <a:miter lim="800000"/>
              <a:headEnd/>
              <a:tailEnd/>
            </a:ln>
          </p:spPr>
        </p:pic>
        <p:pic>
          <p:nvPicPr>
            <p:cNvPr id="10" name="Picture 14" descr="yb"/>
            <p:cNvPicPr>
              <a:picLocks noChangeAspect="1" noChangeArrowheads="1"/>
            </p:cNvPicPr>
            <p:nvPr/>
          </p:nvPicPr>
          <p:blipFill>
            <a:blip r:embed="rId4"/>
            <a:srcRect/>
            <a:stretch>
              <a:fillRect/>
            </a:stretch>
          </p:blipFill>
          <p:spPr bwMode="auto">
            <a:xfrm>
              <a:off x="2016" y="2208"/>
              <a:ext cx="826" cy="1104"/>
            </a:xfrm>
            <a:prstGeom prst="rect">
              <a:avLst/>
            </a:prstGeom>
            <a:noFill/>
            <a:ln w="9525">
              <a:noFill/>
              <a:miter lim="800000"/>
              <a:headEnd/>
              <a:tailEnd/>
            </a:ln>
          </p:spPr>
        </p:pic>
        <p:pic>
          <p:nvPicPr>
            <p:cNvPr id="11" name="Picture 15" descr="yf"/>
            <p:cNvPicPr>
              <a:picLocks noChangeAspect="1" noChangeArrowheads="1"/>
            </p:cNvPicPr>
            <p:nvPr/>
          </p:nvPicPr>
          <p:blipFill>
            <a:blip r:embed="rId5"/>
            <a:srcRect/>
            <a:stretch>
              <a:fillRect/>
            </a:stretch>
          </p:blipFill>
          <p:spPr bwMode="auto">
            <a:xfrm>
              <a:off x="2832" y="2208"/>
              <a:ext cx="825" cy="1104"/>
            </a:xfrm>
            <a:prstGeom prst="rect">
              <a:avLst/>
            </a:prstGeom>
            <a:noFill/>
            <a:ln w="9525">
              <a:noFill/>
              <a:miter lim="800000"/>
              <a:headEnd/>
              <a:tailEnd/>
            </a:ln>
          </p:spPr>
        </p:pic>
        <p:pic>
          <p:nvPicPr>
            <p:cNvPr id="12" name="Picture 16" descr="yk"/>
            <p:cNvPicPr>
              <a:picLocks noChangeAspect="1" noChangeArrowheads="1"/>
            </p:cNvPicPr>
            <p:nvPr/>
          </p:nvPicPr>
          <p:blipFill>
            <a:blip r:embed="rId6"/>
            <a:srcRect/>
            <a:stretch>
              <a:fillRect/>
            </a:stretch>
          </p:blipFill>
          <p:spPr bwMode="auto">
            <a:xfrm>
              <a:off x="4464" y="2208"/>
              <a:ext cx="825" cy="1104"/>
            </a:xfrm>
            <a:prstGeom prst="rect">
              <a:avLst/>
            </a:prstGeom>
            <a:noFill/>
            <a:ln w="9525">
              <a:noFill/>
              <a:miter lim="800000"/>
              <a:headEnd/>
              <a:tailEnd/>
            </a:ln>
          </p:spPr>
        </p:pic>
        <p:pic>
          <p:nvPicPr>
            <p:cNvPr id="13" name="Picture 17" descr="ym"/>
            <p:cNvPicPr>
              <a:picLocks noChangeAspect="1" noChangeArrowheads="1"/>
            </p:cNvPicPr>
            <p:nvPr/>
          </p:nvPicPr>
          <p:blipFill>
            <a:blip r:embed="rId7"/>
            <a:srcRect/>
            <a:stretch>
              <a:fillRect/>
            </a:stretch>
          </p:blipFill>
          <p:spPr bwMode="auto">
            <a:xfrm>
              <a:off x="3648" y="2208"/>
              <a:ext cx="825" cy="1104"/>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8.4 </a:t>
            </a:r>
            <a:r>
              <a:rPr lang="zh-CN" altLang="en-US" b="1" dirty="0" smtClean="0">
                <a:solidFill>
                  <a:schemeClr val="tx2"/>
                </a:solidFill>
                <a:latin typeface="黑体" pitchFamily="49" charset="-122"/>
                <a:ea typeface="黑体" pitchFamily="49" charset="-122"/>
              </a:rPr>
              <a:t>光电式传感器应用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85720" y="1714488"/>
            <a:ext cx="8572560" cy="3453253"/>
          </a:xfrm>
          <a:prstGeom prst="rect">
            <a:avLst/>
          </a:prstGeom>
        </p:spPr>
        <p:txBody>
          <a:bodyPr wrap="square">
            <a:spAutoFit/>
          </a:bodyPr>
          <a:lstStyle/>
          <a:p>
            <a:pPr marL="93663" indent="1588">
              <a:lnSpc>
                <a:spcPct val="130000"/>
              </a:lnSpc>
            </a:pPr>
            <a:r>
              <a:rPr lang="zh-CN" altLang="en-US" b="1" dirty="0" smtClean="0">
                <a:solidFill>
                  <a:srgbClr val="F84D08"/>
                </a:solidFill>
                <a:latin typeface="黑体" pitchFamily="49" charset="-122"/>
                <a:ea typeface="黑体" pitchFamily="49" charset="-122"/>
                <a:cs typeface="+mj-cs"/>
              </a:rPr>
              <a:t>模拟式光电传感器</a:t>
            </a:r>
            <a:endParaRPr lang="en-US" altLang="zh-CN" b="1" dirty="0" smtClean="0">
              <a:solidFill>
                <a:srgbClr val="F84D08"/>
              </a:solidFill>
              <a:latin typeface="黑体" pitchFamily="49" charset="-122"/>
              <a:ea typeface="黑体" pitchFamily="49" charset="-122"/>
              <a:cs typeface="+mj-cs"/>
            </a:endParaRPr>
          </a:p>
          <a:p>
            <a:pPr marL="93663" indent="536575">
              <a:lnSpc>
                <a:spcPct val="130000"/>
              </a:lnSpc>
            </a:pPr>
            <a:r>
              <a:rPr kumimoji="0" lang="zh-CN" altLang="en-US" b="1" dirty="0" smtClean="0">
                <a:solidFill>
                  <a:schemeClr val="tx1"/>
                </a:solidFill>
                <a:latin typeface="Arial" charset="0"/>
                <a:ea typeface="宋体" pitchFamily="2" charset="-122"/>
              </a:rPr>
              <a:t>基于光电元件的光电特性，其光通量是随被测量而变，光电流是被测量的函数，故称为光电传感器的函数运用状态。它的形式有吸收式、反射式、遮光式和辐射式。</a:t>
            </a:r>
          </a:p>
          <a:p>
            <a:pPr marL="93663" indent="1588">
              <a:lnSpc>
                <a:spcPct val="130000"/>
              </a:lnSpc>
            </a:pPr>
            <a:endParaRPr lang="zh-CN" altLang="en-US" b="1" dirty="0" smtClean="0">
              <a:solidFill>
                <a:srgbClr val="F84D08"/>
              </a:solidFill>
              <a:latin typeface="黑体" pitchFamily="49" charset="-122"/>
              <a:ea typeface="黑体" pitchFamily="49" charset="-122"/>
              <a:cs typeface="+mj-cs"/>
            </a:endParaRPr>
          </a:p>
        </p:txBody>
      </p:sp>
      <p:graphicFrame>
        <p:nvGraphicFramePr>
          <p:cNvPr id="624649" name="Object 9"/>
          <p:cNvGraphicFramePr>
            <a:graphicFrameLocks noGrp="1" noChangeAspect="1"/>
          </p:cNvGraphicFramePr>
          <p:nvPr/>
        </p:nvGraphicFramePr>
        <p:xfrm>
          <a:off x="2714625" y="4214813"/>
          <a:ext cx="5035550" cy="2332037"/>
        </p:xfrm>
        <a:graphic>
          <a:graphicData uri="http://schemas.openxmlformats.org/presentationml/2006/ole">
            <mc:AlternateContent xmlns:mc="http://schemas.openxmlformats.org/markup-compatibility/2006">
              <mc:Choice xmlns:v="urn:schemas-microsoft-com:vml" Requires="v">
                <p:oleObj spid="_x0000_s80905" name="Image" r:id="rId3" imgW="31248980" imgH="14468571" progId="">
                  <p:embed/>
                </p:oleObj>
              </mc:Choice>
              <mc:Fallback>
                <p:oleObj name="Image" r:id="rId3" imgW="31248980" imgH="14468571" progId="">
                  <p:embed/>
                  <p:pic>
                    <p:nvPicPr>
                      <p:cNvPr id="0" name="Object 9"/>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4625" y="4214813"/>
                        <a:ext cx="5035550" cy="233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624649"/>
                                        </p:tgtEl>
                                        <p:attrNameLst>
                                          <p:attrName>style.visibility</p:attrName>
                                        </p:attrNameLst>
                                      </p:cBhvr>
                                      <p:to>
                                        <p:strVal val="visible"/>
                                      </p:to>
                                    </p:set>
                                    <p:animEffect transition="in" filter="strips(downLeft)">
                                      <p:cBhvr>
                                        <p:cTn id="7" dur="500"/>
                                        <p:tgtEl>
                                          <p:spTgt spid="624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8.4 </a:t>
            </a:r>
            <a:r>
              <a:rPr lang="zh-CN" altLang="en-US" b="1" dirty="0" smtClean="0">
                <a:solidFill>
                  <a:schemeClr val="tx2"/>
                </a:solidFill>
                <a:latin typeface="黑体" pitchFamily="49" charset="-122"/>
                <a:ea typeface="黑体" pitchFamily="49" charset="-122"/>
              </a:rPr>
              <a:t>光电式传感器应用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85720" y="1714488"/>
            <a:ext cx="8572560" cy="2203680"/>
          </a:xfrm>
          <a:prstGeom prst="rect">
            <a:avLst/>
          </a:prstGeom>
        </p:spPr>
        <p:txBody>
          <a:bodyPr wrap="square">
            <a:spAutoFit/>
          </a:bodyPr>
          <a:lstStyle/>
          <a:p>
            <a:pPr marL="93663" indent="1588">
              <a:lnSpc>
                <a:spcPct val="130000"/>
              </a:lnSpc>
            </a:pPr>
            <a:r>
              <a:rPr lang="zh-CN" altLang="en-US" b="1" dirty="0" smtClean="0">
                <a:solidFill>
                  <a:srgbClr val="F84D08"/>
                </a:solidFill>
                <a:latin typeface="黑体" pitchFamily="49" charset="-122"/>
                <a:ea typeface="黑体" pitchFamily="49" charset="-122"/>
                <a:cs typeface="+mj-cs"/>
              </a:rPr>
              <a:t>脉冲式光电传感器</a:t>
            </a:r>
            <a:endParaRPr lang="en-US" altLang="zh-CN" b="1" dirty="0" smtClean="0">
              <a:solidFill>
                <a:srgbClr val="F84D08"/>
              </a:solidFill>
              <a:latin typeface="黑体" pitchFamily="49" charset="-122"/>
              <a:ea typeface="黑体" pitchFamily="49" charset="-122"/>
              <a:cs typeface="+mj-cs"/>
            </a:endParaRPr>
          </a:p>
          <a:p>
            <a:pPr indent="536575">
              <a:lnSpc>
                <a:spcPct val="120000"/>
              </a:lnSpc>
            </a:pPr>
            <a:r>
              <a:rPr kumimoji="0" lang="zh-CN" altLang="en-US" b="1" dirty="0" smtClean="0">
                <a:solidFill>
                  <a:schemeClr val="tx1"/>
                </a:solidFill>
                <a:latin typeface="Arial" charset="0"/>
                <a:ea typeface="宋体" pitchFamily="2" charset="-122"/>
              </a:rPr>
              <a:t>脉冲式光电传感器的作用方式是光电元件的输出仅有两种稳定状态，即“通”与“断”的开关状态，所以也称为光电元件的开关运用状态。</a:t>
            </a:r>
            <a:endParaRPr lang="zh-CN" altLang="en-US" b="1" dirty="0" smtClean="0">
              <a:solidFill>
                <a:srgbClr val="F84D08"/>
              </a:solidFill>
              <a:latin typeface="黑体" pitchFamily="49" charset="-122"/>
              <a:ea typeface="黑体" pitchFamily="49" charset="-122"/>
              <a:cs typeface="+mj-cs"/>
            </a:endParaRPr>
          </a:p>
        </p:txBody>
      </p:sp>
      <p:graphicFrame>
        <p:nvGraphicFramePr>
          <p:cNvPr id="576521" name="Object 9"/>
          <p:cNvGraphicFramePr>
            <a:graphicFrameLocks noGrp="1" noChangeAspect="1"/>
          </p:cNvGraphicFramePr>
          <p:nvPr/>
        </p:nvGraphicFramePr>
        <p:xfrm>
          <a:off x="1714500" y="3786188"/>
          <a:ext cx="5821363" cy="2816225"/>
        </p:xfrm>
        <a:graphic>
          <a:graphicData uri="http://schemas.openxmlformats.org/presentationml/2006/ole">
            <mc:AlternateContent xmlns:mc="http://schemas.openxmlformats.org/markup-compatibility/2006">
              <mc:Choice xmlns:v="urn:schemas-microsoft-com:vml" Requires="v">
                <p:oleObj spid="_x0000_s81930" name="Image" r:id="rId3" imgW="31092245" imgH="15046531" progId="">
                  <p:embed/>
                </p:oleObj>
              </mc:Choice>
              <mc:Fallback>
                <p:oleObj name="Image" r:id="rId3" imgW="31092245" imgH="15046531" progId="">
                  <p:embed/>
                  <p:pic>
                    <p:nvPicPr>
                      <p:cNvPr id="0" name="Object 9"/>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3786188"/>
                        <a:ext cx="5821363" cy="281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576521"/>
                                        </p:tgtEl>
                                        <p:attrNameLst>
                                          <p:attrName>style.visibility</p:attrName>
                                        </p:attrNameLst>
                                      </p:cBhvr>
                                      <p:to>
                                        <p:strVal val="visible"/>
                                      </p:to>
                                    </p:set>
                                    <p:animEffect transition="in" filter="strips(downRight)">
                                      <p:cBhvr>
                                        <p:cTn id="7" dur="500"/>
                                        <p:tgtEl>
                                          <p:spTgt spid="576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传感技术与测试系统2012-2  传感器的特性">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传感技术与测试系统2012-2  传感器的特性</Template>
  <TotalTime>3470</TotalTime>
  <Words>2074</Words>
  <Application>Microsoft Office PowerPoint</Application>
  <PresentationFormat>全屏显示(4:3)</PresentationFormat>
  <Paragraphs>158</Paragraphs>
  <Slides>35</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35</vt:i4>
      </vt:variant>
    </vt:vector>
  </HeadingPairs>
  <TitlesOfParts>
    <vt:vector size="38" baseType="lpstr">
      <vt:lpstr>传感技术与测试系统2012-2  传感器的特性</vt:lpstr>
      <vt:lpstr>Image</vt:lpstr>
      <vt:lpstr>Flash 影片</vt:lpstr>
      <vt:lpstr>第8章 光电式传感器（1）</vt:lpstr>
      <vt:lpstr>第8章 光电式传感器</vt:lpstr>
      <vt:lpstr>第8章 光电式传感器</vt:lpstr>
      <vt:lpstr>8.1 光电效应</vt:lpstr>
      <vt:lpstr>8.1 光电效应</vt:lpstr>
      <vt:lpstr>外光电效应</vt:lpstr>
      <vt:lpstr>外光电效应</vt:lpstr>
      <vt:lpstr>内光电效应</vt:lpstr>
      <vt:lpstr>光生伏特效应</vt:lpstr>
      <vt:lpstr>8.2 光电器件及特征</vt:lpstr>
      <vt:lpstr>光电倍增管</vt:lpstr>
      <vt:lpstr>光电倍增管</vt:lpstr>
      <vt:lpstr>光电倍增管</vt:lpstr>
      <vt:lpstr>光电倍增管</vt:lpstr>
      <vt:lpstr>光电倍增管</vt:lpstr>
      <vt:lpstr>光敏电阻</vt:lpstr>
      <vt:lpstr>光敏电阻</vt:lpstr>
      <vt:lpstr>光敏二极管及光敏三极管</vt:lpstr>
      <vt:lpstr>光敏二极管及光敏三极管</vt:lpstr>
      <vt:lpstr>光电池</vt:lpstr>
      <vt:lpstr>光电池</vt:lpstr>
      <vt:lpstr>半导体光电元件的特性</vt:lpstr>
      <vt:lpstr>光电特性</vt:lpstr>
      <vt:lpstr>伏安特性</vt:lpstr>
      <vt:lpstr>光谱特性</vt:lpstr>
      <vt:lpstr>频率特性</vt:lpstr>
      <vt:lpstr>温度特性</vt:lpstr>
      <vt:lpstr>温度特性</vt:lpstr>
      <vt:lpstr>8.3 光电式传感器测量电路</vt:lpstr>
      <vt:lpstr>光源</vt:lpstr>
      <vt:lpstr>光源</vt:lpstr>
      <vt:lpstr>测量电路</vt:lpstr>
      <vt:lpstr>8.4 光电式传感器应用</vt:lpstr>
      <vt:lpstr>8.4 光电式传感器应用</vt:lpstr>
      <vt:lpstr>8.4 光电式传感器应用</vt:lpstr>
    </vt:vector>
  </TitlesOfParts>
  <Company>buaa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航空航天精密仪器系统技术</dc:title>
  <dc:creator>zgj</dc:creator>
  <cp:lastModifiedBy>Microsoft</cp:lastModifiedBy>
  <cp:revision>389</cp:revision>
  <dcterms:created xsi:type="dcterms:W3CDTF">2002-10-13T05:45:24Z</dcterms:created>
  <dcterms:modified xsi:type="dcterms:W3CDTF">2016-04-26T00:45:11Z</dcterms:modified>
</cp:coreProperties>
</file>