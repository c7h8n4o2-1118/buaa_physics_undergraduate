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58"/>
  </p:notesMasterIdLst>
  <p:sldIdLst>
    <p:sldId id="363" r:id="rId2"/>
    <p:sldId id="409" r:id="rId3"/>
    <p:sldId id="410" r:id="rId4"/>
    <p:sldId id="411" r:id="rId5"/>
    <p:sldId id="412" r:id="rId6"/>
    <p:sldId id="413" r:id="rId7"/>
    <p:sldId id="414" r:id="rId8"/>
    <p:sldId id="415" r:id="rId9"/>
    <p:sldId id="416" r:id="rId10"/>
    <p:sldId id="417" r:id="rId11"/>
    <p:sldId id="418" r:id="rId12"/>
    <p:sldId id="419" r:id="rId13"/>
    <p:sldId id="420" r:id="rId14"/>
    <p:sldId id="421" r:id="rId15"/>
    <p:sldId id="422" r:id="rId16"/>
    <p:sldId id="423" r:id="rId17"/>
    <p:sldId id="424" r:id="rId18"/>
    <p:sldId id="425" r:id="rId19"/>
    <p:sldId id="426" r:id="rId20"/>
    <p:sldId id="427" r:id="rId21"/>
    <p:sldId id="428" r:id="rId22"/>
    <p:sldId id="430" r:id="rId23"/>
    <p:sldId id="429"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65" r:id="rId39"/>
    <p:sldId id="445" r:id="rId40"/>
    <p:sldId id="446" r:id="rId41"/>
    <p:sldId id="447" r:id="rId42"/>
    <p:sldId id="448" r:id="rId43"/>
    <p:sldId id="449" r:id="rId44"/>
    <p:sldId id="450" r:id="rId45"/>
    <p:sldId id="451" r:id="rId46"/>
    <p:sldId id="452" r:id="rId47"/>
    <p:sldId id="453" r:id="rId48"/>
    <p:sldId id="455" r:id="rId49"/>
    <p:sldId id="456" r:id="rId50"/>
    <p:sldId id="457" r:id="rId51"/>
    <p:sldId id="459" r:id="rId52"/>
    <p:sldId id="460" r:id="rId53"/>
    <p:sldId id="461" r:id="rId54"/>
    <p:sldId id="462" r:id="rId55"/>
    <p:sldId id="463" r:id="rId56"/>
    <p:sldId id="464" r:id="rId57"/>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2"/>
        </a:solidFill>
        <a:latin typeface="黑体" pitchFamily="2" charset="-122"/>
        <a:ea typeface="黑体" pitchFamily="2" charset="-122"/>
        <a:cs typeface="+mn-cs"/>
      </a:defRPr>
    </a:lvl1pPr>
    <a:lvl2pPr marL="457200" algn="l" rtl="0" fontAlgn="base">
      <a:spcBef>
        <a:spcPct val="0"/>
      </a:spcBef>
      <a:spcAft>
        <a:spcPct val="0"/>
      </a:spcAft>
      <a:defRPr kumimoji="1" sz="2800" kern="1200">
        <a:solidFill>
          <a:schemeClr val="tx2"/>
        </a:solidFill>
        <a:latin typeface="黑体" pitchFamily="2" charset="-122"/>
        <a:ea typeface="黑体" pitchFamily="2" charset="-122"/>
        <a:cs typeface="+mn-cs"/>
      </a:defRPr>
    </a:lvl2pPr>
    <a:lvl3pPr marL="914400" algn="l" rtl="0" fontAlgn="base">
      <a:spcBef>
        <a:spcPct val="0"/>
      </a:spcBef>
      <a:spcAft>
        <a:spcPct val="0"/>
      </a:spcAft>
      <a:defRPr kumimoji="1" sz="2800" kern="1200">
        <a:solidFill>
          <a:schemeClr val="tx2"/>
        </a:solidFill>
        <a:latin typeface="黑体" pitchFamily="2" charset="-122"/>
        <a:ea typeface="黑体" pitchFamily="2" charset="-122"/>
        <a:cs typeface="+mn-cs"/>
      </a:defRPr>
    </a:lvl3pPr>
    <a:lvl4pPr marL="1371600" algn="l" rtl="0" fontAlgn="base">
      <a:spcBef>
        <a:spcPct val="0"/>
      </a:spcBef>
      <a:spcAft>
        <a:spcPct val="0"/>
      </a:spcAft>
      <a:defRPr kumimoji="1" sz="2800" kern="1200">
        <a:solidFill>
          <a:schemeClr val="tx2"/>
        </a:solidFill>
        <a:latin typeface="黑体" pitchFamily="2" charset="-122"/>
        <a:ea typeface="黑体" pitchFamily="2" charset="-122"/>
        <a:cs typeface="+mn-cs"/>
      </a:defRPr>
    </a:lvl4pPr>
    <a:lvl5pPr marL="1828800" algn="l" rtl="0" fontAlgn="base">
      <a:spcBef>
        <a:spcPct val="0"/>
      </a:spcBef>
      <a:spcAft>
        <a:spcPct val="0"/>
      </a:spcAft>
      <a:defRPr kumimoji="1" sz="2800" kern="1200">
        <a:solidFill>
          <a:schemeClr val="tx2"/>
        </a:solidFill>
        <a:latin typeface="黑体" pitchFamily="2" charset="-122"/>
        <a:ea typeface="黑体" pitchFamily="2" charset="-122"/>
        <a:cs typeface="+mn-cs"/>
      </a:defRPr>
    </a:lvl5pPr>
    <a:lvl6pPr marL="2286000" algn="l" defTabSz="914400" rtl="0" eaLnBrk="1" latinLnBrk="0" hangingPunct="1">
      <a:defRPr kumimoji="1" sz="2800" kern="1200">
        <a:solidFill>
          <a:schemeClr val="tx2"/>
        </a:solidFill>
        <a:latin typeface="黑体" pitchFamily="2" charset="-122"/>
        <a:ea typeface="黑体" pitchFamily="2" charset="-122"/>
        <a:cs typeface="+mn-cs"/>
      </a:defRPr>
    </a:lvl6pPr>
    <a:lvl7pPr marL="2743200" algn="l" defTabSz="914400" rtl="0" eaLnBrk="1" latinLnBrk="0" hangingPunct="1">
      <a:defRPr kumimoji="1" sz="2800" kern="1200">
        <a:solidFill>
          <a:schemeClr val="tx2"/>
        </a:solidFill>
        <a:latin typeface="黑体" pitchFamily="2" charset="-122"/>
        <a:ea typeface="黑体" pitchFamily="2" charset="-122"/>
        <a:cs typeface="+mn-cs"/>
      </a:defRPr>
    </a:lvl7pPr>
    <a:lvl8pPr marL="3200400" algn="l" defTabSz="914400" rtl="0" eaLnBrk="1" latinLnBrk="0" hangingPunct="1">
      <a:defRPr kumimoji="1" sz="2800" kern="1200">
        <a:solidFill>
          <a:schemeClr val="tx2"/>
        </a:solidFill>
        <a:latin typeface="黑体" pitchFamily="2" charset="-122"/>
        <a:ea typeface="黑体" pitchFamily="2" charset="-122"/>
        <a:cs typeface="+mn-cs"/>
      </a:defRPr>
    </a:lvl8pPr>
    <a:lvl9pPr marL="3657600" algn="l" defTabSz="914400" rtl="0" eaLnBrk="1" latinLnBrk="0" hangingPunct="1">
      <a:defRPr kumimoji="1" sz="2800" kern="1200">
        <a:solidFill>
          <a:schemeClr val="tx2"/>
        </a:solidFill>
        <a:latin typeface="黑体" pitchFamily="2" charset="-122"/>
        <a:ea typeface="黑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4D08"/>
    <a:srgbClr val="993300"/>
    <a:srgbClr val="0099FF"/>
    <a:srgbClr val="CC0066"/>
    <a:srgbClr val="CC3300"/>
    <a:srgbClr val="660066"/>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15" autoAdjust="0"/>
    <p:restoredTop sz="86496" autoAdjust="0"/>
  </p:normalViewPr>
  <p:slideViewPr>
    <p:cSldViewPr>
      <p:cViewPr>
        <p:scale>
          <a:sx n="80" d="100"/>
          <a:sy n="80" d="100"/>
        </p:scale>
        <p:origin x="-1710" y="-324"/>
      </p:cViewPr>
      <p:guideLst>
        <p:guide orient="horz" pos="2160"/>
        <p:guide pos="2880"/>
      </p:guideLst>
    </p:cSldViewPr>
  </p:slideViewPr>
  <p:outlineViewPr>
    <p:cViewPr>
      <p:scale>
        <a:sx n="33" d="100"/>
        <a:sy n="33" d="100"/>
      </p:scale>
      <p:origin x="0" y="306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7" d="100"/>
          <a:sy n="37" d="100"/>
        </p:scale>
        <p:origin x="-147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image" Target="../media/image1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image" Target="../media/image36.png"/></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image" Target="../media/image38.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4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image" Target="../media/image42.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fld id="{42049318-C3A6-4E21-9DBC-E2BCEAA90960}" type="slidenum">
              <a:rPr lang="en-US" altLang="zh-CN"/>
              <a:pPr>
                <a:defRPr/>
              </a:pPr>
              <a:t>‹#›</a:t>
            </a:fld>
            <a:endParaRPr lang="en-US" altLang="zh-CN"/>
          </a:p>
        </p:txBody>
      </p:sp>
    </p:spTree>
    <p:extLst>
      <p:ext uri="{BB962C8B-B14F-4D97-AF65-F5344CB8AC3E}">
        <p14:creationId xmlns:p14="http://schemas.microsoft.com/office/powerpoint/2010/main" val="36342307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C4E7BF8-815E-432E-97E6-131D1B0B78D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3533C2-60E6-4266-9BD9-FD048B064E0C}" type="slidenum">
              <a:rPr lang="en-US" altLang="zh-CN"/>
              <a:pPr>
                <a:defRPr/>
              </a:pPr>
              <a:t>‹#›</a:t>
            </a:fld>
            <a:endParaRPr lang="en-US" altLang="zh-CN"/>
          </a:p>
        </p:txBody>
      </p:sp>
      <p:pic>
        <p:nvPicPr>
          <p:cNvPr id="7" name="Picture 12" descr="xh"/>
          <p:cNvPicPr>
            <a:picLocks noChangeAspect="1" noChangeArrowheads="1"/>
          </p:cNvPicPr>
          <p:nvPr userDrawn="1"/>
        </p:nvPicPr>
        <p:blipFill>
          <a:blip r:embed="rId2">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8" name="Picture 9" descr="buaa2"/>
          <p:cNvPicPr>
            <a:picLocks noChangeAspect="1" noChangeArrowheads="1"/>
          </p:cNvPicPr>
          <p:nvPr userDrawn="1"/>
        </p:nvPicPr>
        <p:blipFill>
          <a:blip r:embed="rId3">
            <a:lum bright="48000"/>
          </a:blip>
          <a:srcRect/>
          <a:stretch>
            <a:fillRect/>
          </a:stretch>
        </p:blipFill>
        <p:spPr bwMode="auto">
          <a:xfrm>
            <a:off x="1000125" y="285750"/>
            <a:ext cx="2560638" cy="360363"/>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53C85CF6-7A98-4199-AEA6-6309CE72A29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920E716-B79A-4DA4-8B02-1C816EB51F8B}"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ED7A0563-8B27-4A55-9D33-B237E42AF7DF}"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4CE58033-C211-43F7-86E5-2C9F51C2E8D0}"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2D946443-82F9-4ACF-89A7-95BD02D3DF19}"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1EB6DC2D-38D7-4BC5-9149-FD58D523C2F2}" type="slidenum">
              <a:rPr lang="en-US" altLang="zh-CN"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8C70892-4E4D-4B72-891B-A561DC57BFBE}" type="slidenum">
              <a:rPr lang="en-US" altLang="zh-CN"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F0BF41E9-125D-49FD-9E96-ADCF9DBC32A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BC8169B-CEED-4181-8B1F-84352171E54C}" type="slidenum">
              <a:rPr lang="en-US" altLang="zh-CN"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2C44A08-038E-4E03-B25B-66737764DED3}"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999">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sp>
        <p:nvSpPr>
          <p:cNvPr id="3789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789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itchFamily="2" charset="-122"/>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itchFamily="2" charset="-122"/>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宋体" pitchFamily="2" charset="-122"/>
              </a:defRPr>
            </a:lvl1pPr>
          </a:lstStyle>
          <a:p>
            <a:pPr>
              <a:defRPr/>
            </a:pPr>
            <a:fld id="{53C85CF6-7A98-4199-AEA6-6309CE72A298}" type="slidenum">
              <a:rPr lang="en-US" altLang="zh-CN" smtClean="0"/>
              <a:pPr>
                <a:defRPr/>
              </a:pPr>
              <a:t>‹#›</a:t>
            </a:fld>
            <a:endParaRPr lang="en-US" altLang="zh-CN"/>
          </a:p>
        </p:txBody>
      </p:sp>
      <p:pic>
        <p:nvPicPr>
          <p:cNvPr id="37895" name="Picture 12" descr="xh"/>
          <p:cNvPicPr>
            <a:picLocks noChangeAspect="1" noChangeArrowheads="1"/>
          </p:cNvPicPr>
          <p:nvPr/>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37896" name="Picture 9" descr="buaa2"/>
          <p:cNvPicPr>
            <a:picLocks noChangeAspect="1" noChangeArrowheads="1"/>
          </p:cNvPicPr>
          <p:nvPr/>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pic>
        <p:nvPicPr>
          <p:cNvPr id="9" name="Picture 12" descr="xh"/>
          <p:cNvPicPr>
            <a:picLocks noChangeAspect="1" noChangeArrowheads="1"/>
          </p:cNvPicPr>
          <p:nvPr userDrawn="1"/>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0" name="Picture 9" descr="buaa2"/>
          <p:cNvPicPr>
            <a:picLocks noChangeAspect="1" noChangeArrowheads="1"/>
          </p:cNvPicPr>
          <p:nvPr userDrawn="1"/>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iming>
    <p:tnLst>
      <p:par>
        <p:cTn id="1" dur="indefinite" restart="never" nodeType="tmRoot"/>
      </p:par>
    </p:tnLst>
  </p:timing>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pitchFamily="2" charset="-122"/>
        </a:defRPr>
      </a:lvl2pPr>
      <a:lvl3pPr algn="ctr" rtl="0" eaLnBrk="1" fontAlgn="base" hangingPunct="1">
        <a:spcBef>
          <a:spcPct val="0"/>
        </a:spcBef>
        <a:spcAft>
          <a:spcPct val="0"/>
        </a:spcAft>
        <a:defRPr sz="4400">
          <a:solidFill>
            <a:schemeClr val="tx1"/>
          </a:solidFill>
          <a:latin typeface="Calibri" pitchFamily="34" charset="0"/>
          <a:ea typeface="宋体" pitchFamily="2" charset="-122"/>
        </a:defRPr>
      </a:lvl3pPr>
      <a:lvl4pPr algn="ctr" rtl="0" eaLnBrk="1" fontAlgn="base" hangingPunct="1">
        <a:spcBef>
          <a:spcPct val="0"/>
        </a:spcBef>
        <a:spcAft>
          <a:spcPct val="0"/>
        </a:spcAft>
        <a:defRPr sz="4400">
          <a:solidFill>
            <a:schemeClr val="tx1"/>
          </a:solidFill>
          <a:latin typeface="Calibri" pitchFamily="34" charset="0"/>
          <a:ea typeface="宋体" pitchFamily="2" charset="-122"/>
        </a:defRPr>
      </a:lvl4pPr>
      <a:lvl5pPr algn="ctr" rtl="0" eaLnBrk="1" fontAlgn="base" hangingPunct="1">
        <a:spcBef>
          <a:spcPct val="0"/>
        </a:spcBef>
        <a:spcAft>
          <a:spcPct val="0"/>
        </a:spcAft>
        <a:defRPr sz="4400">
          <a:solidFill>
            <a:schemeClr val="tx1"/>
          </a:solidFill>
          <a:latin typeface="Calibri"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4.png"/><Relationship Id="rId5" Type="http://schemas.openxmlformats.org/officeDocument/2006/relationships/oleObject" Target="../embeddings/oleObject9.bin"/><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en.wikipedia.org/wiki/File:Nobel_Prize_2009-Press_Conference_KVA-19.jp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1.gif"/><Relationship Id="rId5" Type="http://schemas.openxmlformats.org/officeDocument/2006/relationships/hyperlink" Target="http://en.wikipedia.org/wiki/File:CCD_charge_transfer_animation.gif" TargetMode="Externa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3.jpeg"/><Relationship Id="rId5" Type="http://schemas.openxmlformats.org/officeDocument/2006/relationships/hyperlink" Target="http://en.wikipedia.org/wiki/File:CCD_line_sensor.JPG" TargetMode="Externa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6.jpeg"/><Relationship Id="rId2" Type="http://schemas.openxmlformats.org/officeDocument/2006/relationships/hyperlink" Target="http://en.wikipedia.org/wiki/File:ArgusCCD.jpg" TargetMode="External"/><Relationship Id="rId1" Type="http://schemas.openxmlformats.org/officeDocument/2006/relationships/slideLayout" Target="../slideLayouts/slideLayout2.xml"/><Relationship Id="rId6" Type="http://schemas.openxmlformats.org/officeDocument/2006/relationships/hyperlink" Target="http://zh.wikipedia.org/wiki/File:Webcam000c1.jpg" TargetMode="External"/><Relationship Id="rId5" Type="http://schemas.openxmlformats.org/officeDocument/2006/relationships/image" Target="../media/image25.jpeg"/><Relationship Id="rId4" Type="http://schemas.openxmlformats.org/officeDocument/2006/relationships/hyperlink" Target="http://en.wikipedia.org/wiki/File:2.1_MP_CCD_Close_Up.JP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8.png"/><Relationship Id="rId5" Type="http://schemas.openxmlformats.org/officeDocument/2006/relationships/oleObject" Target="../embeddings/oleObject19.bin"/><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hyperlink" Target="http://en.wikipedia.org/wiki/File:Eye_iris.jpg" TargetMode="Externa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7.png"/><Relationship Id="rId5" Type="http://schemas.openxmlformats.org/officeDocument/2006/relationships/oleObject" Target="../embeddings/oleObject24.bin"/><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39.png"/><Relationship Id="rId5" Type="http://schemas.openxmlformats.org/officeDocument/2006/relationships/oleObject" Target="../embeddings/oleObject26.bin"/><Relationship Id="rId4" Type="http://schemas.openxmlformats.org/officeDocument/2006/relationships/image" Target="../media/image3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38.wmf"/><Relationship Id="rId5" Type="http://schemas.openxmlformats.org/officeDocument/2006/relationships/oleObject" Target="../embeddings/oleObject28.bin"/><Relationship Id="rId4" Type="http://schemas.openxmlformats.org/officeDocument/2006/relationships/image" Target="../media/image40.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43.png"/><Relationship Id="rId5" Type="http://schemas.openxmlformats.org/officeDocument/2006/relationships/oleObject" Target="../embeddings/oleObject31.bin"/><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47.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14282" y="1857375"/>
            <a:ext cx="8643997" cy="862013"/>
          </a:xfrm>
        </p:spPr>
        <p:txBody>
          <a:bodyPr anchor="b"/>
          <a:lstStyle/>
          <a:p>
            <a:r>
              <a:rPr lang="zh-CN" altLang="en-US" sz="5400" b="1" dirty="0" smtClean="0">
                <a:solidFill>
                  <a:srgbClr val="FF0000"/>
                </a:solidFill>
                <a:latin typeface="黑体" pitchFamily="49" charset="-122"/>
                <a:ea typeface="黑体" pitchFamily="49" charset="-122"/>
              </a:rPr>
              <a:t>第</a:t>
            </a:r>
            <a:r>
              <a:rPr lang="en-US" altLang="zh-CN" sz="5400" b="1" dirty="0" smtClean="0">
                <a:solidFill>
                  <a:srgbClr val="FF0000"/>
                </a:solidFill>
                <a:latin typeface="黑体" pitchFamily="49" charset="-122"/>
                <a:ea typeface="黑体" pitchFamily="49" charset="-122"/>
              </a:rPr>
              <a:t>8</a:t>
            </a:r>
            <a:r>
              <a:rPr lang="zh-CN" altLang="en-US" sz="5400" b="1" dirty="0" smtClean="0">
                <a:solidFill>
                  <a:srgbClr val="FF0000"/>
                </a:solidFill>
                <a:latin typeface="黑体" pitchFamily="49" charset="-122"/>
                <a:ea typeface="黑体" pitchFamily="49" charset="-122"/>
              </a:rPr>
              <a:t>章</a:t>
            </a:r>
            <a:r>
              <a:rPr lang="zh-CN" altLang="en-US" sz="5400" b="1" dirty="0" smtClean="0">
                <a:latin typeface="黑体" pitchFamily="49" charset="-122"/>
                <a:ea typeface="黑体" pitchFamily="49" charset="-122"/>
              </a:rPr>
              <a:t> 光电式传感器（</a:t>
            </a:r>
            <a:r>
              <a:rPr lang="en-US" altLang="zh-CN" sz="5400" b="1" dirty="0" smtClean="0">
                <a:latin typeface="黑体" pitchFamily="49" charset="-122"/>
                <a:ea typeface="黑体" pitchFamily="49" charset="-122"/>
              </a:rPr>
              <a:t>2</a:t>
            </a:r>
            <a:r>
              <a:rPr lang="zh-CN" altLang="en-US" sz="5400" b="1" dirty="0" smtClean="0">
                <a:latin typeface="黑体" pitchFamily="49" charset="-122"/>
                <a:ea typeface="黑体" pitchFamily="49" charset="-122"/>
              </a:rPr>
              <a:t>）</a:t>
            </a:r>
          </a:p>
        </p:txBody>
      </p:sp>
      <p:sp>
        <p:nvSpPr>
          <p:cNvPr id="6" name="Rectangle 5"/>
          <p:cNvSpPr>
            <a:spLocks noGrp="1" noChangeArrowheads="1"/>
          </p:cNvSpPr>
          <p:nvPr>
            <p:ph idx="1"/>
          </p:nvPr>
        </p:nvSpPr>
        <p:spPr>
          <a:xfrm>
            <a:off x="857250" y="3429000"/>
            <a:ext cx="7772400" cy="2451100"/>
          </a:xfrm>
        </p:spPr>
        <p:txBody>
          <a:bodyPr rtlCol="0">
            <a:normAutofit fontScale="70000" lnSpcReduction="20000"/>
          </a:bodyPr>
          <a:lstStyle/>
          <a:p>
            <a:pPr eaLnBrk="1" fontAlgn="auto" hangingPunct="1">
              <a:spcAft>
                <a:spcPts val="0"/>
              </a:spcAft>
              <a:buFont typeface="Wingdings" pitchFamily="2" charset="2"/>
              <a:buNone/>
              <a:defRPr/>
            </a:pPr>
            <a:endParaRPr lang="en-US" altLang="zh-CN" sz="6400" b="1" dirty="0">
              <a:latin typeface="黑体" pitchFamily="49" charset="-122"/>
              <a:ea typeface="黑体" pitchFamily="49" charset="-122"/>
              <a:cs typeface="+mj-cs"/>
            </a:endParaRPr>
          </a:p>
          <a:p>
            <a:pPr algn="ctr" eaLnBrk="1" fontAlgn="auto" hangingPunct="1">
              <a:spcAft>
                <a:spcPts val="0"/>
              </a:spcAft>
              <a:buFont typeface="Arial" pitchFamily="34" charset="0"/>
              <a:buNone/>
              <a:defRPr/>
            </a:pPr>
            <a:r>
              <a:rPr lang="zh-CN" altLang="en-US" sz="3900" b="1" dirty="0" smtClean="0">
                <a:solidFill>
                  <a:srgbClr val="0033CC"/>
                </a:solidFill>
                <a:effectLst>
                  <a:outerShdw blurRad="38100" dist="38100" dir="2700000" algn="tl">
                    <a:srgbClr val="C0C0C0"/>
                  </a:outerShdw>
                </a:effectLst>
              </a:rPr>
              <a:t>主讲教师：徐 平</a:t>
            </a:r>
          </a:p>
          <a:p>
            <a:pPr algn="ctr" eaLnBrk="1" fontAlgn="auto" hangingPunct="1">
              <a:lnSpc>
                <a:spcPct val="160000"/>
              </a:lnSpc>
              <a:spcBef>
                <a:spcPct val="50000"/>
              </a:spcBef>
              <a:spcAft>
                <a:spcPts val="0"/>
              </a:spcAft>
              <a:buFontTx/>
              <a:buNone/>
              <a:defRPr/>
            </a:pPr>
            <a:r>
              <a:rPr lang="en-US" altLang="zh-CN" b="1" dirty="0" smtClean="0">
                <a:solidFill>
                  <a:srgbClr val="660066"/>
                </a:solidFill>
                <a:latin typeface="Times New Roman" pitchFamily="18" charset="0"/>
                <a:ea typeface="楷体_GB2312" pitchFamily="49" charset="-122"/>
                <a:cs typeface="Times New Roman" pitchFamily="18" charset="0"/>
              </a:rPr>
              <a:t>xuping@buaa.edu.cn</a:t>
            </a:r>
          </a:p>
          <a:p>
            <a:pPr algn="ctr" eaLnBrk="1" fontAlgn="auto" hangingPunct="1">
              <a:lnSpc>
                <a:spcPct val="160000"/>
              </a:lnSpc>
              <a:spcAft>
                <a:spcPts val="0"/>
              </a:spcAft>
              <a:buFont typeface="Arial" pitchFamily="34" charset="0"/>
              <a:buNone/>
              <a:defRPr/>
            </a:pPr>
            <a:r>
              <a:rPr lang="zh-CN" altLang="en-US" sz="4000" b="1" dirty="0">
                <a:solidFill>
                  <a:srgbClr val="0033CC"/>
                </a:solidFill>
                <a:effectLst>
                  <a:outerShdw blurRad="38100" dist="38100" dir="2700000" algn="tl">
                    <a:srgbClr val="C0C0C0"/>
                  </a:outerShdw>
                </a:effectLst>
                <a:latin typeface="华文行楷" pitchFamily="2" charset="-122"/>
                <a:ea typeface="华文行楷" pitchFamily="2" charset="-122"/>
              </a:rPr>
              <a:t>物理科学与核能工程</a:t>
            </a:r>
            <a:r>
              <a:rPr lang="zh-CN" altLang="en-US" sz="4000" b="1" dirty="0" smtClean="0">
                <a:solidFill>
                  <a:srgbClr val="0033CC"/>
                </a:solidFill>
                <a:effectLst>
                  <a:outerShdw blurRad="38100" dist="38100" dir="2700000" algn="tl">
                    <a:srgbClr val="C0C0C0"/>
                  </a:outerShdw>
                </a:effectLst>
                <a:latin typeface="华文行楷" pitchFamily="2" charset="-122"/>
                <a:ea typeface="华文行楷" pitchFamily="2" charset="-122"/>
              </a:rPr>
              <a:t>学院</a:t>
            </a:r>
            <a:endParaRPr lang="en-US" altLang="zh-CN" sz="2800" dirty="0">
              <a:solidFill>
                <a:srgbClr val="0099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8.5 </a:t>
            </a:r>
            <a:r>
              <a:rPr lang="zh-CN" altLang="en-US" b="1" dirty="0" smtClean="0">
                <a:solidFill>
                  <a:schemeClr val="tx2"/>
                </a:solidFill>
                <a:latin typeface="黑体" pitchFamily="49" charset="-122"/>
                <a:ea typeface="黑体" pitchFamily="49" charset="-122"/>
              </a:rPr>
              <a:t>光纤式传感器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2677656"/>
          </a:xfrm>
          <a:prstGeom prst="rect">
            <a:avLst/>
          </a:prstGeom>
        </p:spPr>
        <p:txBody>
          <a:bodyPr wrap="square">
            <a:spAutoFit/>
          </a:bodyPr>
          <a:lstStyle/>
          <a:p>
            <a:pPr indent="365125">
              <a:spcBef>
                <a:spcPct val="50000"/>
              </a:spcBef>
            </a:pPr>
            <a:r>
              <a:rPr lang="zh-CN" altLang="en-US" b="1" dirty="0" smtClean="0">
                <a:solidFill>
                  <a:schemeClr val="tx1"/>
                </a:solidFill>
                <a:latin typeface="宋体" pitchFamily="2" charset="-122"/>
                <a:ea typeface="宋体" pitchFamily="2" charset="-122"/>
              </a:rPr>
              <a:t>可以测量位移、速度、加速度、液位、压力、流量、振动、水声、温度、电流、电压、磁场和核辐射等。</a:t>
            </a:r>
            <a:endParaRPr lang="en-US" altLang="zh-CN" b="1" dirty="0" smtClean="0">
              <a:solidFill>
                <a:schemeClr val="tx1"/>
              </a:solidFill>
              <a:latin typeface="宋体" pitchFamily="2" charset="-122"/>
              <a:ea typeface="宋体" pitchFamily="2" charset="-122"/>
            </a:endParaRPr>
          </a:p>
          <a:p>
            <a:pPr marL="179388" lvl="1" indent="441325">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抗电磁干扰能力强。</a:t>
            </a:r>
          </a:p>
          <a:p>
            <a:pPr marL="179388" lvl="1" indent="441325">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灵敏度高。</a:t>
            </a:r>
          </a:p>
          <a:p>
            <a:pPr marL="179388" lvl="1" indent="441325">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重量轻、体积小，形状可变。</a:t>
            </a:r>
          </a:p>
          <a:p>
            <a:pPr marL="179388" lvl="1" indent="441325">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适于遥测。</a:t>
            </a:r>
            <a:endParaRPr lang="zh-CN" altLang="en-US" b="1" dirty="0">
              <a:solidFill>
                <a:schemeClr val="tx1"/>
              </a:solidFill>
              <a:latin typeface="宋体" pitchFamily="2" charset="-122"/>
              <a:ea typeface="宋体" pitchFamily="2" charset="-122"/>
            </a:endParaRPr>
          </a:p>
        </p:txBody>
      </p:sp>
      <p:grpSp>
        <p:nvGrpSpPr>
          <p:cNvPr id="7" name="Group 25"/>
          <p:cNvGrpSpPr>
            <a:grpSpLocks/>
          </p:cNvGrpSpPr>
          <p:nvPr/>
        </p:nvGrpSpPr>
        <p:grpSpPr bwMode="auto">
          <a:xfrm>
            <a:off x="2571736" y="4643446"/>
            <a:ext cx="4487863" cy="1466850"/>
            <a:chOff x="1349" y="3072"/>
            <a:chExt cx="2438" cy="828"/>
          </a:xfrm>
        </p:grpSpPr>
        <p:pic>
          <p:nvPicPr>
            <p:cNvPr id="8" name="Picture 26" descr="d1"/>
            <p:cNvPicPr>
              <a:picLocks noChangeAspect="1" noChangeArrowheads="1"/>
            </p:cNvPicPr>
            <p:nvPr/>
          </p:nvPicPr>
          <p:blipFill>
            <a:blip r:embed="rId2"/>
            <a:srcRect/>
            <a:stretch>
              <a:fillRect/>
            </a:stretch>
          </p:blipFill>
          <p:spPr bwMode="auto">
            <a:xfrm>
              <a:off x="1349" y="3072"/>
              <a:ext cx="619" cy="828"/>
            </a:xfrm>
            <a:prstGeom prst="rect">
              <a:avLst/>
            </a:prstGeom>
            <a:noFill/>
            <a:ln w="9525">
              <a:noFill/>
              <a:miter lim="800000"/>
              <a:headEnd/>
              <a:tailEnd/>
            </a:ln>
          </p:spPr>
        </p:pic>
        <p:pic>
          <p:nvPicPr>
            <p:cNvPr id="9" name="Picture 27" descr="m1"/>
            <p:cNvPicPr>
              <a:picLocks noChangeAspect="1" noChangeArrowheads="1"/>
            </p:cNvPicPr>
            <p:nvPr/>
          </p:nvPicPr>
          <p:blipFill>
            <a:blip r:embed="rId3"/>
            <a:srcRect/>
            <a:stretch>
              <a:fillRect/>
            </a:stretch>
          </p:blipFill>
          <p:spPr bwMode="auto">
            <a:xfrm>
              <a:off x="1925" y="3072"/>
              <a:ext cx="619" cy="828"/>
            </a:xfrm>
            <a:prstGeom prst="rect">
              <a:avLst/>
            </a:prstGeom>
            <a:noFill/>
            <a:ln w="9525">
              <a:noFill/>
              <a:miter lim="800000"/>
              <a:headEnd/>
              <a:tailEnd/>
            </a:ln>
          </p:spPr>
        </p:pic>
        <p:pic>
          <p:nvPicPr>
            <p:cNvPr id="10" name="Picture 28" descr="y2x"/>
            <p:cNvPicPr>
              <a:picLocks noChangeAspect="1" noChangeArrowheads="1"/>
            </p:cNvPicPr>
            <p:nvPr/>
          </p:nvPicPr>
          <p:blipFill>
            <a:blip r:embed="rId4"/>
            <a:srcRect/>
            <a:stretch>
              <a:fillRect/>
            </a:stretch>
          </p:blipFill>
          <p:spPr bwMode="auto">
            <a:xfrm>
              <a:off x="2544" y="3072"/>
              <a:ext cx="626" cy="828"/>
            </a:xfrm>
            <a:prstGeom prst="rect">
              <a:avLst/>
            </a:prstGeom>
            <a:noFill/>
            <a:ln w="9525">
              <a:noFill/>
              <a:miter lim="800000"/>
              <a:headEnd/>
              <a:tailEnd/>
            </a:ln>
          </p:spPr>
        </p:pic>
        <p:pic>
          <p:nvPicPr>
            <p:cNvPr id="11" name="Picture 29" descr="yx"/>
            <p:cNvPicPr>
              <a:picLocks noChangeAspect="1" noChangeArrowheads="1"/>
            </p:cNvPicPr>
            <p:nvPr/>
          </p:nvPicPr>
          <p:blipFill>
            <a:blip r:embed="rId5"/>
            <a:srcRect/>
            <a:stretch>
              <a:fillRect/>
            </a:stretch>
          </p:blipFill>
          <p:spPr bwMode="auto">
            <a:xfrm>
              <a:off x="3168" y="3072"/>
              <a:ext cx="619" cy="828"/>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光纤的结构</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2071678"/>
            <a:ext cx="8572560" cy="1815882"/>
          </a:xfrm>
          <a:prstGeom prst="rect">
            <a:avLst/>
          </a:prstGeom>
        </p:spPr>
        <p:txBody>
          <a:bodyPr wrap="square">
            <a:spAutoFit/>
          </a:bodyPr>
          <a:lstStyle/>
          <a:p>
            <a:pPr indent="357188"/>
            <a:r>
              <a:rPr lang="zh-CN" altLang="en-US" b="1" dirty="0" smtClean="0">
                <a:solidFill>
                  <a:schemeClr val="tx1"/>
                </a:solidFill>
                <a:latin typeface="宋体" pitchFamily="2" charset="-122"/>
                <a:ea typeface="宋体" pitchFamily="2" charset="-122"/>
              </a:rPr>
              <a:t>光纤由纤芯、包层和护套组成。其中纤芯的折射率</a:t>
            </a:r>
            <a:r>
              <a:rPr lang="en-US" altLang="zh-CN" i="1" dirty="0" smtClean="0">
                <a:solidFill>
                  <a:srgbClr val="CC3300"/>
                </a:solidFill>
                <a:latin typeface="Times New Roman" pitchFamily="18" charset="0"/>
                <a:ea typeface="宋体" pitchFamily="2" charset="-122"/>
              </a:rPr>
              <a:t>n</a:t>
            </a:r>
            <a:r>
              <a:rPr kumimoji="0" lang="en-US" altLang="zh-CN" b="1" i="1" baseline="-25000" dirty="0" smtClean="0">
                <a:solidFill>
                  <a:srgbClr val="CC3300"/>
                </a:solidFill>
                <a:latin typeface="Times New Roman" pitchFamily="18" charset="0"/>
                <a:ea typeface="宋体" pitchFamily="2" charset="-122"/>
              </a:rPr>
              <a:t>1</a:t>
            </a:r>
            <a:r>
              <a:rPr lang="zh-CN" altLang="en-US" b="1" dirty="0" smtClean="0">
                <a:solidFill>
                  <a:schemeClr val="tx1"/>
                </a:solidFill>
                <a:latin typeface="宋体" pitchFamily="2" charset="-122"/>
                <a:ea typeface="宋体" pitchFamily="2" charset="-122"/>
              </a:rPr>
              <a:t>大于包层折射率</a:t>
            </a:r>
            <a:r>
              <a:rPr lang="en-US" altLang="zh-CN" i="1" dirty="0" smtClean="0">
                <a:solidFill>
                  <a:srgbClr val="CC3300"/>
                </a:solidFill>
                <a:latin typeface="Times New Roman" pitchFamily="18" charset="0"/>
                <a:ea typeface="宋体" pitchFamily="2" charset="-122"/>
              </a:rPr>
              <a:t>n</a:t>
            </a:r>
            <a:r>
              <a:rPr kumimoji="0" lang="en-US" altLang="zh-CN" b="1" i="1" baseline="-25000" dirty="0" smtClean="0">
                <a:solidFill>
                  <a:srgbClr val="CC3300"/>
                </a:solidFill>
                <a:latin typeface="Times New Roman" pitchFamily="18" charset="0"/>
                <a:ea typeface="宋体" pitchFamily="2" charset="-122"/>
              </a:rPr>
              <a:t>2</a:t>
            </a:r>
            <a:r>
              <a:rPr lang="zh-CN" altLang="en-US" b="1" dirty="0" smtClean="0">
                <a:solidFill>
                  <a:schemeClr val="tx1"/>
                </a:solidFill>
                <a:latin typeface="宋体" pitchFamily="2" charset="-122"/>
                <a:ea typeface="宋体" pitchFamily="2" charset="-122"/>
              </a:rPr>
              <a:t>，因此可以满足光从光疏媒质到光密媒质时产生全反射的要求。它们的相对折射率差用</a:t>
            </a:r>
            <a:r>
              <a:rPr lang="en-US" altLang="zh-CN" b="1" dirty="0" smtClean="0">
                <a:solidFill>
                  <a:schemeClr val="tx1"/>
                </a:solidFill>
                <a:latin typeface="宋体" pitchFamily="2" charset="-122"/>
                <a:ea typeface="宋体" pitchFamily="2" charset="-122"/>
              </a:rPr>
              <a:t>Δ</a:t>
            </a:r>
            <a:r>
              <a:rPr lang="zh-CN" altLang="en-US" b="1" dirty="0" smtClean="0">
                <a:solidFill>
                  <a:schemeClr val="tx1"/>
                </a:solidFill>
                <a:latin typeface="宋体" pitchFamily="2" charset="-122"/>
                <a:ea typeface="宋体" pitchFamily="2" charset="-122"/>
              </a:rPr>
              <a:t>表示，</a:t>
            </a:r>
            <a:r>
              <a:rPr kumimoji="0" lang="en-US" altLang="zh-CN" b="1" i="1" dirty="0" smtClean="0">
                <a:solidFill>
                  <a:srgbClr val="CC3300"/>
                </a:solidFill>
                <a:latin typeface="Times New Roman" pitchFamily="18" charset="0"/>
                <a:ea typeface="宋体" pitchFamily="2" charset="-122"/>
              </a:rPr>
              <a:t>Δ=1- n</a:t>
            </a:r>
            <a:r>
              <a:rPr kumimoji="0" lang="en-US" altLang="zh-CN" b="1" i="1" baseline="-25000" dirty="0" smtClean="0">
                <a:solidFill>
                  <a:srgbClr val="CC3300"/>
                </a:solidFill>
                <a:latin typeface="Times New Roman" pitchFamily="18" charset="0"/>
                <a:ea typeface="宋体" pitchFamily="2" charset="-122"/>
              </a:rPr>
              <a:t>2</a:t>
            </a:r>
            <a:r>
              <a:rPr kumimoji="0" lang="en-US" altLang="zh-CN" b="1" i="1" dirty="0" smtClean="0">
                <a:solidFill>
                  <a:srgbClr val="CC3300"/>
                </a:solidFill>
                <a:latin typeface="Times New Roman" pitchFamily="18" charset="0"/>
                <a:ea typeface="宋体" pitchFamily="2" charset="-122"/>
              </a:rPr>
              <a:t>/ n</a:t>
            </a:r>
            <a:r>
              <a:rPr kumimoji="0" lang="en-US" altLang="zh-CN" b="1" i="1" baseline="-25000" dirty="0" smtClean="0">
                <a:solidFill>
                  <a:srgbClr val="CC3300"/>
                </a:solidFill>
                <a:latin typeface="Times New Roman" pitchFamily="18" charset="0"/>
                <a:ea typeface="宋体" pitchFamily="2" charset="-122"/>
              </a:rPr>
              <a:t>1</a:t>
            </a:r>
            <a:r>
              <a:rPr kumimoji="0" lang="en-US" altLang="zh-CN" b="1" dirty="0" smtClean="0">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a:t>
            </a:r>
            <a:endParaRPr lang="zh-CN" altLang="en-US" b="1" dirty="0">
              <a:solidFill>
                <a:schemeClr val="tx1"/>
              </a:solidFill>
              <a:latin typeface="宋体" pitchFamily="2" charset="-122"/>
              <a:ea typeface="宋体" pitchFamily="2" charset="-122"/>
            </a:endParaRPr>
          </a:p>
        </p:txBody>
      </p:sp>
      <p:grpSp>
        <p:nvGrpSpPr>
          <p:cNvPr id="7" name="Group 4"/>
          <p:cNvGrpSpPr>
            <a:grpSpLocks/>
          </p:cNvGrpSpPr>
          <p:nvPr/>
        </p:nvGrpSpPr>
        <p:grpSpPr bwMode="auto">
          <a:xfrm>
            <a:off x="3348038" y="4005263"/>
            <a:ext cx="3871912" cy="2517775"/>
            <a:chOff x="3321" y="2734"/>
            <a:chExt cx="2439" cy="1586"/>
          </a:xfrm>
        </p:grpSpPr>
        <p:sp>
          <p:nvSpPr>
            <p:cNvPr id="8" name="Rectangle 5"/>
            <p:cNvSpPr>
              <a:spLocks noChangeArrowheads="1"/>
            </p:cNvSpPr>
            <p:nvPr/>
          </p:nvSpPr>
          <p:spPr bwMode="auto">
            <a:xfrm>
              <a:off x="3984" y="3456"/>
              <a:ext cx="1632" cy="672"/>
            </a:xfrm>
            <a:prstGeom prst="rect">
              <a:avLst/>
            </a:prstGeom>
            <a:solidFill>
              <a:srgbClr val="C0C0C0"/>
            </a:solidFill>
            <a:ln w="9525">
              <a:solidFill>
                <a:schemeClr val="tx1"/>
              </a:solidFill>
              <a:miter lim="800000"/>
              <a:headEnd/>
              <a:tailEnd/>
            </a:ln>
          </p:spPr>
          <p:txBody>
            <a:bodyPr wrap="none" anchor="ctr"/>
            <a:lstStyle/>
            <a:p>
              <a:endParaRPr lang="zh-CN" altLang="en-US"/>
            </a:p>
          </p:txBody>
        </p:sp>
        <p:graphicFrame>
          <p:nvGraphicFramePr>
            <p:cNvPr id="9" name="Object 6"/>
            <p:cNvGraphicFramePr>
              <a:graphicFrameLocks noChangeAspect="1"/>
            </p:cNvGraphicFramePr>
            <p:nvPr/>
          </p:nvGraphicFramePr>
          <p:xfrm>
            <a:off x="3321" y="3185"/>
            <a:ext cx="2439" cy="1135"/>
          </p:xfrm>
          <a:graphic>
            <a:graphicData uri="http://schemas.openxmlformats.org/presentationml/2006/ole">
              <mc:AlternateContent xmlns:mc="http://schemas.openxmlformats.org/markup-compatibility/2006">
                <mc:Choice xmlns:v="urn:schemas-microsoft-com:vml" Requires="v">
                  <p:oleObj spid="_x0000_s112645" name="Image" r:id="rId3" imgW="11957642" imgH="5565831" progId="Photoshop.Image.6">
                    <p:embed/>
                  </p:oleObj>
                </mc:Choice>
                <mc:Fallback>
                  <p:oleObj name="Image" r:id="rId3" imgW="11957642" imgH="5565831" progId="Photoshop.Image.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 y="3185"/>
                          <a:ext cx="2439" cy="113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Line 7"/>
            <p:cNvSpPr>
              <a:spLocks noChangeShapeType="1"/>
            </p:cNvSpPr>
            <p:nvPr/>
          </p:nvSpPr>
          <p:spPr bwMode="auto">
            <a:xfrm>
              <a:off x="3984" y="4320"/>
              <a:ext cx="1776" cy="0"/>
            </a:xfrm>
            <a:prstGeom prst="line">
              <a:avLst/>
            </a:prstGeom>
            <a:noFill/>
            <a:ln w="9525">
              <a:solidFill>
                <a:schemeClr val="tx1"/>
              </a:solidFill>
              <a:miter lim="800000"/>
              <a:headEnd/>
              <a:tailEnd/>
            </a:ln>
          </p:spPr>
          <p:txBody>
            <a:bodyPr wrap="none"/>
            <a:lstStyle/>
            <a:p>
              <a:endParaRPr lang="zh-CN" altLang="en-US"/>
            </a:p>
          </p:txBody>
        </p:sp>
        <p:sp>
          <p:nvSpPr>
            <p:cNvPr id="11" name="Rectangle 8"/>
            <p:cNvSpPr>
              <a:spLocks noChangeArrowheads="1"/>
            </p:cNvSpPr>
            <p:nvPr/>
          </p:nvSpPr>
          <p:spPr bwMode="auto">
            <a:xfrm>
              <a:off x="3936" y="3264"/>
              <a:ext cx="1680" cy="96"/>
            </a:xfrm>
            <a:prstGeom prst="rect">
              <a:avLst/>
            </a:prstGeom>
            <a:solidFill>
              <a:schemeClr val="hlink"/>
            </a:solidFill>
            <a:ln w="9525">
              <a:solidFill>
                <a:schemeClr val="tx1"/>
              </a:solidFill>
              <a:miter lim="800000"/>
              <a:headEnd/>
              <a:tailEnd/>
            </a:ln>
          </p:spPr>
          <p:txBody>
            <a:bodyPr wrap="none" anchor="ctr"/>
            <a:lstStyle/>
            <a:p>
              <a:endParaRPr lang="zh-CN" altLang="en-US"/>
            </a:p>
          </p:txBody>
        </p:sp>
        <p:sp>
          <p:nvSpPr>
            <p:cNvPr id="12" name="Rectangle 9"/>
            <p:cNvSpPr>
              <a:spLocks noChangeArrowheads="1"/>
            </p:cNvSpPr>
            <p:nvPr/>
          </p:nvSpPr>
          <p:spPr bwMode="auto">
            <a:xfrm>
              <a:off x="3936" y="4224"/>
              <a:ext cx="1680" cy="96"/>
            </a:xfrm>
            <a:prstGeom prst="rect">
              <a:avLst/>
            </a:prstGeom>
            <a:solidFill>
              <a:schemeClr val="hlink"/>
            </a:solidFill>
            <a:ln w="9525">
              <a:solidFill>
                <a:schemeClr val="tx1"/>
              </a:solidFill>
              <a:miter lim="800000"/>
              <a:headEnd/>
              <a:tailEnd/>
            </a:ln>
          </p:spPr>
          <p:txBody>
            <a:bodyPr wrap="none" anchor="ctr"/>
            <a:lstStyle/>
            <a:p>
              <a:endParaRPr lang="zh-CN" altLang="en-US"/>
            </a:p>
          </p:txBody>
        </p:sp>
        <p:sp>
          <p:nvSpPr>
            <p:cNvPr id="13" name="Text Box 10"/>
            <p:cNvSpPr txBox="1">
              <a:spLocks noChangeArrowheads="1"/>
            </p:cNvSpPr>
            <p:nvPr/>
          </p:nvSpPr>
          <p:spPr bwMode="auto">
            <a:xfrm>
              <a:off x="3542" y="2830"/>
              <a:ext cx="442" cy="256"/>
            </a:xfrm>
            <a:prstGeom prst="rect">
              <a:avLst/>
            </a:prstGeom>
            <a:noFill/>
            <a:ln w="9525">
              <a:solidFill>
                <a:srgbClr val="FF9933"/>
              </a:solidFill>
              <a:miter lim="800000"/>
              <a:headEnd/>
              <a:tailEnd/>
            </a:ln>
          </p:spPr>
          <p:txBody>
            <a:bodyPr wrap="none">
              <a:spAutoFit/>
            </a:bodyPr>
            <a:lstStyle/>
            <a:p>
              <a:r>
                <a:rPr lang="zh-CN" altLang="en-US" sz="2000" dirty="0">
                  <a:solidFill>
                    <a:srgbClr val="FF0000"/>
                  </a:solidFill>
                  <a:latin typeface="Verdana" pitchFamily="34" charset="0"/>
                  <a:ea typeface="宋体" pitchFamily="2" charset="-122"/>
                </a:rPr>
                <a:t>包层</a:t>
              </a:r>
            </a:p>
          </p:txBody>
        </p:sp>
        <p:sp>
          <p:nvSpPr>
            <p:cNvPr id="14" name="Line 11"/>
            <p:cNvSpPr>
              <a:spLocks noChangeShapeType="1"/>
            </p:cNvSpPr>
            <p:nvPr/>
          </p:nvSpPr>
          <p:spPr bwMode="auto">
            <a:xfrm>
              <a:off x="3984" y="3024"/>
              <a:ext cx="624" cy="384"/>
            </a:xfrm>
            <a:prstGeom prst="line">
              <a:avLst/>
            </a:prstGeom>
            <a:noFill/>
            <a:ln w="9525">
              <a:solidFill>
                <a:srgbClr val="FF9933"/>
              </a:solidFill>
              <a:miter lim="800000"/>
              <a:headEnd/>
              <a:tailEnd type="triangle" w="med" len="med"/>
            </a:ln>
          </p:spPr>
          <p:txBody>
            <a:bodyPr wrap="none"/>
            <a:lstStyle/>
            <a:p>
              <a:endParaRPr lang="zh-CN" altLang="en-US"/>
            </a:p>
          </p:txBody>
        </p:sp>
        <p:sp>
          <p:nvSpPr>
            <p:cNvPr id="15" name="Line 12"/>
            <p:cNvSpPr>
              <a:spLocks noChangeShapeType="1"/>
            </p:cNvSpPr>
            <p:nvPr/>
          </p:nvSpPr>
          <p:spPr bwMode="auto">
            <a:xfrm>
              <a:off x="3984" y="3024"/>
              <a:ext cx="624" cy="1152"/>
            </a:xfrm>
            <a:prstGeom prst="line">
              <a:avLst/>
            </a:prstGeom>
            <a:noFill/>
            <a:ln w="9525">
              <a:solidFill>
                <a:srgbClr val="FF9933"/>
              </a:solidFill>
              <a:miter lim="800000"/>
              <a:headEnd/>
              <a:tailEnd type="triangle" w="med" len="med"/>
            </a:ln>
          </p:spPr>
          <p:txBody>
            <a:bodyPr wrap="none"/>
            <a:lstStyle/>
            <a:p>
              <a:endParaRPr lang="zh-CN" altLang="en-US"/>
            </a:p>
          </p:txBody>
        </p:sp>
        <p:sp>
          <p:nvSpPr>
            <p:cNvPr id="16" name="Text Box 13"/>
            <p:cNvSpPr txBox="1">
              <a:spLocks noChangeArrowheads="1"/>
            </p:cNvSpPr>
            <p:nvPr/>
          </p:nvSpPr>
          <p:spPr bwMode="auto">
            <a:xfrm>
              <a:off x="4598" y="3598"/>
              <a:ext cx="436" cy="250"/>
            </a:xfrm>
            <a:prstGeom prst="rect">
              <a:avLst/>
            </a:prstGeom>
            <a:noFill/>
            <a:ln w="9525">
              <a:no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纤芯</a:t>
              </a:r>
            </a:p>
          </p:txBody>
        </p:sp>
        <p:sp>
          <p:nvSpPr>
            <p:cNvPr id="17" name="Text Box 14"/>
            <p:cNvSpPr txBox="1">
              <a:spLocks noChangeArrowheads="1"/>
            </p:cNvSpPr>
            <p:nvPr/>
          </p:nvSpPr>
          <p:spPr bwMode="auto">
            <a:xfrm>
              <a:off x="5078" y="2734"/>
              <a:ext cx="442" cy="256"/>
            </a:xfrm>
            <a:prstGeom prst="rect">
              <a:avLst/>
            </a:prstGeom>
            <a:noFill/>
            <a:ln w="9525">
              <a:solidFill>
                <a:srgbClr val="FF9933"/>
              </a:solidFill>
              <a:miter lim="800000"/>
              <a:headEnd/>
              <a:tailEnd/>
            </a:ln>
          </p:spPr>
          <p:txBody>
            <a:bodyPr wrap="none">
              <a:spAutoFit/>
            </a:bodyPr>
            <a:lstStyle/>
            <a:p>
              <a:r>
                <a:rPr lang="zh-CN" altLang="en-US" sz="2000" dirty="0">
                  <a:solidFill>
                    <a:srgbClr val="FF0000"/>
                  </a:solidFill>
                  <a:latin typeface="Verdana" pitchFamily="34" charset="0"/>
                  <a:ea typeface="宋体" pitchFamily="2" charset="-122"/>
                </a:rPr>
                <a:t>护套</a:t>
              </a:r>
            </a:p>
          </p:txBody>
        </p:sp>
        <p:sp>
          <p:nvSpPr>
            <p:cNvPr id="18" name="Line 15"/>
            <p:cNvSpPr>
              <a:spLocks noChangeShapeType="1"/>
            </p:cNvSpPr>
            <p:nvPr/>
          </p:nvSpPr>
          <p:spPr bwMode="auto">
            <a:xfrm flipH="1">
              <a:off x="4896" y="2976"/>
              <a:ext cx="192" cy="336"/>
            </a:xfrm>
            <a:prstGeom prst="line">
              <a:avLst/>
            </a:prstGeom>
            <a:noFill/>
            <a:ln w="9525">
              <a:solidFill>
                <a:srgbClr val="FF9933"/>
              </a:solidFill>
              <a:miter lim="800000"/>
              <a:headEnd/>
              <a:tailEnd type="triangle" w="med" len="med"/>
            </a:ln>
          </p:spPr>
          <p:txBody>
            <a:bodyPr wrap="none"/>
            <a:lstStyle/>
            <a:p>
              <a:endParaRPr lang="zh-CN" altLang="en-US"/>
            </a:p>
          </p:txBody>
        </p:sp>
        <p:sp>
          <p:nvSpPr>
            <p:cNvPr id="19" name="Line 16"/>
            <p:cNvSpPr>
              <a:spLocks noChangeShapeType="1"/>
            </p:cNvSpPr>
            <p:nvPr/>
          </p:nvSpPr>
          <p:spPr bwMode="auto">
            <a:xfrm>
              <a:off x="5088" y="2976"/>
              <a:ext cx="288" cy="1344"/>
            </a:xfrm>
            <a:prstGeom prst="line">
              <a:avLst/>
            </a:prstGeom>
            <a:noFill/>
            <a:ln w="9525">
              <a:solidFill>
                <a:srgbClr val="FF9933"/>
              </a:solidFill>
              <a:miter lim="800000"/>
              <a:headEnd/>
              <a:tailEnd type="triangle" w="med" len="med"/>
            </a:ln>
          </p:spPr>
          <p:txBody>
            <a:bodyPr wrap="none"/>
            <a:lstStyle/>
            <a:p>
              <a:endParaRPr lang="zh-CN" altLang="en-US"/>
            </a:p>
          </p:txBody>
        </p:sp>
      </p:grpSp>
      <p:sp>
        <p:nvSpPr>
          <p:cNvPr id="20"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14282" y="2143116"/>
            <a:ext cx="8715436" cy="2677656"/>
          </a:xfrm>
          <a:prstGeom prst="rect">
            <a:avLst/>
          </a:prstGeom>
        </p:spPr>
        <p:txBody>
          <a:bodyPr wrap="square">
            <a:spAutoFit/>
          </a:bodyPr>
          <a:lstStyle/>
          <a:p>
            <a:pPr marL="179388" lvl="1"/>
            <a:r>
              <a:rPr lang="zh-CN" altLang="en-US" b="1" dirty="0" smtClean="0">
                <a:solidFill>
                  <a:schemeClr val="tx1"/>
                </a:solidFill>
                <a:latin typeface="Times New Roman" pitchFamily="18" charset="0"/>
                <a:ea typeface="宋体" pitchFamily="2" charset="-122"/>
              </a:rPr>
              <a:t>光纤的工作基础是光的全反射。</a:t>
            </a:r>
          </a:p>
          <a:p>
            <a:r>
              <a:rPr lang="zh-CN" altLang="en-US" b="1" dirty="0" smtClean="0">
                <a:solidFill>
                  <a:schemeClr val="tx1"/>
                </a:solidFill>
                <a:latin typeface="Times New Roman" pitchFamily="18" charset="0"/>
                <a:ea typeface="宋体" pitchFamily="2" charset="-122"/>
              </a:rPr>
              <a:t>      光从光密媒质（纤芯，折射率为</a:t>
            </a:r>
            <a:r>
              <a:rPr lang="en-US" altLang="zh-CN" b="1" i="1" dirty="0" smtClean="0">
                <a:solidFill>
                  <a:srgbClr val="CC3300"/>
                </a:solidFill>
                <a:latin typeface="Times New Roman" pitchFamily="18" charset="0"/>
                <a:ea typeface="宋体" pitchFamily="2" charset="-122"/>
              </a:rPr>
              <a:t>n</a:t>
            </a:r>
            <a:r>
              <a:rPr lang="en-US" altLang="zh-CN" b="1" i="1" baseline="-25000" dirty="0" smtClean="0">
                <a:solidFill>
                  <a:srgbClr val="CC3300"/>
                </a:solidFill>
                <a:latin typeface="Times New Roman" pitchFamily="18" charset="0"/>
                <a:ea typeface="宋体" pitchFamily="2" charset="-122"/>
              </a:rPr>
              <a:t>1</a:t>
            </a:r>
            <a:r>
              <a:rPr lang="zh-CN" altLang="en-US" b="1" dirty="0" smtClean="0">
                <a:solidFill>
                  <a:schemeClr val="tx1"/>
                </a:solidFill>
                <a:latin typeface="Times New Roman" pitchFamily="18" charset="0"/>
                <a:ea typeface="宋体" pitchFamily="2" charset="-122"/>
              </a:rPr>
              <a:t>）到光疏媒质（包层，折射率为</a:t>
            </a:r>
            <a:r>
              <a:rPr lang="en-US" altLang="zh-CN" b="1" i="1" dirty="0" smtClean="0">
                <a:solidFill>
                  <a:srgbClr val="CC3300"/>
                </a:solidFill>
                <a:latin typeface="Times New Roman" pitchFamily="18" charset="0"/>
                <a:ea typeface="宋体" pitchFamily="2" charset="-122"/>
              </a:rPr>
              <a:t>n</a:t>
            </a:r>
            <a:r>
              <a:rPr lang="en-US" altLang="zh-CN" b="1" i="1" baseline="-25000" dirty="0" smtClean="0">
                <a:solidFill>
                  <a:srgbClr val="CC3300"/>
                </a:solidFill>
                <a:latin typeface="Times New Roman" pitchFamily="18" charset="0"/>
                <a:ea typeface="宋体" pitchFamily="2" charset="-122"/>
              </a:rPr>
              <a:t>2</a:t>
            </a:r>
            <a:r>
              <a:rPr lang="en-US" altLang="zh-CN" b="1" dirty="0" smtClean="0">
                <a:solidFill>
                  <a:srgbClr val="0000FF"/>
                </a:solidFill>
                <a:latin typeface="Times New Roman" pitchFamily="18" charset="0"/>
                <a:ea typeface="宋体" pitchFamily="2" charset="-122"/>
              </a:rPr>
              <a:t> </a:t>
            </a:r>
            <a:r>
              <a:rPr lang="zh-CN" altLang="en-US" b="1" dirty="0" smtClean="0">
                <a:solidFill>
                  <a:schemeClr val="tx1"/>
                </a:solidFill>
                <a:latin typeface="Times New Roman" pitchFamily="18" charset="0"/>
                <a:ea typeface="宋体" pitchFamily="2" charset="-122"/>
              </a:rPr>
              <a:t>），当入射角大于临界角时，将产生全反射，临界角为：</a:t>
            </a:r>
          </a:p>
          <a:p>
            <a:pPr marL="179388" lvl="1" algn="ctr"/>
            <a:r>
              <a:rPr lang="zh-CN" altLang="en-US" b="1" i="1" dirty="0" smtClean="0">
                <a:solidFill>
                  <a:schemeClr val="folHlink"/>
                </a:solidFill>
                <a:latin typeface="Times New Roman" pitchFamily="18" charset="0"/>
                <a:ea typeface="宋体" pitchFamily="2" charset="-122"/>
                <a:sym typeface="Symbol" pitchFamily="18" charset="2"/>
              </a:rPr>
              <a:t> </a:t>
            </a:r>
            <a:r>
              <a:rPr lang="zh-CN" altLang="en-US" b="1" i="1" dirty="0" smtClean="0">
                <a:solidFill>
                  <a:srgbClr val="CC3300"/>
                </a:solidFill>
                <a:latin typeface="Times New Roman" pitchFamily="18" charset="0"/>
                <a:ea typeface="宋体" pitchFamily="2" charset="-122"/>
                <a:sym typeface="Symbol" pitchFamily="18" charset="2"/>
              </a:rPr>
              <a:t> </a:t>
            </a:r>
            <a:r>
              <a:rPr lang="en-US" altLang="zh-CN" b="1" i="1" baseline="-25000" dirty="0" smtClean="0">
                <a:solidFill>
                  <a:srgbClr val="CC3300"/>
                </a:solidFill>
                <a:latin typeface="Times New Roman" pitchFamily="18" charset="0"/>
                <a:ea typeface="宋体" pitchFamily="2" charset="-122"/>
                <a:sym typeface="Symbol" pitchFamily="18" charset="2"/>
              </a:rPr>
              <a:t>c</a:t>
            </a:r>
            <a:r>
              <a:rPr lang="en-US" altLang="zh-CN" b="1" i="1" dirty="0" smtClean="0">
                <a:solidFill>
                  <a:srgbClr val="CC3300"/>
                </a:solidFill>
                <a:latin typeface="Times New Roman" pitchFamily="18" charset="0"/>
                <a:ea typeface="宋体" pitchFamily="2" charset="-122"/>
                <a:sym typeface="Symbol" pitchFamily="18" charset="2"/>
              </a:rPr>
              <a:t> = </a:t>
            </a:r>
            <a:r>
              <a:rPr lang="en-US" altLang="zh-CN" b="1" i="1" dirty="0" err="1" smtClean="0">
                <a:solidFill>
                  <a:srgbClr val="CC3300"/>
                </a:solidFill>
                <a:latin typeface="Times New Roman" pitchFamily="18" charset="0"/>
                <a:ea typeface="宋体" pitchFamily="2" charset="-122"/>
                <a:sym typeface="Symbol" pitchFamily="18" charset="2"/>
              </a:rPr>
              <a:t>arcsin</a:t>
            </a:r>
            <a:r>
              <a:rPr lang="en-US" altLang="zh-CN" b="1" i="1" dirty="0" smtClean="0">
                <a:solidFill>
                  <a:srgbClr val="CC3300"/>
                </a:solidFill>
                <a:latin typeface="Times New Roman" pitchFamily="18" charset="0"/>
                <a:ea typeface="宋体" pitchFamily="2" charset="-122"/>
                <a:sym typeface="Symbol" pitchFamily="18" charset="2"/>
              </a:rPr>
              <a:t> n</a:t>
            </a:r>
            <a:r>
              <a:rPr lang="en-US" altLang="zh-CN" b="1" i="1" baseline="-25000" dirty="0" smtClean="0">
                <a:solidFill>
                  <a:srgbClr val="CC3300"/>
                </a:solidFill>
                <a:latin typeface="Times New Roman" pitchFamily="18" charset="0"/>
                <a:ea typeface="宋体" pitchFamily="2" charset="-122"/>
                <a:sym typeface="Symbol" pitchFamily="18" charset="2"/>
              </a:rPr>
              <a:t>2</a:t>
            </a:r>
            <a:r>
              <a:rPr lang="en-US" altLang="zh-CN" b="1" i="1" dirty="0" smtClean="0">
                <a:solidFill>
                  <a:srgbClr val="CC3300"/>
                </a:solidFill>
                <a:latin typeface="Times New Roman" pitchFamily="18" charset="0"/>
                <a:ea typeface="宋体" pitchFamily="2" charset="-122"/>
                <a:sym typeface="Symbol" pitchFamily="18" charset="2"/>
              </a:rPr>
              <a:t>/n</a:t>
            </a:r>
            <a:r>
              <a:rPr lang="en-US" altLang="zh-CN" b="1" i="1" baseline="-25000" dirty="0" smtClean="0">
                <a:solidFill>
                  <a:srgbClr val="CC3300"/>
                </a:solidFill>
                <a:latin typeface="Times New Roman" pitchFamily="18" charset="0"/>
                <a:ea typeface="宋体" pitchFamily="2" charset="-122"/>
                <a:sym typeface="Symbol" pitchFamily="18" charset="2"/>
              </a:rPr>
              <a:t>1</a:t>
            </a:r>
          </a:p>
          <a:p>
            <a:pPr marL="179388" lvl="1"/>
            <a:r>
              <a:rPr lang="en-US" altLang="zh-CN" b="1" dirty="0" smtClean="0">
                <a:solidFill>
                  <a:srgbClr val="0000FF"/>
                </a:solidFill>
                <a:latin typeface="Times New Roman" pitchFamily="18" charset="0"/>
                <a:ea typeface="宋体" pitchFamily="2" charset="-122"/>
              </a:rPr>
              <a:t>    </a:t>
            </a:r>
            <a:r>
              <a:rPr lang="zh-CN" altLang="en-US" b="1" dirty="0" smtClean="0">
                <a:solidFill>
                  <a:schemeClr val="tx1"/>
                </a:solidFill>
                <a:latin typeface="Times New Roman" pitchFamily="18" charset="0"/>
                <a:ea typeface="宋体" pitchFamily="2" charset="-122"/>
              </a:rPr>
              <a:t>光线在光纤内通过全反射传播。</a:t>
            </a:r>
            <a:endParaRPr lang="zh-CN" altLang="en-US" b="1" dirty="0">
              <a:solidFill>
                <a:schemeClr val="tx1"/>
              </a:solidFill>
            </a:endParaRPr>
          </a:p>
        </p:txBody>
      </p:sp>
      <p:sp>
        <p:nvSpPr>
          <p:cNvPr id="36"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数值孔径 </a:t>
            </a:r>
            <a:r>
              <a:rPr kumimoji="1" lang="en-US" altLang="zh-CN" sz="2800" b="1" dirty="0" smtClean="0">
                <a:latin typeface="黑体" pitchFamily="49" charset="-122"/>
                <a:ea typeface="黑体" pitchFamily="49" charset="-122"/>
              </a:rPr>
              <a:t>(</a:t>
            </a:r>
            <a:r>
              <a:rPr lang="en-US" altLang="zh-CN" sz="2800" dirty="0" smtClean="0"/>
              <a:t>Numerical aperture)</a:t>
            </a:r>
            <a:r>
              <a:rPr lang="en-US" altLang="zh-CN" sz="2800" dirty="0"/>
              <a:t/>
            </a:r>
            <a:br>
              <a:rPr lang="en-US" altLang="zh-CN" sz="2800" dirty="0"/>
            </a:br>
            <a:endParaRPr kumimoji="1" lang="zh-CN" altLang="en-US" sz="2800" b="1" dirty="0" smtClean="0">
              <a:solidFill>
                <a:srgbClr val="F84D08"/>
              </a:solidFill>
              <a:latin typeface="黑体" pitchFamily="49" charset="-122"/>
              <a:ea typeface="黑体" pitchFamily="49"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14282" y="2071678"/>
            <a:ext cx="4929222" cy="2936188"/>
          </a:xfrm>
          <a:prstGeom prst="rect">
            <a:avLst/>
          </a:prstGeom>
        </p:spPr>
        <p:txBody>
          <a:bodyPr wrap="square">
            <a:spAutoFit/>
          </a:bodyPr>
          <a:lstStyle/>
          <a:p>
            <a:pPr indent="352425">
              <a:lnSpc>
                <a:spcPct val="110000"/>
              </a:lnSpc>
            </a:pPr>
            <a:r>
              <a:rPr lang="zh-CN" altLang="en-US" b="1" dirty="0" smtClean="0">
                <a:solidFill>
                  <a:schemeClr val="tx1"/>
                </a:solidFill>
                <a:latin typeface="Times New Roman" pitchFamily="18" charset="0"/>
                <a:ea typeface="宋体" pitchFamily="2" charset="-122"/>
              </a:rPr>
              <a:t>为满足全反射条件，入射到光纤的入射角必须小于</a:t>
            </a:r>
            <a:r>
              <a:rPr lang="zh-CN" altLang="en-US" b="1" i="1" dirty="0" smtClean="0">
                <a:solidFill>
                  <a:srgbClr val="CC3300"/>
                </a:solidFill>
                <a:latin typeface="Times New Roman" pitchFamily="18" charset="0"/>
                <a:ea typeface="宋体" pitchFamily="2" charset="-122"/>
                <a:sym typeface="Symbol" pitchFamily="18" charset="2"/>
              </a:rPr>
              <a:t></a:t>
            </a:r>
            <a:r>
              <a:rPr lang="en-US" altLang="zh-CN" b="1" i="1" baseline="-25000" dirty="0" smtClean="0">
                <a:solidFill>
                  <a:srgbClr val="CC3300"/>
                </a:solidFill>
                <a:latin typeface="Times New Roman" pitchFamily="18" charset="0"/>
                <a:ea typeface="宋体" pitchFamily="2" charset="-122"/>
                <a:sym typeface="Symbol" pitchFamily="18" charset="2"/>
              </a:rPr>
              <a:t>c</a:t>
            </a:r>
            <a:r>
              <a:rPr lang="en-US" altLang="zh-CN" b="1" dirty="0" smtClean="0">
                <a:solidFill>
                  <a:srgbClr val="0000FF"/>
                </a:solidFill>
                <a:latin typeface="Times New Roman" pitchFamily="18" charset="0"/>
                <a:ea typeface="宋体" pitchFamily="2" charset="-122"/>
                <a:sym typeface="Symbol" pitchFamily="18" charset="2"/>
              </a:rPr>
              <a:t> </a:t>
            </a:r>
            <a:r>
              <a:rPr lang="zh-CN" altLang="en-US" b="1" dirty="0" smtClean="0">
                <a:solidFill>
                  <a:schemeClr val="tx1"/>
                </a:solidFill>
                <a:latin typeface="Times New Roman" pitchFamily="18" charset="0"/>
                <a:ea typeface="宋体" pitchFamily="2" charset="-122"/>
              </a:rPr>
              <a:t>：</a:t>
            </a:r>
          </a:p>
          <a:p>
            <a:pPr indent="352425" algn="ctr">
              <a:lnSpc>
                <a:spcPct val="110000"/>
              </a:lnSpc>
            </a:pPr>
            <a:r>
              <a:rPr lang="en-US" altLang="zh-CN" b="1" i="1" dirty="0" smtClean="0">
                <a:solidFill>
                  <a:srgbClr val="CC3300"/>
                </a:solidFill>
                <a:latin typeface="Times New Roman" pitchFamily="18" charset="0"/>
                <a:ea typeface="宋体" pitchFamily="2" charset="-122"/>
              </a:rPr>
              <a:t>n</a:t>
            </a:r>
            <a:r>
              <a:rPr lang="en-US" altLang="zh-CN" b="1" i="1" baseline="-25000" dirty="0" smtClean="0">
                <a:solidFill>
                  <a:srgbClr val="CC3300"/>
                </a:solidFill>
                <a:latin typeface="Times New Roman" pitchFamily="18" charset="0"/>
                <a:ea typeface="宋体" pitchFamily="2" charset="-122"/>
              </a:rPr>
              <a:t>0</a:t>
            </a:r>
            <a:r>
              <a:rPr lang="en-US" altLang="zh-CN" b="1" i="1" dirty="0" smtClean="0">
                <a:solidFill>
                  <a:srgbClr val="CC3300"/>
                </a:solidFill>
                <a:latin typeface="Times New Roman" pitchFamily="18" charset="0"/>
                <a:ea typeface="宋体" pitchFamily="2" charset="-122"/>
              </a:rPr>
              <a:t>Sin</a:t>
            </a:r>
            <a:r>
              <a:rPr lang="en-US" altLang="zh-CN" b="1" i="1" dirty="0" smtClean="0">
                <a:solidFill>
                  <a:srgbClr val="CC3300"/>
                </a:solidFill>
                <a:latin typeface="Times New Roman" pitchFamily="18" charset="0"/>
                <a:ea typeface="宋体" pitchFamily="2" charset="-122"/>
                <a:sym typeface="Symbol" pitchFamily="18" charset="2"/>
              </a:rPr>
              <a:t></a:t>
            </a:r>
            <a:r>
              <a:rPr lang="en-US" altLang="zh-CN" b="1" i="1" baseline="-25000" dirty="0" smtClean="0">
                <a:solidFill>
                  <a:srgbClr val="CC3300"/>
                </a:solidFill>
                <a:latin typeface="Times New Roman" pitchFamily="18" charset="0"/>
                <a:ea typeface="宋体" pitchFamily="2" charset="-122"/>
                <a:sym typeface="Symbol" pitchFamily="18" charset="2"/>
              </a:rPr>
              <a:t>c</a:t>
            </a:r>
            <a:r>
              <a:rPr lang="en-US" altLang="zh-CN" b="1" i="1" dirty="0" smtClean="0">
                <a:solidFill>
                  <a:srgbClr val="CC3300"/>
                </a:solidFill>
                <a:latin typeface="Times New Roman" pitchFamily="18" charset="0"/>
                <a:ea typeface="宋体" pitchFamily="2" charset="-122"/>
                <a:sym typeface="Symbol" pitchFamily="18" charset="2"/>
              </a:rPr>
              <a:t> = </a:t>
            </a:r>
            <a:r>
              <a:rPr lang="zh-CN" altLang="en-US" b="1" i="1" dirty="0" smtClean="0">
                <a:solidFill>
                  <a:srgbClr val="CC3300"/>
                </a:solidFill>
                <a:latin typeface="Times New Roman" pitchFamily="18" charset="0"/>
                <a:ea typeface="宋体" pitchFamily="2" charset="-122"/>
                <a:sym typeface="Symbol" pitchFamily="18" charset="2"/>
              </a:rPr>
              <a:t>（</a:t>
            </a:r>
            <a:r>
              <a:rPr lang="en-US" altLang="zh-CN" b="1" i="1" dirty="0" smtClean="0">
                <a:solidFill>
                  <a:srgbClr val="CC3300"/>
                </a:solidFill>
                <a:latin typeface="Times New Roman" pitchFamily="18" charset="0"/>
                <a:ea typeface="宋体" pitchFamily="2" charset="-122"/>
              </a:rPr>
              <a:t>n</a:t>
            </a:r>
            <a:r>
              <a:rPr lang="en-US" altLang="zh-CN" b="1" i="1" baseline="-25000" dirty="0" smtClean="0">
                <a:solidFill>
                  <a:srgbClr val="CC3300"/>
                </a:solidFill>
                <a:latin typeface="Times New Roman" pitchFamily="18" charset="0"/>
                <a:ea typeface="宋体" pitchFamily="2" charset="-122"/>
              </a:rPr>
              <a:t>1</a:t>
            </a:r>
            <a:r>
              <a:rPr lang="en-US" altLang="zh-CN" b="1" i="1" baseline="30000" dirty="0" smtClean="0">
                <a:solidFill>
                  <a:srgbClr val="CC3300"/>
                </a:solidFill>
                <a:latin typeface="Times New Roman" pitchFamily="18" charset="0"/>
                <a:ea typeface="宋体" pitchFamily="2" charset="-122"/>
              </a:rPr>
              <a:t>2 </a:t>
            </a:r>
            <a:r>
              <a:rPr lang="en-US" altLang="zh-CN" b="1" i="1" dirty="0" smtClean="0">
                <a:solidFill>
                  <a:srgbClr val="CC3300"/>
                </a:solidFill>
                <a:latin typeface="Times New Roman" pitchFamily="18" charset="0"/>
                <a:ea typeface="宋体" pitchFamily="2" charset="-122"/>
              </a:rPr>
              <a:t>– n</a:t>
            </a:r>
            <a:r>
              <a:rPr lang="en-US" altLang="zh-CN" b="1" i="1" baseline="-25000" dirty="0" smtClean="0">
                <a:solidFill>
                  <a:srgbClr val="CC3300"/>
                </a:solidFill>
                <a:latin typeface="Times New Roman" pitchFamily="18" charset="0"/>
                <a:ea typeface="宋体" pitchFamily="2" charset="-122"/>
              </a:rPr>
              <a:t>2</a:t>
            </a:r>
            <a:r>
              <a:rPr lang="en-US" altLang="zh-CN" b="1" i="1" baseline="30000" dirty="0" smtClean="0">
                <a:solidFill>
                  <a:srgbClr val="CC3300"/>
                </a:solidFill>
                <a:latin typeface="Times New Roman" pitchFamily="18" charset="0"/>
                <a:ea typeface="宋体" pitchFamily="2" charset="-122"/>
              </a:rPr>
              <a:t>2</a:t>
            </a:r>
            <a:r>
              <a:rPr lang="en-US" altLang="zh-CN" b="1" i="1" dirty="0" smtClean="0">
                <a:solidFill>
                  <a:srgbClr val="CC3300"/>
                </a:solidFill>
                <a:latin typeface="Times New Roman" pitchFamily="18" charset="0"/>
                <a:ea typeface="宋体" pitchFamily="2" charset="-122"/>
              </a:rPr>
              <a:t> </a:t>
            </a:r>
            <a:r>
              <a:rPr lang="zh-CN" altLang="en-US" b="1" i="1" dirty="0" smtClean="0">
                <a:solidFill>
                  <a:srgbClr val="CC3300"/>
                </a:solidFill>
                <a:latin typeface="Times New Roman" pitchFamily="18" charset="0"/>
                <a:ea typeface="宋体" pitchFamily="2" charset="-122"/>
              </a:rPr>
              <a:t>）</a:t>
            </a:r>
            <a:r>
              <a:rPr lang="en-US" altLang="zh-CN" b="1" i="1" baseline="30000" dirty="0" smtClean="0">
                <a:solidFill>
                  <a:srgbClr val="CC3300"/>
                </a:solidFill>
                <a:latin typeface="Times New Roman" pitchFamily="18" charset="0"/>
                <a:ea typeface="宋体" pitchFamily="2" charset="-122"/>
              </a:rPr>
              <a:t>1/2</a:t>
            </a:r>
          </a:p>
          <a:p>
            <a:pPr indent="352425">
              <a:lnSpc>
                <a:spcPct val="110000"/>
              </a:lnSpc>
            </a:pPr>
            <a:r>
              <a:rPr lang="en-US" altLang="zh-CN" b="1" i="1" dirty="0" smtClean="0">
                <a:solidFill>
                  <a:srgbClr val="CC3300"/>
                </a:solidFill>
                <a:latin typeface="Times New Roman" pitchFamily="18" charset="0"/>
                <a:ea typeface="宋体" pitchFamily="2" charset="-122"/>
              </a:rPr>
              <a:t>n</a:t>
            </a:r>
            <a:r>
              <a:rPr lang="en-US" altLang="zh-CN" b="1" i="1" baseline="-25000" dirty="0" smtClean="0">
                <a:solidFill>
                  <a:srgbClr val="CC3300"/>
                </a:solidFill>
                <a:latin typeface="Times New Roman" pitchFamily="18" charset="0"/>
                <a:ea typeface="宋体" pitchFamily="2" charset="-122"/>
              </a:rPr>
              <a:t>0</a:t>
            </a:r>
            <a:r>
              <a:rPr lang="en-US" altLang="zh-CN" b="1" i="1" dirty="0" smtClean="0">
                <a:solidFill>
                  <a:srgbClr val="CC3300"/>
                </a:solidFill>
                <a:latin typeface="Times New Roman" pitchFamily="18" charset="0"/>
                <a:ea typeface="宋体" pitchFamily="2" charset="-122"/>
              </a:rPr>
              <a:t>Sin</a:t>
            </a:r>
            <a:r>
              <a:rPr lang="en-US" altLang="zh-CN" b="1" i="1" dirty="0" smtClean="0">
                <a:solidFill>
                  <a:srgbClr val="CC3300"/>
                </a:solidFill>
                <a:latin typeface="Times New Roman" pitchFamily="18" charset="0"/>
                <a:ea typeface="宋体" pitchFamily="2" charset="-122"/>
                <a:sym typeface="Symbol" pitchFamily="18" charset="2"/>
              </a:rPr>
              <a:t></a:t>
            </a:r>
            <a:r>
              <a:rPr lang="en-US" altLang="zh-CN" b="1" i="1" baseline="-25000" dirty="0" smtClean="0">
                <a:solidFill>
                  <a:srgbClr val="CC3300"/>
                </a:solidFill>
                <a:latin typeface="Times New Roman" pitchFamily="18" charset="0"/>
                <a:ea typeface="宋体" pitchFamily="2" charset="-122"/>
                <a:sym typeface="Symbol" pitchFamily="18" charset="2"/>
              </a:rPr>
              <a:t>c</a:t>
            </a:r>
            <a:r>
              <a:rPr lang="en-US" altLang="zh-CN" b="1" baseline="-25000" dirty="0" smtClean="0">
                <a:solidFill>
                  <a:schemeClr val="folHlink"/>
                </a:solidFill>
                <a:latin typeface="Times New Roman" pitchFamily="18" charset="0"/>
                <a:ea typeface="宋体" pitchFamily="2" charset="-122"/>
                <a:sym typeface="Symbol" pitchFamily="18" charset="2"/>
              </a:rPr>
              <a:t> </a:t>
            </a:r>
            <a:r>
              <a:rPr lang="zh-CN" altLang="en-US" b="1" dirty="0" smtClean="0">
                <a:solidFill>
                  <a:schemeClr val="tx1"/>
                </a:solidFill>
                <a:latin typeface="Times New Roman" pitchFamily="18" charset="0"/>
                <a:ea typeface="宋体" pitchFamily="2" charset="-122"/>
                <a:sym typeface="Symbol" pitchFamily="18" charset="2"/>
              </a:rPr>
              <a:t>称为光纤的数值孔径，用</a:t>
            </a:r>
            <a:r>
              <a:rPr lang="en-US" altLang="zh-CN" b="1" dirty="0" smtClean="0">
                <a:solidFill>
                  <a:srgbClr val="CC3300"/>
                </a:solidFill>
                <a:latin typeface="Times New Roman" pitchFamily="18" charset="0"/>
                <a:ea typeface="宋体" pitchFamily="2" charset="-122"/>
                <a:sym typeface="Symbol" pitchFamily="18" charset="2"/>
              </a:rPr>
              <a:t>NA</a:t>
            </a:r>
            <a:r>
              <a:rPr lang="zh-CN" altLang="en-US" b="1" dirty="0" smtClean="0">
                <a:solidFill>
                  <a:schemeClr val="tx1"/>
                </a:solidFill>
                <a:latin typeface="Times New Roman" pitchFamily="18" charset="0"/>
                <a:ea typeface="宋体" pitchFamily="2" charset="-122"/>
                <a:sym typeface="Symbol" pitchFamily="18" charset="2"/>
              </a:rPr>
              <a:t>表示。当入射光在</a:t>
            </a:r>
            <a:r>
              <a:rPr lang="en-US" altLang="zh-CN" b="1" dirty="0" smtClean="0">
                <a:solidFill>
                  <a:srgbClr val="C00000"/>
                </a:solidFill>
                <a:latin typeface="Times New Roman" pitchFamily="18" charset="0"/>
                <a:ea typeface="宋体" pitchFamily="2" charset="-122"/>
                <a:sym typeface="Symbol" pitchFamily="18" charset="2"/>
              </a:rPr>
              <a:t>2</a:t>
            </a:r>
            <a:r>
              <a:rPr lang="en-US" altLang="zh-CN" b="1" i="1" dirty="0" smtClean="0">
                <a:solidFill>
                  <a:srgbClr val="CC3300"/>
                </a:solidFill>
                <a:latin typeface="Times New Roman" pitchFamily="18" charset="0"/>
                <a:ea typeface="宋体" pitchFamily="2" charset="-122"/>
                <a:sym typeface="Symbol" pitchFamily="18" charset="2"/>
              </a:rPr>
              <a:t></a:t>
            </a:r>
            <a:r>
              <a:rPr lang="en-US" altLang="zh-CN" b="1" i="1" baseline="-25000" dirty="0" smtClean="0">
                <a:solidFill>
                  <a:srgbClr val="CC3300"/>
                </a:solidFill>
                <a:latin typeface="Times New Roman" pitchFamily="18" charset="0"/>
                <a:ea typeface="宋体" pitchFamily="2" charset="-122"/>
                <a:sym typeface="Symbol" pitchFamily="18" charset="2"/>
              </a:rPr>
              <a:t>c</a:t>
            </a:r>
            <a:r>
              <a:rPr lang="zh-CN" altLang="en-US" b="1" dirty="0" smtClean="0">
                <a:solidFill>
                  <a:schemeClr val="tx1"/>
                </a:solidFill>
                <a:latin typeface="Times New Roman" pitchFamily="18" charset="0"/>
                <a:ea typeface="宋体" pitchFamily="2" charset="-122"/>
                <a:sym typeface="Symbol" pitchFamily="18" charset="2"/>
              </a:rPr>
              <a:t>的光锥角之内，才能理想导光。</a:t>
            </a:r>
            <a:endParaRPr lang="zh-CN" altLang="en-US" b="1" dirty="0">
              <a:solidFill>
                <a:schemeClr val="tx1"/>
              </a:solidFill>
              <a:latin typeface="Times New Roman" pitchFamily="18" charset="0"/>
              <a:ea typeface="宋体" pitchFamily="2" charset="-122"/>
              <a:sym typeface="Symbol" pitchFamily="18" charset="2"/>
            </a:endParaRPr>
          </a:p>
        </p:txBody>
      </p:sp>
      <p:grpSp>
        <p:nvGrpSpPr>
          <p:cNvPr id="7" name="Group 3"/>
          <p:cNvGrpSpPr>
            <a:grpSpLocks/>
          </p:cNvGrpSpPr>
          <p:nvPr/>
        </p:nvGrpSpPr>
        <p:grpSpPr bwMode="auto">
          <a:xfrm>
            <a:off x="5072066" y="2000240"/>
            <a:ext cx="3871912" cy="2517775"/>
            <a:chOff x="3321" y="1104"/>
            <a:chExt cx="2439" cy="1586"/>
          </a:xfrm>
        </p:grpSpPr>
        <p:grpSp>
          <p:nvGrpSpPr>
            <p:cNvPr id="8" name="Group 4"/>
            <p:cNvGrpSpPr>
              <a:grpSpLocks/>
            </p:cNvGrpSpPr>
            <p:nvPr/>
          </p:nvGrpSpPr>
          <p:grpSpPr bwMode="auto">
            <a:xfrm>
              <a:off x="3321" y="1104"/>
              <a:ext cx="2439" cy="1586"/>
              <a:chOff x="3321" y="2734"/>
              <a:chExt cx="2439" cy="1586"/>
            </a:xfrm>
          </p:grpSpPr>
          <p:sp>
            <p:nvSpPr>
              <p:cNvPr id="11" name="Rectangle 5"/>
              <p:cNvSpPr>
                <a:spLocks noChangeArrowheads="1"/>
              </p:cNvSpPr>
              <p:nvPr/>
            </p:nvSpPr>
            <p:spPr bwMode="auto">
              <a:xfrm>
                <a:off x="3984" y="3456"/>
                <a:ext cx="1632" cy="672"/>
              </a:xfrm>
              <a:prstGeom prst="rect">
                <a:avLst/>
              </a:prstGeom>
              <a:solidFill>
                <a:srgbClr val="C0C0C0"/>
              </a:solidFill>
              <a:ln w="9525">
                <a:solidFill>
                  <a:schemeClr val="tx1"/>
                </a:solidFill>
                <a:miter lim="800000"/>
                <a:headEnd/>
                <a:tailEnd/>
              </a:ln>
            </p:spPr>
            <p:txBody>
              <a:bodyPr wrap="none" anchor="ctr"/>
              <a:lstStyle/>
              <a:p>
                <a:endParaRPr lang="zh-CN" altLang="en-US">
                  <a:solidFill>
                    <a:srgbClr val="FF0000"/>
                  </a:solidFill>
                </a:endParaRPr>
              </a:p>
            </p:txBody>
          </p:sp>
          <p:graphicFrame>
            <p:nvGraphicFramePr>
              <p:cNvPr id="12" name="Object 6"/>
              <p:cNvGraphicFramePr>
                <a:graphicFrameLocks noChangeAspect="1"/>
              </p:cNvGraphicFramePr>
              <p:nvPr/>
            </p:nvGraphicFramePr>
            <p:xfrm>
              <a:off x="3321" y="3185"/>
              <a:ext cx="2439" cy="1135"/>
            </p:xfrm>
            <a:graphic>
              <a:graphicData uri="http://schemas.openxmlformats.org/presentationml/2006/ole">
                <mc:AlternateContent xmlns:mc="http://schemas.openxmlformats.org/markup-compatibility/2006">
                  <mc:Choice xmlns:v="urn:schemas-microsoft-com:vml" Requires="v">
                    <p:oleObj spid="_x0000_s114693" name="Image" r:id="rId3" imgW="11957642" imgH="5565831" progId="Photoshop.Image.6">
                      <p:embed/>
                    </p:oleObj>
                  </mc:Choice>
                  <mc:Fallback>
                    <p:oleObj name="Image" r:id="rId3" imgW="11957642" imgH="5565831" progId="Photoshop.Image.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 y="3185"/>
                            <a:ext cx="2439" cy="113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Line 7"/>
              <p:cNvSpPr>
                <a:spLocks noChangeShapeType="1"/>
              </p:cNvSpPr>
              <p:nvPr/>
            </p:nvSpPr>
            <p:spPr bwMode="auto">
              <a:xfrm>
                <a:off x="3984" y="4320"/>
                <a:ext cx="1776" cy="0"/>
              </a:xfrm>
              <a:prstGeom prst="line">
                <a:avLst/>
              </a:prstGeom>
              <a:noFill/>
              <a:ln w="9525">
                <a:solidFill>
                  <a:schemeClr val="tx1"/>
                </a:solidFill>
                <a:miter lim="800000"/>
                <a:headEnd/>
                <a:tailEnd/>
              </a:ln>
            </p:spPr>
            <p:txBody>
              <a:bodyPr wrap="none"/>
              <a:lstStyle/>
              <a:p>
                <a:endParaRPr lang="zh-CN" altLang="en-US">
                  <a:solidFill>
                    <a:srgbClr val="FF0000"/>
                  </a:solidFill>
                </a:endParaRPr>
              </a:p>
            </p:txBody>
          </p:sp>
          <p:sp>
            <p:nvSpPr>
              <p:cNvPr id="14" name="Rectangle 8"/>
              <p:cNvSpPr>
                <a:spLocks noChangeArrowheads="1"/>
              </p:cNvSpPr>
              <p:nvPr/>
            </p:nvSpPr>
            <p:spPr bwMode="auto">
              <a:xfrm>
                <a:off x="3936" y="3264"/>
                <a:ext cx="1680" cy="96"/>
              </a:xfrm>
              <a:prstGeom prst="rect">
                <a:avLst/>
              </a:prstGeom>
              <a:solidFill>
                <a:schemeClr val="hlink"/>
              </a:solidFill>
              <a:ln w="9525">
                <a:solidFill>
                  <a:schemeClr val="tx1"/>
                </a:solidFill>
                <a:miter lim="800000"/>
                <a:headEnd/>
                <a:tailEnd/>
              </a:ln>
            </p:spPr>
            <p:txBody>
              <a:bodyPr wrap="none" anchor="ctr"/>
              <a:lstStyle/>
              <a:p>
                <a:endParaRPr lang="zh-CN" altLang="en-US">
                  <a:solidFill>
                    <a:srgbClr val="FF0000"/>
                  </a:solidFill>
                </a:endParaRPr>
              </a:p>
            </p:txBody>
          </p:sp>
          <p:sp>
            <p:nvSpPr>
              <p:cNvPr id="15" name="Rectangle 9"/>
              <p:cNvSpPr>
                <a:spLocks noChangeArrowheads="1"/>
              </p:cNvSpPr>
              <p:nvPr/>
            </p:nvSpPr>
            <p:spPr bwMode="auto">
              <a:xfrm>
                <a:off x="3936" y="4224"/>
                <a:ext cx="1680" cy="96"/>
              </a:xfrm>
              <a:prstGeom prst="rect">
                <a:avLst/>
              </a:prstGeom>
              <a:solidFill>
                <a:schemeClr val="hlink"/>
              </a:solidFill>
              <a:ln w="9525">
                <a:solidFill>
                  <a:schemeClr val="tx1"/>
                </a:solidFill>
                <a:miter lim="800000"/>
                <a:headEnd/>
                <a:tailEnd/>
              </a:ln>
            </p:spPr>
            <p:txBody>
              <a:bodyPr wrap="none" anchor="ctr"/>
              <a:lstStyle/>
              <a:p>
                <a:endParaRPr lang="zh-CN" altLang="en-US">
                  <a:solidFill>
                    <a:srgbClr val="FF0000"/>
                  </a:solidFill>
                </a:endParaRPr>
              </a:p>
            </p:txBody>
          </p:sp>
          <p:sp>
            <p:nvSpPr>
              <p:cNvPr id="16" name="Text Box 10"/>
              <p:cNvSpPr txBox="1">
                <a:spLocks noChangeArrowheads="1"/>
              </p:cNvSpPr>
              <p:nvPr/>
            </p:nvSpPr>
            <p:spPr bwMode="auto">
              <a:xfrm>
                <a:off x="3542" y="2830"/>
                <a:ext cx="442" cy="256"/>
              </a:xfrm>
              <a:prstGeom prst="rect">
                <a:avLst/>
              </a:prstGeom>
              <a:noFill/>
              <a:ln w="9525">
                <a:solidFill>
                  <a:srgbClr val="FF9933"/>
                </a:solid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包层</a:t>
                </a:r>
              </a:p>
            </p:txBody>
          </p:sp>
          <p:sp>
            <p:nvSpPr>
              <p:cNvPr id="17" name="Line 11"/>
              <p:cNvSpPr>
                <a:spLocks noChangeShapeType="1"/>
              </p:cNvSpPr>
              <p:nvPr/>
            </p:nvSpPr>
            <p:spPr bwMode="auto">
              <a:xfrm>
                <a:off x="3984" y="3024"/>
                <a:ext cx="624" cy="384"/>
              </a:xfrm>
              <a:prstGeom prst="line">
                <a:avLst/>
              </a:prstGeom>
              <a:noFill/>
              <a:ln w="9525">
                <a:solidFill>
                  <a:srgbClr val="FF9933"/>
                </a:solidFill>
                <a:miter lim="800000"/>
                <a:headEnd/>
                <a:tailEnd type="triangle" w="med" len="med"/>
              </a:ln>
            </p:spPr>
            <p:txBody>
              <a:bodyPr wrap="none"/>
              <a:lstStyle/>
              <a:p>
                <a:endParaRPr lang="zh-CN" altLang="en-US">
                  <a:solidFill>
                    <a:srgbClr val="FF0000"/>
                  </a:solidFill>
                </a:endParaRPr>
              </a:p>
            </p:txBody>
          </p:sp>
          <p:sp>
            <p:nvSpPr>
              <p:cNvPr id="18" name="Line 12"/>
              <p:cNvSpPr>
                <a:spLocks noChangeShapeType="1"/>
              </p:cNvSpPr>
              <p:nvPr/>
            </p:nvSpPr>
            <p:spPr bwMode="auto">
              <a:xfrm>
                <a:off x="3984" y="3024"/>
                <a:ext cx="624" cy="1152"/>
              </a:xfrm>
              <a:prstGeom prst="line">
                <a:avLst/>
              </a:prstGeom>
              <a:noFill/>
              <a:ln w="9525">
                <a:solidFill>
                  <a:srgbClr val="FF9933"/>
                </a:solidFill>
                <a:miter lim="800000"/>
                <a:headEnd/>
                <a:tailEnd type="triangle" w="med" len="med"/>
              </a:ln>
            </p:spPr>
            <p:txBody>
              <a:bodyPr wrap="none"/>
              <a:lstStyle/>
              <a:p>
                <a:endParaRPr lang="zh-CN" altLang="en-US">
                  <a:solidFill>
                    <a:srgbClr val="FF0000"/>
                  </a:solidFill>
                </a:endParaRPr>
              </a:p>
            </p:txBody>
          </p:sp>
          <p:sp>
            <p:nvSpPr>
              <p:cNvPr id="19" name="Text Box 13"/>
              <p:cNvSpPr txBox="1">
                <a:spLocks noChangeArrowheads="1"/>
              </p:cNvSpPr>
              <p:nvPr/>
            </p:nvSpPr>
            <p:spPr bwMode="auto">
              <a:xfrm>
                <a:off x="4598" y="3598"/>
                <a:ext cx="436" cy="250"/>
              </a:xfrm>
              <a:prstGeom prst="rect">
                <a:avLst/>
              </a:prstGeom>
              <a:noFill/>
              <a:ln w="9525">
                <a:no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纤芯</a:t>
                </a:r>
              </a:p>
            </p:txBody>
          </p:sp>
          <p:sp>
            <p:nvSpPr>
              <p:cNvPr id="20" name="Text Box 14"/>
              <p:cNvSpPr txBox="1">
                <a:spLocks noChangeArrowheads="1"/>
              </p:cNvSpPr>
              <p:nvPr/>
            </p:nvSpPr>
            <p:spPr bwMode="auto">
              <a:xfrm>
                <a:off x="5078" y="2734"/>
                <a:ext cx="442" cy="256"/>
              </a:xfrm>
              <a:prstGeom prst="rect">
                <a:avLst/>
              </a:prstGeom>
              <a:noFill/>
              <a:ln w="9525">
                <a:solidFill>
                  <a:srgbClr val="FF9933"/>
                </a:solid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护套</a:t>
                </a:r>
              </a:p>
            </p:txBody>
          </p:sp>
          <p:sp>
            <p:nvSpPr>
              <p:cNvPr id="21" name="Line 15"/>
              <p:cNvSpPr>
                <a:spLocks noChangeShapeType="1"/>
              </p:cNvSpPr>
              <p:nvPr/>
            </p:nvSpPr>
            <p:spPr bwMode="auto">
              <a:xfrm flipH="1">
                <a:off x="4896" y="2976"/>
                <a:ext cx="192" cy="336"/>
              </a:xfrm>
              <a:prstGeom prst="line">
                <a:avLst/>
              </a:prstGeom>
              <a:noFill/>
              <a:ln w="9525">
                <a:solidFill>
                  <a:srgbClr val="FF9933"/>
                </a:solidFill>
                <a:miter lim="800000"/>
                <a:headEnd/>
                <a:tailEnd type="triangle" w="med" len="med"/>
              </a:ln>
            </p:spPr>
            <p:txBody>
              <a:bodyPr wrap="none"/>
              <a:lstStyle/>
              <a:p>
                <a:endParaRPr lang="zh-CN" altLang="en-US">
                  <a:solidFill>
                    <a:srgbClr val="FF0000"/>
                  </a:solidFill>
                </a:endParaRPr>
              </a:p>
            </p:txBody>
          </p:sp>
          <p:sp>
            <p:nvSpPr>
              <p:cNvPr id="22" name="Line 16"/>
              <p:cNvSpPr>
                <a:spLocks noChangeShapeType="1"/>
              </p:cNvSpPr>
              <p:nvPr/>
            </p:nvSpPr>
            <p:spPr bwMode="auto">
              <a:xfrm>
                <a:off x="5088" y="2976"/>
                <a:ext cx="288" cy="1344"/>
              </a:xfrm>
              <a:prstGeom prst="line">
                <a:avLst/>
              </a:prstGeom>
              <a:noFill/>
              <a:ln w="9525">
                <a:solidFill>
                  <a:srgbClr val="FF9933"/>
                </a:solidFill>
                <a:miter lim="800000"/>
                <a:headEnd/>
                <a:tailEnd type="triangle" w="med" len="med"/>
              </a:ln>
            </p:spPr>
            <p:txBody>
              <a:bodyPr wrap="none"/>
              <a:lstStyle/>
              <a:p>
                <a:endParaRPr lang="zh-CN" altLang="en-US">
                  <a:solidFill>
                    <a:srgbClr val="FF0000"/>
                  </a:solidFill>
                </a:endParaRPr>
              </a:p>
            </p:txBody>
          </p:sp>
        </p:grpSp>
        <p:sp>
          <p:nvSpPr>
            <p:cNvPr id="9" name="Line 17"/>
            <p:cNvSpPr>
              <a:spLocks noChangeShapeType="1"/>
            </p:cNvSpPr>
            <p:nvPr/>
          </p:nvSpPr>
          <p:spPr bwMode="auto">
            <a:xfrm>
              <a:off x="3504" y="1728"/>
              <a:ext cx="480" cy="480"/>
            </a:xfrm>
            <a:prstGeom prst="line">
              <a:avLst/>
            </a:prstGeom>
            <a:noFill/>
            <a:ln w="9525">
              <a:solidFill>
                <a:srgbClr val="FF0000"/>
              </a:solidFill>
              <a:miter lim="800000"/>
              <a:headEnd/>
              <a:tailEnd/>
            </a:ln>
          </p:spPr>
          <p:txBody>
            <a:bodyPr wrap="none"/>
            <a:lstStyle/>
            <a:p>
              <a:endParaRPr lang="zh-CN" altLang="en-US">
                <a:solidFill>
                  <a:srgbClr val="FF0000"/>
                </a:solidFill>
              </a:endParaRPr>
            </a:p>
          </p:txBody>
        </p:sp>
        <p:sp>
          <p:nvSpPr>
            <p:cNvPr id="10" name="Line 18"/>
            <p:cNvSpPr>
              <a:spLocks noChangeShapeType="1"/>
            </p:cNvSpPr>
            <p:nvPr/>
          </p:nvSpPr>
          <p:spPr bwMode="auto">
            <a:xfrm flipH="1">
              <a:off x="3504" y="2160"/>
              <a:ext cx="432" cy="432"/>
            </a:xfrm>
            <a:prstGeom prst="line">
              <a:avLst/>
            </a:prstGeom>
            <a:noFill/>
            <a:ln w="9525">
              <a:solidFill>
                <a:srgbClr val="FF0000"/>
              </a:solidFill>
              <a:miter lim="800000"/>
              <a:headEnd/>
              <a:tailEnd/>
            </a:ln>
          </p:spPr>
          <p:txBody>
            <a:bodyPr wrap="none"/>
            <a:lstStyle/>
            <a:p>
              <a:endParaRPr lang="zh-CN" altLang="en-US">
                <a:solidFill>
                  <a:srgbClr val="FF0000"/>
                </a:solidFill>
              </a:endParaRPr>
            </a:p>
          </p:txBody>
        </p:sp>
      </p:grpSp>
      <p:sp>
        <p:nvSpPr>
          <p:cNvPr id="23" name="Text Box 19"/>
          <p:cNvSpPr txBox="1">
            <a:spLocks noChangeArrowheads="1"/>
          </p:cNvSpPr>
          <p:nvPr/>
        </p:nvSpPr>
        <p:spPr bwMode="auto">
          <a:xfrm>
            <a:off x="428596" y="5057775"/>
            <a:ext cx="8382000" cy="1800225"/>
          </a:xfrm>
          <a:prstGeom prst="rect">
            <a:avLst/>
          </a:prstGeom>
          <a:solidFill>
            <a:srgbClr val="92D050"/>
          </a:solidFill>
          <a:ln w="9525">
            <a:solidFill>
              <a:schemeClr val="accent1"/>
            </a:solidFill>
            <a:miter lim="800000"/>
            <a:headEnd/>
            <a:tailEnd/>
          </a:ln>
        </p:spPr>
        <p:txBody>
          <a:bodyPr>
            <a:spAutoFit/>
          </a:bodyPr>
          <a:lstStyle/>
          <a:p>
            <a:pPr>
              <a:spcBef>
                <a:spcPct val="50000"/>
              </a:spcBef>
            </a:pPr>
            <a:r>
              <a:rPr lang="en-US" altLang="zh-CN" b="1" dirty="0">
                <a:solidFill>
                  <a:srgbClr val="C00000"/>
                </a:solidFill>
                <a:latin typeface="华文楷体" pitchFamily="2" charset="-122"/>
                <a:ea typeface="华文楷体" pitchFamily="2" charset="-122"/>
              </a:rPr>
              <a:t>      </a:t>
            </a:r>
            <a:r>
              <a:rPr lang="zh-CN" altLang="en-US" b="1" dirty="0">
                <a:solidFill>
                  <a:srgbClr val="C00000"/>
                </a:solidFill>
                <a:latin typeface="华文楷体" pitchFamily="2" charset="-122"/>
                <a:ea typeface="华文楷体" pitchFamily="2" charset="-122"/>
              </a:rPr>
              <a:t>数值孔径是标志光纤接收性能的一个重要参数。一般希望有较大的数值孔径，这有利于耦合效率的提高。但若数值孔径太大，光信号畸变也越严重，所以要适当选择。</a:t>
            </a:r>
          </a:p>
        </p:txBody>
      </p: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25" name="Text Box 14"/>
          <p:cNvSpPr txBox="1">
            <a:spLocks noChangeArrowheads="1"/>
          </p:cNvSpPr>
          <p:nvPr/>
        </p:nvSpPr>
        <p:spPr bwMode="auto">
          <a:xfrm>
            <a:off x="285720" y="2143116"/>
            <a:ext cx="8643998" cy="3453253"/>
          </a:xfrm>
          <a:prstGeom prst="rect">
            <a:avLst/>
          </a:prstGeom>
          <a:noFill/>
          <a:ln w="9525" algn="ctr">
            <a:noFill/>
            <a:miter lim="800000"/>
            <a:headEnd/>
            <a:tailEnd/>
          </a:ln>
        </p:spPr>
        <p:txBody>
          <a:bodyPr wrap="square">
            <a:spAutoFit/>
          </a:bodyPr>
          <a:lstStyle/>
          <a:p>
            <a:pPr indent="449263">
              <a:spcBef>
                <a:spcPct val="50000"/>
              </a:spcBef>
              <a:buClr>
                <a:schemeClr val="tx1"/>
              </a:buClr>
              <a:buFont typeface="Wingdings" pitchFamily="2" charset="2"/>
              <a:buChar char="l"/>
            </a:pPr>
            <a:r>
              <a:rPr lang="zh-CN" altLang="en-US" b="1" dirty="0">
                <a:solidFill>
                  <a:schemeClr val="tx1"/>
                </a:solidFill>
                <a:latin typeface="宋体" pitchFamily="2" charset="-122"/>
                <a:ea typeface="宋体" pitchFamily="2" charset="-122"/>
              </a:rPr>
              <a:t>按材料分类</a:t>
            </a:r>
            <a:r>
              <a:rPr lang="zh-CN" altLang="en-US" b="1" dirty="0" smtClean="0">
                <a:solidFill>
                  <a:schemeClr val="tx1"/>
                </a:solidFill>
                <a:latin typeface="宋体" pitchFamily="2" charset="-122"/>
                <a:ea typeface="宋体" pitchFamily="2" charset="-122"/>
              </a:rPr>
              <a:t>：塑料光纤、玻璃光纤；目前</a:t>
            </a:r>
            <a:r>
              <a:rPr lang="zh-CN" altLang="en-US" b="1" dirty="0">
                <a:solidFill>
                  <a:schemeClr val="tx1"/>
                </a:solidFill>
                <a:latin typeface="宋体" pitchFamily="2" charset="-122"/>
                <a:ea typeface="宋体" pitchFamily="2" charset="-122"/>
              </a:rPr>
              <a:t>大多采用玻璃光纤</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449263">
              <a:spcBef>
                <a:spcPct val="50000"/>
              </a:spcBef>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按折射变化情况分类：</a:t>
            </a:r>
          </a:p>
          <a:p>
            <a:pPr lvl="1">
              <a:lnSpc>
                <a:spcPct val="80000"/>
              </a:lnSpc>
              <a:spcBef>
                <a:spcPct val="50000"/>
              </a:spcBef>
              <a:buClr>
                <a:schemeClr val="tx1"/>
              </a:buClr>
              <a:buFont typeface="Wingdings" pitchFamily="2" charset="2"/>
              <a:buChar char="u"/>
            </a:pPr>
            <a:r>
              <a:rPr lang="zh-CN" altLang="en-US" b="1" dirty="0" smtClean="0">
                <a:solidFill>
                  <a:schemeClr val="tx1"/>
                </a:solidFill>
                <a:latin typeface="宋体" pitchFamily="2" charset="-122"/>
                <a:ea typeface="宋体" pitchFamily="2" charset="-122"/>
              </a:rPr>
              <a:t> 阶跃型</a:t>
            </a:r>
          </a:p>
          <a:p>
            <a:pPr lvl="1">
              <a:spcBef>
                <a:spcPct val="50000"/>
              </a:spcBef>
              <a:buClr>
                <a:schemeClr val="tx1"/>
              </a:buClr>
              <a:buFont typeface="Wingdings" pitchFamily="2" charset="2"/>
              <a:buChar char="u"/>
            </a:pPr>
            <a:r>
              <a:rPr lang="zh-CN" altLang="en-US" b="1" dirty="0" smtClean="0">
                <a:solidFill>
                  <a:schemeClr val="tx1"/>
                </a:solidFill>
                <a:latin typeface="宋体" pitchFamily="2" charset="-122"/>
                <a:ea typeface="宋体" pitchFamily="2" charset="-122"/>
              </a:rPr>
              <a:t> 渐变型</a:t>
            </a:r>
          </a:p>
          <a:p>
            <a:pPr indent="449263">
              <a:spcBef>
                <a:spcPct val="50000"/>
              </a:spcBef>
              <a:buClr>
                <a:schemeClr val="tx1"/>
              </a:buClr>
            </a:pPr>
            <a:endParaRPr lang="zh-CN" altLang="en-US" b="1" dirty="0">
              <a:solidFill>
                <a:schemeClr val="tx1"/>
              </a:solidFill>
              <a:latin typeface="宋体" pitchFamily="2" charset="-122"/>
              <a:ea typeface="宋体" pitchFamily="2" charset="-122"/>
            </a:endParaRPr>
          </a:p>
        </p:txBody>
      </p:sp>
      <p:graphicFrame>
        <p:nvGraphicFramePr>
          <p:cNvPr id="579604" name="Object 20"/>
          <p:cNvGraphicFramePr>
            <a:graphicFrameLocks noGrp="1" noChangeAspect="1"/>
          </p:cNvGraphicFramePr>
          <p:nvPr/>
        </p:nvGraphicFramePr>
        <p:xfrm>
          <a:off x="3214688" y="3786188"/>
          <a:ext cx="5627687" cy="2816225"/>
        </p:xfrm>
        <a:graphic>
          <a:graphicData uri="http://schemas.openxmlformats.org/presentationml/2006/ole">
            <mc:AlternateContent xmlns:mc="http://schemas.openxmlformats.org/markup-compatibility/2006">
              <mc:Choice xmlns:v="urn:schemas-microsoft-com:vml" Requires="v">
                <p:oleObj spid="_x0000_s116742" name="Image" r:id="rId3" imgW="27781224" imgH="13900408" progId="">
                  <p:embed/>
                </p:oleObj>
              </mc:Choice>
              <mc:Fallback>
                <p:oleObj name="Image" r:id="rId3" imgW="27781224" imgH="13900408" progId="">
                  <p:embed/>
                  <p:pic>
                    <p:nvPicPr>
                      <p:cNvPr id="0" name="Object 2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88" y="3786188"/>
                        <a:ext cx="5627687"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矩形 25"/>
          <p:cNvSpPr/>
          <p:nvPr/>
        </p:nvSpPr>
        <p:spPr>
          <a:xfrm>
            <a:off x="357158" y="5072074"/>
            <a:ext cx="2714644" cy="1384995"/>
          </a:xfrm>
          <a:prstGeom prst="rect">
            <a:avLst/>
          </a:prstGeom>
        </p:spPr>
        <p:txBody>
          <a:bodyPr wrap="square">
            <a:spAutoFit/>
          </a:bodyPr>
          <a:lstStyle/>
          <a:p>
            <a:pPr>
              <a:spcBef>
                <a:spcPct val="50000"/>
              </a:spcBef>
            </a:pPr>
            <a:r>
              <a:rPr lang="zh-CN" altLang="en-US" b="1" dirty="0" smtClean="0">
                <a:solidFill>
                  <a:srgbClr val="CC3300"/>
                </a:solidFill>
                <a:latin typeface="Verdana" pitchFamily="34" charset="0"/>
                <a:ea typeface="宋体" pitchFamily="2" charset="-122"/>
              </a:rPr>
              <a:t>阶跃型</a:t>
            </a:r>
            <a:r>
              <a:rPr lang="zh-CN" altLang="en-US" b="1" dirty="0" smtClean="0">
                <a:solidFill>
                  <a:schemeClr val="tx1"/>
                </a:solidFill>
                <a:latin typeface="Verdana" pitchFamily="34" charset="0"/>
                <a:ea typeface="宋体" pitchFamily="2" charset="-122"/>
              </a:rPr>
              <a:t>：纤芯与包层间的折射率是突变的。</a:t>
            </a:r>
            <a:endParaRPr lang="zh-CN" altLang="en-US" b="1" dirty="0">
              <a:solidFill>
                <a:schemeClr val="tx1"/>
              </a:solidFill>
              <a:latin typeface="Verdana"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79604"/>
                                        </p:tgtEl>
                                        <p:attrNameLst>
                                          <p:attrName>style.visibility</p:attrName>
                                        </p:attrNameLst>
                                      </p:cBhvr>
                                      <p:to>
                                        <p:strVal val="visible"/>
                                      </p:to>
                                    </p:set>
                                    <p:animEffect transition="in" filter="blinds(horizontal)">
                                      <p:cBhvr>
                                        <p:cTn id="7" dur="500"/>
                                        <p:tgtEl>
                                          <p:spTgt spid="579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25" name="Text Box 14"/>
          <p:cNvSpPr txBox="1">
            <a:spLocks noChangeArrowheads="1"/>
          </p:cNvSpPr>
          <p:nvPr/>
        </p:nvSpPr>
        <p:spPr bwMode="auto">
          <a:xfrm>
            <a:off x="285720" y="2143116"/>
            <a:ext cx="8643998" cy="1600438"/>
          </a:xfrm>
          <a:prstGeom prst="rect">
            <a:avLst/>
          </a:prstGeom>
          <a:noFill/>
          <a:ln w="9525" algn="ctr">
            <a:noFill/>
            <a:miter lim="800000"/>
            <a:headEnd/>
            <a:tailEnd/>
          </a:ln>
        </p:spPr>
        <p:txBody>
          <a:bodyPr wrap="square">
            <a:spAutoFit/>
          </a:bodyPr>
          <a:lstStyle/>
          <a:p>
            <a:pPr indent="449263">
              <a:spcBef>
                <a:spcPct val="50000"/>
              </a:spcBef>
              <a:buClr>
                <a:schemeClr val="tx1"/>
              </a:buClr>
            </a:pPr>
            <a:r>
              <a:rPr lang="zh-CN" altLang="en-US" b="1" dirty="0" smtClean="0">
                <a:solidFill>
                  <a:srgbClr val="CC3300"/>
                </a:solidFill>
                <a:latin typeface="Verdana" pitchFamily="34" charset="0"/>
                <a:ea typeface="宋体" pitchFamily="2" charset="-122"/>
              </a:rPr>
              <a:t>渐变型</a:t>
            </a:r>
            <a:r>
              <a:rPr lang="zh-CN" altLang="en-US" b="1" dirty="0" smtClean="0">
                <a:solidFill>
                  <a:schemeClr val="tx1"/>
                </a:solidFill>
                <a:latin typeface="宋体" pitchFamily="2" charset="-122"/>
                <a:ea typeface="宋体" pitchFamily="2" charset="-122"/>
              </a:rPr>
              <a:t>：</a:t>
            </a:r>
            <a:r>
              <a:rPr lang="zh-CN" altLang="en-US" b="1" dirty="0" smtClean="0">
                <a:solidFill>
                  <a:schemeClr val="tx1"/>
                </a:solidFill>
                <a:latin typeface="Verdana" pitchFamily="34" charset="0"/>
                <a:ea typeface="宋体" pitchFamily="2" charset="-122"/>
              </a:rPr>
              <a:t>光纤在横截面中心处折射率最大，由中心向外逐渐变小，到纤芯边界时变为包层折射率。</a:t>
            </a:r>
            <a:endParaRPr lang="zh-CN" altLang="en-US" b="1" dirty="0" smtClean="0">
              <a:solidFill>
                <a:schemeClr val="tx1"/>
              </a:solidFill>
              <a:latin typeface="宋体" pitchFamily="2" charset="-122"/>
              <a:ea typeface="宋体" pitchFamily="2" charset="-122"/>
            </a:endParaRPr>
          </a:p>
          <a:p>
            <a:pPr indent="449263">
              <a:spcBef>
                <a:spcPct val="50000"/>
              </a:spcBef>
              <a:buClr>
                <a:schemeClr val="tx1"/>
              </a:buClr>
            </a:pPr>
            <a:endParaRPr lang="zh-CN" altLang="en-US" b="1" dirty="0">
              <a:solidFill>
                <a:schemeClr val="tx1"/>
              </a:solidFill>
              <a:latin typeface="宋体" pitchFamily="2" charset="-122"/>
              <a:ea typeface="宋体" pitchFamily="2" charset="-122"/>
            </a:endParaRPr>
          </a:p>
        </p:txBody>
      </p:sp>
      <p:grpSp>
        <p:nvGrpSpPr>
          <p:cNvPr id="7" name="Group 4"/>
          <p:cNvGrpSpPr>
            <a:grpSpLocks/>
          </p:cNvGrpSpPr>
          <p:nvPr/>
        </p:nvGrpSpPr>
        <p:grpSpPr bwMode="auto">
          <a:xfrm>
            <a:off x="4929190" y="3214686"/>
            <a:ext cx="3962400" cy="3276600"/>
            <a:chOff x="3264" y="1584"/>
            <a:chExt cx="2496" cy="2226"/>
          </a:xfrm>
        </p:grpSpPr>
        <p:graphicFrame>
          <p:nvGraphicFramePr>
            <p:cNvPr id="8" name="Object 5"/>
            <p:cNvGraphicFramePr>
              <a:graphicFrameLocks noChangeAspect="1"/>
            </p:cNvGraphicFramePr>
            <p:nvPr/>
          </p:nvGraphicFramePr>
          <p:xfrm>
            <a:off x="3264" y="1584"/>
            <a:ext cx="2496" cy="2226"/>
          </p:xfrm>
          <a:graphic>
            <a:graphicData uri="http://schemas.openxmlformats.org/presentationml/2006/ole">
              <mc:AlternateContent xmlns:mc="http://schemas.openxmlformats.org/markup-compatibility/2006">
                <mc:Choice xmlns:v="urn:schemas-microsoft-com:vml" Requires="v">
                  <p:oleObj spid="_x0000_s117766" name="Image" r:id="rId3" imgW="10585245" imgH="9441581" progId="Photoshop.Image.6">
                    <p:embed/>
                  </p:oleObj>
                </mc:Choice>
                <mc:Fallback>
                  <p:oleObj name="Image" r:id="rId3" imgW="10585245" imgH="9441581"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1584"/>
                          <a:ext cx="2496" cy="2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6"/>
            <p:cNvSpPr txBox="1">
              <a:spLocks noChangeArrowheads="1"/>
            </p:cNvSpPr>
            <p:nvPr/>
          </p:nvSpPr>
          <p:spPr bwMode="auto">
            <a:xfrm>
              <a:off x="5030" y="1726"/>
              <a:ext cx="596" cy="270"/>
            </a:xfrm>
            <a:prstGeom prst="rect">
              <a:avLst/>
            </a:prstGeom>
            <a:noFill/>
            <a:ln w="9525">
              <a:no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梯度型</a:t>
              </a:r>
            </a:p>
          </p:txBody>
        </p:sp>
        <p:sp>
          <p:nvSpPr>
            <p:cNvPr id="10" name="Text Box 7"/>
            <p:cNvSpPr txBox="1">
              <a:spLocks noChangeArrowheads="1"/>
            </p:cNvSpPr>
            <p:nvPr/>
          </p:nvSpPr>
          <p:spPr bwMode="auto">
            <a:xfrm>
              <a:off x="4992" y="2496"/>
              <a:ext cx="768" cy="270"/>
            </a:xfrm>
            <a:prstGeom prst="rect">
              <a:avLst/>
            </a:prstGeom>
            <a:noFill/>
            <a:ln w="9525">
              <a:noFill/>
              <a:miter lim="800000"/>
              <a:headEnd/>
              <a:tailEnd/>
            </a:ln>
          </p:spPr>
          <p:txBody>
            <a:bodyPr>
              <a:spAutoFit/>
            </a:bodyPr>
            <a:lstStyle/>
            <a:p>
              <a:r>
                <a:rPr lang="en-US" altLang="zh-CN" sz="2000">
                  <a:solidFill>
                    <a:srgbClr val="FF0000"/>
                  </a:solidFill>
                  <a:latin typeface="Verdana" pitchFamily="34" charset="0"/>
                  <a:ea typeface="宋体" pitchFamily="2" charset="-122"/>
                </a:rPr>
                <a:t> </a:t>
              </a:r>
              <a:r>
                <a:rPr lang="zh-CN" altLang="en-US" sz="2000">
                  <a:solidFill>
                    <a:srgbClr val="FF0000"/>
                  </a:solidFill>
                  <a:latin typeface="Verdana" pitchFamily="34" charset="0"/>
                  <a:ea typeface="宋体" pitchFamily="2" charset="-122"/>
                </a:rPr>
                <a:t>阶跃型</a:t>
              </a:r>
            </a:p>
          </p:txBody>
        </p:sp>
        <p:sp>
          <p:nvSpPr>
            <p:cNvPr id="11" name="Text Box 8"/>
            <p:cNvSpPr txBox="1">
              <a:spLocks noChangeArrowheads="1"/>
            </p:cNvSpPr>
            <p:nvPr/>
          </p:nvSpPr>
          <p:spPr bwMode="auto">
            <a:xfrm>
              <a:off x="5078" y="3214"/>
              <a:ext cx="596" cy="269"/>
            </a:xfrm>
            <a:prstGeom prst="rect">
              <a:avLst/>
            </a:prstGeom>
            <a:noFill/>
            <a:ln w="9525">
              <a:noFill/>
              <a:miter lim="800000"/>
              <a:headEnd/>
              <a:tailEnd/>
            </a:ln>
          </p:spPr>
          <p:txBody>
            <a:bodyPr wrap="none">
              <a:spAutoFit/>
            </a:bodyPr>
            <a:lstStyle/>
            <a:p>
              <a:r>
                <a:rPr lang="zh-CN" altLang="en-US" sz="2000">
                  <a:solidFill>
                    <a:srgbClr val="FF0000"/>
                  </a:solidFill>
                  <a:latin typeface="Verdana" pitchFamily="34" charset="0"/>
                  <a:ea typeface="宋体" pitchFamily="2" charset="-122"/>
                </a:rPr>
                <a:t>单孔型</a:t>
              </a:r>
            </a:p>
          </p:txBody>
        </p:sp>
      </p:grpSp>
      <p:sp>
        <p:nvSpPr>
          <p:cNvPr id="12" name="Text Box 16"/>
          <p:cNvSpPr txBox="1">
            <a:spLocks noChangeArrowheads="1"/>
          </p:cNvSpPr>
          <p:nvPr/>
        </p:nvSpPr>
        <p:spPr bwMode="auto">
          <a:xfrm>
            <a:off x="214282" y="3318570"/>
            <a:ext cx="4643470" cy="3539430"/>
          </a:xfrm>
          <a:prstGeom prst="rect">
            <a:avLst/>
          </a:prstGeom>
          <a:noFill/>
          <a:ln w="9525" algn="ctr">
            <a:noFill/>
            <a:miter lim="800000"/>
            <a:headEnd/>
            <a:tailEnd/>
          </a:ln>
        </p:spPr>
        <p:txBody>
          <a:bodyPr wrap="square">
            <a:spAutoFit/>
          </a:bodyPr>
          <a:lstStyle/>
          <a:p>
            <a:pPr indent="273050">
              <a:spcBef>
                <a:spcPct val="50000"/>
              </a:spcBef>
            </a:pPr>
            <a:r>
              <a:rPr lang="zh-CN" altLang="en-US" b="1" dirty="0">
                <a:solidFill>
                  <a:schemeClr val="tx1"/>
                </a:solidFill>
                <a:latin typeface="宋体" pitchFamily="2" charset="-122"/>
                <a:ea typeface="楷体_GB2312" pitchFamily="49" charset="-122"/>
              </a:rPr>
              <a:t>通常折射率变化呈抛物线形式</a:t>
            </a:r>
            <a:r>
              <a:rPr lang="zh-CN" altLang="en-US" b="1" dirty="0" smtClean="0">
                <a:solidFill>
                  <a:schemeClr val="tx1"/>
                </a:solidFill>
                <a:latin typeface="宋体" pitchFamily="2" charset="-122"/>
                <a:ea typeface="楷体_GB2312" pitchFamily="49" charset="-122"/>
              </a:rPr>
              <a:t>，在</a:t>
            </a:r>
            <a:r>
              <a:rPr lang="zh-CN" altLang="en-US" b="1" dirty="0">
                <a:solidFill>
                  <a:schemeClr val="tx1"/>
                </a:solidFill>
                <a:latin typeface="宋体" pitchFamily="2" charset="-122"/>
                <a:ea typeface="楷体_GB2312" pitchFamily="49" charset="-122"/>
              </a:rPr>
              <a:t>中心轴附近有更陡的折射率梯度，而在接近边缘处折射减少得非常缓慢，保证传递的光束集中在光纤轴线附近前进。因为这类光纤有聚焦作用，所以也称自聚焦光纤</a:t>
            </a:r>
            <a:r>
              <a:rPr lang="zh-CN" altLang="en-US" b="1" dirty="0">
                <a:solidFill>
                  <a:schemeClr val="tx1"/>
                </a:solidFill>
                <a:ea typeface="楷体_GB2312" pitchFamily="49" charset="-122"/>
              </a:rPr>
              <a:t>。</a:t>
            </a:r>
            <a:endParaRPr lang="zh-CN" altLang="en-US" dirty="0">
              <a:solidFill>
                <a:schemeClr val="tx1"/>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按传输模式分类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25" name="Text Box 14"/>
          <p:cNvSpPr txBox="1">
            <a:spLocks noChangeArrowheads="1"/>
          </p:cNvSpPr>
          <p:nvPr/>
        </p:nvSpPr>
        <p:spPr bwMode="auto">
          <a:xfrm>
            <a:off x="285720" y="2143116"/>
            <a:ext cx="8643998" cy="1169551"/>
          </a:xfrm>
          <a:prstGeom prst="rect">
            <a:avLst/>
          </a:prstGeom>
          <a:noFill/>
          <a:ln w="9525" algn="ctr">
            <a:noFill/>
            <a:miter lim="800000"/>
            <a:headEnd/>
            <a:tailEnd/>
          </a:ln>
        </p:spPr>
        <p:txBody>
          <a:bodyPr wrap="square">
            <a:spAutoFit/>
          </a:bodyPr>
          <a:lstStyle/>
          <a:p>
            <a:pPr indent="449263">
              <a:spcBef>
                <a:spcPct val="50000"/>
              </a:spcBef>
              <a:buClr>
                <a:schemeClr val="tx1"/>
              </a:buClr>
              <a:buFont typeface="Wingdings" pitchFamily="2" charset="2"/>
              <a:buChar char="l"/>
            </a:pPr>
            <a:r>
              <a:rPr lang="zh-CN" altLang="en-US" b="1" dirty="0" smtClean="0">
                <a:solidFill>
                  <a:schemeClr val="tx1"/>
                </a:solidFill>
                <a:latin typeface="宋体" pitchFamily="2" charset="-122"/>
                <a:ea typeface="宋体" pitchFamily="2" charset="-122"/>
              </a:rPr>
              <a:t>按传输模式分类：分为</a:t>
            </a:r>
            <a:r>
              <a:rPr lang="zh-CN" altLang="en-US" b="1" dirty="0" smtClean="0">
                <a:solidFill>
                  <a:srgbClr val="CC3300"/>
                </a:solidFill>
                <a:latin typeface="宋体" pitchFamily="2" charset="-122"/>
                <a:ea typeface="宋体" pitchFamily="2" charset="-122"/>
              </a:rPr>
              <a:t>单模光纤</a:t>
            </a:r>
            <a:r>
              <a:rPr lang="zh-CN" altLang="en-US" b="1" dirty="0" smtClean="0">
                <a:solidFill>
                  <a:schemeClr val="tx1"/>
                </a:solidFill>
                <a:latin typeface="宋体" pitchFamily="2" charset="-122"/>
                <a:ea typeface="宋体" pitchFamily="2" charset="-122"/>
              </a:rPr>
              <a:t>和</a:t>
            </a:r>
            <a:r>
              <a:rPr lang="zh-CN" altLang="en-US" b="1" dirty="0" smtClean="0">
                <a:solidFill>
                  <a:srgbClr val="CC3300"/>
                </a:solidFill>
                <a:latin typeface="宋体" pitchFamily="2" charset="-122"/>
                <a:ea typeface="宋体" pitchFamily="2" charset="-122"/>
              </a:rPr>
              <a:t>多模光纤</a:t>
            </a:r>
            <a:r>
              <a:rPr lang="zh-CN" altLang="en-US" b="1" dirty="0" smtClean="0">
                <a:solidFill>
                  <a:schemeClr val="tx1"/>
                </a:solidFill>
                <a:latin typeface="宋体" pitchFamily="2" charset="-122"/>
                <a:ea typeface="宋体" pitchFamily="2" charset="-122"/>
              </a:rPr>
              <a:t>两类。</a:t>
            </a:r>
          </a:p>
          <a:p>
            <a:pPr indent="449263">
              <a:spcBef>
                <a:spcPct val="50000"/>
              </a:spcBef>
              <a:buClr>
                <a:schemeClr val="tx1"/>
              </a:buClr>
            </a:pPr>
            <a:endParaRPr lang="zh-CN" altLang="en-US" b="1" dirty="0">
              <a:solidFill>
                <a:schemeClr val="tx1"/>
              </a:solidFill>
              <a:latin typeface="宋体" pitchFamily="2" charset="-122"/>
              <a:ea typeface="宋体" pitchFamily="2" charset="-122"/>
            </a:endParaRPr>
          </a:p>
        </p:txBody>
      </p:sp>
      <p:sp>
        <p:nvSpPr>
          <p:cNvPr id="13" name="Text Box 8"/>
          <p:cNvSpPr txBox="1">
            <a:spLocks noChangeArrowheads="1"/>
          </p:cNvSpPr>
          <p:nvPr/>
        </p:nvSpPr>
        <p:spPr bwMode="auto">
          <a:xfrm>
            <a:off x="285720" y="2857496"/>
            <a:ext cx="8572560" cy="3108543"/>
          </a:xfrm>
          <a:prstGeom prst="rect">
            <a:avLst/>
          </a:prstGeom>
          <a:noFill/>
          <a:ln w="9525" algn="ctr">
            <a:noFill/>
            <a:miter lim="800000"/>
            <a:headEnd/>
            <a:tailEnd/>
          </a:ln>
        </p:spPr>
        <p:txBody>
          <a:bodyPr wrap="square">
            <a:spAutoFit/>
          </a:bodyPr>
          <a:lstStyle/>
          <a:p>
            <a:pPr indent="273050"/>
            <a:r>
              <a:rPr lang="zh-CN" altLang="en-US" b="1" dirty="0" smtClean="0">
                <a:solidFill>
                  <a:schemeClr val="tx1"/>
                </a:solidFill>
                <a:latin typeface="宋体" pitchFamily="2" charset="-122"/>
                <a:ea typeface="宋体" pitchFamily="2" charset="-122"/>
              </a:rPr>
              <a:t>光</a:t>
            </a:r>
            <a:r>
              <a:rPr lang="zh-CN" altLang="en-US" b="1" dirty="0">
                <a:solidFill>
                  <a:schemeClr val="tx1"/>
                </a:solidFill>
                <a:latin typeface="宋体" pitchFamily="2" charset="-122"/>
                <a:ea typeface="宋体" pitchFamily="2" charset="-122"/>
              </a:rPr>
              <a:t>在纤芯中传播可分解为沿轴向和径向传播的平面波</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273050"/>
            <a:r>
              <a:rPr lang="zh-CN" altLang="en-US" b="1" dirty="0" smtClean="0">
                <a:solidFill>
                  <a:schemeClr val="tx1"/>
                </a:solidFill>
                <a:latin typeface="宋体" pitchFamily="2" charset="-122"/>
                <a:ea typeface="宋体" pitchFamily="2" charset="-122"/>
              </a:rPr>
              <a:t>沿</a:t>
            </a:r>
            <a:r>
              <a:rPr lang="zh-CN" altLang="en-US" b="1" dirty="0">
                <a:solidFill>
                  <a:schemeClr val="tx1"/>
                </a:solidFill>
                <a:latin typeface="宋体" pitchFamily="2" charset="-122"/>
                <a:ea typeface="宋体" pitchFamily="2" charset="-122"/>
              </a:rPr>
              <a:t>径向传播的平面波在纤芯和包层的界面上产生反射。如果此波在一个往复</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入射和反射</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中相位变化为</a:t>
            </a:r>
            <a:r>
              <a:rPr lang="en-US" altLang="zh-CN" b="1" dirty="0">
                <a:solidFill>
                  <a:schemeClr val="tx1"/>
                </a:solidFill>
                <a:latin typeface="宋体" pitchFamily="2" charset="-122"/>
                <a:ea typeface="宋体" pitchFamily="2" charset="-122"/>
              </a:rPr>
              <a:t>2</a:t>
            </a:r>
            <a:r>
              <a:rPr lang="en-US" altLang="zh-CN" b="1" dirty="0">
                <a:solidFill>
                  <a:schemeClr val="tx1"/>
                </a:solidFill>
                <a:latin typeface="宋体" pitchFamily="2" charset="-122"/>
                <a:ea typeface="宋体" pitchFamily="2" charset="-122"/>
                <a:sym typeface="Symbol" pitchFamily="18" charset="2"/>
              </a:rPr>
              <a:t></a:t>
            </a:r>
            <a:r>
              <a:rPr lang="zh-CN" altLang="en-US" b="1" dirty="0">
                <a:solidFill>
                  <a:schemeClr val="tx1"/>
                </a:solidFill>
                <a:latin typeface="宋体" pitchFamily="2" charset="-122"/>
                <a:ea typeface="宋体" pitchFamily="2" charset="-122"/>
              </a:rPr>
              <a:t>的整数倍，就能形成驻波，只有驻波并</a:t>
            </a:r>
            <a:r>
              <a:rPr lang="zh-CN" altLang="en-US" b="1" dirty="0" smtClean="0">
                <a:solidFill>
                  <a:schemeClr val="tx1"/>
                </a:solidFill>
                <a:latin typeface="宋体" pitchFamily="2" charset="-122"/>
                <a:ea typeface="宋体" pitchFamily="2" charset="-122"/>
              </a:rPr>
              <a:t>在</a:t>
            </a:r>
            <a:r>
              <a:rPr lang="en-US" altLang="zh-CN" b="1" dirty="0" smtClean="0">
                <a:solidFill>
                  <a:srgbClr val="C00000"/>
                </a:solidFill>
                <a:latin typeface="Times New Roman" pitchFamily="18" charset="0"/>
                <a:ea typeface="宋体" pitchFamily="2" charset="-122"/>
                <a:sym typeface="Symbol" pitchFamily="18" charset="2"/>
              </a:rPr>
              <a:t>2</a:t>
            </a:r>
            <a:r>
              <a:rPr lang="en-US" altLang="zh-CN" b="1" i="1" dirty="0" smtClean="0">
                <a:solidFill>
                  <a:srgbClr val="CC3300"/>
                </a:solidFill>
                <a:latin typeface="Times New Roman" pitchFamily="18" charset="0"/>
                <a:ea typeface="宋体" pitchFamily="2" charset="-122"/>
                <a:sym typeface="Symbol" pitchFamily="18" charset="2"/>
              </a:rPr>
              <a:t></a:t>
            </a:r>
            <a:r>
              <a:rPr lang="en-US" altLang="zh-CN" b="1" i="1" baseline="-25000" dirty="0" smtClean="0">
                <a:solidFill>
                  <a:srgbClr val="CC3300"/>
                </a:solidFill>
                <a:latin typeface="Times New Roman" pitchFamily="18" charset="0"/>
                <a:ea typeface="宋体" pitchFamily="2" charset="-122"/>
                <a:sym typeface="Symbol" pitchFamily="18" charset="2"/>
              </a:rPr>
              <a:t>c</a:t>
            </a:r>
            <a:r>
              <a:rPr lang="zh-CN" altLang="en-US" b="1" dirty="0" smtClean="0">
                <a:solidFill>
                  <a:schemeClr val="tx1"/>
                </a:solidFill>
                <a:latin typeface="宋体" pitchFamily="2" charset="-122"/>
                <a:ea typeface="宋体" pitchFamily="2" charset="-122"/>
              </a:rPr>
              <a:t>光锥</a:t>
            </a:r>
            <a:r>
              <a:rPr lang="zh-CN" altLang="en-US" b="1" dirty="0">
                <a:solidFill>
                  <a:schemeClr val="tx1"/>
                </a:solidFill>
                <a:latin typeface="宋体" pitchFamily="2" charset="-122"/>
                <a:ea typeface="宋体" pitchFamily="2" charset="-122"/>
              </a:rPr>
              <a:t>角内射入光纤的光才能在光纤中传播，一种驻波就是一个模</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2091919"/>
          </a:xfrm>
          <a:prstGeom prst="rect">
            <a:avLst/>
          </a:prstGeom>
          <a:noFill/>
          <a:ln w="9525" algn="ctr">
            <a:noFill/>
            <a:miter lim="800000"/>
            <a:headEnd/>
            <a:tailEnd/>
          </a:ln>
        </p:spPr>
        <p:txBody>
          <a:bodyPr wrap="square">
            <a:spAutoFit/>
          </a:bodyPr>
          <a:lstStyle/>
          <a:p>
            <a:pPr indent="273050">
              <a:lnSpc>
                <a:spcPct val="120000"/>
              </a:lnSpc>
            </a:pPr>
            <a:r>
              <a:rPr lang="zh-CN" altLang="en-US" b="1" dirty="0" smtClean="0">
                <a:solidFill>
                  <a:schemeClr val="tx1"/>
                </a:solidFill>
                <a:latin typeface="宋体" pitchFamily="2" charset="-122"/>
                <a:ea typeface="宋体" pitchFamily="2" charset="-122"/>
              </a:rPr>
              <a:t>在光纤中只能传输一定量的模；如纤芯直径为</a:t>
            </a:r>
            <a:r>
              <a:rPr lang="en-US" altLang="zh-CN" b="1" dirty="0" smtClean="0">
                <a:solidFill>
                  <a:schemeClr val="tx1"/>
                </a:solidFill>
                <a:latin typeface="宋体" pitchFamily="2" charset="-122"/>
                <a:ea typeface="宋体" pitchFamily="2" charset="-122"/>
              </a:rPr>
              <a:t>5</a:t>
            </a:r>
            <a:r>
              <a:rPr lang="en-US" altLang="zh-CN" b="1" dirty="0" smtClean="0">
                <a:solidFill>
                  <a:schemeClr val="tx1"/>
                </a:solidFill>
                <a:latin typeface="宋体" pitchFamily="2" charset="-122"/>
                <a:ea typeface="宋体" pitchFamily="2" charset="-122"/>
                <a:sym typeface="Symbol" pitchFamily="18" charset="2"/>
              </a:rPr>
              <a:t></a:t>
            </a:r>
            <a:r>
              <a:rPr lang="en-US" altLang="zh-CN" b="1" dirty="0" smtClean="0">
                <a:solidFill>
                  <a:schemeClr val="tx1"/>
                </a:solidFill>
                <a:latin typeface="宋体" pitchFamily="2" charset="-122"/>
                <a:ea typeface="宋体" pitchFamily="2" charset="-122"/>
              </a:rPr>
              <a:t>m</a:t>
            </a:r>
            <a:r>
              <a:rPr lang="zh-CN" altLang="en-US" b="1" dirty="0" smtClean="0">
                <a:solidFill>
                  <a:schemeClr val="tx1"/>
                </a:solidFill>
                <a:latin typeface="宋体" pitchFamily="2" charset="-122"/>
                <a:ea typeface="宋体" pitchFamily="2" charset="-122"/>
              </a:rPr>
              <a:t>时只能传播一个模，称为单模光纤；</a:t>
            </a:r>
            <a:endParaRPr lang="en-US" altLang="zh-CN" b="1" dirty="0" smtClean="0">
              <a:solidFill>
                <a:schemeClr val="tx1"/>
              </a:solidFill>
              <a:latin typeface="宋体" pitchFamily="2" charset="-122"/>
              <a:ea typeface="宋体" pitchFamily="2" charset="-122"/>
            </a:endParaRPr>
          </a:p>
          <a:p>
            <a:pPr indent="273050">
              <a:lnSpc>
                <a:spcPct val="120000"/>
              </a:lnSpc>
            </a:pPr>
            <a:r>
              <a:rPr lang="zh-CN" altLang="en-US" b="1" dirty="0" smtClean="0">
                <a:solidFill>
                  <a:schemeClr val="tx1"/>
                </a:solidFill>
                <a:latin typeface="宋体" pitchFamily="2" charset="-122"/>
                <a:ea typeface="宋体" pitchFamily="2" charset="-122"/>
              </a:rPr>
              <a:t>纤芯直径为</a:t>
            </a:r>
            <a:r>
              <a:rPr lang="en-US" altLang="zh-CN" b="1" dirty="0" smtClean="0">
                <a:solidFill>
                  <a:schemeClr val="tx1"/>
                </a:solidFill>
                <a:latin typeface="宋体" pitchFamily="2" charset="-122"/>
                <a:ea typeface="宋体" pitchFamily="2" charset="-122"/>
              </a:rPr>
              <a:t>50 </a:t>
            </a:r>
            <a:r>
              <a:rPr lang="en-US" altLang="zh-CN" b="1" dirty="0" smtClean="0">
                <a:solidFill>
                  <a:schemeClr val="tx1"/>
                </a:solidFill>
                <a:latin typeface="宋体" pitchFamily="2" charset="-122"/>
                <a:ea typeface="宋体" pitchFamily="2" charset="-122"/>
                <a:sym typeface="Symbol" pitchFamily="18" charset="2"/>
              </a:rPr>
              <a:t></a:t>
            </a:r>
            <a:r>
              <a:rPr lang="en-US" altLang="zh-CN" b="1" dirty="0" smtClean="0">
                <a:solidFill>
                  <a:schemeClr val="tx1"/>
                </a:solidFill>
                <a:latin typeface="宋体" pitchFamily="2" charset="-122"/>
                <a:ea typeface="宋体" pitchFamily="2" charset="-122"/>
              </a:rPr>
              <a:t> m</a:t>
            </a:r>
            <a:r>
              <a:rPr lang="zh-CN" altLang="en-US" b="1" dirty="0" smtClean="0">
                <a:solidFill>
                  <a:schemeClr val="tx1"/>
                </a:solidFill>
                <a:latin typeface="宋体" pitchFamily="2" charset="-122"/>
                <a:ea typeface="宋体" pitchFamily="2" charset="-122"/>
              </a:rPr>
              <a:t>以上时，能传播若干个模</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叫多模光纤。</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单模光纤和多模光纤特点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3643113"/>
          </a:xfrm>
          <a:prstGeom prst="rect">
            <a:avLst/>
          </a:prstGeom>
          <a:noFill/>
          <a:ln w="9525" algn="ctr">
            <a:noFill/>
            <a:miter lim="800000"/>
            <a:headEnd/>
            <a:tailEnd/>
          </a:ln>
        </p:spPr>
        <p:txBody>
          <a:bodyPr wrap="square">
            <a:spAutoFit/>
          </a:bodyPr>
          <a:lstStyle/>
          <a:p>
            <a:pPr indent="273050">
              <a:lnSpc>
                <a:spcPct val="120000"/>
              </a:lnSpc>
            </a:pPr>
            <a:r>
              <a:rPr lang="zh-CN" altLang="en-US" b="1" dirty="0" smtClean="0">
                <a:solidFill>
                  <a:schemeClr val="tx1"/>
                </a:solidFill>
                <a:latin typeface="宋体" pitchFamily="2" charset="-122"/>
                <a:ea typeface="宋体" pitchFamily="2" charset="-122"/>
              </a:rPr>
              <a:t> 单模光纤传输性能好，频带很宽，制成的单模传感器较多模传感器有更好的线性、灵敏度和动态测量范围。</a:t>
            </a:r>
            <a:endParaRPr lang="en-US" altLang="zh-CN" b="1" dirty="0" smtClean="0">
              <a:solidFill>
                <a:schemeClr val="tx1"/>
              </a:solidFill>
              <a:latin typeface="宋体" pitchFamily="2" charset="-122"/>
              <a:ea typeface="宋体" pitchFamily="2" charset="-122"/>
            </a:endParaRPr>
          </a:p>
          <a:p>
            <a:pPr indent="273050">
              <a:lnSpc>
                <a:spcPct val="120000"/>
              </a:lnSpc>
            </a:pPr>
            <a:r>
              <a:rPr lang="zh-CN" altLang="en-US" b="1" dirty="0" smtClean="0">
                <a:solidFill>
                  <a:schemeClr val="tx1"/>
                </a:solidFill>
                <a:latin typeface="宋体" pitchFamily="2" charset="-122"/>
                <a:ea typeface="宋体" pitchFamily="2" charset="-122"/>
              </a:rPr>
              <a:t>但单模光纤由于芯径太小，制造连接和耦合都很困难。</a:t>
            </a:r>
          </a:p>
          <a:p>
            <a:pPr indent="273050">
              <a:lnSpc>
                <a:spcPct val="120000"/>
              </a:lnSpc>
            </a:pPr>
            <a:r>
              <a:rPr lang="zh-CN" altLang="en-US" b="1" dirty="0" smtClean="0">
                <a:solidFill>
                  <a:schemeClr val="tx1"/>
                </a:solidFill>
                <a:latin typeface="宋体" pitchFamily="2" charset="-122"/>
                <a:ea typeface="宋体" pitchFamily="2" charset="-122"/>
              </a:rPr>
              <a:t> 多模光导纤维性能较单模光纤差，但芯径大，制造连接和耦合都比较方便。</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linds(horizontal)">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按工作原理分类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3643113"/>
          </a:xfrm>
          <a:prstGeom prst="rect">
            <a:avLst/>
          </a:prstGeom>
          <a:noFill/>
          <a:ln w="9525" algn="ctr">
            <a:noFill/>
            <a:miter lim="800000"/>
            <a:headEnd/>
            <a:tailEnd/>
          </a:ln>
        </p:spPr>
        <p:txBody>
          <a:bodyPr wrap="square">
            <a:spAutoFit/>
          </a:bodyPr>
          <a:lstStyle/>
          <a:p>
            <a:pPr indent="352425">
              <a:buClr>
                <a:schemeClr val="tx1"/>
              </a:buClr>
              <a:buFont typeface="Wingdings" pitchFamily="2" charset="2"/>
              <a:buChar char="u"/>
            </a:pPr>
            <a:r>
              <a:rPr lang="zh-CN" altLang="en-US" b="1" dirty="0" smtClean="0">
                <a:solidFill>
                  <a:srgbClr val="CC3300"/>
                </a:solidFill>
                <a:latin typeface="宋体" pitchFamily="2" charset="-122"/>
                <a:ea typeface="宋体" pitchFamily="2" charset="-122"/>
              </a:rPr>
              <a:t> 功能型 </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物性型，传感型</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光纤传感器：主要使用单模光纤，光纤在这类传感器中不仅作为光传播的波导而且具有测量的功能，即</a:t>
            </a:r>
            <a:r>
              <a:rPr lang="zh-CN" altLang="en-US" b="1" dirty="0" smtClean="0">
                <a:solidFill>
                  <a:srgbClr val="CC3300"/>
                </a:solidFill>
                <a:latin typeface="宋体" pitchFamily="2" charset="-122"/>
                <a:ea typeface="宋体" pitchFamily="2" charset="-122"/>
              </a:rPr>
              <a:t>光纤本身也是敏感器件</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352425">
              <a:buClr>
                <a:schemeClr val="tx1"/>
              </a:buClr>
            </a:pPr>
            <a:r>
              <a:rPr lang="zh-CN" altLang="en-US" b="1" dirty="0" smtClean="0">
                <a:solidFill>
                  <a:schemeClr val="tx1"/>
                </a:solidFill>
                <a:latin typeface="宋体" pitchFamily="2" charset="-122"/>
                <a:ea typeface="宋体" pitchFamily="2" charset="-122"/>
              </a:rPr>
              <a:t>利用光纤本身的传输特性受被测物理量作用而发生变化，使光纤中波导光的属性</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振幅、相位、偏振态、波长等</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被调制这一特点。因此这一类光纤传感器又分振幅调制型、相位调制型、偏振态调制型和波长调制型等数种。</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功能型光纤传感器的特点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2964466"/>
          </a:xfrm>
          <a:prstGeom prst="rect">
            <a:avLst/>
          </a:prstGeom>
          <a:noFill/>
          <a:ln w="9525" algn="ctr">
            <a:noFill/>
            <a:miter lim="800000"/>
            <a:headEnd/>
            <a:tailEnd/>
          </a:ln>
        </p:spPr>
        <p:txBody>
          <a:bodyPr wrap="square">
            <a:spAutoFit/>
          </a:bodyPr>
          <a:lstStyle/>
          <a:p>
            <a:pPr indent="627063">
              <a:lnSpc>
                <a:spcPct val="110000"/>
              </a:lnSpc>
              <a:spcBef>
                <a:spcPct val="20000"/>
              </a:spcBef>
              <a:buClr>
                <a:schemeClr val="folHlink"/>
              </a:buClr>
              <a:buSzPct val="75000"/>
              <a:buFont typeface="Wingdings" pitchFamily="2" charset="2"/>
              <a:buNone/>
            </a:pPr>
            <a:r>
              <a:rPr lang="zh-CN" altLang="en-US" b="1" dirty="0" smtClean="0">
                <a:solidFill>
                  <a:schemeClr val="tx1"/>
                </a:solidFill>
                <a:latin typeface="宋体" pitchFamily="2" charset="-122"/>
                <a:ea typeface="宋体" pitchFamily="2" charset="-122"/>
              </a:rPr>
              <a:t>由于光纤本身是敏感元件，因此加长光纤的长度，可以得到很高的灵敏度，尤其是对光的相位变化，利用各种干涉技术进行测量的光纤传感器，具有极高的灵敏度</a:t>
            </a:r>
            <a:r>
              <a:rPr lang="en-US" altLang="zh-CN" b="1" dirty="0" smtClean="0">
                <a:solidFill>
                  <a:schemeClr val="tx1"/>
                </a:solidFill>
                <a:latin typeface="宋体" pitchFamily="2" charset="-122"/>
                <a:ea typeface="宋体" pitchFamily="2" charset="-122"/>
              </a:rPr>
              <a:t>;</a:t>
            </a:r>
          </a:p>
          <a:p>
            <a:pPr indent="627063">
              <a:lnSpc>
                <a:spcPct val="110000"/>
              </a:lnSpc>
              <a:spcBef>
                <a:spcPct val="20000"/>
              </a:spcBef>
              <a:buClr>
                <a:schemeClr val="folHlink"/>
              </a:buClr>
              <a:buSzPct val="75000"/>
              <a:buFont typeface="Wingdings" pitchFamily="2" charset="2"/>
              <a:buNone/>
            </a:pPr>
            <a:r>
              <a:rPr lang="zh-CN" altLang="en-US" b="1" dirty="0" smtClean="0">
                <a:solidFill>
                  <a:schemeClr val="tx1"/>
                </a:solidFill>
                <a:latin typeface="宋体" pitchFamily="2" charset="-122"/>
                <a:ea typeface="宋体" pitchFamily="2" charset="-122"/>
              </a:rPr>
              <a:t>但这一类光纤传感器技术上难度较大，结构比较复杂，调整也比较困难。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功能型光纤传感器的特点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3912418"/>
          </a:xfrm>
          <a:prstGeom prst="rect">
            <a:avLst/>
          </a:prstGeom>
          <a:noFill/>
          <a:ln w="9525" algn="ctr">
            <a:noFill/>
            <a:miter lim="800000"/>
            <a:headEnd/>
            <a:tailEnd/>
          </a:ln>
        </p:spPr>
        <p:txBody>
          <a:bodyPr wrap="square">
            <a:spAutoFit/>
          </a:bodyPr>
          <a:lstStyle/>
          <a:p>
            <a:pPr indent="627063">
              <a:lnSpc>
                <a:spcPct val="110000"/>
              </a:lnSpc>
              <a:spcBef>
                <a:spcPct val="20000"/>
              </a:spcBef>
              <a:buClr>
                <a:schemeClr val="folHlink"/>
              </a:buClr>
              <a:buSzPct val="75000"/>
            </a:pPr>
            <a:r>
              <a:rPr lang="zh-CN" altLang="en-US" b="1" dirty="0" smtClean="0">
                <a:solidFill>
                  <a:schemeClr val="tx1"/>
                </a:solidFill>
                <a:latin typeface="宋体" pitchFamily="2" charset="-122"/>
                <a:ea typeface="宋体" pitchFamily="2" charset="-122"/>
              </a:rPr>
              <a:t>光纤既是电光材料又是磁光材料，可以利用克尔效应、法拉第效应等，制成测量强电流、高电压等传感器；也可利用光纤的传输特性把输入量变为调制的光信号。</a:t>
            </a:r>
            <a:endParaRPr lang="en-US" altLang="zh-CN" b="1" dirty="0" smtClean="0">
              <a:solidFill>
                <a:schemeClr val="tx1"/>
              </a:solidFill>
              <a:latin typeface="宋体" pitchFamily="2" charset="-122"/>
              <a:ea typeface="宋体" pitchFamily="2" charset="-122"/>
            </a:endParaRPr>
          </a:p>
          <a:p>
            <a:pPr indent="627063">
              <a:lnSpc>
                <a:spcPct val="110000"/>
              </a:lnSpc>
              <a:spcBef>
                <a:spcPct val="20000"/>
              </a:spcBef>
              <a:buClr>
                <a:schemeClr val="folHlink"/>
              </a:buClr>
              <a:buSzPct val="75000"/>
            </a:pPr>
            <a:r>
              <a:rPr lang="zh-CN" altLang="en-US" b="1" dirty="0" smtClean="0">
                <a:solidFill>
                  <a:schemeClr val="tx1"/>
                </a:solidFill>
                <a:latin typeface="宋体" pitchFamily="2" charset="-122"/>
                <a:ea typeface="宋体" pitchFamily="2" charset="-122"/>
              </a:rPr>
              <a:t>因为表征光波特性的参量，如振幅（光强</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、相位和偏振态会随着光纤的环境</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如应变、压力；温度、电场、射线等</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而改变，利用这些特性可实现传感测量。</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功能型光纤传感器的调制方式</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13" name="Text Box 8"/>
          <p:cNvSpPr txBox="1">
            <a:spLocks noChangeArrowheads="1"/>
          </p:cNvSpPr>
          <p:nvPr/>
        </p:nvSpPr>
        <p:spPr bwMode="auto">
          <a:xfrm>
            <a:off x="285720" y="2143116"/>
            <a:ext cx="8572560" cy="4659737"/>
          </a:xfrm>
          <a:prstGeom prst="rect">
            <a:avLst/>
          </a:prstGeom>
          <a:noFill/>
          <a:ln w="9525" algn="ctr">
            <a:noFill/>
            <a:miter lim="800000"/>
            <a:headEnd/>
            <a:tailEnd/>
          </a:ln>
        </p:spPr>
        <p:txBody>
          <a:bodyPr wrap="square">
            <a:spAutoFit/>
          </a:bodyPr>
          <a:lstStyle/>
          <a:p>
            <a:pPr indent="627063">
              <a:lnSpc>
                <a:spcPct val="110000"/>
              </a:lnSpc>
              <a:spcBef>
                <a:spcPct val="20000"/>
              </a:spcBef>
              <a:buClr>
                <a:schemeClr val="folHlink"/>
              </a:buClr>
              <a:buSzPct val="75000"/>
              <a:buFont typeface="Wingdings" pitchFamily="2" charset="2"/>
              <a:buNone/>
            </a:pPr>
            <a:r>
              <a:rPr lang="zh-CN" altLang="en-US" b="1" dirty="0" smtClean="0">
                <a:solidFill>
                  <a:srgbClr val="C00000"/>
                </a:solidFill>
                <a:latin typeface="宋体" pitchFamily="2" charset="-122"/>
                <a:ea typeface="宋体" pitchFamily="2" charset="-122"/>
              </a:rPr>
              <a:t>光偏振态调制型</a:t>
            </a:r>
            <a:r>
              <a:rPr lang="zh-CN" altLang="en-US" b="1" dirty="0" smtClean="0">
                <a:solidFill>
                  <a:schemeClr val="tx1"/>
                </a:solidFill>
                <a:latin typeface="宋体" pitchFamily="2" charset="-122"/>
                <a:ea typeface="宋体" pitchFamily="2" charset="-122"/>
              </a:rPr>
              <a:t>：外界因素使光纤中偏振态发生变化，并能加以检测的光纤传感器属于偏振态调制型。</a:t>
            </a:r>
            <a:endParaRPr lang="en-US" altLang="zh-CN" b="1" dirty="0" smtClean="0">
              <a:solidFill>
                <a:schemeClr val="tx1"/>
              </a:solidFill>
              <a:latin typeface="宋体" pitchFamily="2" charset="-122"/>
              <a:ea typeface="宋体" pitchFamily="2" charset="-122"/>
            </a:endParaRPr>
          </a:p>
          <a:p>
            <a:pPr indent="627063">
              <a:lnSpc>
                <a:spcPct val="110000"/>
              </a:lnSpc>
              <a:spcBef>
                <a:spcPct val="20000"/>
              </a:spcBef>
              <a:buClr>
                <a:schemeClr val="folHlink"/>
              </a:buClr>
              <a:buSzPct val="75000"/>
              <a:buFont typeface="Wingdings" pitchFamily="2" charset="2"/>
              <a:buNone/>
            </a:pPr>
            <a:r>
              <a:rPr lang="zh-CN" altLang="en-US" b="1" dirty="0" smtClean="0">
                <a:solidFill>
                  <a:srgbClr val="C00000"/>
                </a:solidFill>
                <a:latin typeface="宋体" pitchFamily="2" charset="-122"/>
                <a:ea typeface="宋体" pitchFamily="2" charset="-122"/>
              </a:rPr>
              <a:t>光强度调制型</a:t>
            </a:r>
            <a:r>
              <a:rPr lang="zh-CN" altLang="en-US" b="1" dirty="0" smtClean="0">
                <a:solidFill>
                  <a:schemeClr val="tx1"/>
                </a:solidFill>
              </a:rPr>
              <a:t>：</a:t>
            </a:r>
            <a:endParaRPr lang="en-US" altLang="zh-CN" b="1" dirty="0" smtClean="0">
              <a:solidFill>
                <a:schemeClr val="tx1"/>
              </a:solidFill>
            </a:endParaRPr>
          </a:p>
          <a:p>
            <a:pPr lvl="1" indent="449263">
              <a:lnSpc>
                <a:spcPct val="90000"/>
              </a:lnSpc>
              <a:spcBef>
                <a:spcPct val="20000"/>
              </a:spcBef>
              <a:buClr>
                <a:schemeClr val="tx1"/>
              </a:buClr>
              <a:buSzPct val="75000"/>
              <a:buFont typeface="Wingdings" pitchFamily="2" charset="2"/>
              <a:buChar char="p"/>
            </a:pPr>
            <a:r>
              <a:rPr lang="zh-CN" altLang="en-US" b="1" dirty="0" smtClean="0">
                <a:solidFill>
                  <a:schemeClr val="tx1"/>
                </a:solidFill>
                <a:latin typeface="宋体" pitchFamily="2" charset="-122"/>
                <a:ea typeface="宋体" pitchFamily="2" charset="-122"/>
              </a:rPr>
              <a:t>折射率调制光纤传感器：利用温度变化时折射率的变化，制成温度传感器。</a:t>
            </a:r>
          </a:p>
          <a:p>
            <a:pPr lvl="1" indent="449263">
              <a:lnSpc>
                <a:spcPct val="90000"/>
              </a:lnSpc>
              <a:spcBef>
                <a:spcPct val="20000"/>
              </a:spcBef>
              <a:buClr>
                <a:schemeClr val="tx1"/>
              </a:buClr>
              <a:buSzPct val="75000"/>
              <a:buFont typeface="Wingdings" pitchFamily="2" charset="2"/>
              <a:buChar char="p"/>
            </a:pPr>
            <a:r>
              <a:rPr lang="zh-CN" altLang="en-US" b="1" dirty="0" smtClean="0">
                <a:solidFill>
                  <a:schemeClr val="tx1"/>
                </a:solidFill>
                <a:latin typeface="宋体" pitchFamily="2" charset="-122"/>
                <a:ea typeface="宋体" pitchFamily="2" charset="-122"/>
              </a:rPr>
              <a:t>微弯型光纤敏感元件：利用多模裸光纤受力后弯曲，在弯曲处部分光入射角无法达到全反射要求而逸出，输出光强发生变化，测量力、位移和声压等物理量。</a:t>
            </a:r>
          </a:p>
          <a:p>
            <a:pPr indent="627063">
              <a:lnSpc>
                <a:spcPct val="110000"/>
              </a:lnSpc>
              <a:spcBef>
                <a:spcPct val="20000"/>
              </a:spcBef>
              <a:buClr>
                <a:schemeClr val="folHlink"/>
              </a:buClr>
              <a:buSzPct val="75000"/>
              <a:buFont typeface="Wingdings" pitchFamily="2" charset="2"/>
              <a:buNone/>
            </a:pPr>
            <a:endParaRPr lang="zh-CN" altLang="en-US" b="1" dirty="0">
              <a:solidFill>
                <a:schemeClr val="tx1"/>
              </a:solidFill>
              <a:latin typeface="宋体" pitchFamily="2" charset="-122"/>
              <a:ea typeface="宋体" pitchFamily="2" charset="-122"/>
            </a:endParaRPr>
          </a:p>
        </p:txBody>
      </p:sp>
      <p:graphicFrame>
        <p:nvGraphicFramePr>
          <p:cNvPr id="582665" name="Object 9"/>
          <p:cNvGraphicFramePr>
            <a:graphicFrameLocks noGrp="1" noChangeAspect="1"/>
          </p:cNvGraphicFramePr>
          <p:nvPr/>
        </p:nvGraphicFramePr>
        <p:xfrm>
          <a:off x="571472" y="4286256"/>
          <a:ext cx="8229600" cy="2306637"/>
        </p:xfrm>
        <a:graphic>
          <a:graphicData uri="http://schemas.openxmlformats.org/presentationml/2006/ole">
            <mc:AlternateContent xmlns:mc="http://schemas.openxmlformats.org/markup-compatibility/2006">
              <mc:Choice xmlns:v="urn:schemas-microsoft-com:vml" Requires="v">
                <p:oleObj spid="_x0000_s119813" name="Image" r:id="rId3" imgW="28937143" imgH="8111020" progId="">
                  <p:embed/>
                </p:oleObj>
              </mc:Choice>
              <mc:Fallback>
                <p:oleObj name="Image" r:id="rId3" imgW="28937143" imgH="8111020" progId="">
                  <p:embed/>
                  <p:pic>
                    <p:nvPicPr>
                      <p:cNvPr id="0" name="Object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472" y="4286256"/>
                        <a:ext cx="8229600" cy="230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linds(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linds(horizontal)">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linds(horizontal)">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blinds(horizontal)">
                                      <p:cBhvr>
                                        <p:cTn id="22" dur="500"/>
                                        <p:tgtEl>
                                          <p:spTgt spid="13">
                                            <p:txEl>
                                              <p:pRg st="3" end="3"/>
                                            </p:txEl>
                                          </p:spTgt>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582665"/>
                                        </p:tgtEl>
                                        <p:attrNameLst>
                                          <p:attrName>style.visibility</p:attrName>
                                        </p:attrNameLst>
                                      </p:cBhvr>
                                      <p:to>
                                        <p:strVal val="visible"/>
                                      </p:to>
                                    </p:set>
                                    <p:animEffect transition="in" filter="blinds(horizontal)">
                                      <p:cBhvr>
                                        <p:cTn id="26" dur="500"/>
                                        <p:tgtEl>
                                          <p:spTgt spid="582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光相位调制型</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572560" cy="1988237"/>
          </a:xfrm>
          <a:prstGeom prst="rect">
            <a:avLst/>
          </a:prstGeom>
          <a:noFill/>
          <a:ln w="9525" algn="ctr">
            <a:noFill/>
            <a:miter lim="800000"/>
            <a:headEnd/>
            <a:tailEnd/>
          </a:ln>
        </p:spPr>
        <p:txBody>
          <a:bodyPr wrap="square">
            <a:spAutoFit/>
          </a:bodyPr>
          <a:lstStyle/>
          <a:p>
            <a:pPr indent="627063">
              <a:lnSpc>
                <a:spcPct val="110000"/>
              </a:lnSpc>
              <a:spcBef>
                <a:spcPct val="20000"/>
              </a:spcBef>
              <a:buClr>
                <a:schemeClr val="folHlink"/>
              </a:buClr>
              <a:buSzPct val="75000"/>
            </a:pPr>
            <a:r>
              <a:rPr lang="zh-CN" altLang="en-US" b="1" dirty="0" smtClean="0">
                <a:solidFill>
                  <a:schemeClr val="tx1"/>
                </a:solidFill>
                <a:latin typeface="Times New Roman" pitchFamily="18" charset="0"/>
                <a:ea typeface="宋体" pitchFamily="2" charset="-122"/>
              </a:rPr>
              <a:t>利用一些被测量引起光纤中光相位变化的原理组成。通过干涉条纹的测量可以得到位相差，然后根据位相差与引起位相变化的被测量之间的关系，得到被测量的具体值。其特点是灵敏、灵活、多样。</a:t>
            </a:r>
            <a:endParaRPr lang="zh-CN" altLang="en-US" b="1" dirty="0">
              <a:solidFill>
                <a:schemeClr val="tx1"/>
              </a:solidFill>
              <a:latin typeface="宋体" pitchFamily="2" charset="-122"/>
              <a:ea typeface="宋体" pitchFamily="2" charset="-122"/>
            </a:endParaRPr>
          </a:p>
        </p:txBody>
      </p:sp>
      <p:graphicFrame>
        <p:nvGraphicFramePr>
          <p:cNvPr id="8" name="Object 5"/>
          <p:cNvGraphicFramePr>
            <a:graphicFrameLocks noChangeAspect="1"/>
          </p:cNvGraphicFramePr>
          <p:nvPr/>
        </p:nvGraphicFramePr>
        <p:xfrm>
          <a:off x="500034" y="4143380"/>
          <a:ext cx="4114800" cy="2471738"/>
        </p:xfrm>
        <a:graphic>
          <a:graphicData uri="http://schemas.openxmlformats.org/presentationml/2006/ole">
            <mc:AlternateContent xmlns:mc="http://schemas.openxmlformats.org/markup-compatibility/2006">
              <mc:Choice xmlns:v="urn:schemas-microsoft-com:vml" Requires="v">
                <p:oleObj spid="_x0000_s120840" name="位图图像" r:id="rId3" imgW="8819048" imgH="5304762" progId="PBrush">
                  <p:embed/>
                </p:oleObj>
              </mc:Choice>
              <mc:Fallback>
                <p:oleObj name="位图图像" r:id="rId3" imgW="8819048" imgH="5304762" progId="PBrush">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34" y="4143380"/>
                        <a:ext cx="4114800" cy="2471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nvGraphicFramePr>
        <p:xfrm>
          <a:off x="4773584" y="3966037"/>
          <a:ext cx="4114800" cy="2438400"/>
        </p:xfrm>
        <a:graphic>
          <a:graphicData uri="http://schemas.openxmlformats.org/presentationml/2006/ole">
            <mc:AlternateContent xmlns:mc="http://schemas.openxmlformats.org/markup-compatibility/2006">
              <mc:Choice xmlns:v="urn:schemas-microsoft-com:vml" Requires="v">
                <p:oleObj spid="_x0000_s120841" name="图像文档" r:id="rId5" imgW="4038480" imgH="2257560" progId="">
                  <p:embed/>
                </p:oleObj>
              </mc:Choice>
              <mc:Fallback>
                <p:oleObj name="图像文档" r:id="rId5" imgW="4038480" imgH="2257560"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3584" y="3966037"/>
                        <a:ext cx="41148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1"/>
          <p:cNvSpPr txBox="1">
            <a:spLocks noChangeArrowheads="1"/>
          </p:cNvSpPr>
          <p:nvPr/>
        </p:nvSpPr>
        <p:spPr bwMode="auto">
          <a:xfrm>
            <a:off x="5214909" y="6433012"/>
            <a:ext cx="3673475" cy="424988"/>
          </a:xfrm>
          <a:prstGeom prst="rect">
            <a:avLst/>
          </a:prstGeom>
          <a:noFill/>
          <a:ln w="9525">
            <a:noFill/>
            <a:miter lim="800000"/>
            <a:headEnd/>
            <a:tailEnd/>
          </a:ln>
        </p:spPr>
        <p:txBody>
          <a:bodyPr>
            <a:spAutoFit/>
          </a:bodyPr>
          <a:lstStyle/>
          <a:p>
            <a:pPr>
              <a:lnSpc>
                <a:spcPct val="120000"/>
              </a:lnSpc>
              <a:spcBef>
                <a:spcPct val="20000"/>
              </a:spcBef>
            </a:pPr>
            <a:r>
              <a:rPr kumimoji="0" lang="zh-CN" altLang="en-US" sz="2000" b="1" dirty="0">
                <a:solidFill>
                  <a:schemeClr val="tx1"/>
                </a:solidFill>
                <a:latin typeface="Arial" charset="0"/>
                <a:ea typeface="楷体_GB2312" pitchFamily="49" charset="-122"/>
              </a:rPr>
              <a:t>马赫</a:t>
            </a:r>
            <a:r>
              <a:rPr kumimoji="0" lang="en-US" altLang="zh-CN" sz="2000" b="1" dirty="0">
                <a:solidFill>
                  <a:schemeClr val="tx1"/>
                </a:solidFill>
                <a:latin typeface="Arial" charset="0"/>
                <a:ea typeface="楷体_GB2312" pitchFamily="49" charset="-122"/>
              </a:rPr>
              <a:t>·</a:t>
            </a:r>
            <a:r>
              <a:rPr kumimoji="0" lang="zh-CN" altLang="en-US" sz="2000" b="1" dirty="0">
                <a:solidFill>
                  <a:schemeClr val="tx1"/>
                </a:solidFill>
                <a:latin typeface="Arial" charset="0"/>
                <a:ea typeface="楷体_GB2312" pitchFamily="49" charset="-122"/>
              </a:rPr>
              <a:t>琴特干涉仪原理图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非功能型光纤传感器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572560" cy="3797001"/>
          </a:xfrm>
          <a:prstGeom prst="rect">
            <a:avLst/>
          </a:prstGeom>
          <a:noFill/>
          <a:ln w="9525" algn="ctr">
            <a:noFill/>
            <a:miter lim="800000"/>
            <a:headEnd/>
            <a:tailEnd/>
          </a:ln>
        </p:spPr>
        <p:txBody>
          <a:bodyPr wrap="square">
            <a:spAutoFit/>
          </a:bodyPr>
          <a:lstStyle/>
          <a:p>
            <a:pPr indent="352425">
              <a:lnSpc>
                <a:spcPct val="120000"/>
              </a:lnSpc>
              <a:spcBef>
                <a:spcPts val="600"/>
              </a:spcBef>
            </a:pPr>
            <a:r>
              <a:rPr lang="zh-CN" altLang="en-US" b="1" dirty="0" smtClean="0">
                <a:solidFill>
                  <a:schemeClr val="tx1"/>
                </a:solidFill>
                <a:latin typeface="宋体" pitchFamily="2" charset="-122"/>
                <a:ea typeface="宋体" pitchFamily="2" charset="-122"/>
              </a:rPr>
              <a:t>光纤不是敏感元件，还需加上其它敏感元件才能组成传感器。</a:t>
            </a:r>
            <a:endParaRPr lang="en-US" altLang="zh-CN" b="1" dirty="0" smtClean="0">
              <a:solidFill>
                <a:schemeClr val="tx1"/>
              </a:solidFill>
              <a:latin typeface="宋体" pitchFamily="2" charset="-122"/>
              <a:ea typeface="宋体" pitchFamily="2" charset="-122"/>
            </a:endParaRPr>
          </a:p>
          <a:p>
            <a:pPr indent="352425">
              <a:lnSpc>
                <a:spcPct val="120000"/>
              </a:lnSpc>
              <a:spcBef>
                <a:spcPts val="600"/>
              </a:spcBef>
            </a:pPr>
            <a:r>
              <a:rPr lang="zh-CN" altLang="en-US" b="1" dirty="0" smtClean="0">
                <a:solidFill>
                  <a:schemeClr val="tx1"/>
                </a:solidFill>
                <a:latin typeface="宋体" pitchFamily="2" charset="-122"/>
                <a:ea typeface="宋体" pitchFamily="2" charset="-122"/>
              </a:rPr>
              <a:t>利用在光纤的端面或在两根光纤中间放置光学材料、机械式或光学式的敏感元件感受被测物理量的变化，使透射光或反射光强度随之发生变化。</a:t>
            </a:r>
            <a:endParaRPr lang="en-US" altLang="zh-CN" b="1" dirty="0" smtClean="0">
              <a:solidFill>
                <a:schemeClr val="tx1"/>
              </a:solidFill>
              <a:latin typeface="宋体" pitchFamily="2" charset="-122"/>
              <a:ea typeface="宋体" pitchFamily="2" charset="-122"/>
            </a:endParaRPr>
          </a:p>
          <a:p>
            <a:pPr indent="352425">
              <a:lnSpc>
                <a:spcPct val="120000"/>
              </a:lnSpc>
              <a:spcBef>
                <a:spcPts val="600"/>
              </a:spcBef>
            </a:pPr>
            <a:r>
              <a:rPr lang="zh-CN" altLang="en-US" b="1" dirty="0" smtClean="0">
                <a:solidFill>
                  <a:schemeClr val="tx1"/>
                </a:solidFill>
                <a:latin typeface="宋体" pitchFamily="2" charset="-122"/>
                <a:ea typeface="宋体" pitchFamily="2" charset="-122"/>
              </a:rPr>
              <a:t>这种情况光纤只是作为光的传输回路，所以这种传感器也称之谓传输回路型光纤传感器。</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非功能型光纤传感器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572560" cy="3126049"/>
          </a:xfrm>
          <a:prstGeom prst="rect">
            <a:avLst/>
          </a:prstGeom>
          <a:noFill/>
          <a:ln w="9525" algn="ctr">
            <a:noFill/>
            <a:miter lim="800000"/>
            <a:headEnd/>
            <a:tailEnd/>
          </a:ln>
        </p:spPr>
        <p:txBody>
          <a:bodyPr wrap="square">
            <a:spAutoFit/>
          </a:bodyPr>
          <a:lstStyle/>
          <a:p>
            <a:pPr indent="627063">
              <a:lnSpc>
                <a:spcPct val="120000"/>
              </a:lnSpc>
            </a:pPr>
            <a:r>
              <a:rPr lang="zh-CN" altLang="en-US" b="1" dirty="0" smtClean="0">
                <a:solidFill>
                  <a:schemeClr val="tx1"/>
                </a:solidFill>
                <a:latin typeface="宋体" pitchFamily="2" charset="-122"/>
                <a:ea typeface="宋体" pitchFamily="2" charset="-122"/>
              </a:rPr>
              <a:t>为了得到较大受光量和传输的光功率，非功能型光纤传感器使用的光纤主要是数值孔径和芯径大的阶跃型多模光纤。</a:t>
            </a:r>
            <a:endParaRPr lang="en-US" altLang="zh-CN" b="1" dirty="0" smtClean="0">
              <a:solidFill>
                <a:schemeClr val="tx1"/>
              </a:solidFill>
              <a:latin typeface="宋体" pitchFamily="2" charset="-122"/>
              <a:ea typeface="宋体" pitchFamily="2" charset="-122"/>
            </a:endParaRPr>
          </a:p>
          <a:p>
            <a:pPr indent="627063">
              <a:lnSpc>
                <a:spcPct val="120000"/>
              </a:lnSpc>
            </a:pPr>
            <a:r>
              <a:rPr lang="zh-CN" altLang="en-US" b="1" dirty="0" smtClean="0">
                <a:solidFill>
                  <a:schemeClr val="tx1"/>
                </a:solidFill>
                <a:latin typeface="宋体" pitchFamily="2" charset="-122"/>
                <a:ea typeface="宋体" pitchFamily="2" charset="-122"/>
              </a:rPr>
              <a:t>非功能型光纤传感器的特点是结构简单、可靠，技术上容易实现，便于推广应用，但测量精度和灵敏度一般比功能型光纤传感器低。</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非功能型光纤传感器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572560" cy="2608984"/>
          </a:xfrm>
          <a:prstGeom prst="rect">
            <a:avLst/>
          </a:prstGeom>
          <a:noFill/>
          <a:ln w="9525" algn="ctr">
            <a:noFill/>
            <a:miter lim="800000"/>
            <a:headEnd/>
            <a:tailEnd/>
          </a:ln>
        </p:spPr>
        <p:txBody>
          <a:bodyPr wrap="square">
            <a:spAutoFit/>
          </a:bodyPr>
          <a:lstStyle/>
          <a:p>
            <a:pPr indent="627063">
              <a:lnSpc>
                <a:spcPct val="120000"/>
              </a:lnSpc>
            </a:pPr>
            <a:r>
              <a:rPr lang="zh-CN" altLang="en-US" b="1" dirty="0" smtClean="0">
                <a:solidFill>
                  <a:schemeClr val="tx1"/>
                </a:solidFill>
                <a:latin typeface="宋体" pitchFamily="2" charset="-122"/>
                <a:ea typeface="宋体" pitchFamily="2" charset="-122"/>
              </a:rPr>
              <a:t>在非功能型光纤传感器中，也有并不需要外加敏感元件的情况，光纤把测量对象辐射的光信号或测量对象反射、散射的光信号传播到光电元件。这一种光纤传感器也称为</a:t>
            </a:r>
            <a:r>
              <a:rPr lang="zh-CN" altLang="en-US" b="1" dirty="0" smtClean="0">
                <a:solidFill>
                  <a:srgbClr val="C00000"/>
                </a:solidFill>
                <a:latin typeface="宋体" pitchFamily="2" charset="-122"/>
                <a:ea typeface="宋体" pitchFamily="2" charset="-122"/>
              </a:rPr>
              <a:t>传感探针型</a:t>
            </a:r>
            <a:r>
              <a:rPr lang="zh-CN" altLang="en-US" b="1" dirty="0" smtClean="0">
                <a:solidFill>
                  <a:schemeClr val="tx1"/>
                </a:solidFill>
                <a:latin typeface="宋体" pitchFamily="2" charset="-122"/>
                <a:ea typeface="宋体" pitchFamily="2" charset="-122"/>
              </a:rPr>
              <a:t>光纤传感器</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可使用单模光纤或多模光纤。</a:t>
            </a:r>
            <a:endParaRPr lang="zh-CN" altLang="en-US" b="1" dirty="0">
              <a:solidFill>
                <a:schemeClr val="tx1"/>
              </a:solidFill>
              <a:latin typeface="宋体" pitchFamily="2" charset="-122"/>
              <a:ea typeface="宋体" pitchFamily="2" charset="-122"/>
            </a:endParaRPr>
          </a:p>
        </p:txBody>
      </p:sp>
      <p:sp>
        <p:nvSpPr>
          <p:cNvPr id="8" name="Text Box 11"/>
          <p:cNvSpPr txBox="1">
            <a:spLocks noChangeArrowheads="1"/>
          </p:cNvSpPr>
          <p:nvPr/>
        </p:nvSpPr>
        <p:spPr bwMode="auto">
          <a:xfrm>
            <a:off x="928662" y="4786322"/>
            <a:ext cx="5905500" cy="1574855"/>
          </a:xfrm>
          <a:prstGeom prst="rect">
            <a:avLst/>
          </a:prstGeom>
          <a:noFill/>
          <a:ln w="9525" algn="ctr">
            <a:noFill/>
            <a:miter lim="800000"/>
            <a:headEnd/>
            <a:tailEnd/>
          </a:ln>
        </p:spPr>
        <p:txBody>
          <a:bodyPr>
            <a:spAutoFit/>
          </a:bodyPr>
          <a:lstStyle/>
          <a:p>
            <a:pPr marL="838200" indent="-838200">
              <a:lnSpc>
                <a:spcPct val="120000"/>
              </a:lnSpc>
              <a:buClr>
                <a:schemeClr val="tx1"/>
              </a:buClr>
              <a:buFont typeface="Wingdings" pitchFamily="2" charset="2"/>
              <a:buChar char="u"/>
            </a:pPr>
            <a:r>
              <a:rPr kumimoji="0" lang="zh-CN" altLang="en-US" b="1" dirty="0">
                <a:solidFill>
                  <a:schemeClr val="tx1"/>
                </a:solidFill>
                <a:latin typeface="宋体" pitchFamily="2" charset="-122"/>
                <a:ea typeface="宋体" pitchFamily="2" charset="-122"/>
              </a:rPr>
              <a:t>光纤位移传感器</a:t>
            </a:r>
          </a:p>
          <a:p>
            <a:pPr marL="838200" indent="-838200">
              <a:lnSpc>
                <a:spcPct val="120000"/>
              </a:lnSpc>
              <a:buClr>
                <a:schemeClr val="tx1"/>
              </a:buClr>
              <a:buFont typeface="Wingdings" pitchFamily="2" charset="2"/>
              <a:buChar char="u"/>
            </a:pPr>
            <a:r>
              <a:rPr kumimoji="0" lang="zh-CN" altLang="en-US" b="1" dirty="0">
                <a:solidFill>
                  <a:schemeClr val="tx1"/>
                </a:solidFill>
                <a:latin typeface="宋体" pitchFamily="2" charset="-122"/>
                <a:ea typeface="宋体" pitchFamily="2" charset="-122"/>
              </a:rPr>
              <a:t>光纤测温传感器   </a:t>
            </a:r>
          </a:p>
          <a:p>
            <a:pPr marL="838200" indent="-838200">
              <a:lnSpc>
                <a:spcPct val="120000"/>
              </a:lnSpc>
              <a:buClr>
                <a:schemeClr val="tx1"/>
              </a:buClr>
              <a:buFont typeface="Wingdings" pitchFamily="2" charset="2"/>
              <a:buChar char="u"/>
            </a:pPr>
            <a:r>
              <a:rPr kumimoji="0" lang="zh-CN" altLang="en-US" b="1" dirty="0">
                <a:solidFill>
                  <a:schemeClr val="tx1"/>
                </a:solidFill>
                <a:latin typeface="宋体" pitchFamily="2" charset="-122"/>
                <a:ea typeface="宋体" pitchFamily="2" charset="-122"/>
              </a:rPr>
              <a:t>光频率调制型光纤传感器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光纤位移传感器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4786346" cy="3280898"/>
          </a:xfrm>
          <a:prstGeom prst="rect">
            <a:avLst/>
          </a:prstGeom>
          <a:noFill/>
          <a:ln w="9525" algn="ctr">
            <a:noFill/>
            <a:miter lim="800000"/>
            <a:headEnd/>
            <a:tailEnd/>
          </a:ln>
        </p:spPr>
        <p:txBody>
          <a:bodyPr wrap="square">
            <a:spAutoFit/>
          </a:bodyPr>
          <a:lstStyle/>
          <a:p>
            <a:pPr indent="365125">
              <a:lnSpc>
                <a:spcPct val="90000"/>
              </a:lnSpc>
              <a:spcBef>
                <a:spcPct val="20000"/>
              </a:spcBef>
              <a:buClr>
                <a:schemeClr val="folHlink"/>
              </a:buClr>
              <a:buSzPct val="75000"/>
              <a:buFont typeface="Wingdings" pitchFamily="2" charset="2"/>
              <a:buNone/>
            </a:pPr>
            <a:r>
              <a:rPr lang="zh-CN" altLang="en-US" b="1" dirty="0" smtClean="0">
                <a:solidFill>
                  <a:schemeClr val="tx1"/>
                </a:solidFill>
                <a:latin typeface="Times New Roman" pitchFamily="18" charset="0"/>
                <a:ea typeface="宋体" pitchFamily="2" charset="-122"/>
              </a:rPr>
              <a:t>从发射光纤射出的光，经被测物表面直接或间接反射后，由接收光纤导到光敏元件上的光量，随反射面相对光纤端面的位移</a:t>
            </a:r>
            <a:r>
              <a:rPr lang="en-US" altLang="zh-CN" b="1" i="1" dirty="0" smtClean="0">
                <a:solidFill>
                  <a:schemeClr val="tx1"/>
                </a:solidFill>
                <a:latin typeface="Times New Roman" pitchFamily="18" charset="0"/>
                <a:ea typeface="宋体" pitchFamily="2" charset="-122"/>
              </a:rPr>
              <a:t>d</a:t>
            </a:r>
            <a:r>
              <a:rPr lang="zh-CN" altLang="en-US" b="1" dirty="0" smtClean="0">
                <a:solidFill>
                  <a:schemeClr val="tx1"/>
                </a:solidFill>
                <a:latin typeface="Times New Roman" pitchFamily="18" charset="0"/>
                <a:ea typeface="宋体" pitchFamily="2" charset="-122"/>
              </a:rPr>
              <a:t>而变化，从而测量位移。</a:t>
            </a:r>
          </a:p>
          <a:p>
            <a:pPr indent="365125">
              <a:lnSpc>
                <a:spcPct val="90000"/>
              </a:lnSpc>
              <a:spcBef>
                <a:spcPct val="20000"/>
              </a:spcBef>
              <a:buClr>
                <a:schemeClr val="folHlink"/>
              </a:buClr>
              <a:buSzPct val="75000"/>
              <a:buFont typeface="Wingdings" pitchFamily="2" charset="2"/>
              <a:buNone/>
            </a:pPr>
            <a:r>
              <a:rPr lang="zh-CN" altLang="en-US" b="1" dirty="0" smtClean="0">
                <a:solidFill>
                  <a:schemeClr val="tx1"/>
                </a:solidFill>
                <a:latin typeface="Times New Roman" pitchFamily="18" charset="0"/>
                <a:ea typeface="宋体" pitchFamily="2" charset="-122"/>
              </a:rPr>
              <a:t>这类传感器一般由多根光纤组成。</a:t>
            </a:r>
            <a:endParaRPr lang="zh-CN" altLang="en-US" b="1" dirty="0">
              <a:solidFill>
                <a:schemeClr val="tx1"/>
              </a:solidFill>
              <a:latin typeface="Verdana" pitchFamily="34" charset="0"/>
              <a:ea typeface="宋体" pitchFamily="2" charset="-122"/>
            </a:endParaRPr>
          </a:p>
        </p:txBody>
      </p:sp>
      <p:graphicFrame>
        <p:nvGraphicFramePr>
          <p:cNvPr id="638986" name="Object 10"/>
          <p:cNvGraphicFramePr>
            <a:graphicFrameLocks noGrp="1" noChangeAspect="1"/>
          </p:cNvGraphicFramePr>
          <p:nvPr/>
        </p:nvGraphicFramePr>
        <p:xfrm>
          <a:off x="4929190" y="1571612"/>
          <a:ext cx="3954463" cy="4525963"/>
        </p:xfrm>
        <a:graphic>
          <a:graphicData uri="http://schemas.openxmlformats.org/presentationml/2006/ole">
            <mc:AlternateContent xmlns:mc="http://schemas.openxmlformats.org/markup-compatibility/2006">
              <mc:Choice xmlns:v="urn:schemas-microsoft-com:vml" Requires="v">
                <p:oleObj spid="_x0000_s122888" name="Image" r:id="rId3" imgW="20228571" imgH="23147755" progId="">
                  <p:embed/>
                </p:oleObj>
              </mc:Choice>
              <mc:Fallback>
                <p:oleObj name="Image" r:id="rId3" imgW="20228571" imgH="23147755" progId="">
                  <p:embed/>
                  <p:pic>
                    <p:nvPicPr>
                      <p:cNvPr id="0" name="Object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9190" y="1571612"/>
                        <a:ext cx="395446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8988" name="Object 12"/>
          <p:cNvGraphicFramePr>
            <a:graphicFrameLocks noGrp="1" noChangeAspect="1"/>
          </p:cNvGraphicFramePr>
          <p:nvPr/>
        </p:nvGraphicFramePr>
        <p:xfrm>
          <a:off x="2571736" y="5143512"/>
          <a:ext cx="1870171" cy="1439857"/>
        </p:xfrm>
        <a:graphic>
          <a:graphicData uri="http://schemas.openxmlformats.org/presentationml/2006/ole">
            <mc:AlternateContent xmlns:mc="http://schemas.openxmlformats.org/markup-compatibility/2006">
              <mc:Choice xmlns:v="urn:schemas-microsoft-com:vml" Requires="v">
                <p:oleObj spid="_x0000_s122889" name="Image" r:id="rId5" imgW="15046531" imgH="11578776" progId="">
                  <p:embed/>
                </p:oleObj>
              </mc:Choice>
              <mc:Fallback>
                <p:oleObj name="Image" r:id="rId5" imgW="15046531" imgH="11578776" progId="">
                  <p:embed/>
                  <p:pic>
                    <p:nvPicPr>
                      <p:cNvPr id="0" name="Object 1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36" y="5143512"/>
                        <a:ext cx="1870171" cy="1439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638986"/>
                                        </p:tgtEl>
                                        <p:attrNameLst>
                                          <p:attrName>style.visibility</p:attrName>
                                        </p:attrNameLst>
                                      </p:cBhvr>
                                      <p:to>
                                        <p:strVal val="visible"/>
                                      </p:to>
                                    </p:set>
                                    <p:animEffect transition="in" filter="strips(downRight)">
                                      <p:cBhvr>
                                        <p:cTn id="16" dur="500"/>
                                        <p:tgtEl>
                                          <p:spTgt spid="638986"/>
                                        </p:tgtEl>
                                      </p:cBhvr>
                                    </p:animEffect>
                                  </p:childTnLst>
                                </p:cTn>
                              </p:par>
                            </p:childTnLst>
                          </p:cTn>
                        </p:par>
                        <p:par>
                          <p:cTn id="17" fill="hold">
                            <p:stCondLst>
                              <p:cond delay="1000"/>
                            </p:stCondLst>
                            <p:childTnLst>
                              <p:par>
                                <p:cTn id="18" presetID="18" presetClass="entr" presetSubtype="6" fill="hold" nodeType="afterEffect">
                                  <p:stCondLst>
                                    <p:cond delay="0"/>
                                  </p:stCondLst>
                                  <p:childTnLst>
                                    <p:set>
                                      <p:cBhvr>
                                        <p:cTn id="19" dur="1" fill="hold">
                                          <p:stCondLst>
                                            <p:cond delay="0"/>
                                          </p:stCondLst>
                                        </p:cTn>
                                        <p:tgtEl>
                                          <p:spTgt spid="638988"/>
                                        </p:tgtEl>
                                        <p:attrNameLst>
                                          <p:attrName>style.visibility</p:attrName>
                                        </p:attrNameLst>
                                      </p:cBhvr>
                                      <p:to>
                                        <p:strVal val="visible"/>
                                      </p:to>
                                    </p:set>
                                    <p:animEffect transition="in" filter="strips(downRight)">
                                      <p:cBhvr>
                                        <p:cTn id="20" dur="500"/>
                                        <p:tgtEl>
                                          <p:spTgt spid="638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光纤位移传感器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643998" cy="2677656"/>
          </a:xfrm>
          <a:prstGeom prst="rect">
            <a:avLst/>
          </a:prstGeom>
          <a:noFill/>
          <a:ln w="9525" algn="ctr">
            <a:noFill/>
            <a:miter lim="800000"/>
            <a:headEnd/>
            <a:tailEnd/>
          </a:ln>
        </p:spPr>
        <p:txBody>
          <a:bodyPr wrap="square">
            <a:spAutoFit/>
          </a:bodyPr>
          <a:lstStyle/>
          <a:p>
            <a:pPr indent="274638">
              <a:lnSpc>
                <a:spcPct val="120000"/>
              </a:lnSpc>
            </a:pPr>
            <a:r>
              <a:rPr lang="zh-CN" altLang="en-US" b="1" dirty="0" smtClean="0">
                <a:solidFill>
                  <a:schemeClr val="tx1"/>
                </a:solidFill>
                <a:latin typeface="宋体" pitchFamily="2" charset="-122"/>
                <a:ea typeface="宋体" pitchFamily="2" charset="-122"/>
              </a:rPr>
              <a:t>两光纤端面对光纤轴有相同的角度，斜断面抛光，以便形成全内反射。</a:t>
            </a:r>
            <a:endParaRPr lang="en-US" altLang="zh-CN" b="1" dirty="0" smtClean="0">
              <a:solidFill>
                <a:schemeClr val="tx1"/>
              </a:solidFill>
              <a:latin typeface="宋体" pitchFamily="2" charset="-122"/>
              <a:ea typeface="宋体" pitchFamily="2" charset="-122"/>
            </a:endParaRPr>
          </a:p>
          <a:p>
            <a:pPr indent="274638">
              <a:lnSpc>
                <a:spcPct val="120000"/>
              </a:lnSpc>
            </a:pPr>
            <a:r>
              <a:rPr lang="zh-CN" altLang="en-US" b="1" dirty="0" smtClean="0">
                <a:solidFill>
                  <a:schemeClr val="tx1"/>
                </a:solidFill>
                <a:latin typeface="宋体" pitchFamily="2" charset="-122"/>
                <a:ea typeface="宋体" pitchFamily="2" charset="-122"/>
              </a:rPr>
              <a:t>两光纤很接近，绝大部分光功率可相互耦合。当有压力作用时光纤间有相对垂直位移导致间隙变化，光纤间的光耦合量发生变化。</a:t>
            </a:r>
            <a:endParaRPr lang="zh-CN" altLang="en-US" b="1" dirty="0">
              <a:solidFill>
                <a:schemeClr val="tx1"/>
              </a:solidFill>
              <a:latin typeface="宋体" pitchFamily="2" charset="-122"/>
              <a:ea typeface="宋体" pitchFamily="2" charset="-122"/>
            </a:endParaRPr>
          </a:p>
        </p:txBody>
      </p:sp>
      <p:graphicFrame>
        <p:nvGraphicFramePr>
          <p:cNvPr id="123908" name="Object 5"/>
          <p:cNvGraphicFramePr>
            <a:graphicFrameLocks noChangeAspect="1"/>
          </p:cNvGraphicFramePr>
          <p:nvPr/>
        </p:nvGraphicFramePr>
        <p:xfrm>
          <a:off x="3214678" y="4714884"/>
          <a:ext cx="3402027" cy="1857388"/>
        </p:xfrm>
        <a:graphic>
          <a:graphicData uri="http://schemas.openxmlformats.org/presentationml/2006/ole">
            <mc:AlternateContent xmlns:mc="http://schemas.openxmlformats.org/markup-compatibility/2006">
              <mc:Choice xmlns:v="urn:schemas-microsoft-com:vml" Requires="v">
                <p:oleObj spid="_x0000_s123911" name="Image" r:id="rId3" imgW="8958701" imgH="4892340" progId="Photoshop.Image.6">
                  <p:embed/>
                </p:oleObj>
              </mc:Choice>
              <mc:Fallback>
                <p:oleObj name="Image" r:id="rId3" imgW="8958701" imgH="4892340"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78" y="4714884"/>
                        <a:ext cx="3402027" cy="185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其它光纤传感器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8.5 </a:t>
            </a:r>
            <a:r>
              <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rPr>
              <a:t>光纤式传感器</a:t>
            </a:r>
          </a:p>
        </p:txBody>
      </p:sp>
      <p:sp>
        <p:nvSpPr>
          <p:cNvPr id="7" name="Text Box 8"/>
          <p:cNvSpPr txBox="1">
            <a:spLocks noChangeArrowheads="1"/>
          </p:cNvSpPr>
          <p:nvPr/>
        </p:nvSpPr>
        <p:spPr bwMode="auto">
          <a:xfrm>
            <a:off x="214282" y="2071678"/>
            <a:ext cx="8643998" cy="4228850"/>
          </a:xfrm>
          <a:prstGeom prst="rect">
            <a:avLst/>
          </a:prstGeom>
          <a:noFill/>
          <a:ln w="9525" algn="ctr">
            <a:noFill/>
            <a:miter lim="800000"/>
            <a:headEnd/>
            <a:tailEnd/>
          </a:ln>
        </p:spPr>
        <p:txBody>
          <a:bodyPr wrap="square">
            <a:spAutoFit/>
          </a:bodyPr>
          <a:lstStyle/>
          <a:p>
            <a:pPr indent="441325">
              <a:lnSpc>
                <a:spcPct val="90000"/>
              </a:lnSpc>
              <a:buClr>
                <a:schemeClr val="tx1"/>
              </a:buClr>
              <a:buFont typeface="Wingdings" pitchFamily="2" charset="2"/>
              <a:buChar char="u"/>
            </a:pPr>
            <a:r>
              <a:rPr lang="zh-CN" altLang="en-US" b="1" dirty="0" smtClean="0">
                <a:solidFill>
                  <a:schemeClr val="tx1"/>
                </a:solidFill>
                <a:latin typeface="+mj-ea"/>
                <a:ea typeface="+mj-ea"/>
              </a:rPr>
              <a:t>光纤温度传感器</a:t>
            </a:r>
          </a:p>
          <a:p>
            <a:pPr indent="441325">
              <a:lnSpc>
                <a:spcPct val="90000"/>
              </a:lnSpc>
              <a:buClr>
                <a:schemeClr val="tx1"/>
              </a:buClr>
              <a:buFont typeface="Wingdings" pitchFamily="2" charset="2"/>
              <a:buChar char="u"/>
            </a:pPr>
            <a:r>
              <a:rPr lang="zh-CN" altLang="en-US" b="1" dirty="0" smtClean="0">
                <a:solidFill>
                  <a:schemeClr val="tx1"/>
                </a:solidFill>
                <a:latin typeface="+mj-ea"/>
                <a:ea typeface="+mj-ea"/>
              </a:rPr>
              <a:t>光波长（颜色）分布传感器</a:t>
            </a:r>
          </a:p>
          <a:p>
            <a:pPr indent="441325">
              <a:lnSpc>
                <a:spcPct val="90000"/>
              </a:lnSpc>
              <a:buClr>
                <a:schemeClr val="tx1"/>
              </a:buClr>
              <a:buFont typeface="Wingdings" pitchFamily="2" charset="2"/>
              <a:buChar char="u"/>
            </a:pPr>
            <a:r>
              <a:rPr lang="zh-CN" altLang="en-US" b="1" dirty="0" smtClean="0">
                <a:solidFill>
                  <a:schemeClr val="tx1"/>
                </a:solidFill>
                <a:latin typeface="+mj-ea"/>
                <a:ea typeface="+mj-ea"/>
              </a:rPr>
              <a:t>光频率调制型光纤传感器</a:t>
            </a:r>
          </a:p>
          <a:p>
            <a:pPr indent="441325">
              <a:lnSpc>
                <a:spcPct val="90000"/>
              </a:lnSpc>
              <a:spcBef>
                <a:spcPct val="20000"/>
              </a:spcBef>
              <a:buClr>
                <a:schemeClr val="folHlink"/>
              </a:buClr>
              <a:buSzPct val="75000"/>
              <a:buFont typeface="Wingdings" pitchFamily="2" charset="2"/>
              <a:buNone/>
            </a:pPr>
            <a:r>
              <a:rPr lang="zh-CN" altLang="en-US" b="1" dirty="0" smtClean="0">
                <a:solidFill>
                  <a:schemeClr val="tx1"/>
                </a:solidFill>
                <a:latin typeface="Times New Roman" pitchFamily="18" charset="0"/>
                <a:ea typeface="宋体" pitchFamily="2" charset="-122"/>
              </a:rPr>
              <a:t>光频率调制是基于被测物体的入射光频率与其反射光的多普勒效应，所以主要用来测量运动物体的速度。如果频率为 </a:t>
            </a:r>
            <a:r>
              <a:rPr lang="zh-CN" altLang="en-US" b="1" dirty="0" smtClean="0">
                <a:solidFill>
                  <a:schemeClr val="tx1"/>
                </a:solidFill>
                <a:latin typeface="Times New Roman" pitchFamily="18" charset="0"/>
                <a:ea typeface="宋体" pitchFamily="2" charset="-122"/>
                <a:sym typeface="Symbol" pitchFamily="18" charset="2"/>
              </a:rPr>
              <a:t> </a:t>
            </a:r>
            <a:r>
              <a:rPr lang="zh-CN" altLang="en-US" b="1" dirty="0" smtClean="0">
                <a:solidFill>
                  <a:schemeClr val="tx1"/>
                </a:solidFill>
                <a:latin typeface="Times New Roman" pitchFamily="18" charset="0"/>
                <a:ea typeface="宋体" pitchFamily="2" charset="-122"/>
              </a:rPr>
              <a:t>的光照射在相对速度</a:t>
            </a:r>
            <a:r>
              <a:rPr lang="en-US" altLang="zh-CN" b="1" dirty="0" smtClean="0">
                <a:solidFill>
                  <a:schemeClr val="tx1"/>
                </a:solidFill>
                <a:latin typeface="Times New Roman" pitchFamily="18" charset="0"/>
                <a:ea typeface="宋体" pitchFamily="2" charset="-122"/>
              </a:rPr>
              <a:t>v</a:t>
            </a:r>
            <a:r>
              <a:rPr lang="zh-CN" altLang="en-US" b="1" dirty="0" smtClean="0">
                <a:solidFill>
                  <a:schemeClr val="tx1"/>
                </a:solidFill>
                <a:latin typeface="Times New Roman" pitchFamily="18" charset="0"/>
                <a:ea typeface="宋体" pitchFamily="2" charset="-122"/>
              </a:rPr>
              <a:t>的运动物体上，则从该运动体反射光频率发生变化：</a:t>
            </a:r>
          </a:p>
          <a:p>
            <a:pPr indent="441325" algn="ctr">
              <a:lnSpc>
                <a:spcPct val="90000"/>
              </a:lnSpc>
              <a:spcBef>
                <a:spcPct val="20000"/>
              </a:spcBef>
              <a:buClr>
                <a:schemeClr val="folHlink"/>
              </a:buClr>
              <a:buSzPct val="75000"/>
              <a:buFont typeface="Wingdings" pitchFamily="2" charset="2"/>
              <a:buNone/>
            </a:pPr>
            <a:r>
              <a:rPr lang="en-US" altLang="zh-CN" b="1" i="1" dirty="0" err="1" smtClean="0">
                <a:solidFill>
                  <a:srgbClr val="CC3300"/>
                </a:solidFill>
                <a:latin typeface="Times New Roman" pitchFamily="18" charset="0"/>
                <a:ea typeface="宋体" pitchFamily="2" charset="-122"/>
              </a:rPr>
              <a:t>f</a:t>
            </a:r>
            <a:r>
              <a:rPr lang="en-US" altLang="zh-CN" b="1" i="1" baseline="-25000" dirty="0" err="1" smtClean="0">
                <a:solidFill>
                  <a:srgbClr val="CC3300"/>
                </a:solidFill>
                <a:latin typeface="Times New Roman" pitchFamily="18" charset="0"/>
                <a:ea typeface="宋体" pitchFamily="2" charset="-122"/>
              </a:rPr>
              <a:t>s</a:t>
            </a:r>
            <a:r>
              <a:rPr lang="en-US" altLang="zh-CN" b="1" i="1" dirty="0" smtClean="0">
                <a:solidFill>
                  <a:srgbClr val="CC3300"/>
                </a:solidFill>
                <a:latin typeface="Times New Roman" pitchFamily="18" charset="0"/>
                <a:ea typeface="宋体" pitchFamily="2" charset="-122"/>
              </a:rPr>
              <a:t> = </a:t>
            </a:r>
            <a:r>
              <a:rPr lang="en-US" altLang="zh-CN" b="1" i="1" dirty="0" err="1" smtClean="0">
                <a:solidFill>
                  <a:srgbClr val="CC3300"/>
                </a:solidFill>
                <a:latin typeface="Times New Roman" pitchFamily="18" charset="0"/>
                <a:ea typeface="宋体" pitchFamily="2" charset="-122"/>
              </a:rPr>
              <a:t>f</a:t>
            </a:r>
            <a:r>
              <a:rPr lang="en-US" altLang="zh-CN" b="1" i="1" baseline="-25000" dirty="0" err="1" smtClean="0">
                <a:solidFill>
                  <a:srgbClr val="CC3300"/>
                </a:solidFill>
                <a:latin typeface="Times New Roman" pitchFamily="18" charset="0"/>
                <a:ea typeface="宋体" pitchFamily="2" charset="-122"/>
              </a:rPr>
              <a:t>i</a:t>
            </a:r>
            <a:r>
              <a:rPr lang="zh-CN" altLang="en-US" b="1" i="1" dirty="0" smtClean="0">
                <a:solidFill>
                  <a:srgbClr val="CC3300"/>
                </a:solidFill>
                <a:latin typeface="Times New Roman" pitchFamily="18" charset="0"/>
                <a:ea typeface="宋体" pitchFamily="2" charset="-122"/>
              </a:rPr>
              <a:t>（</a:t>
            </a:r>
            <a:r>
              <a:rPr lang="en-US" altLang="zh-CN" b="1" i="1" dirty="0" smtClean="0">
                <a:solidFill>
                  <a:srgbClr val="CC3300"/>
                </a:solidFill>
                <a:latin typeface="Times New Roman" pitchFamily="18" charset="0"/>
                <a:ea typeface="宋体" pitchFamily="2" charset="-122"/>
              </a:rPr>
              <a:t>1 + v/c </a:t>
            </a:r>
            <a:r>
              <a:rPr lang="zh-CN" altLang="en-US" b="1" i="1" dirty="0" smtClean="0">
                <a:solidFill>
                  <a:srgbClr val="CC3300"/>
                </a:solidFill>
                <a:latin typeface="Times New Roman" pitchFamily="18" charset="0"/>
                <a:ea typeface="宋体" pitchFamily="2" charset="-122"/>
              </a:rPr>
              <a:t>）</a:t>
            </a:r>
          </a:p>
          <a:p>
            <a:pPr indent="441325">
              <a:lnSpc>
                <a:spcPct val="90000"/>
              </a:lnSpc>
              <a:spcBef>
                <a:spcPct val="20000"/>
              </a:spcBef>
              <a:buClr>
                <a:schemeClr val="folHlink"/>
              </a:buClr>
              <a:buSzPct val="75000"/>
              <a:buFont typeface="Wingdings" pitchFamily="2" charset="2"/>
              <a:buNone/>
            </a:pPr>
            <a:r>
              <a:rPr lang="zh-CN" altLang="en-US" b="1" dirty="0" smtClean="0">
                <a:solidFill>
                  <a:schemeClr val="tx1"/>
                </a:solidFill>
                <a:latin typeface="Times New Roman" pitchFamily="18" charset="0"/>
                <a:ea typeface="宋体" pitchFamily="2" charset="-122"/>
              </a:rPr>
              <a:t>据这种原理，可以组成光纤激光</a:t>
            </a:r>
            <a:r>
              <a:rPr lang="en-US" altLang="zh-CN" b="1" dirty="0" smtClean="0">
                <a:solidFill>
                  <a:schemeClr val="tx1"/>
                </a:solidFill>
                <a:latin typeface="Times New Roman" pitchFamily="18" charset="0"/>
                <a:ea typeface="宋体" pitchFamily="2" charset="-122"/>
              </a:rPr>
              <a:t>-</a:t>
            </a:r>
            <a:r>
              <a:rPr lang="zh-CN" altLang="en-US" b="1" dirty="0" smtClean="0">
                <a:solidFill>
                  <a:schemeClr val="tx1"/>
                </a:solidFill>
                <a:latin typeface="Times New Roman" pitchFamily="18" charset="0"/>
                <a:ea typeface="宋体" pitchFamily="2" charset="-122"/>
              </a:rPr>
              <a:t>多普勒测振仪，光纤多普勒血液流量计等，测量灵敏度非常高。</a:t>
            </a:r>
            <a:endParaRPr lang="zh-CN" altLang="en-US" b="1" dirty="0">
              <a:solidFill>
                <a:schemeClr val="tx1"/>
              </a:solidFill>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linds(horizontal)">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8.6 </a:t>
            </a:r>
            <a:r>
              <a:rPr lang="zh-CN" altLang="en-US" b="1" dirty="0" smtClean="0">
                <a:solidFill>
                  <a:schemeClr val="tx2"/>
                </a:solidFill>
                <a:latin typeface="黑体" pitchFamily="49" charset="-122"/>
                <a:ea typeface="黑体" pitchFamily="49" charset="-122"/>
              </a:rPr>
              <a:t>电荷耦合器件</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2897460"/>
          </a:xfrm>
          <a:prstGeom prst="rect">
            <a:avLst/>
          </a:prstGeom>
        </p:spPr>
        <p:txBody>
          <a:bodyPr wrap="square">
            <a:spAutoFit/>
          </a:bodyPr>
          <a:lstStyle/>
          <a:p>
            <a:pPr indent="365125">
              <a:lnSpc>
                <a:spcPct val="110000"/>
              </a:lnSpc>
              <a:spcBef>
                <a:spcPct val="50000"/>
              </a:spcBef>
            </a:pPr>
            <a:r>
              <a:rPr lang="zh-CN" altLang="en-US" b="1" dirty="0" smtClean="0">
                <a:solidFill>
                  <a:schemeClr val="tx1"/>
                </a:solidFill>
                <a:latin typeface="Times New Roman" pitchFamily="18" charset="0"/>
                <a:ea typeface="宋体" pitchFamily="2" charset="-122"/>
              </a:rPr>
              <a:t>电荷耦合器件</a:t>
            </a:r>
            <a:r>
              <a:rPr lang="en-US" altLang="zh-CN" b="1" dirty="0" smtClean="0">
                <a:solidFill>
                  <a:schemeClr val="tx1"/>
                </a:solidFill>
                <a:latin typeface="Times New Roman" pitchFamily="18" charset="0"/>
                <a:ea typeface="宋体" pitchFamily="2" charset="-122"/>
              </a:rPr>
              <a:t>(Charge-Coupled Device to imaging</a:t>
            </a:r>
            <a:r>
              <a:rPr lang="zh-CN" altLang="en-US" b="1" dirty="0" smtClean="0">
                <a:solidFill>
                  <a:schemeClr val="tx1"/>
                </a:solidFill>
                <a:latin typeface="Times New Roman" pitchFamily="18" charset="0"/>
                <a:ea typeface="宋体" pitchFamily="2" charset="-122"/>
              </a:rPr>
              <a:t>，简称</a:t>
            </a:r>
            <a:r>
              <a:rPr lang="en-US" altLang="zh-CN" b="1" dirty="0" smtClean="0">
                <a:solidFill>
                  <a:schemeClr val="tx1"/>
                </a:solidFill>
                <a:latin typeface="Times New Roman" pitchFamily="18" charset="0"/>
                <a:ea typeface="宋体" pitchFamily="2" charset="-122"/>
              </a:rPr>
              <a:t>CCD)</a:t>
            </a:r>
            <a:r>
              <a:rPr lang="zh-CN" altLang="en-US" b="1" dirty="0" smtClean="0">
                <a:solidFill>
                  <a:schemeClr val="tx1"/>
                </a:solidFill>
                <a:latin typeface="Times New Roman" pitchFamily="18" charset="0"/>
                <a:ea typeface="宋体" pitchFamily="2" charset="-122"/>
              </a:rPr>
              <a:t>，将光敏二极管阵列和读出移位寄存器集成为一体，构成具有自扫描功能的图象传感器。它不仅作为高质量固体化的摄象器件成功地用于广播电视、可视电话和无线电传真，而且在生产过程自动检测和控制等领域显示出广阔的前景和巨大的潜力。</a:t>
            </a:r>
            <a:endParaRPr kumimoji="0" lang="zh-CN" altLang="en-US" b="1" dirty="0">
              <a:solidFill>
                <a:schemeClr val="tx1"/>
              </a:solidFill>
              <a:latin typeface="Times New Roman" pitchFamily="18" charset="0"/>
            </a:endParaRPr>
          </a:p>
        </p:txBody>
      </p:sp>
      <p:pic>
        <p:nvPicPr>
          <p:cNvPr id="177154" name="Picture 2" descr="http://upload.wikimedia.org/wikipedia/commons/thumb/6/63/Nobel_Prize_2009-Press_Conference_KVA-19.jpg/240px-Nobel_Prize_2009-Press_Conference_KVA-19.jpg">
            <a:hlinkClick r:id="rId2"/>
          </p:cNvPr>
          <p:cNvPicPr>
            <a:picLocks noChangeAspect="1" noChangeArrowheads="1"/>
          </p:cNvPicPr>
          <p:nvPr/>
        </p:nvPicPr>
        <p:blipFill>
          <a:blip r:embed="rId3"/>
          <a:srcRect/>
          <a:stretch>
            <a:fillRect/>
          </a:stretch>
        </p:blipFill>
        <p:spPr bwMode="auto">
          <a:xfrm>
            <a:off x="5143504" y="4786322"/>
            <a:ext cx="3429024" cy="1785950"/>
          </a:xfrm>
          <a:prstGeom prst="rect">
            <a:avLst/>
          </a:prstGeom>
          <a:noFill/>
        </p:spPr>
      </p:pic>
      <p:sp>
        <p:nvSpPr>
          <p:cNvPr id="7" name="TextBox 6"/>
          <p:cNvSpPr txBox="1"/>
          <p:nvPr/>
        </p:nvSpPr>
        <p:spPr>
          <a:xfrm>
            <a:off x="285720" y="4549676"/>
            <a:ext cx="4857784" cy="2308324"/>
          </a:xfrm>
          <a:prstGeom prst="rect">
            <a:avLst/>
          </a:prstGeom>
          <a:noFill/>
        </p:spPr>
        <p:txBody>
          <a:bodyPr wrap="square" rtlCol="0">
            <a:spAutoFit/>
          </a:bodyPr>
          <a:lstStyle/>
          <a:p>
            <a:r>
              <a:rPr lang="en-US" sz="2400" b="1" dirty="0" smtClean="0">
                <a:solidFill>
                  <a:schemeClr val="tx1"/>
                </a:solidFill>
                <a:latin typeface="Times New Roman" pitchFamily="18" charset="0"/>
                <a:cs typeface="Times New Roman" pitchFamily="18" charset="0"/>
              </a:rPr>
              <a:t>The charge-coupled device was invented in 1969 at AT&amp;T Bell Labs by Willard Boyle and George E. Smith.</a:t>
            </a:r>
            <a:r>
              <a:rPr lang="en-US" sz="2400" b="1" dirty="0" smtClean="0">
                <a:latin typeface="Times New Roman" pitchFamily="18" charset="0"/>
                <a:cs typeface="Times New Roman" pitchFamily="18" charset="0"/>
              </a:rPr>
              <a:t> In 2009 they were awarded the Nobel Prize for Physics.</a:t>
            </a:r>
            <a:endParaRPr lang="zh-CN" altLang="en-US" sz="2400"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3625608"/>
          </a:xfrm>
          <a:prstGeom prst="rect">
            <a:avLst/>
          </a:prstGeom>
          <a:noFill/>
          <a:ln w="9525" algn="ctr">
            <a:noFill/>
            <a:miter lim="800000"/>
            <a:headEnd/>
            <a:tailEnd/>
          </a:ln>
        </p:spPr>
        <p:txBody>
          <a:bodyPr wrap="square">
            <a:spAutoFit/>
          </a:bodyPr>
          <a:lstStyle/>
          <a:p>
            <a:pPr indent="441325" algn="just">
              <a:spcBef>
                <a:spcPct val="20000"/>
              </a:spcBef>
              <a:buClr>
                <a:schemeClr val="folHlink"/>
              </a:buClr>
              <a:buFont typeface="Wingdings" pitchFamily="2" charset="2"/>
              <a:buNone/>
            </a:pPr>
            <a:r>
              <a:rPr kumimoji="0" lang="en-US" altLang="zh-CN" b="1" dirty="0" smtClean="0">
                <a:solidFill>
                  <a:schemeClr val="tx1"/>
                </a:solidFill>
                <a:latin typeface="Times New Roman" pitchFamily="18" charset="0"/>
                <a:ea typeface="宋体" pitchFamily="2" charset="-122"/>
                <a:cs typeface="Times New Roman" pitchFamily="18" charset="0"/>
              </a:rPr>
              <a:t>CCD</a:t>
            </a:r>
            <a:r>
              <a:rPr kumimoji="0" lang="zh-CN" altLang="en-US" b="1" dirty="0" smtClean="0">
                <a:solidFill>
                  <a:schemeClr val="tx1"/>
                </a:solidFill>
                <a:latin typeface="Times New Roman" pitchFamily="18" charset="0"/>
                <a:ea typeface="宋体" pitchFamily="2" charset="-122"/>
                <a:cs typeface="Times New Roman" pitchFamily="18" charset="0"/>
              </a:rPr>
              <a:t>是一种半导体器件，在</a:t>
            </a:r>
            <a:r>
              <a:rPr kumimoji="0" lang="en-US" altLang="zh-CN" b="1" dirty="0" smtClean="0">
                <a:solidFill>
                  <a:schemeClr val="tx1"/>
                </a:solidFill>
                <a:latin typeface="Times New Roman" pitchFamily="18" charset="0"/>
                <a:ea typeface="宋体" pitchFamily="2" charset="-122"/>
                <a:cs typeface="Times New Roman" pitchFamily="18" charset="0"/>
              </a:rPr>
              <a:t>N</a:t>
            </a:r>
            <a:r>
              <a:rPr kumimoji="0" lang="zh-CN" altLang="en-US" b="1" dirty="0" smtClean="0">
                <a:solidFill>
                  <a:schemeClr val="tx1"/>
                </a:solidFill>
                <a:latin typeface="Times New Roman" pitchFamily="18" charset="0"/>
                <a:ea typeface="宋体" pitchFamily="2" charset="-122"/>
                <a:cs typeface="Times New Roman" pitchFamily="18" charset="0"/>
              </a:rPr>
              <a:t>型或</a:t>
            </a:r>
            <a:r>
              <a:rPr kumimoji="0" lang="en-US" altLang="zh-CN" b="1" dirty="0" smtClean="0">
                <a:solidFill>
                  <a:schemeClr val="tx1"/>
                </a:solidFill>
                <a:latin typeface="Times New Roman" pitchFamily="18" charset="0"/>
                <a:ea typeface="宋体" pitchFamily="2" charset="-122"/>
                <a:cs typeface="Times New Roman" pitchFamily="18" charset="0"/>
              </a:rPr>
              <a:t>P</a:t>
            </a:r>
            <a:r>
              <a:rPr kumimoji="0" lang="zh-CN" altLang="en-US" b="1" dirty="0" smtClean="0">
                <a:solidFill>
                  <a:schemeClr val="tx1"/>
                </a:solidFill>
                <a:latin typeface="Times New Roman" pitchFamily="18" charset="0"/>
                <a:ea typeface="宋体" pitchFamily="2" charset="-122"/>
                <a:cs typeface="Times New Roman" pitchFamily="18" charset="0"/>
              </a:rPr>
              <a:t>型硅衬底上生长一层很薄的</a:t>
            </a:r>
            <a:r>
              <a:rPr kumimoji="0" lang="en-US" altLang="zh-CN" b="1" dirty="0" smtClean="0">
                <a:solidFill>
                  <a:schemeClr val="tx1"/>
                </a:solidFill>
                <a:latin typeface="Times New Roman" pitchFamily="18" charset="0"/>
                <a:ea typeface="宋体" pitchFamily="2" charset="-122"/>
                <a:cs typeface="Times New Roman" pitchFamily="18" charset="0"/>
              </a:rPr>
              <a:t>SiO2</a:t>
            </a:r>
            <a:r>
              <a:rPr kumimoji="0" lang="zh-CN" altLang="en-US" b="1" dirty="0" smtClean="0">
                <a:solidFill>
                  <a:schemeClr val="tx1"/>
                </a:solidFill>
                <a:latin typeface="Times New Roman" pitchFamily="18" charset="0"/>
                <a:ea typeface="宋体" pitchFamily="2" charset="-122"/>
                <a:cs typeface="Times New Roman" pitchFamily="18" charset="0"/>
              </a:rPr>
              <a:t>，再在</a:t>
            </a:r>
            <a:r>
              <a:rPr kumimoji="0" lang="en-US" altLang="zh-CN" b="1" dirty="0" smtClean="0">
                <a:solidFill>
                  <a:schemeClr val="tx1"/>
                </a:solidFill>
                <a:latin typeface="Times New Roman" pitchFamily="18" charset="0"/>
                <a:ea typeface="宋体" pitchFamily="2" charset="-122"/>
                <a:cs typeface="Times New Roman" pitchFamily="18" charset="0"/>
              </a:rPr>
              <a:t>SiO2</a:t>
            </a:r>
            <a:r>
              <a:rPr kumimoji="0" lang="zh-CN" altLang="en-US" b="1" dirty="0" smtClean="0">
                <a:solidFill>
                  <a:schemeClr val="tx1"/>
                </a:solidFill>
                <a:latin typeface="Times New Roman" pitchFamily="18" charset="0"/>
                <a:ea typeface="宋体" pitchFamily="2" charset="-122"/>
                <a:cs typeface="Times New Roman" pitchFamily="18" charset="0"/>
              </a:rPr>
              <a:t>薄层上依次序沉积金属电极，这种规则排列的</a:t>
            </a:r>
            <a:r>
              <a:rPr kumimoji="0" lang="en-US" altLang="zh-CN" b="1" dirty="0" smtClean="0">
                <a:solidFill>
                  <a:schemeClr val="tx1"/>
                </a:solidFill>
                <a:latin typeface="Times New Roman" pitchFamily="18" charset="0"/>
                <a:ea typeface="宋体" pitchFamily="2" charset="-122"/>
                <a:cs typeface="Times New Roman" pitchFamily="18" charset="0"/>
              </a:rPr>
              <a:t>MOS</a:t>
            </a:r>
            <a:r>
              <a:rPr kumimoji="0" lang="zh-CN" altLang="en-US" b="1" dirty="0" smtClean="0">
                <a:solidFill>
                  <a:schemeClr val="tx1"/>
                </a:solidFill>
                <a:latin typeface="Times New Roman" pitchFamily="18" charset="0"/>
                <a:ea typeface="宋体" pitchFamily="2" charset="-122"/>
                <a:cs typeface="Times New Roman" pitchFamily="18" charset="0"/>
              </a:rPr>
              <a:t>电容阵列再加上两端的输入及输出二极管就构成了</a:t>
            </a:r>
            <a:r>
              <a:rPr kumimoji="0" lang="en-US" altLang="zh-CN" b="1" dirty="0" smtClean="0">
                <a:solidFill>
                  <a:schemeClr val="tx1"/>
                </a:solidFill>
                <a:latin typeface="Times New Roman" pitchFamily="18" charset="0"/>
                <a:ea typeface="宋体" pitchFamily="2" charset="-122"/>
                <a:cs typeface="Times New Roman" pitchFamily="18" charset="0"/>
              </a:rPr>
              <a:t>CCD</a:t>
            </a:r>
            <a:r>
              <a:rPr kumimoji="0" lang="zh-CN" altLang="en-US" b="1" dirty="0" smtClean="0">
                <a:solidFill>
                  <a:schemeClr val="tx1"/>
                </a:solidFill>
                <a:latin typeface="Times New Roman" pitchFamily="18" charset="0"/>
                <a:ea typeface="宋体" pitchFamily="2" charset="-122"/>
                <a:cs typeface="Times New Roman" pitchFamily="18" charset="0"/>
              </a:rPr>
              <a:t>芯片</a:t>
            </a:r>
            <a:r>
              <a:rPr kumimoji="0" lang="zh-CN" altLang="en-US" b="1" dirty="0" smtClean="0">
                <a:latin typeface="Times New Roman" pitchFamily="18" charset="0"/>
                <a:ea typeface="宋体" pitchFamily="2" charset="-122"/>
                <a:cs typeface="Times New Roman" pitchFamily="18" charset="0"/>
              </a:rPr>
              <a:t>。</a:t>
            </a:r>
            <a:endParaRPr kumimoji="0" lang="en-US" altLang="zh-CN" b="1" dirty="0" smtClean="0">
              <a:latin typeface="Times New Roman" pitchFamily="18" charset="0"/>
              <a:ea typeface="宋体" pitchFamily="2" charset="-122"/>
              <a:cs typeface="Times New Roman" pitchFamily="18" charset="0"/>
            </a:endParaRPr>
          </a:p>
          <a:p>
            <a:pPr indent="441325" algn="just">
              <a:spcBef>
                <a:spcPct val="20000"/>
              </a:spcBef>
              <a:buClr>
                <a:schemeClr val="folHlink"/>
              </a:buClr>
            </a:pPr>
            <a:r>
              <a:rPr kumimoji="0" lang="en-US" altLang="zh-CN" b="1" dirty="0" smtClean="0">
                <a:solidFill>
                  <a:schemeClr val="tx1"/>
                </a:solidFill>
                <a:latin typeface="Times New Roman" pitchFamily="18" charset="0"/>
                <a:ea typeface="宋体" pitchFamily="2" charset="-122"/>
                <a:cs typeface="Times New Roman" pitchFamily="18" charset="0"/>
              </a:rPr>
              <a:t>CCD</a:t>
            </a:r>
            <a:r>
              <a:rPr kumimoji="0" lang="zh-CN" altLang="en-US" b="1" dirty="0" smtClean="0">
                <a:solidFill>
                  <a:schemeClr val="tx1"/>
                </a:solidFill>
                <a:latin typeface="Times New Roman" pitchFamily="18" charset="0"/>
                <a:ea typeface="宋体" pitchFamily="2" charset="-122"/>
                <a:cs typeface="Times New Roman" pitchFamily="18" charset="0"/>
              </a:rPr>
              <a:t>可以把光信号转换成电脉冲信号。每一个脉冲只反映一个光敏元的受光情况，脉冲幅度的高低反映该光敏元受光的强弱，输出脉冲的顺序可以反映光敏元的位置，这就起到图象传感器的作用。</a:t>
            </a:r>
            <a:endParaRPr lang="zh-CN" altLang="en-US" b="1" dirty="0">
              <a:solidFill>
                <a:srgbClr val="0000FF"/>
              </a:solidFill>
              <a:latin typeface="Times New Roman" pitchFamily="18" charset="0"/>
              <a:ea typeface="宋体" pitchFamily="2"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1815882"/>
          </a:xfrm>
          <a:prstGeom prst="rect">
            <a:avLst/>
          </a:prstGeom>
          <a:noFill/>
          <a:ln w="9525" algn="ctr">
            <a:noFill/>
            <a:miter lim="800000"/>
            <a:headEnd/>
            <a:tailEnd/>
          </a:ln>
        </p:spPr>
        <p:txBody>
          <a:bodyPr wrap="square">
            <a:spAutoFit/>
          </a:bodyPr>
          <a:lstStyle/>
          <a:p>
            <a:pPr indent="441325" algn="just">
              <a:spcBef>
                <a:spcPct val="20000"/>
              </a:spcBef>
              <a:buClr>
                <a:schemeClr val="folHlink"/>
              </a:buClr>
              <a:buFont typeface="Wingdings" pitchFamily="2" charset="2"/>
              <a:buNone/>
            </a:pPr>
            <a:r>
              <a:rPr lang="zh-CN" altLang="en-US" b="1" dirty="0" smtClean="0">
                <a:solidFill>
                  <a:schemeClr val="tx1"/>
                </a:solidFill>
                <a:latin typeface="Verdana" pitchFamily="34" charset="0"/>
                <a:ea typeface="宋体" pitchFamily="2" charset="-122"/>
              </a:rPr>
              <a:t> 当在金属电极上施加一正电压时，在电场的作用下，电极下的</a:t>
            </a:r>
            <a:r>
              <a:rPr lang="en-US" altLang="zh-CN" b="1" dirty="0" smtClean="0">
                <a:solidFill>
                  <a:schemeClr val="tx1"/>
                </a:solidFill>
                <a:latin typeface="Verdana" pitchFamily="34" charset="0"/>
                <a:ea typeface="宋体" pitchFamily="2" charset="-122"/>
              </a:rPr>
              <a:t>P</a:t>
            </a:r>
            <a:r>
              <a:rPr lang="zh-CN" altLang="en-US" b="1" dirty="0" smtClean="0">
                <a:solidFill>
                  <a:schemeClr val="tx1"/>
                </a:solidFill>
                <a:latin typeface="Verdana" pitchFamily="34" charset="0"/>
                <a:ea typeface="宋体" pitchFamily="2" charset="-122"/>
              </a:rPr>
              <a:t>型硅区域里的空穴被赶尽，从而形成一个耗尽区，但该区域对带负电的电子而言是一个势能很低的区域，这部分称为</a:t>
            </a:r>
            <a:r>
              <a:rPr lang="zh-CN" altLang="en-US" b="1" dirty="0" smtClean="0">
                <a:solidFill>
                  <a:schemeClr val="tx1"/>
                </a:solidFill>
                <a:latin typeface="Times New Roman" pitchFamily="18" charset="0"/>
                <a:ea typeface="宋体" pitchFamily="2" charset="-122"/>
              </a:rPr>
              <a:t>“</a:t>
            </a:r>
            <a:r>
              <a:rPr lang="zh-CN" altLang="en-US" b="1" dirty="0" smtClean="0">
                <a:solidFill>
                  <a:schemeClr val="tx1"/>
                </a:solidFill>
                <a:latin typeface="Verdana" pitchFamily="34" charset="0"/>
                <a:ea typeface="宋体" pitchFamily="2" charset="-122"/>
              </a:rPr>
              <a:t>势阱</a:t>
            </a:r>
            <a:r>
              <a:rPr lang="zh-CN" altLang="en-US" b="1" dirty="0" smtClean="0">
                <a:solidFill>
                  <a:schemeClr val="tx1"/>
                </a:solidFill>
                <a:latin typeface="Times New Roman" pitchFamily="18" charset="0"/>
                <a:ea typeface="宋体" pitchFamily="2" charset="-122"/>
              </a:rPr>
              <a:t>”</a:t>
            </a:r>
            <a:r>
              <a:rPr lang="zh-CN" altLang="en-US" b="1" dirty="0" smtClean="0">
                <a:solidFill>
                  <a:schemeClr val="tx1"/>
                </a:solidFill>
                <a:latin typeface="Verdana" pitchFamily="34" charset="0"/>
                <a:ea typeface="宋体" pitchFamily="2" charset="-122"/>
              </a:rPr>
              <a:t>。</a:t>
            </a:r>
            <a:endParaRPr lang="zh-CN" altLang="en-US" b="1" dirty="0">
              <a:solidFill>
                <a:srgbClr val="0000FF"/>
              </a:solidFill>
              <a:latin typeface="Times New Roman" pitchFamily="18" charset="0"/>
              <a:ea typeface="宋体" pitchFamily="2" charset="-122"/>
              <a:cs typeface="Times New Roman" pitchFamily="18" charset="0"/>
            </a:endParaRPr>
          </a:p>
        </p:txBody>
      </p:sp>
      <p:sp>
        <p:nvSpPr>
          <p:cNvPr id="8" name="Text Box 11"/>
          <p:cNvSpPr txBox="1">
            <a:spLocks noChangeArrowheads="1"/>
          </p:cNvSpPr>
          <p:nvPr/>
        </p:nvSpPr>
        <p:spPr bwMode="auto">
          <a:xfrm>
            <a:off x="285720" y="3857628"/>
            <a:ext cx="5761037" cy="2781300"/>
          </a:xfrm>
          <a:prstGeom prst="rect">
            <a:avLst/>
          </a:prstGeom>
          <a:noFill/>
          <a:ln w="9525" algn="ctr">
            <a:noFill/>
            <a:miter lim="800000"/>
            <a:headEnd/>
            <a:tailEnd/>
          </a:ln>
        </p:spPr>
        <p:txBody>
          <a:bodyPr>
            <a:spAutoFit/>
          </a:bodyPr>
          <a:lstStyle/>
          <a:p>
            <a:pPr marL="179388" lvl="1" indent="542925">
              <a:lnSpc>
                <a:spcPct val="90000"/>
              </a:lnSpc>
              <a:spcBef>
                <a:spcPct val="20000"/>
              </a:spcBef>
              <a:buClr>
                <a:schemeClr val="hlink"/>
              </a:buClr>
              <a:buSzPct val="55000"/>
              <a:buFont typeface="Wingdings" pitchFamily="2" charset="2"/>
              <a:buNone/>
            </a:pPr>
            <a:r>
              <a:rPr lang="zh-CN" altLang="en-US" b="1" dirty="0">
                <a:solidFill>
                  <a:schemeClr val="tx1"/>
                </a:solidFill>
                <a:latin typeface="宋体" pitchFamily="2" charset="-122"/>
                <a:ea typeface="宋体" pitchFamily="2" charset="-122"/>
              </a:rPr>
              <a:t>当光线入射到半导体硅片上，在光子的作用下，半导体硅片上产生了电子和空穴，电子被势阱俘获，而空穴被排斥出耗尽区，势阱内的光生电子数量与光强成正比，一般将其称为一个电荷包；该单元称为光敏元。</a:t>
            </a:r>
            <a:endParaRPr lang="zh-CN" altLang="en-US" dirty="0">
              <a:solidFill>
                <a:schemeClr val="tx1"/>
              </a:solidFill>
            </a:endParaRPr>
          </a:p>
        </p:txBody>
      </p:sp>
      <p:graphicFrame>
        <p:nvGraphicFramePr>
          <p:cNvPr id="125954" name="Object 5"/>
          <p:cNvGraphicFramePr>
            <a:graphicFrameLocks noChangeAspect="1"/>
          </p:cNvGraphicFramePr>
          <p:nvPr/>
        </p:nvGraphicFramePr>
        <p:xfrm>
          <a:off x="6072198" y="4071942"/>
          <a:ext cx="2555875" cy="1985963"/>
        </p:xfrm>
        <a:graphic>
          <a:graphicData uri="http://schemas.openxmlformats.org/presentationml/2006/ole">
            <mc:AlternateContent xmlns:mc="http://schemas.openxmlformats.org/markup-compatibility/2006">
              <mc:Choice xmlns:v="urn:schemas-microsoft-com:vml" Requires="v">
                <p:oleObj spid="_x0000_s125957" name="Image" r:id="rId3" imgW="8196258" imgH="6366396" progId="Photoshop.Image.6">
                  <p:embed/>
                </p:oleObj>
              </mc:Choice>
              <mc:Fallback>
                <p:oleObj name="Image" r:id="rId3" imgW="8196258" imgH="6366396"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2198" y="4071942"/>
                        <a:ext cx="2555875" cy="198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 calcmode="lin" valueType="num">
                                      <p:cBhvr additive="base">
                                        <p:cTn id="12"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1643527"/>
          </a:xfrm>
          <a:prstGeom prst="rect">
            <a:avLst/>
          </a:prstGeom>
          <a:noFill/>
          <a:ln w="9525" algn="ctr">
            <a:noFill/>
            <a:miter lim="800000"/>
            <a:headEnd/>
            <a:tailEnd/>
          </a:ln>
        </p:spPr>
        <p:txBody>
          <a:bodyPr wrap="square">
            <a:spAutoFit/>
          </a:bodyPr>
          <a:lstStyle/>
          <a:p>
            <a:pPr marL="179388" lvl="1" indent="542925">
              <a:lnSpc>
                <a:spcPct val="90000"/>
              </a:lnSpc>
              <a:spcBef>
                <a:spcPct val="20000"/>
              </a:spcBef>
              <a:buClr>
                <a:schemeClr val="hlink"/>
              </a:buClr>
              <a:buSzPct val="55000"/>
              <a:buFont typeface="Wingdings" pitchFamily="2" charset="2"/>
              <a:buNone/>
            </a:pPr>
            <a:r>
              <a:rPr lang="zh-CN" altLang="en-US" b="1" dirty="0" smtClean="0">
                <a:solidFill>
                  <a:schemeClr val="tx1"/>
                </a:solidFill>
                <a:latin typeface="宋体" pitchFamily="2" charset="-122"/>
                <a:ea typeface="宋体" pitchFamily="2" charset="-122"/>
              </a:rPr>
              <a:t>通常在半导体硅片上制有几百或几千相互独立的</a:t>
            </a:r>
            <a:r>
              <a:rPr lang="en-US" altLang="zh-CN" b="1" dirty="0" smtClean="0">
                <a:solidFill>
                  <a:schemeClr val="tx1"/>
                </a:solidFill>
                <a:latin typeface="宋体" pitchFamily="2" charset="-122"/>
                <a:ea typeface="宋体" pitchFamily="2" charset="-122"/>
              </a:rPr>
              <a:t>MOS</a:t>
            </a:r>
            <a:r>
              <a:rPr lang="zh-CN" altLang="en-US" b="1" dirty="0" smtClean="0">
                <a:solidFill>
                  <a:schemeClr val="tx1"/>
                </a:solidFill>
                <a:latin typeface="宋体" pitchFamily="2" charset="-122"/>
                <a:ea typeface="宋体" pitchFamily="2" charset="-122"/>
              </a:rPr>
              <a:t>光敏元，若在金属电极上施加一正电压时，则在这半导体硅片上就形成多个相互独立的势阱，产生与光照强度相对应的光生电荷图象。</a:t>
            </a:r>
            <a:endParaRPr lang="zh-CN" altLang="en-US" dirty="0">
              <a:solidFill>
                <a:schemeClr val="tx1"/>
              </a:solidFill>
            </a:endParaRPr>
          </a:p>
        </p:txBody>
      </p:sp>
      <p:sp>
        <p:nvSpPr>
          <p:cNvPr id="8" name="Text Box 11"/>
          <p:cNvSpPr txBox="1">
            <a:spLocks noChangeArrowheads="1"/>
          </p:cNvSpPr>
          <p:nvPr/>
        </p:nvSpPr>
        <p:spPr bwMode="auto">
          <a:xfrm>
            <a:off x="285721" y="3857628"/>
            <a:ext cx="5072098" cy="2677656"/>
          </a:xfrm>
          <a:prstGeom prst="rect">
            <a:avLst/>
          </a:prstGeom>
          <a:noFill/>
          <a:ln w="9525" algn="ctr">
            <a:noFill/>
            <a:miter lim="800000"/>
            <a:headEnd/>
            <a:tailEnd/>
          </a:ln>
        </p:spPr>
        <p:txBody>
          <a:bodyPr wrap="square">
            <a:spAutoFit/>
          </a:bodyPr>
          <a:lstStyle/>
          <a:p>
            <a:pPr>
              <a:buClr>
                <a:schemeClr val="tx1"/>
              </a:buClr>
              <a:buFont typeface="Wingdings" pitchFamily="2" charset="2"/>
              <a:buChar char="l"/>
            </a:pPr>
            <a:r>
              <a:rPr lang="en-US" altLang="zh-CN" b="1" dirty="0" smtClean="0">
                <a:solidFill>
                  <a:schemeClr val="folHlink"/>
                </a:solidFill>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读出位移寄存器</a:t>
            </a:r>
          </a:p>
          <a:p>
            <a:r>
              <a:rPr lang="zh-CN" altLang="en-US" b="1" dirty="0" smtClean="0">
                <a:solidFill>
                  <a:schemeClr val="tx1"/>
                </a:solidFill>
                <a:latin typeface="宋体" pitchFamily="2" charset="-122"/>
                <a:ea typeface="宋体" pitchFamily="2" charset="-122"/>
              </a:rPr>
              <a:t>  为了保证信号电荷按确定线路转移，通常在转移</a:t>
            </a:r>
            <a:r>
              <a:rPr lang="en-US" altLang="zh-CN" b="1" dirty="0" smtClean="0">
                <a:solidFill>
                  <a:schemeClr val="tx1"/>
                </a:solidFill>
                <a:latin typeface="宋体" pitchFamily="2" charset="-122"/>
                <a:ea typeface="宋体" pitchFamily="2" charset="-122"/>
              </a:rPr>
              <a:t>MOS</a:t>
            </a:r>
            <a:r>
              <a:rPr lang="zh-CN" altLang="en-US" b="1" dirty="0" smtClean="0">
                <a:solidFill>
                  <a:schemeClr val="tx1"/>
                </a:solidFill>
                <a:latin typeface="宋体" pitchFamily="2" charset="-122"/>
                <a:ea typeface="宋体" pitchFamily="2" charset="-122"/>
              </a:rPr>
              <a:t>的栅极上所加的电压脉冲为严格满足相位要求的时钟信号。如图示的三相</a:t>
            </a:r>
            <a:r>
              <a:rPr lang="en-US" altLang="zh-CN" b="1" dirty="0" smtClean="0">
                <a:solidFill>
                  <a:schemeClr val="tx1"/>
                </a:solidFill>
                <a:latin typeface="宋体" pitchFamily="2" charset="-122"/>
                <a:ea typeface="宋体" pitchFamily="2" charset="-122"/>
              </a:rPr>
              <a:t>CCD</a:t>
            </a:r>
            <a:r>
              <a:rPr lang="zh-CN" altLang="en-US" b="1" dirty="0" smtClean="0">
                <a:solidFill>
                  <a:schemeClr val="tx1"/>
                </a:solidFill>
                <a:latin typeface="宋体" pitchFamily="2" charset="-122"/>
                <a:ea typeface="宋体" pitchFamily="2" charset="-122"/>
              </a:rPr>
              <a:t>结构。</a:t>
            </a:r>
            <a:endParaRPr lang="zh-CN" altLang="en-US" b="1" dirty="0">
              <a:solidFill>
                <a:schemeClr val="tx1"/>
              </a:solidFill>
              <a:latin typeface="宋体" pitchFamily="2" charset="-122"/>
              <a:ea typeface="宋体" pitchFamily="2" charset="-122"/>
            </a:endParaRPr>
          </a:p>
        </p:txBody>
      </p:sp>
      <p:graphicFrame>
        <p:nvGraphicFramePr>
          <p:cNvPr id="588813" name="Object 13"/>
          <p:cNvGraphicFramePr>
            <a:graphicFrameLocks noGrp="1" noChangeAspect="1"/>
          </p:cNvGraphicFramePr>
          <p:nvPr/>
        </p:nvGraphicFramePr>
        <p:xfrm>
          <a:off x="5602260" y="3738644"/>
          <a:ext cx="3541740" cy="3119356"/>
        </p:xfrm>
        <a:graphic>
          <a:graphicData uri="http://schemas.openxmlformats.org/presentationml/2006/ole">
            <mc:AlternateContent xmlns:mc="http://schemas.openxmlformats.org/markup-compatibility/2006">
              <mc:Choice xmlns:v="urn:schemas-microsoft-com:vml" Requires="v">
                <p:oleObj spid="_x0000_s126982" name="Image" r:id="rId3" imgW="24303673" imgH="21404082" progId="">
                  <p:embed/>
                </p:oleObj>
              </mc:Choice>
              <mc:Fallback>
                <p:oleObj name="Image" r:id="rId3" imgW="24303673" imgH="21404082" progId="">
                  <p:embed/>
                  <p:pic>
                    <p:nvPicPr>
                      <p:cNvPr id="0" name="Object 1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2260" y="3738644"/>
                        <a:ext cx="3541740" cy="3119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 calcmode="lin" valueType="num">
                                      <p:cBhvr additive="base">
                                        <p:cTn id="12"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 calcmode="lin" valueType="num">
                                      <p:cBhvr additive="base">
                                        <p:cTn id="18"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588813"/>
                                        </p:tgtEl>
                                        <p:attrNameLst>
                                          <p:attrName>style.visibility</p:attrName>
                                        </p:attrNameLst>
                                      </p:cBhvr>
                                      <p:to>
                                        <p:strVal val="visible"/>
                                      </p:to>
                                    </p:set>
                                    <p:animEffect transition="in" filter="checkerboard(across)">
                                      <p:cBhvr>
                                        <p:cTn id="24" dur="500"/>
                                        <p:tgtEl>
                                          <p:spTgt spid="588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954107"/>
          </a:xfrm>
          <a:prstGeom prst="rect">
            <a:avLst/>
          </a:prstGeom>
          <a:noFill/>
          <a:ln w="9525" algn="ctr">
            <a:noFill/>
            <a:miter lim="800000"/>
            <a:headEnd/>
            <a:tailEnd/>
          </a:ln>
        </p:spPr>
        <p:txBody>
          <a:bodyPr wrap="square">
            <a:spAutoFit/>
          </a:bodyPr>
          <a:lstStyle/>
          <a:p>
            <a:pPr indent="450850"/>
            <a:r>
              <a:rPr lang="zh-CN" altLang="en-US" b="1" dirty="0" smtClean="0">
                <a:solidFill>
                  <a:schemeClr val="tx1"/>
                </a:solidFill>
                <a:latin typeface="宋体" pitchFamily="2" charset="-122"/>
                <a:ea typeface="宋体" pitchFamily="2" charset="-122"/>
              </a:rPr>
              <a:t>三组相邻电极组成一耦合单元，在这三个电极上分别施加位相差为</a:t>
            </a:r>
            <a:r>
              <a:rPr lang="en-US" altLang="zh-CN" b="1" dirty="0" smtClean="0">
                <a:solidFill>
                  <a:schemeClr val="tx1"/>
                </a:solidFill>
                <a:latin typeface="宋体" pitchFamily="2" charset="-122"/>
                <a:ea typeface="宋体" pitchFamily="2" charset="-122"/>
              </a:rPr>
              <a:t>120</a:t>
            </a:r>
            <a:r>
              <a:rPr lang="zh-CN" altLang="en-US" b="1" dirty="0" smtClean="0">
                <a:solidFill>
                  <a:schemeClr val="tx1"/>
                </a:solidFill>
                <a:latin typeface="宋体" pitchFamily="2" charset="-122"/>
                <a:ea typeface="宋体" pitchFamily="2" charset="-122"/>
              </a:rPr>
              <a:t>度的脉冲波。</a:t>
            </a:r>
            <a:endParaRPr lang="zh-CN" altLang="en-US" b="1" dirty="0">
              <a:solidFill>
                <a:schemeClr val="tx1"/>
              </a:solidFill>
              <a:latin typeface="宋体" pitchFamily="2" charset="-122"/>
              <a:ea typeface="宋体" pitchFamily="2" charset="-122"/>
            </a:endParaRPr>
          </a:p>
        </p:txBody>
      </p:sp>
      <p:graphicFrame>
        <p:nvGraphicFramePr>
          <p:cNvPr id="645129" name="Object 9"/>
          <p:cNvGraphicFramePr>
            <a:graphicFrameLocks noGrp="1" noChangeAspect="1"/>
          </p:cNvGraphicFramePr>
          <p:nvPr/>
        </p:nvGraphicFramePr>
        <p:xfrm>
          <a:off x="785786" y="3286124"/>
          <a:ext cx="7609388" cy="2928958"/>
        </p:xfrm>
        <a:graphic>
          <a:graphicData uri="http://schemas.openxmlformats.org/presentationml/2006/ole">
            <mc:AlternateContent xmlns:mc="http://schemas.openxmlformats.org/markup-compatibility/2006">
              <mc:Choice xmlns:v="urn:schemas-microsoft-com:vml" Requires="v">
                <p:oleObj spid="_x0000_s128006" name="Image" r:id="rId3" imgW="30093061" imgH="11578776" progId="">
                  <p:embed/>
                </p:oleObj>
              </mc:Choice>
              <mc:Fallback>
                <p:oleObj name="Image" r:id="rId3" imgW="30093061" imgH="11578776" progId="">
                  <p:embed/>
                  <p:pic>
                    <p:nvPicPr>
                      <p:cNvPr id="0" name="Object 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786" y="3286124"/>
                        <a:ext cx="7609388" cy="2928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45129"/>
                                        </p:tgtEl>
                                        <p:attrNameLst>
                                          <p:attrName>style.visibility</p:attrName>
                                        </p:attrNameLst>
                                      </p:cBhvr>
                                      <p:to>
                                        <p:strVal val="visible"/>
                                      </p:to>
                                    </p:set>
                                    <p:animEffect transition="in" filter="strips(downRight)">
                                      <p:cBhvr>
                                        <p:cTn id="11" dur="500"/>
                                        <p:tgtEl>
                                          <p:spTgt spid="64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677656"/>
          </a:xfrm>
          <a:prstGeom prst="rect">
            <a:avLst/>
          </a:prstGeom>
          <a:noFill/>
          <a:ln w="9525" algn="ctr">
            <a:noFill/>
            <a:miter lim="800000"/>
            <a:headEnd/>
            <a:tailEnd/>
          </a:ln>
        </p:spPr>
        <p:txBody>
          <a:bodyPr wrap="square">
            <a:spAutoFit/>
          </a:bodyPr>
          <a:lstStyle/>
          <a:p>
            <a:pPr marL="179388" lvl="1" indent="366713"/>
            <a:r>
              <a:rPr lang="en-US" altLang="zh-CN" sz="2400" dirty="0" smtClean="0">
                <a:solidFill>
                  <a:schemeClr val="tx1"/>
                </a:solidFill>
                <a:latin typeface="Times New Roman" pitchFamily="18" charset="0"/>
                <a:ea typeface="宋体" pitchFamily="2" charset="-122"/>
              </a:rPr>
              <a:t> </a:t>
            </a:r>
            <a:r>
              <a:rPr lang="zh-CN" altLang="en-US" sz="2400" b="1" dirty="0" smtClean="0">
                <a:solidFill>
                  <a:schemeClr val="tx1"/>
                </a:solidFill>
                <a:latin typeface="Times New Roman" pitchFamily="18" charset="0"/>
                <a:ea typeface="宋体" pitchFamily="2" charset="-122"/>
              </a:rPr>
              <a:t>在时刻 </a:t>
            </a:r>
            <a:r>
              <a:rPr lang="en-US" altLang="zh-CN" sz="2400" b="1" dirty="0" smtClean="0">
                <a:solidFill>
                  <a:schemeClr val="tx1"/>
                </a:solidFill>
                <a:latin typeface="Times New Roman" pitchFamily="18" charset="0"/>
                <a:ea typeface="宋体" pitchFamily="2" charset="-122"/>
              </a:rPr>
              <a:t>t1</a:t>
            </a:r>
            <a:r>
              <a:rPr lang="zh-CN" altLang="en-US" sz="2400" b="1" dirty="0" smtClean="0">
                <a:solidFill>
                  <a:schemeClr val="tx1"/>
                </a:solidFill>
                <a:latin typeface="Times New Roman" pitchFamily="18" charset="0"/>
                <a:ea typeface="宋体" pitchFamily="2" charset="-122"/>
              </a:rPr>
              <a:t>，第一相时钟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1 </a:t>
            </a:r>
            <a:r>
              <a:rPr lang="zh-CN" altLang="en-US" sz="2400" b="1" dirty="0" smtClean="0">
                <a:solidFill>
                  <a:schemeClr val="tx1"/>
                </a:solidFill>
                <a:latin typeface="Times New Roman" pitchFamily="18" charset="0"/>
                <a:ea typeface="宋体" pitchFamily="2" charset="-122"/>
              </a:rPr>
              <a:t>处于高压，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2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3 </a:t>
            </a:r>
            <a:r>
              <a:rPr lang="zh-CN" altLang="en-US" sz="2400" b="1" dirty="0" smtClean="0">
                <a:solidFill>
                  <a:schemeClr val="tx1"/>
                </a:solidFill>
                <a:latin typeface="Times New Roman" pitchFamily="18" charset="0"/>
                <a:ea typeface="宋体" pitchFamily="2" charset="-122"/>
              </a:rPr>
              <a:t>处于低压。这时第一组电极下形成深势阱，信息电荷存贮其中；</a:t>
            </a:r>
            <a:endParaRPr lang="en-US" altLang="zh-CN" sz="2400" b="1" dirty="0" smtClean="0">
              <a:solidFill>
                <a:schemeClr val="tx1"/>
              </a:solidFill>
              <a:latin typeface="Times New Roman" pitchFamily="18" charset="0"/>
              <a:ea typeface="宋体" pitchFamily="2" charset="-122"/>
            </a:endParaRPr>
          </a:p>
          <a:p>
            <a:pPr marL="179388" lvl="1" indent="366713"/>
            <a:r>
              <a:rPr lang="zh-CN" altLang="en-US" sz="2400" b="1" dirty="0" smtClean="0">
                <a:solidFill>
                  <a:schemeClr val="tx1"/>
                </a:solidFill>
                <a:latin typeface="Times New Roman" pitchFamily="18" charset="0"/>
                <a:ea typeface="宋体" pitchFamily="2" charset="-122"/>
              </a:rPr>
              <a:t>在 </a:t>
            </a:r>
            <a:r>
              <a:rPr lang="en-US" altLang="zh-CN" sz="2400" b="1" dirty="0" smtClean="0">
                <a:solidFill>
                  <a:schemeClr val="tx1"/>
                </a:solidFill>
                <a:latin typeface="Times New Roman" pitchFamily="18" charset="0"/>
                <a:ea typeface="宋体" pitchFamily="2" charset="-122"/>
              </a:rPr>
              <a:t>t2 </a:t>
            </a:r>
            <a:r>
              <a:rPr lang="zh-CN" altLang="en-US" sz="2400" b="1" dirty="0" smtClean="0">
                <a:solidFill>
                  <a:schemeClr val="tx1"/>
                </a:solidFill>
                <a:latin typeface="Times New Roman" pitchFamily="18" charset="0"/>
                <a:ea typeface="宋体" pitchFamily="2" charset="-122"/>
              </a:rPr>
              <a:t>时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1 </a:t>
            </a:r>
            <a:r>
              <a:rPr lang="zh-CN" altLang="en-US" sz="2400" b="1" dirty="0" smtClean="0">
                <a:solidFill>
                  <a:schemeClr val="tx1"/>
                </a:solidFill>
                <a:latin typeface="Times New Roman" pitchFamily="18" charset="0"/>
                <a:ea typeface="宋体" pitchFamily="2" charset="-122"/>
              </a:rPr>
              <a:t>电压减小，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2 </a:t>
            </a:r>
            <a:r>
              <a:rPr lang="zh-CN" altLang="en-US" sz="2400" b="1" dirty="0" smtClean="0">
                <a:solidFill>
                  <a:schemeClr val="tx1"/>
                </a:solidFill>
                <a:latin typeface="Times New Roman" pitchFamily="18" charset="0"/>
                <a:ea typeface="宋体" pitchFamily="2" charset="-122"/>
              </a:rPr>
              <a:t>处的电压升高，在第 一组电极下的势阱减小；而第二组电极下形成深势阱，信息电荷从第一组电极下面向第二组转移</a:t>
            </a:r>
            <a:r>
              <a:rPr lang="en-US" altLang="zh-CN" sz="2400" b="1" dirty="0" smtClean="0">
                <a:solidFill>
                  <a:schemeClr val="tx1"/>
                </a:solidFill>
                <a:latin typeface="Times New Roman" pitchFamily="18" charset="0"/>
                <a:ea typeface="宋体" pitchFamily="2" charset="-122"/>
              </a:rPr>
              <a:t>;</a:t>
            </a:r>
          </a:p>
          <a:p>
            <a:pPr marL="179388" lvl="1" indent="366713"/>
            <a:r>
              <a:rPr lang="zh-CN" altLang="en-US" sz="2400" b="1" dirty="0" smtClean="0">
                <a:solidFill>
                  <a:schemeClr val="tx1"/>
                </a:solidFill>
                <a:latin typeface="Times New Roman" pitchFamily="18" charset="0"/>
                <a:ea typeface="宋体" pitchFamily="2" charset="-122"/>
              </a:rPr>
              <a:t>到 </a:t>
            </a:r>
            <a:r>
              <a:rPr lang="en-US" altLang="zh-CN" sz="2400" b="1" dirty="0" smtClean="0">
                <a:solidFill>
                  <a:schemeClr val="tx1"/>
                </a:solidFill>
                <a:latin typeface="Times New Roman" pitchFamily="18" charset="0"/>
                <a:ea typeface="宋体" pitchFamily="2" charset="-122"/>
              </a:rPr>
              <a:t>t3 </a:t>
            </a:r>
            <a:r>
              <a:rPr lang="zh-CN" altLang="en-US" sz="2400" b="1" dirty="0" smtClean="0">
                <a:solidFill>
                  <a:schemeClr val="tx1"/>
                </a:solidFill>
                <a:latin typeface="Times New Roman" pitchFamily="18" charset="0"/>
                <a:ea typeface="宋体" pitchFamily="2" charset="-122"/>
              </a:rPr>
              <a:t>，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3</a:t>
            </a:r>
            <a:r>
              <a:rPr lang="zh-CN" altLang="en-US" sz="2400" b="1" dirty="0" smtClean="0">
                <a:solidFill>
                  <a:schemeClr val="tx1"/>
                </a:solidFill>
                <a:latin typeface="Times New Roman" pitchFamily="18" charset="0"/>
                <a:ea typeface="宋体" pitchFamily="2" charset="-122"/>
              </a:rPr>
              <a:t>为高压，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2 </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dirty="0" smtClean="0">
                <a:solidFill>
                  <a:schemeClr val="tx1"/>
                </a:solidFill>
                <a:latin typeface="Times New Roman" pitchFamily="18" charset="0"/>
                <a:ea typeface="宋体" pitchFamily="2" charset="-122"/>
                <a:sym typeface="Symbol" pitchFamily="18" charset="2"/>
              </a:rPr>
              <a:t>1</a:t>
            </a:r>
            <a:r>
              <a:rPr lang="zh-CN" altLang="en-US" sz="2400" b="1" dirty="0" smtClean="0">
                <a:solidFill>
                  <a:schemeClr val="tx1"/>
                </a:solidFill>
                <a:latin typeface="Times New Roman" pitchFamily="18" charset="0"/>
                <a:ea typeface="宋体" pitchFamily="2" charset="-122"/>
              </a:rPr>
              <a:t>为低压，信息电荷全部转移到第三组电极下面</a:t>
            </a:r>
            <a:r>
              <a:rPr lang="en-US" altLang="zh-CN" sz="2400" b="1" dirty="0" smtClean="0">
                <a:solidFill>
                  <a:schemeClr val="tx1"/>
                </a:solidFill>
                <a:latin typeface="Times New Roman" pitchFamily="18" charset="0"/>
                <a:ea typeface="宋体" pitchFamily="2" charset="-122"/>
              </a:rPr>
              <a:t>;</a:t>
            </a:r>
            <a:endParaRPr lang="zh-CN" altLang="en-US" sz="2400" b="1" dirty="0">
              <a:solidFill>
                <a:schemeClr val="tx1"/>
              </a:solidFill>
              <a:latin typeface="Times New Roman" pitchFamily="18" charset="0"/>
              <a:ea typeface="宋体" pitchFamily="2" charset="-122"/>
            </a:endParaRPr>
          </a:p>
        </p:txBody>
      </p:sp>
      <p:grpSp>
        <p:nvGrpSpPr>
          <p:cNvPr id="8" name="Group 4"/>
          <p:cNvGrpSpPr>
            <a:grpSpLocks/>
          </p:cNvGrpSpPr>
          <p:nvPr/>
        </p:nvGrpSpPr>
        <p:grpSpPr bwMode="auto">
          <a:xfrm>
            <a:off x="214408" y="4857760"/>
            <a:ext cx="5997588" cy="1643050"/>
            <a:chOff x="1234" y="3114"/>
            <a:chExt cx="3840" cy="1206"/>
          </a:xfrm>
        </p:grpSpPr>
        <p:graphicFrame>
          <p:nvGraphicFramePr>
            <p:cNvPr id="9" name="Object 5"/>
            <p:cNvGraphicFramePr>
              <a:graphicFrameLocks noChangeAspect="1"/>
            </p:cNvGraphicFramePr>
            <p:nvPr/>
          </p:nvGraphicFramePr>
          <p:xfrm>
            <a:off x="1234" y="3114"/>
            <a:ext cx="3840" cy="1206"/>
          </p:xfrm>
          <a:graphic>
            <a:graphicData uri="http://schemas.openxmlformats.org/presentationml/2006/ole">
              <mc:AlternateContent xmlns:mc="http://schemas.openxmlformats.org/markup-compatibility/2006">
                <mc:Choice xmlns:v="urn:schemas-microsoft-com:vml" Requires="v">
                  <p:oleObj spid="_x0000_s129030" name="Image" r:id="rId3" imgW="15541122" imgH="4879633" progId="Photoshop.Image.6">
                    <p:embed/>
                  </p:oleObj>
                </mc:Choice>
                <mc:Fallback>
                  <p:oleObj name="Image" r:id="rId3" imgW="15541122" imgH="4879633"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4" y="3114"/>
                          <a:ext cx="3840"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Line 6"/>
            <p:cNvSpPr>
              <a:spLocks noChangeShapeType="1"/>
            </p:cNvSpPr>
            <p:nvPr/>
          </p:nvSpPr>
          <p:spPr bwMode="auto">
            <a:xfrm flipV="1">
              <a:off x="3010" y="3264"/>
              <a:ext cx="0" cy="768"/>
            </a:xfrm>
            <a:prstGeom prst="line">
              <a:avLst/>
            </a:prstGeom>
            <a:noFill/>
            <a:ln w="9525">
              <a:solidFill>
                <a:srgbClr val="FF0000"/>
              </a:solidFill>
              <a:miter lim="800000"/>
              <a:headEnd/>
              <a:tailEnd/>
            </a:ln>
          </p:spPr>
          <p:txBody>
            <a:bodyPr wrap="none"/>
            <a:lstStyle/>
            <a:p>
              <a:endParaRPr lang="zh-CN" altLang="en-US"/>
            </a:p>
          </p:txBody>
        </p:sp>
      </p:grpSp>
      <p:pic>
        <p:nvPicPr>
          <p:cNvPr id="11" name="Picture 5" descr="http://upload.wikimedia.org/wikipedia/commons/thumb/6/66/CCD_charge_transfer_animation.gif/250px-CCD_charge_transfer_animation.gif">
            <a:hlinkClick r:id="rId5"/>
          </p:cNvPr>
          <p:cNvPicPr>
            <a:picLocks noChangeAspect="1" noChangeArrowheads="1" noCrop="1"/>
          </p:cNvPicPr>
          <p:nvPr/>
        </p:nvPicPr>
        <p:blipFill>
          <a:blip r:embed="rId6"/>
          <a:srcRect/>
          <a:stretch>
            <a:fillRect/>
          </a:stretch>
        </p:blipFill>
        <p:spPr bwMode="auto">
          <a:xfrm>
            <a:off x="6357950" y="4857760"/>
            <a:ext cx="2513558" cy="135732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工作原理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677656"/>
          </a:xfrm>
          <a:prstGeom prst="rect">
            <a:avLst/>
          </a:prstGeom>
          <a:noFill/>
          <a:ln w="9525" algn="ctr">
            <a:noFill/>
            <a:miter lim="800000"/>
            <a:headEnd/>
            <a:tailEnd/>
          </a:ln>
        </p:spPr>
        <p:txBody>
          <a:bodyPr wrap="square">
            <a:spAutoFit/>
          </a:bodyPr>
          <a:lstStyle/>
          <a:p>
            <a:pPr marL="179388" lvl="1" indent="446088"/>
            <a:r>
              <a:rPr lang="zh-CN" altLang="en-US" sz="2400" b="1" dirty="0" smtClean="0">
                <a:solidFill>
                  <a:schemeClr val="tx1"/>
                </a:solidFill>
                <a:latin typeface="Times New Roman" pitchFamily="18" charset="0"/>
                <a:ea typeface="宋体" pitchFamily="2" charset="-122"/>
              </a:rPr>
              <a:t>当第二个循环开始时，电荷又转移到另一个单元。至此信息电荷转移了一位。这样，信息电荷不断向右转移，直到最后位依次不断地向外输出。</a:t>
            </a:r>
          </a:p>
          <a:p>
            <a:pPr marL="179388" lvl="1" indent="446088"/>
            <a:r>
              <a:rPr lang="zh-CN" altLang="en-US" sz="2400" b="1" dirty="0" smtClean="0">
                <a:solidFill>
                  <a:schemeClr val="tx1"/>
                </a:solidFill>
                <a:latin typeface="Times New Roman" pitchFamily="18" charset="0"/>
                <a:ea typeface="宋体" pitchFamily="2" charset="-122"/>
              </a:rPr>
              <a:t>电荷的输出，通常采用反偏压输出二极管把信息电荷收集并送入前置放大器。根据输出先后可以辨别出电荷是从哪位光敏元来的，并根据输出电荷量，可知该光敏元受光的强弱。无光照处则无光生电荷。</a:t>
            </a:r>
            <a:endParaRPr lang="zh-CN" altLang="en-US" sz="2400" b="1" dirty="0">
              <a:solidFill>
                <a:schemeClr val="tx1"/>
              </a:solidFill>
              <a:latin typeface="Times New Roman" pitchFamily="18" charset="0"/>
              <a:ea typeface="宋体" pitchFamily="2" charset="-122"/>
            </a:endParaRPr>
          </a:p>
        </p:txBody>
      </p:sp>
      <p:grpSp>
        <p:nvGrpSpPr>
          <p:cNvPr id="2" name="Group 4"/>
          <p:cNvGrpSpPr>
            <a:grpSpLocks/>
          </p:cNvGrpSpPr>
          <p:nvPr/>
        </p:nvGrpSpPr>
        <p:grpSpPr bwMode="auto">
          <a:xfrm>
            <a:off x="1285852" y="4857760"/>
            <a:ext cx="5997588" cy="1643050"/>
            <a:chOff x="1920" y="3114"/>
            <a:chExt cx="3840" cy="1206"/>
          </a:xfrm>
        </p:grpSpPr>
        <p:graphicFrame>
          <p:nvGraphicFramePr>
            <p:cNvPr id="9" name="Object 5"/>
            <p:cNvGraphicFramePr>
              <a:graphicFrameLocks noChangeAspect="1"/>
            </p:cNvGraphicFramePr>
            <p:nvPr/>
          </p:nvGraphicFramePr>
          <p:xfrm>
            <a:off x="1920" y="3114"/>
            <a:ext cx="3840" cy="1206"/>
          </p:xfrm>
          <a:graphic>
            <a:graphicData uri="http://schemas.openxmlformats.org/presentationml/2006/ole">
              <mc:AlternateContent xmlns:mc="http://schemas.openxmlformats.org/markup-compatibility/2006">
                <mc:Choice xmlns:v="urn:schemas-microsoft-com:vml" Requires="v">
                  <p:oleObj spid="_x0000_s130053" name="Image" r:id="rId3" imgW="15541122" imgH="4879633" progId="Photoshop.Image.6">
                    <p:embed/>
                  </p:oleObj>
                </mc:Choice>
                <mc:Fallback>
                  <p:oleObj name="Image" r:id="rId3" imgW="15541122" imgH="4879633" progId="Photoshop.Image.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3114"/>
                          <a:ext cx="3840"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Line 6"/>
            <p:cNvSpPr>
              <a:spLocks noChangeShapeType="1"/>
            </p:cNvSpPr>
            <p:nvPr/>
          </p:nvSpPr>
          <p:spPr bwMode="auto">
            <a:xfrm flipV="1">
              <a:off x="3696" y="3264"/>
              <a:ext cx="0" cy="768"/>
            </a:xfrm>
            <a:prstGeom prst="line">
              <a:avLst/>
            </a:prstGeom>
            <a:noFill/>
            <a:ln w="9525">
              <a:solidFill>
                <a:srgbClr val="FF0000"/>
              </a:solidFill>
              <a:miter lim="800000"/>
              <a:headEnd/>
              <a:tailEnd/>
            </a:ln>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结构</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677656"/>
          </a:xfrm>
          <a:prstGeom prst="rect">
            <a:avLst/>
          </a:prstGeom>
          <a:noFill/>
          <a:ln w="9525" algn="ctr">
            <a:noFill/>
            <a:miter lim="800000"/>
            <a:headEnd/>
            <a:tailEnd/>
          </a:ln>
        </p:spPr>
        <p:txBody>
          <a:bodyPr wrap="square">
            <a:spAutoFit/>
          </a:bodyPr>
          <a:lstStyle/>
          <a:p>
            <a:pPr marL="179388" lvl="1">
              <a:buClr>
                <a:schemeClr val="tx1"/>
              </a:buClr>
              <a:buFont typeface="Wingdings" pitchFamily="2" charset="2"/>
              <a:buChar char="l"/>
            </a:pPr>
            <a:r>
              <a:rPr lang="zh-CN" altLang="en-US" sz="2400" b="1" dirty="0" smtClean="0">
                <a:solidFill>
                  <a:schemeClr val="tx1"/>
                </a:solidFill>
                <a:latin typeface="Times New Roman" pitchFamily="18" charset="0"/>
                <a:ea typeface="宋体" pitchFamily="2" charset="-122"/>
              </a:rPr>
              <a:t>线阵</a:t>
            </a:r>
            <a:r>
              <a:rPr lang="en-US" altLang="zh-CN" sz="2400" b="1" dirty="0" smtClean="0">
                <a:solidFill>
                  <a:schemeClr val="tx1"/>
                </a:solidFill>
                <a:latin typeface="Times New Roman" pitchFamily="18" charset="0"/>
                <a:ea typeface="宋体" pitchFamily="2" charset="-122"/>
              </a:rPr>
              <a:t>CCD           </a:t>
            </a:r>
          </a:p>
          <a:p>
            <a:r>
              <a:rPr lang="en-US" altLang="zh-CN" sz="2400" b="1" dirty="0" smtClean="0">
                <a:solidFill>
                  <a:srgbClr val="0000FF"/>
                </a:solidFill>
                <a:latin typeface="Times New Roman" pitchFamily="18" charset="0"/>
                <a:ea typeface="宋体" pitchFamily="2" charset="-122"/>
              </a:rPr>
              <a:t>      </a:t>
            </a:r>
            <a:r>
              <a:rPr lang="zh-CN" altLang="en-US" sz="2400" b="1" dirty="0" smtClean="0">
                <a:solidFill>
                  <a:schemeClr val="tx1"/>
                </a:solidFill>
                <a:latin typeface="Times New Roman" pitchFamily="18" charset="0"/>
                <a:ea typeface="宋体" pitchFamily="2" charset="-122"/>
              </a:rPr>
              <a:t>线阵电荷耦合器件是光敏元排成直线的器件，它由</a:t>
            </a:r>
            <a:r>
              <a:rPr lang="en-US" altLang="zh-CN" sz="2400" b="1" dirty="0" smtClean="0">
                <a:solidFill>
                  <a:schemeClr val="tx1"/>
                </a:solidFill>
                <a:latin typeface="Times New Roman" pitchFamily="18" charset="0"/>
                <a:ea typeface="宋体" pitchFamily="2" charset="-122"/>
              </a:rPr>
              <a:t>MOS</a:t>
            </a:r>
            <a:r>
              <a:rPr lang="zh-CN" altLang="en-US" sz="2400" b="1" dirty="0" smtClean="0">
                <a:solidFill>
                  <a:schemeClr val="tx1"/>
                </a:solidFill>
                <a:latin typeface="Times New Roman" pitchFamily="18" charset="0"/>
                <a:ea typeface="宋体" pitchFamily="2" charset="-122"/>
              </a:rPr>
              <a:t>光敏元阵列、转移栅和读出位移寄存器等部分组成。</a:t>
            </a:r>
          </a:p>
          <a:p>
            <a:r>
              <a:rPr lang="zh-CN" altLang="en-US" sz="2400" b="1" dirty="0" smtClean="0">
                <a:solidFill>
                  <a:schemeClr val="tx1"/>
                </a:solidFill>
                <a:latin typeface="Times New Roman" pitchFamily="18" charset="0"/>
                <a:ea typeface="宋体" pitchFamily="2" charset="-122"/>
              </a:rPr>
              <a:t>       线阵</a:t>
            </a:r>
            <a:r>
              <a:rPr lang="en-US" altLang="zh-CN" sz="2400" b="1" dirty="0" smtClean="0">
                <a:solidFill>
                  <a:schemeClr val="tx1"/>
                </a:solidFill>
                <a:latin typeface="Times New Roman" pitchFamily="18" charset="0"/>
                <a:ea typeface="宋体" pitchFamily="2" charset="-122"/>
              </a:rPr>
              <a:t>CCD</a:t>
            </a:r>
            <a:r>
              <a:rPr lang="zh-CN" altLang="en-US" sz="2400" b="1" dirty="0" smtClean="0">
                <a:solidFill>
                  <a:schemeClr val="tx1"/>
                </a:solidFill>
                <a:latin typeface="Times New Roman" pitchFamily="18" charset="0"/>
                <a:ea typeface="宋体" pitchFamily="2" charset="-122"/>
              </a:rPr>
              <a:t>有两种传输结构形式：单通道和双通道。在单通道结构中，排成线阵的光敏元连续地聚集光生电荷，然后定期地并行转移到移位寄存器中，串行输出。图示的是双通道结构</a:t>
            </a:r>
            <a:r>
              <a:rPr lang="en-US" altLang="zh-CN" sz="2400" b="1" dirty="0" smtClean="0">
                <a:solidFill>
                  <a:schemeClr val="tx1"/>
                </a:solidFill>
                <a:latin typeface="Times New Roman" pitchFamily="18" charset="0"/>
                <a:ea typeface="宋体" pitchFamily="2" charset="-122"/>
              </a:rPr>
              <a:t>,</a:t>
            </a:r>
            <a:r>
              <a:rPr lang="zh-CN" altLang="en-US" sz="2400" b="1" dirty="0" smtClean="0">
                <a:solidFill>
                  <a:schemeClr val="tx1"/>
                </a:solidFill>
                <a:latin typeface="Times New Roman" pitchFamily="18" charset="0"/>
                <a:ea typeface="宋体" pitchFamily="2" charset="-122"/>
              </a:rPr>
              <a:t>其分辨力比前者高一倍。</a:t>
            </a:r>
            <a:endParaRPr lang="zh-CN" altLang="en-US" sz="2400" dirty="0">
              <a:solidFill>
                <a:schemeClr val="tx1"/>
              </a:solidFill>
            </a:endParaRPr>
          </a:p>
        </p:txBody>
      </p:sp>
      <p:graphicFrame>
        <p:nvGraphicFramePr>
          <p:cNvPr id="131075" name="Object 4"/>
          <p:cNvGraphicFramePr>
            <a:graphicFrameLocks noChangeAspect="1"/>
          </p:cNvGraphicFramePr>
          <p:nvPr/>
        </p:nvGraphicFramePr>
        <p:xfrm>
          <a:off x="4286248" y="4357694"/>
          <a:ext cx="4356100" cy="2297113"/>
        </p:xfrm>
        <a:graphic>
          <a:graphicData uri="http://schemas.openxmlformats.org/presentationml/2006/ole">
            <mc:AlternateContent xmlns:mc="http://schemas.openxmlformats.org/markup-compatibility/2006">
              <mc:Choice xmlns:v="urn:schemas-microsoft-com:vml" Requires="v">
                <p:oleObj spid="_x0000_s131078" name="Image" r:id="rId3" imgW="18196964" imgH="9594070" progId="Photoshop.Image.6">
                  <p:embed/>
                </p:oleObj>
              </mc:Choice>
              <mc:Fallback>
                <p:oleObj name="Image" r:id="rId3" imgW="18196964" imgH="9594070"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48" y="4357694"/>
                        <a:ext cx="4356100" cy="229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31077" name="Picture 5" descr="http://upload.wikimedia.org/wikipedia/commons/thumb/3/30/CCD_line_sensor.JPG/220px-CCD_line_sensor.JPG">
            <a:hlinkClick r:id="rId5"/>
          </p:cNvPr>
          <p:cNvPicPr>
            <a:picLocks noChangeAspect="1" noChangeArrowheads="1"/>
          </p:cNvPicPr>
          <p:nvPr/>
        </p:nvPicPr>
        <p:blipFill>
          <a:blip r:embed="rId6"/>
          <a:srcRect/>
          <a:stretch>
            <a:fillRect/>
          </a:stretch>
        </p:blipFill>
        <p:spPr bwMode="auto">
          <a:xfrm>
            <a:off x="357157" y="5072074"/>
            <a:ext cx="3822893" cy="128588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线阵</a:t>
            </a:r>
            <a:r>
              <a:rPr kumimoji="1" lang="en-US" altLang="zh-CN" sz="2800" b="1" dirty="0" smtClean="0">
                <a:solidFill>
                  <a:srgbClr val="F84D08"/>
                </a:solidFill>
                <a:latin typeface="黑体" pitchFamily="49" charset="-122"/>
                <a:ea typeface="黑体" pitchFamily="49" charset="-122"/>
              </a:rPr>
              <a:t>CCD</a:t>
            </a:r>
            <a:endParaRPr kumimoji="1" lang="zh-CN" altLang="en-US" sz="2800" b="1" dirty="0" smtClean="0">
              <a:solidFill>
                <a:srgbClr val="F84D08"/>
              </a:solidFill>
              <a:latin typeface="黑体" pitchFamily="49" charset="-122"/>
              <a:ea typeface="黑体" pitchFamily="49"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1938992"/>
          </a:xfrm>
          <a:prstGeom prst="rect">
            <a:avLst/>
          </a:prstGeom>
          <a:noFill/>
          <a:ln w="9525" algn="ctr">
            <a:noFill/>
            <a:miter lim="800000"/>
            <a:headEnd/>
            <a:tailEnd/>
          </a:ln>
        </p:spPr>
        <p:txBody>
          <a:bodyPr wrap="square">
            <a:spAutoFit/>
          </a:bodyPr>
          <a:lstStyle/>
          <a:p>
            <a:pPr marL="179388" lvl="1">
              <a:buClr>
                <a:schemeClr val="tx1"/>
              </a:buClr>
              <a:buFont typeface="Wingdings" pitchFamily="2" charset="2"/>
              <a:buChar char="l"/>
            </a:pPr>
            <a:r>
              <a:rPr lang="en-US" altLang="zh-CN" sz="2400" b="1" dirty="0" smtClean="0">
                <a:solidFill>
                  <a:schemeClr val="tx1"/>
                </a:solidFill>
                <a:latin typeface="Times New Roman" pitchFamily="18" charset="0"/>
                <a:ea typeface="宋体" pitchFamily="2" charset="-122"/>
              </a:rPr>
              <a:t> </a:t>
            </a:r>
            <a:r>
              <a:rPr lang="zh-CN" altLang="en-US" sz="2400" b="1" dirty="0" smtClean="0">
                <a:solidFill>
                  <a:schemeClr val="tx1"/>
                </a:solidFill>
                <a:latin typeface="Times New Roman" pitchFamily="18" charset="0"/>
                <a:ea typeface="宋体" pitchFamily="2" charset="-122"/>
              </a:rPr>
              <a:t>在光敏元进行曝光（光积分</a:t>
            </a:r>
            <a:r>
              <a:rPr lang="en-US" altLang="zh-CN" sz="2400" b="1" dirty="0" smtClean="0">
                <a:solidFill>
                  <a:schemeClr val="tx1"/>
                </a:solidFill>
                <a:latin typeface="Times New Roman" pitchFamily="18" charset="0"/>
                <a:ea typeface="宋体" pitchFamily="2" charset="-122"/>
              </a:rPr>
              <a:t>)</a:t>
            </a:r>
            <a:r>
              <a:rPr lang="zh-CN" altLang="en-US" sz="2400" b="1" dirty="0" smtClean="0">
                <a:solidFill>
                  <a:schemeClr val="tx1"/>
                </a:solidFill>
                <a:latin typeface="Times New Roman" pitchFamily="18" charset="0"/>
                <a:ea typeface="宋体" pitchFamily="2" charset="-122"/>
              </a:rPr>
              <a:t>时，此时在金属极上施加正电压脉冲</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baseline="-25000" dirty="0" smtClean="0">
                <a:solidFill>
                  <a:schemeClr val="tx1"/>
                </a:solidFill>
                <a:latin typeface="Times New Roman" pitchFamily="18" charset="0"/>
                <a:ea typeface="宋体" pitchFamily="2" charset="-122"/>
                <a:sym typeface="Symbol" pitchFamily="18" charset="2"/>
              </a:rPr>
              <a:t>P</a:t>
            </a:r>
            <a:r>
              <a:rPr lang="zh-CN" altLang="en-US" sz="2400" b="1" dirty="0" smtClean="0">
                <a:solidFill>
                  <a:schemeClr val="tx1"/>
                </a:solidFill>
                <a:latin typeface="Times New Roman" pitchFamily="18" charset="0"/>
                <a:ea typeface="宋体" pitchFamily="2" charset="-122"/>
              </a:rPr>
              <a:t>，光敏元的势阱就吸收附近的光生电荷。在光积分行将结束时，在转移栅上施加转移脉冲</a:t>
            </a:r>
            <a:r>
              <a:rPr lang="zh-CN" altLang="en-US" sz="2400" b="1" dirty="0" smtClean="0">
                <a:solidFill>
                  <a:schemeClr val="tx1"/>
                </a:solidFill>
                <a:latin typeface="Times New Roman" pitchFamily="18" charset="0"/>
                <a:ea typeface="宋体" pitchFamily="2" charset="-122"/>
                <a:sym typeface="Symbol" pitchFamily="18" charset="2"/>
              </a:rPr>
              <a:t></a:t>
            </a:r>
            <a:r>
              <a:rPr lang="en-US" altLang="zh-CN" sz="2400" b="1" baseline="-25000" dirty="0" smtClean="0">
                <a:solidFill>
                  <a:schemeClr val="tx1"/>
                </a:solidFill>
                <a:latin typeface="Times New Roman" pitchFamily="18" charset="0"/>
                <a:ea typeface="宋体" pitchFamily="2" charset="-122"/>
                <a:sym typeface="Symbol" pitchFamily="18" charset="2"/>
              </a:rPr>
              <a:t>T</a:t>
            </a:r>
            <a:r>
              <a:rPr lang="en-US" altLang="zh-CN" sz="2400" b="1" dirty="0" smtClean="0">
                <a:solidFill>
                  <a:schemeClr val="tx1"/>
                </a:solidFill>
                <a:latin typeface="Times New Roman" pitchFamily="18" charset="0"/>
                <a:ea typeface="宋体" pitchFamily="2" charset="-122"/>
              </a:rPr>
              <a:t> </a:t>
            </a:r>
            <a:r>
              <a:rPr lang="zh-CN" altLang="en-US" sz="2400" b="1" dirty="0" smtClean="0">
                <a:solidFill>
                  <a:schemeClr val="tx1"/>
                </a:solidFill>
                <a:latin typeface="Times New Roman" pitchFamily="18" charset="0"/>
                <a:ea typeface="宋体" pitchFamily="2" charset="-122"/>
              </a:rPr>
              <a:t>，将转移栅打开，此时每个光敏元所俘获的光生电荷就通过转移栅耦合到各自对应的移位寄存器极（并行转移）</a:t>
            </a:r>
            <a:r>
              <a:rPr lang="zh-CN" altLang="en-US" sz="2000" dirty="0" smtClean="0">
                <a:solidFill>
                  <a:schemeClr val="tx1"/>
                </a:solidFill>
                <a:latin typeface="Times New Roman" pitchFamily="18" charset="0"/>
                <a:ea typeface="宋体" pitchFamily="2" charset="-122"/>
              </a:rPr>
              <a:t>。</a:t>
            </a:r>
            <a:endParaRPr lang="zh-CN" altLang="en-US" sz="2400" dirty="0">
              <a:solidFill>
                <a:schemeClr val="tx1"/>
              </a:solidFill>
            </a:endParaRPr>
          </a:p>
        </p:txBody>
      </p:sp>
      <p:graphicFrame>
        <p:nvGraphicFramePr>
          <p:cNvPr id="131075" name="Object 4"/>
          <p:cNvGraphicFramePr>
            <a:graphicFrameLocks noChangeAspect="1"/>
          </p:cNvGraphicFramePr>
          <p:nvPr/>
        </p:nvGraphicFramePr>
        <p:xfrm>
          <a:off x="3714744" y="4357694"/>
          <a:ext cx="4356100" cy="2297113"/>
        </p:xfrm>
        <a:graphic>
          <a:graphicData uri="http://schemas.openxmlformats.org/presentationml/2006/ole">
            <mc:AlternateContent xmlns:mc="http://schemas.openxmlformats.org/markup-compatibility/2006">
              <mc:Choice xmlns:v="urn:schemas-microsoft-com:vml" Requires="v">
                <p:oleObj spid="_x0000_s132101" name="Image" r:id="rId3" imgW="18196964" imgH="9594070" progId="Photoshop.Image.6">
                  <p:embed/>
                </p:oleObj>
              </mc:Choice>
              <mc:Fallback>
                <p:oleObj name="Image" r:id="rId3" imgW="18196964" imgH="9594070"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44" y="4357694"/>
                        <a:ext cx="4356100" cy="229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8"/>
          <p:cNvSpPr txBox="1">
            <a:spLocks noChangeArrowheads="1"/>
          </p:cNvSpPr>
          <p:nvPr/>
        </p:nvSpPr>
        <p:spPr bwMode="auto">
          <a:xfrm>
            <a:off x="285720" y="4071942"/>
            <a:ext cx="3600450" cy="1800225"/>
          </a:xfrm>
          <a:prstGeom prst="rect">
            <a:avLst/>
          </a:prstGeom>
          <a:noFill/>
          <a:ln w="9525" algn="ctr">
            <a:noFill/>
            <a:miter lim="800000"/>
            <a:headEnd/>
            <a:tailEnd/>
          </a:ln>
        </p:spPr>
        <p:txBody>
          <a:bodyPr>
            <a:spAutoFit/>
          </a:bodyPr>
          <a:lstStyle/>
          <a:p>
            <a:pPr indent="273050">
              <a:spcBef>
                <a:spcPct val="50000"/>
              </a:spcBef>
            </a:pPr>
            <a:r>
              <a:rPr lang="zh-CN" altLang="en-US" b="1" dirty="0">
                <a:solidFill>
                  <a:schemeClr val="tx1"/>
                </a:solidFill>
                <a:latin typeface="宋体" pitchFamily="2" charset="-122"/>
                <a:ea typeface="宋体" pitchFamily="2" charset="-122"/>
              </a:rPr>
              <a:t>在电荷转移到移位寄存器后，利用三相脉冲的工作，串行输出每一位的信号。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线阵</a:t>
            </a:r>
            <a:r>
              <a:rPr kumimoji="1" lang="en-US" altLang="zh-CN" sz="2800" b="1" dirty="0" smtClean="0">
                <a:solidFill>
                  <a:srgbClr val="F84D08"/>
                </a:solidFill>
                <a:latin typeface="黑体" pitchFamily="49" charset="-122"/>
                <a:ea typeface="黑体" pitchFamily="49" charset="-122"/>
              </a:rPr>
              <a:t>CCD</a:t>
            </a:r>
            <a:endParaRPr kumimoji="1" lang="zh-CN" altLang="en-US" sz="2800" b="1" dirty="0" smtClean="0">
              <a:solidFill>
                <a:srgbClr val="F84D08"/>
              </a:solidFill>
              <a:latin typeface="黑体" pitchFamily="49" charset="-122"/>
              <a:ea typeface="黑体" pitchFamily="49"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893100"/>
          </a:xfrm>
          <a:prstGeom prst="rect">
            <a:avLst/>
          </a:prstGeom>
          <a:noFill/>
          <a:ln w="9525" algn="ctr">
            <a:noFill/>
            <a:miter lim="800000"/>
            <a:headEnd/>
            <a:tailEnd/>
          </a:ln>
        </p:spPr>
        <p:txBody>
          <a:bodyPr wrap="square">
            <a:spAutoFit/>
          </a:bodyPr>
          <a:lstStyle/>
          <a:p>
            <a:pPr indent="546100">
              <a:spcBef>
                <a:spcPct val="50000"/>
              </a:spcBef>
            </a:pPr>
            <a:r>
              <a:rPr lang="en-US" altLang="zh-CN" b="1" dirty="0" smtClean="0">
                <a:solidFill>
                  <a:schemeClr val="tx1"/>
                </a:solidFill>
                <a:latin typeface="宋体" pitchFamily="2" charset="-122"/>
                <a:ea typeface="宋体" pitchFamily="2" charset="-122"/>
              </a:rPr>
              <a:t>CCD</a:t>
            </a:r>
            <a:r>
              <a:rPr lang="zh-CN" altLang="en-US" b="1" dirty="0" smtClean="0">
                <a:solidFill>
                  <a:schemeClr val="tx1"/>
                </a:solidFill>
                <a:latin typeface="宋体" pitchFamily="2" charset="-122"/>
                <a:ea typeface="宋体" pitchFamily="2" charset="-122"/>
              </a:rPr>
              <a:t>器件输出信息是多个脉冲，脉冲的幅度取决于对应光敏元上所受的光强，而输出脉冲的频率则和驱动脉冲频率相一致，因此只要改变驱动脉冲的频率就可以改变输出脉冲的频率。 </a:t>
            </a:r>
          </a:p>
          <a:p>
            <a:pPr indent="546100">
              <a:spcBef>
                <a:spcPct val="50000"/>
              </a:spcBef>
            </a:pPr>
            <a:r>
              <a:rPr lang="zh-CN" altLang="en-US" b="1" dirty="0" smtClean="0">
                <a:solidFill>
                  <a:schemeClr val="tx1"/>
                </a:solidFill>
                <a:latin typeface="宋体" pitchFamily="2" charset="-122"/>
                <a:ea typeface="宋体" pitchFamily="2" charset="-122"/>
              </a:rPr>
              <a:t>工作频率的下限主要受光生电荷的寿命所制约，工作频率的上限主要与界面态俘获电荷的时间有关</a:t>
            </a:r>
            <a:r>
              <a:rPr lang="zh-CN" altLang="en-US" dirty="0" smtClean="0">
                <a:solidFill>
                  <a:schemeClr val="tx1"/>
                </a:solidFill>
              </a:rPr>
              <a:t>。</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面阵</a:t>
            </a:r>
            <a:r>
              <a:rPr kumimoji="1" lang="en-US" altLang="zh-CN" sz="2800" b="1" dirty="0" smtClean="0">
                <a:solidFill>
                  <a:srgbClr val="F84D08"/>
                </a:solidFill>
                <a:latin typeface="黑体" pitchFamily="49" charset="-122"/>
                <a:ea typeface="黑体" pitchFamily="49" charset="-122"/>
              </a:rPr>
              <a:t>CCD</a:t>
            </a:r>
            <a:endParaRPr kumimoji="1" lang="zh-CN" altLang="en-US" sz="2800" b="1" dirty="0" smtClean="0">
              <a:solidFill>
                <a:srgbClr val="F84D08"/>
              </a:solidFill>
              <a:latin typeface="黑体" pitchFamily="49" charset="-122"/>
              <a:ea typeface="黑体" pitchFamily="49"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246769"/>
          </a:xfrm>
          <a:prstGeom prst="rect">
            <a:avLst/>
          </a:prstGeom>
          <a:noFill/>
          <a:ln w="9525" algn="ctr">
            <a:noFill/>
            <a:miter lim="800000"/>
            <a:headEnd/>
            <a:tailEnd/>
          </a:ln>
        </p:spPr>
        <p:txBody>
          <a:bodyPr wrap="square">
            <a:spAutoFit/>
          </a:bodyPr>
          <a:lstStyle/>
          <a:p>
            <a:pPr indent="546100">
              <a:spcBef>
                <a:spcPct val="50000"/>
              </a:spcBef>
            </a:pPr>
            <a:r>
              <a:rPr lang="zh-CN" altLang="en-US" b="1" dirty="0" smtClean="0">
                <a:solidFill>
                  <a:schemeClr val="tx1"/>
                </a:solidFill>
                <a:latin typeface="宋体" pitchFamily="2" charset="-122"/>
                <a:ea typeface="宋体" pitchFamily="2" charset="-122"/>
              </a:rPr>
              <a:t>面阵摄象器件是把光敏元等排列成矩阵的器件，它有数种结构形式，一般由一个光敏元面阵，存储器面阵和读出寄存器</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线阵</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组成。光敏元面阵可视作为由若干列线阵摄象器件组成，存储器面阵可视为由若干列线阵读出寄存器组成。</a:t>
            </a:r>
            <a:endParaRPr lang="zh-CN" altLang="en-US" dirty="0">
              <a:solidFill>
                <a:schemeClr val="tx1"/>
              </a:solidFill>
            </a:endParaRPr>
          </a:p>
        </p:txBody>
      </p:sp>
      <p:pic>
        <p:nvPicPr>
          <p:cNvPr id="158722" name="Picture 2" descr="http://upload.wikimedia.org/wikipedia/en/thumb/9/94/ArgusCCD.jpg/220px-ArgusCCD.jpg">
            <a:hlinkClick r:id="rId2"/>
          </p:cNvPr>
          <p:cNvPicPr>
            <a:picLocks noChangeAspect="1" noChangeArrowheads="1"/>
          </p:cNvPicPr>
          <p:nvPr/>
        </p:nvPicPr>
        <p:blipFill>
          <a:blip r:embed="rId3"/>
          <a:srcRect/>
          <a:stretch>
            <a:fillRect/>
          </a:stretch>
        </p:blipFill>
        <p:spPr bwMode="auto">
          <a:xfrm>
            <a:off x="6143636" y="4572008"/>
            <a:ext cx="2095500" cy="1514475"/>
          </a:xfrm>
          <a:prstGeom prst="rect">
            <a:avLst/>
          </a:prstGeom>
          <a:noFill/>
        </p:spPr>
      </p:pic>
      <p:pic>
        <p:nvPicPr>
          <p:cNvPr id="158724" name="Picture 4" descr="http://upload.wikimedia.org/wikipedia/commons/thumb/3/34/2.1_MP_CCD_Close_Up.JPG/220px-2.1_MP_CCD_Close_Up.JPG">
            <a:hlinkClick r:id="rId4"/>
          </p:cNvPr>
          <p:cNvPicPr>
            <a:picLocks noChangeAspect="1" noChangeArrowheads="1"/>
          </p:cNvPicPr>
          <p:nvPr/>
        </p:nvPicPr>
        <p:blipFill>
          <a:blip r:embed="rId5"/>
          <a:srcRect/>
          <a:stretch>
            <a:fillRect/>
          </a:stretch>
        </p:blipFill>
        <p:spPr bwMode="auto">
          <a:xfrm>
            <a:off x="3428992" y="4357694"/>
            <a:ext cx="2095500" cy="2047876"/>
          </a:xfrm>
          <a:prstGeom prst="rect">
            <a:avLst/>
          </a:prstGeom>
          <a:noFill/>
        </p:spPr>
      </p:pic>
      <p:pic>
        <p:nvPicPr>
          <p:cNvPr id="158726" name="Picture 6" descr="http://upload.wikimedia.org/wikipedia/commons/thumb/7/7a/Webcam000c1.jpg/220px-Webcam000c1.jpg">
            <a:hlinkClick r:id="rId6"/>
          </p:cNvPr>
          <p:cNvPicPr>
            <a:picLocks noChangeAspect="1" noChangeArrowheads="1"/>
          </p:cNvPicPr>
          <p:nvPr/>
        </p:nvPicPr>
        <p:blipFill>
          <a:blip r:embed="rId7"/>
          <a:srcRect/>
          <a:stretch>
            <a:fillRect/>
          </a:stretch>
        </p:blipFill>
        <p:spPr bwMode="auto">
          <a:xfrm>
            <a:off x="928662" y="4572008"/>
            <a:ext cx="2095500" cy="16478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CCD</a:t>
            </a:r>
            <a:r>
              <a:rPr kumimoji="1" lang="zh-CN" altLang="en-US" sz="2800" b="1" dirty="0" smtClean="0">
                <a:solidFill>
                  <a:srgbClr val="F84D08"/>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3352264"/>
          </a:xfrm>
          <a:prstGeom prst="rect">
            <a:avLst/>
          </a:prstGeom>
          <a:noFill/>
          <a:ln w="9525" algn="ctr">
            <a:noFill/>
            <a:miter lim="800000"/>
            <a:headEnd/>
            <a:tailEnd/>
          </a:ln>
        </p:spPr>
        <p:txBody>
          <a:bodyPr wrap="square">
            <a:spAutoFit/>
          </a:bodyPr>
          <a:lstStyle/>
          <a:p>
            <a:pPr marL="179388" lvl="1" indent="542925">
              <a:lnSpc>
                <a:spcPct val="110000"/>
              </a:lnSpc>
              <a:spcBef>
                <a:spcPct val="20000"/>
              </a:spcBef>
              <a:buClr>
                <a:schemeClr val="hlink"/>
              </a:buClr>
              <a:buSzPct val="55000"/>
              <a:buFont typeface="Wingdings" pitchFamily="2" charset="2"/>
              <a:buNone/>
            </a:pPr>
            <a:r>
              <a:rPr lang="en-US" altLang="zh-CN" b="1" dirty="0" smtClean="0">
                <a:solidFill>
                  <a:schemeClr val="tx1"/>
                </a:solidFill>
                <a:latin typeface="宋体" pitchFamily="2" charset="-122"/>
                <a:ea typeface="宋体" pitchFamily="2" charset="-122"/>
              </a:rPr>
              <a:t>CCD</a:t>
            </a:r>
            <a:r>
              <a:rPr lang="zh-CN" altLang="en-US" b="1" dirty="0" smtClean="0">
                <a:solidFill>
                  <a:schemeClr val="tx1"/>
                </a:solidFill>
                <a:latin typeface="宋体" pitchFamily="2" charset="-122"/>
                <a:ea typeface="宋体" pitchFamily="2" charset="-122"/>
              </a:rPr>
              <a:t>图像传感器是在半导体集成电路的技术基础上发展起来的新型器件，容易和其他电路和元件集成并同时与计算机连用，构成的图像传感器图像清晰、精度较高，广泛应用于军事、天文、医学，光学信息处理，摄像以及工业检测与自动控制系统，尤其对于小工件尺寸的精确测量及产品质量缺陷的检测，以及在线生产工件的自动检测具有独到之处</a:t>
            </a:r>
            <a:r>
              <a:rPr lang="zh-CN" altLang="en-US" dirty="0" smtClean="0">
                <a:solidFill>
                  <a:schemeClr val="tx1"/>
                </a:solidFill>
              </a:rPr>
              <a:t>。</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CCD</a:t>
            </a:r>
            <a:r>
              <a:rPr kumimoji="1" lang="zh-CN" altLang="en-US" sz="2800" b="1" dirty="0" smtClean="0">
                <a:solidFill>
                  <a:srgbClr val="F84D08"/>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246769"/>
          </a:xfrm>
          <a:prstGeom prst="rect">
            <a:avLst/>
          </a:prstGeom>
          <a:noFill/>
          <a:ln w="9525" algn="ctr">
            <a:noFill/>
            <a:miter lim="800000"/>
            <a:headEnd/>
            <a:tailEnd/>
          </a:ln>
        </p:spPr>
        <p:txBody>
          <a:bodyPr wrap="square">
            <a:spAutoFit/>
          </a:bodyPr>
          <a:lstStyle/>
          <a:p>
            <a:pPr indent="273050"/>
            <a:r>
              <a:rPr lang="zh-CN" altLang="en-US" b="1" dirty="0" smtClean="0">
                <a:solidFill>
                  <a:schemeClr val="tx1"/>
                </a:solidFill>
                <a:latin typeface="宋体" pitchFamily="2" charset="-122"/>
                <a:ea typeface="宋体" pitchFamily="2" charset="-122"/>
              </a:rPr>
              <a:t>在热轧钢管的生产线上，人工检测钢管外径非常困难。用图像传感器检测可以得到相当精确的外径尺寸。这种测量装置的分辨力 </a:t>
            </a:r>
            <a:r>
              <a:rPr lang="en-US" altLang="zh-CN" b="1" dirty="0" smtClean="0">
                <a:solidFill>
                  <a:schemeClr val="tx1"/>
                </a:solidFill>
                <a:latin typeface="宋体" pitchFamily="2" charset="-122"/>
                <a:ea typeface="宋体" pitchFamily="2" charset="-122"/>
              </a:rPr>
              <a:t>R </a:t>
            </a:r>
            <a:r>
              <a:rPr lang="zh-CN" altLang="en-US" b="1" dirty="0" smtClean="0">
                <a:solidFill>
                  <a:schemeClr val="tx1"/>
                </a:solidFill>
                <a:latin typeface="宋体" pitchFamily="2" charset="-122"/>
                <a:ea typeface="宋体" pitchFamily="2" charset="-122"/>
              </a:rPr>
              <a:t>等于图像传感器的中心距 </a:t>
            </a:r>
            <a:r>
              <a:rPr lang="en-US" altLang="zh-CN" b="1" dirty="0" smtClean="0">
                <a:solidFill>
                  <a:schemeClr val="tx1"/>
                </a:solidFill>
                <a:latin typeface="宋体" pitchFamily="2" charset="-122"/>
                <a:ea typeface="宋体" pitchFamily="2" charset="-122"/>
              </a:rPr>
              <a:t>P </a:t>
            </a:r>
            <a:r>
              <a:rPr lang="zh-CN" altLang="en-US" b="1" dirty="0" smtClean="0">
                <a:solidFill>
                  <a:schemeClr val="tx1"/>
                </a:solidFill>
                <a:latin typeface="宋体" pitchFamily="2" charset="-122"/>
                <a:ea typeface="宋体" pitchFamily="2" charset="-122"/>
              </a:rPr>
              <a:t>除以光学倍率 </a:t>
            </a:r>
            <a:r>
              <a:rPr lang="en-US" altLang="zh-CN" b="1" dirty="0" smtClean="0">
                <a:solidFill>
                  <a:schemeClr val="tx1"/>
                </a:solidFill>
                <a:latin typeface="宋体" pitchFamily="2" charset="-122"/>
                <a:ea typeface="宋体" pitchFamily="2" charset="-122"/>
              </a:rPr>
              <a:t>M</a:t>
            </a:r>
            <a:r>
              <a:rPr lang="zh-CN" altLang="en-US" b="1" dirty="0" smtClean="0">
                <a:solidFill>
                  <a:schemeClr val="tx1"/>
                </a:solidFill>
                <a:latin typeface="宋体" pitchFamily="2" charset="-122"/>
                <a:ea typeface="宋体" pitchFamily="2" charset="-122"/>
              </a:rPr>
              <a:t>。</a:t>
            </a:r>
          </a:p>
          <a:p>
            <a:pPr indent="273050"/>
            <a:endParaRPr lang="zh-CN" altLang="en-US" dirty="0">
              <a:solidFill>
                <a:schemeClr val="tx1"/>
              </a:solidFill>
            </a:endParaRPr>
          </a:p>
        </p:txBody>
      </p:sp>
      <p:graphicFrame>
        <p:nvGraphicFramePr>
          <p:cNvPr id="134146" name="Object 4"/>
          <p:cNvGraphicFramePr>
            <a:graphicFrameLocks noChangeAspect="1"/>
          </p:cNvGraphicFramePr>
          <p:nvPr/>
        </p:nvGraphicFramePr>
        <p:xfrm>
          <a:off x="1619250" y="5262563"/>
          <a:ext cx="6096000" cy="1595437"/>
        </p:xfrm>
        <a:graphic>
          <a:graphicData uri="http://schemas.openxmlformats.org/presentationml/2006/ole">
            <mc:AlternateContent xmlns:mc="http://schemas.openxmlformats.org/markup-compatibility/2006">
              <mc:Choice xmlns:v="urn:schemas-microsoft-com:vml" Requires="v">
                <p:oleObj spid="_x0000_s134152" name="Image" r:id="rId3" imgW="12872573" imgH="3367455" progId="Photoshop.Image.6">
                  <p:embed/>
                </p:oleObj>
              </mc:Choice>
              <mc:Fallback>
                <p:oleObj name="Image" r:id="rId3" imgW="12872573" imgH="3367455"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5262563"/>
                        <a:ext cx="6096000" cy="159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1275" name="Object 11"/>
          <p:cNvGraphicFramePr>
            <a:graphicFrameLocks noGrp="1" noChangeAspect="1"/>
          </p:cNvGraphicFramePr>
          <p:nvPr/>
        </p:nvGraphicFramePr>
        <p:xfrm>
          <a:off x="2195513" y="3789363"/>
          <a:ext cx="4330700" cy="1584325"/>
        </p:xfrm>
        <a:graphic>
          <a:graphicData uri="http://schemas.openxmlformats.org/presentationml/2006/ole">
            <mc:AlternateContent xmlns:mc="http://schemas.openxmlformats.org/markup-compatibility/2006">
              <mc:Choice xmlns:v="urn:schemas-microsoft-com:vml" Requires="v">
                <p:oleObj spid="_x0000_s134153" name="Image" r:id="rId5" imgW="19004082" imgH="6955102" progId="">
                  <p:embed/>
                </p:oleObj>
              </mc:Choice>
              <mc:Fallback>
                <p:oleObj name="Image" r:id="rId5" imgW="19004082" imgH="6955102" progId="">
                  <p:embed/>
                  <p:pic>
                    <p:nvPicPr>
                      <p:cNvPr id="0" name="Object 11"/>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3789363"/>
                        <a:ext cx="4330700"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51275"/>
                                        </p:tgtEl>
                                        <p:attrNameLst>
                                          <p:attrName>style.visibility</p:attrName>
                                        </p:attrNameLst>
                                      </p:cBhvr>
                                      <p:to>
                                        <p:strVal val="visible"/>
                                      </p:to>
                                    </p:set>
                                    <p:animEffect transition="in" filter="strips(downRight)">
                                      <p:cBhvr>
                                        <p:cTn id="11" dur="500"/>
                                        <p:tgtEl>
                                          <p:spTgt spid="651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CCD</a:t>
            </a:r>
            <a:r>
              <a:rPr kumimoji="1" lang="zh-CN" altLang="en-US" sz="2800" b="1" dirty="0" smtClean="0">
                <a:solidFill>
                  <a:srgbClr val="F84D08"/>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246769"/>
          </a:xfrm>
          <a:prstGeom prst="rect">
            <a:avLst/>
          </a:prstGeom>
          <a:noFill/>
          <a:ln w="9525" algn="ctr">
            <a:noFill/>
            <a:miter lim="800000"/>
            <a:headEnd/>
            <a:tailEnd/>
          </a:ln>
        </p:spPr>
        <p:txBody>
          <a:bodyPr wrap="square">
            <a:spAutoFit/>
          </a:bodyPr>
          <a:lstStyle/>
          <a:p>
            <a:pPr indent="352425"/>
            <a:r>
              <a:rPr lang="zh-CN" altLang="en-US" b="1" dirty="0" smtClean="0">
                <a:solidFill>
                  <a:schemeClr val="tx1"/>
                </a:solidFill>
                <a:latin typeface="宋体" pitchFamily="2" charset="-122"/>
                <a:ea typeface="宋体" pitchFamily="2" charset="-122"/>
              </a:rPr>
              <a:t>对于本身不发光的物体可采用外部光源照明。任何能够用光学成像的零件都可以用这种方法，实现非接触尺寸在线自动检测，以达到自动控制的目的。</a:t>
            </a:r>
          </a:p>
          <a:p>
            <a:pPr indent="352425"/>
            <a:r>
              <a:rPr lang="zh-CN" altLang="en-US" b="1" dirty="0" smtClean="0">
                <a:solidFill>
                  <a:schemeClr val="tx1"/>
                </a:solidFill>
                <a:latin typeface="宋体" pitchFamily="2" charset="-122"/>
                <a:ea typeface="宋体" pitchFamily="2" charset="-122"/>
              </a:rPr>
              <a:t>对于大工件或测量精度要求高的零件，可采用“双眼”系统。检测物体的两个边缘尺寸。</a:t>
            </a:r>
            <a:endParaRPr lang="zh-CN" altLang="en-US" dirty="0">
              <a:solidFill>
                <a:schemeClr val="tx1"/>
              </a:solidFill>
            </a:endParaRPr>
          </a:p>
        </p:txBody>
      </p:sp>
      <p:graphicFrame>
        <p:nvGraphicFramePr>
          <p:cNvPr id="135172" name="Object 6"/>
          <p:cNvGraphicFramePr>
            <a:graphicFrameLocks noChangeAspect="1"/>
          </p:cNvGraphicFramePr>
          <p:nvPr/>
        </p:nvGraphicFramePr>
        <p:xfrm>
          <a:off x="3132138" y="4449763"/>
          <a:ext cx="2408237" cy="2408237"/>
        </p:xfrm>
        <a:graphic>
          <a:graphicData uri="http://schemas.openxmlformats.org/presentationml/2006/ole">
            <mc:AlternateContent xmlns:mc="http://schemas.openxmlformats.org/markup-compatibility/2006">
              <mc:Choice xmlns:v="urn:schemas-microsoft-com:vml" Requires="v">
                <p:oleObj spid="_x0000_s135175" name="Image" r:id="rId3" imgW="5146488" imgH="5146488" progId="Photoshop.Image.6">
                  <p:embed/>
                </p:oleObj>
              </mc:Choice>
              <mc:Fallback>
                <p:oleObj name="Image" r:id="rId3" imgW="5146488" imgH="5146488" progId="Photoshop.Image.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4449763"/>
                        <a:ext cx="2408237" cy="240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CCD</a:t>
            </a:r>
            <a:r>
              <a:rPr kumimoji="1" lang="zh-CN" altLang="en-US" sz="2800" b="1" dirty="0" smtClean="0">
                <a:solidFill>
                  <a:srgbClr val="F84D08"/>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3539430"/>
          </a:xfrm>
          <a:prstGeom prst="rect">
            <a:avLst/>
          </a:prstGeom>
          <a:noFill/>
          <a:ln w="9525" algn="ctr">
            <a:noFill/>
            <a:miter lim="800000"/>
            <a:headEnd/>
            <a:tailEnd/>
          </a:ln>
        </p:spPr>
        <p:txBody>
          <a:bodyPr wrap="square">
            <a:spAutoFit/>
          </a:bodyPr>
          <a:lstStyle/>
          <a:p>
            <a:pPr indent="352425"/>
            <a:r>
              <a:rPr lang="zh-CN" altLang="en-US" b="1" dirty="0" smtClean="0">
                <a:solidFill>
                  <a:schemeClr val="tx1"/>
                </a:solidFill>
                <a:latin typeface="Verdana" pitchFamily="34" charset="0"/>
                <a:ea typeface="宋体" pitchFamily="2" charset="-122"/>
              </a:rPr>
              <a:t>用环形线列阵检测圆筒内壁或外表缺陷是一种理想器件。用一个锥形反射镜，装上光源，当光照射圆筒内壁时，可把圆筒内壁的圆周带状图像，通过镜头聚焦投射到环形列阵上去，如果圆周内壁表面光滑，则环形列阵输出一系列幅值相同的串行视频脉冲。若内壁表面有缺陷，则会改变反射特性，影响照在相应光敏单元上的光通量，使相应的视频脉冲幅度变化，即可测出内壁某处的缺陷</a:t>
            </a:r>
            <a:r>
              <a:rPr lang="zh-CN" altLang="en-US" sz="2000" dirty="0" smtClean="0">
                <a:solidFill>
                  <a:schemeClr val="tx1"/>
                </a:solidFill>
                <a:latin typeface="Verdana" pitchFamily="34" charset="0"/>
                <a:ea typeface="宋体" pitchFamily="2" charset="-122"/>
              </a:rPr>
              <a:t>。</a:t>
            </a:r>
            <a:endParaRPr lang="zh-CN" altLang="en-US" dirty="0">
              <a:solidFill>
                <a:schemeClr val="tx1"/>
              </a:solidFill>
            </a:endParaRPr>
          </a:p>
        </p:txBody>
      </p:sp>
      <p:graphicFrame>
        <p:nvGraphicFramePr>
          <p:cNvPr id="136195" name="Object 6"/>
          <p:cNvGraphicFramePr>
            <a:graphicFrameLocks noChangeAspect="1"/>
          </p:cNvGraphicFramePr>
          <p:nvPr/>
        </p:nvGraphicFramePr>
        <p:xfrm>
          <a:off x="1116013" y="5445125"/>
          <a:ext cx="7319962" cy="1046163"/>
        </p:xfrm>
        <a:graphic>
          <a:graphicData uri="http://schemas.openxmlformats.org/presentationml/2006/ole">
            <mc:AlternateContent xmlns:mc="http://schemas.openxmlformats.org/markup-compatibility/2006">
              <mc:Choice xmlns:v="urn:schemas-microsoft-com:vml" Requires="v">
                <p:oleObj spid="_x0000_s136198" name="Image" r:id="rId3" imgW="20700318" imgH="2960819" progId="Photoshop.Image.6">
                  <p:embed/>
                </p:oleObj>
              </mc:Choice>
              <mc:Fallback>
                <p:oleObj name="Image" r:id="rId3" imgW="20700318" imgH="2960819" progId="Photoshop.Image.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5445125"/>
                        <a:ext cx="7319962" cy="10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CCD</a:t>
            </a:r>
            <a:r>
              <a:rPr kumimoji="1" lang="zh-CN" altLang="en-US" sz="2800" b="1" dirty="0" smtClean="0">
                <a:solidFill>
                  <a:srgbClr val="F84D08"/>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graphicFrame>
        <p:nvGraphicFramePr>
          <p:cNvPr id="8" name="Object 5"/>
          <p:cNvGraphicFramePr>
            <a:graphicFrameLocks noChangeAspect="1"/>
          </p:cNvGraphicFramePr>
          <p:nvPr/>
        </p:nvGraphicFramePr>
        <p:xfrm>
          <a:off x="2124075" y="1700213"/>
          <a:ext cx="4262438" cy="4679950"/>
        </p:xfrm>
        <a:graphic>
          <a:graphicData uri="http://schemas.openxmlformats.org/presentationml/2006/ole">
            <mc:AlternateContent xmlns:mc="http://schemas.openxmlformats.org/markup-compatibility/2006">
              <mc:Choice xmlns:v="urn:schemas-microsoft-com:vml" Requires="v">
                <p:oleObj spid="_x0000_s137222" name="Image" r:id="rId3" imgW="17926531" imgH="19680000" progId="">
                  <p:embed/>
                </p:oleObj>
              </mc:Choice>
              <mc:Fallback>
                <p:oleObj name="Image" r:id="rId3" imgW="17926531" imgH="19680000"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700213"/>
                        <a:ext cx="4262438"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6"/>
          <p:cNvSpPr txBox="1">
            <a:spLocks noChangeArrowheads="1"/>
          </p:cNvSpPr>
          <p:nvPr/>
        </p:nvSpPr>
        <p:spPr bwMode="auto">
          <a:xfrm>
            <a:off x="2771775" y="6327775"/>
            <a:ext cx="3024188" cy="530225"/>
          </a:xfrm>
          <a:prstGeom prst="rect">
            <a:avLst/>
          </a:prstGeom>
          <a:noFill/>
          <a:ln w="9525">
            <a:noFill/>
            <a:miter lim="800000"/>
            <a:headEnd/>
            <a:tailEnd/>
          </a:ln>
        </p:spPr>
        <p:txBody>
          <a:bodyPr>
            <a:spAutoFit/>
          </a:bodyPr>
          <a:lstStyle/>
          <a:p>
            <a:pPr>
              <a:lnSpc>
                <a:spcPct val="120000"/>
              </a:lnSpc>
              <a:spcBef>
                <a:spcPct val="20000"/>
              </a:spcBef>
            </a:pPr>
            <a:r>
              <a:rPr kumimoji="0" lang="zh-CN" altLang="en-US" sz="2400">
                <a:solidFill>
                  <a:srgbClr val="CC3300"/>
                </a:solidFill>
                <a:latin typeface="Arial" charset="0"/>
                <a:ea typeface="宋体" pitchFamily="2" charset="-122"/>
              </a:rPr>
              <a:t>钞票检查系统原理图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en-US" altLang="zh-CN" sz="2800" b="1" dirty="0" smtClean="0">
                <a:solidFill>
                  <a:srgbClr val="F84D08"/>
                </a:solidFill>
                <a:latin typeface="黑体" pitchFamily="49" charset="-122"/>
                <a:ea typeface="黑体" pitchFamily="49" charset="-122"/>
              </a:rPr>
              <a:t>CMOS</a:t>
            </a:r>
            <a:r>
              <a:rPr kumimoji="1" lang="zh-CN" altLang="en-US" sz="2800" b="1" dirty="0" smtClean="0">
                <a:solidFill>
                  <a:srgbClr val="F84D08"/>
                </a:solidFill>
                <a:latin typeface="黑体" pitchFamily="49" charset="-122"/>
                <a:ea typeface="黑体" pitchFamily="49" charset="-122"/>
              </a:rPr>
              <a:t>器件</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8.6 </a:t>
            </a:r>
            <a:r>
              <a:rPr lang="zh-CN" altLang="en-US" sz="4400" b="1" dirty="0" smtClean="0">
                <a:latin typeface="黑体" pitchFamily="49" charset="-122"/>
                <a:ea typeface="黑体" pitchFamily="49" charset="-122"/>
              </a:rPr>
              <a:t>电荷耦合器件</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9" name="标题 1"/>
          <p:cNvSpPr txBox="1">
            <a:spLocks/>
          </p:cNvSpPr>
          <p:nvPr/>
        </p:nvSpPr>
        <p:spPr>
          <a:xfrm>
            <a:off x="214282" y="2071678"/>
            <a:ext cx="9144000" cy="785818"/>
          </a:xfrm>
          <a:prstGeom prst="rect">
            <a:avLst/>
          </a:prstGeom>
        </p:spPr>
        <p:txBody>
          <a:bodyPr vert="horz" lIns="91440" tIns="45720" rIns="91440" bIns="45720" rtlCol="0" anchor="t" anchorCtr="0">
            <a:noAutofit/>
          </a:bodyPr>
          <a:lstStyle/>
          <a:p>
            <a:pPr marL="1101725" lvl="1" indent="-742950">
              <a:spcBef>
                <a:spcPct val="0"/>
              </a:spcBef>
              <a:defRPr/>
            </a:pPr>
            <a:endParaRPr kumimoji="0" lang="zh-CN" altLang="en-US" sz="3200" b="1" i="0" u="none" strike="noStrike" kern="0" cap="none" spc="0" normalizeH="0" baseline="0" noProof="0" dirty="0">
              <a:ln>
                <a:noFill/>
              </a:ln>
              <a:solidFill>
                <a:srgbClr val="0070C0"/>
              </a:solidFill>
              <a:effectLst/>
              <a:uLnTx/>
              <a:uFillTx/>
            </a:endParaRPr>
          </a:p>
        </p:txBody>
      </p:sp>
      <p:sp>
        <p:nvSpPr>
          <p:cNvPr id="10" name="矩形 9"/>
          <p:cNvSpPr/>
          <p:nvPr/>
        </p:nvSpPr>
        <p:spPr>
          <a:xfrm>
            <a:off x="263066" y="2078558"/>
            <a:ext cx="5429288" cy="1938992"/>
          </a:xfrm>
          <a:prstGeom prst="rect">
            <a:avLst/>
          </a:prstGeom>
        </p:spPr>
        <p:txBody>
          <a:bodyPr wrap="square">
            <a:spAutoFit/>
          </a:bodyPr>
          <a:lstStyle/>
          <a:p>
            <a:r>
              <a:rPr lang="en-US" sz="2400" dirty="0">
                <a:latin typeface="Times New Roman" pitchFamily="18" charset="0"/>
                <a:cs typeface="Times New Roman" pitchFamily="18" charset="0"/>
              </a:rPr>
              <a:t>An active-pixel sensor (APS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is an image sensor consisting of an integrated circuit containing an array of pixel sensors, each pixel containing a</a:t>
            </a:r>
            <a:r>
              <a:rPr lang="en-US" sz="2400" dirty="0">
                <a:latin typeface="Times New Roman" pitchFamily="18" charset="0"/>
                <a:cs typeface="Times New Roman" pitchFamily="18" charset="0"/>
              </a:rPr>
              <a:t> photodetector </a:t>
            </a:r>
            <a:r>
              <a:rPr lang="en-US" sz="2400" dirty="0">
                <a:latin typeface="Times New Roman" pitchFamily="18" charset="0"/>
                <a:cs typeface="Times New Roman" pitchFamily="18" charset="0"/>
              </a:rPr>
              <a:t>and an active amplifier. </a:t>
            </a:r>
          </a:p>
        </p:txBody>
      </p:sp>
      <p:sp>
        <p:nvSpPr>
          <p:cNvPr id="12" name="TextBox 11"/>
          <p:cNvSpPr txBox="1"/>
          <p:nvPr/>
        </p:nvSpPr>
        <p:spPr>
          <a:xfrm>
            <a:off x="263066" y="4035529"/>
            <a:ext cx="8643998" cy="1569660"/>
          </a:xfrm>
          <a:prstGeom prst="rect">
            <a:avLst/>
          </a:prstGeom>
          <a:noFill/>
        </p:spPr>
        <p:txBody>
          <a:bodyPr wrap="square" rtlCol="0">
            <a:spAutoFit/>
          </a:bodyPr>
          <a:lstStyle/>
          <a:p>
            <a:r>
              <a:rPr lang="en-US" sz="2400" dirty="0" smtClean="0">
                <a:latin typeface="Times New Roman" pitchFamily="18" charset="0"/>
                <a:cs typeface="Times New Roman" pitchFamily="18" charset="0"/>
              </a:rPr>
              <a:t>They generally consume less power than CCDs, have less image lag, and require less specialized manufacturing facilities. Unlike CCDs, APS sensors can combine the image sensor function and image processing functions within the same integrated circuit. </a:t>
            </a:r>
            <a:endParaRPr lang="zh-CN" altLang="en-US" sz="2400" dirty="0" smtClean="0">
              <a:latin typeface="Times New Roman" pitchFamily="18" charset="0"/>
              <a:cs typeface="Times New Roman" pitchFamily="18" charset="0"/>
            </a:endParaRPr>
          </a:p>
        </p:txBody>
      </p:sp>
      <p:pic>
        <p:nvPicPr>
          <p:cNvPr id="13" name="Picture 2"/>
          <p:cNvPicPr>
            <a:picLocks noChangeAspect="1" noChangeArrowheads="1"/>
          </p:cNvPicPr>
          <p:nvPr/>
        </p:nvPicPr>
        <p:blipFill>
          <a:blip r:embed="rId2"/>
          <a:srcRect/>
          <a:stretch>
            <a:fillRect/>
          </a:stretch>
        </p:blipFill>
        <p:spPr bwMode="auto">
          <a:xfrm>
            <a:off x="6088037" y="1688191"/>
            <a:ext cx="2724150" cy="2286000"/>
          </a:xfrm>
          <a:prstGeom prst="rect">
            <a:avLst/>
          </a:prstGeom>
          <a:noFill/>
          <a:ln w="9525">
            <a:noFill/>
            <a:miter lim="800000"/>
            <a:headEnd/>
            <a:tailEnd/>
          </a:ln>
          <a:effectLst/>
        </p:spPr>
      </p:pic>
      <p:pic>
        <p:nvPicPr>
          <p:cNvPr id="14" name="Picture 2" descr="&quot;a human eye&quot;">
            <a:hlinkClick r:id="rId3"/>
          </p:cNvPr>
          <p:cNvPicPr>
            <a:picLocks noChangeAspect="1" noChangeArrowheads="1"/>
          </p:cNvPicPr>
          <p:nvPr/>
        </p:nvPicPr>
        <p:blipFill>
          <a:blip r:embed="rId4"/>
          <a:srcRect/>
          <a:stretch>
            <a:fillRect/>
          </a:stretch>
        </p:blipFill>
        <p:spPr bwMode="auto">
          <a:xfrm>
            <a:off x="1259632" y="5660960"/>
            <a:ext cx="1313672" cy="877772"/>
          </a:xfrm>
          <a:prstGeom prst="rect">
            <a:avLst/>
          </a:prstGeom>
          <a:noFill/>
        </p:spPr>
      </p:pic>
      <p:sp>
        <p:nvSpPr>
          <p:cNvPr id="15" name="矩形 14"/>
          <p:cNvSpPr/>
          <p:nvPr/>
        </p:nvSpPr>
        <p:spPr>
          <a:xfrm>
            <a:off x="2922407" y="5869013"/>
            <a:ext cx="5643570" cy="461665"/>
          </a:xfrm>
          <a:prstGeom prst="rect">
            <a:avLst/>
          </a:prstGeom>
        </p:spPr>
        <p:txBody>
          <a:bodyPr wrap="square">
            <a:spAutoFit/>
          </a:bodyPr>
          <a:lstStyle/>
          <a:p>
            <a:r>
              <a:rPr lang="en-US" sz="2400" dirty="0">
                <a:latin typeface="Times New Roman" pitchFamily="18" charset="0"/>
                <a:cs typeface="Times New Roman" pitchFamily="18" charset="0"/>
              </a:rPr>
              <a:t>The angular resolution of the naked </a:t>
            </a:r>
            <a:r>
              <a:rPr lang="en-US" sz="2400" dirty="0" smtClean="0">
                <a:latin typeface="Times New Roman" pitchFamily="18" charset="0"/>
                <a:cs typeface="Times New Roman" pitchFamily="18" charset="0"/>
              </a:rPr>
              <a:t>eye?</a:t>
            </a:r>
            <a:endParaRPr lang="zh-CN" alt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8.7 </a:t>
            </a:r>
            <a:r>
              <a:rPr lang="zh-CN" altLang="en-US" b="1" dirty="0" smtClean="0">
                <a:solidFill>
                  <a:schemeClr val="tx2"/>
                </a:solidFill>
                <a:latin typeface="黑体" pitchFamily="49" charset="-122"/>
                <a:ea typeface="黑体" pitchFamily="49" charset="-122"/>
              </a:rPr>
              <a:t>光栅式传感器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714488"/>
            <a:ext cx="8572560" cy="1729704"/>
          </a:xfrm>
          <a:prstGeom prst="rect">
            <a:avLst/>
          </a:prstGeom>
        </p:spPr>
        <p:txBody>
          <a:bodyPr wrap="square">
            <a:spAutoFit/>
          </a:bodyPr>
          <a:lstStyle/>
          <a:p>
            <a:pPr marL="179388" lvl="1" indent="622300">
              <a:lnSpc>
                <a:spcPct val="90000"/>
              </a:lnSpc>
              <a:spcBef>
                <a:spcPct val="20000"/>
              </a:spcBef>
              <a:buClr>
                <a:schemeClr val="hlink"/>
              </a:buClr>
              <a:buSzPct val="55000"/>
              <a:buFont typeface="Wingdings" pitchFamily="2" charset="2"/>
              <a:buNone/>
            </a:pPr>
            <a:r>
              <a:rPr lang="zh-CN" altLang="en-US" b="1" dirty="0" smtClean="0">
                <a:solidFill>
                  <a:schemeClr val="tx1"/>
                </a:solidFill>
                <a:latin typeface="宋体" pitchFamily="2" charset="-122"/>
                <a:ea typeface="宋体" pitchFamily="2" charset="-122"/>
              </a:rPr>
              <a:t>由光源、透镜、主光栅、指示光栅和光电元件构成的，其中光栅是光栅式传感器的主要元件。</a:t>
            </a:r>
            <a:endParaRPr lang="en-US" altLang="zh-CN" b="1" dirty="0" smtClean="0">
              <a:solidFill>
                <a:schemeClr val="tx1"/>
              </a:solidFill>
              <a:latin typeface="宋体" pitchFamily="2" charset="-122"/>
              <a:ea typeface="宋体" pitchFamily="2" charset="-122"/>
            </a:endParaRPr>
          </a:p>
          <a:p>
            <a:pPr marL="179388" lvl="1" indent="622300">
              <a:lnSpc>
                <a:spcPct val="90000"/>
              </a:lnSpc>
              <a:spcBef>
                <a:spcPct val="20000"/>
              </a:spcBef>
              <a:buClr>
                <a:schemeClr val="hlink"/>
              </a:buClr>
              <a:buSzPct val="55000"/>
              <a:buFont typeface="Wingdings" pitchFamily="2" charset="2"/>
              <a:buNone/>
            </a:pPr>
            <a:r>
              <a:rPr lang="zh-CN" altLang="en-US" b="1" dirty="0" smtClean="0">
                <a:solidFill>
                  <a:schemeClr val="tx1"/>
                </a:solidFill>
                <a:latin typeface="宋体" pitchFamily="2" charset="-122"/>
                <a:ea typeface="宋体" pitchFamily="2" charset="-122"/>
              </a:rPr>
              <a:t>基本工作原理是利用光栅的</a:t>
            </a:r>
            <a:r>
              <a:rPr lang="zh-CN" altLang="en-US" b="1" dirty="0" smtClean="0">
                <a:solidFill>
                  <a:srgbClr val="FF0000"/>
                </a:solidFill>
                <a:latin typeface="宋体" pitchFamily="2" charset="-122"/>
                <a:ea typeface="宋体" pitchFamily="2" charset="-122"/>
              </a:rPr>
              <a:t>莫尔条纹</a:t>
            </a:r>
            <a:r>
              <a:rPr lang="zh-CN" altLang="en-US" b="1" dirty="0" smtClean="0">
                <a:solidFill>
                  <a:schemeClr val="tx1"/>
                </a:solidFill>
                <a:latin typeface="宋体" pitchFamily="2" charset="-122"/>
                <a:ea typeface="宋体" pitchFamily="2" charset="-122"/>
              </a:rPr>
              <a:t>现象进行测量。</a:t>
            </a:r>
            <a:endParaRPr lang="zh-CN" altLang="en-US" dirty="0">
              <a:solidFill>
                <a:schemeClr val="tx1"/>
              </a:solidFill>
            </a:endParaRPr>
          </a:p>
        </p:txBody>
      </p:sp>
      <p:pic>
        <p:nvPicPr>
          <p:cNvPr id="165889" name="Picture 1"/>
          <p:cNvPicPr>
            <a:picLocks noChangeAspect="1" noChangeArrowheads="1"/>
          </p:cNvPicPr>
          <p:nvPr/>
        </p:nvPicPr>
        <p:blipFill>
          <a:blip r:embed="rId2"/>
          <a:srcRect/>
          <a:stretch>
            <a:fillRect/>
          </a:stretch>
        </p:blipFill>
        <p:spPr bwMode="auto">
          <a:xfrm>
            <a:off x="1285852" y="3714752"/>
            <a:ext cx="6505575" cy="22860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分类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246769"/>
          </a:xfrm>
          <a:prstGeom prst="rect">
            <a:avLst/>
          </a:prstGeom>
          <a:noFill/>
          <a:ln w="9525" algn="ctr">
            <a:noFill/>
            <a:miter lim="800000"/>
            <a:headEnd/>
            <a:tailEnd/>
          </a:ln>
        </p:spPr>
        <p:txBody>
          <a:bodyPr wrap="square">
            <a:spAutoFit/>
          </a:bodyPr>
          <a:lstStyle/>
          <a:p>
            <a:pPr indent="274638">
              <a:lnSpc>
                <a:spcPct val="110000"/>
              </a:lnSpc>
              <a:spcBef>
                <a:spcPct val="20000"/>
              </a:spcBef>
              <a:buClr>
                <a:schemeClr val="bg1"/>
              </a:buClr>
              <a:buFont typeface="Wingdings" pitchFamily="2" charset="2"/>
              <a:buNone/>
            </a:pPr>
            <a:r>
              <a:rPr kumimoji="0" lang="zh-CN" altLang="en-US" b="1" dirty="0" smtClean="0">
                <a:solidFill>
                  <a:schemeClr val="tx1"/>
                </a:solidFill>
                <a:latin typeface="宋体" pitchFamily="2" charset="-122"/>
                <a:ea typeface="宋体" pitchFamily="2" charset="-122"/>
              </a:rPr>
              <a:t>按工作原理分：</a:t>
            </a:r>
            <a:endParaRPr kumimoji="0" lang="en-US" altLang="zh-CN" b="1" dirty="0" smtClean="0">
              <a:solidFill>
                <a:schemeClr val="tx1"/>
              </a:solidFill>
              <a:latin typeface="宋体" pitchFamily="2" charset="-122"/>
              <a:ea typeface="宋体" pitchFamily="2" charset="-122"/>
            </a:endParaRPr>
          </a:p>
          <a:p>
            <a:pPr lvl="1" indent="274638">
              <a:lnSpc>
                <a:spcPct val="110000"/>
              </a:lnSpc>
              <a:spcBef>
                <a:spcPct val="20000"/>
              </a:spcBef>
              <a:buClr>
                <a:schemeClr val="tx1"/>
              </a:buClr>
              <a:buFont typeface="Wingdings" pitchFamily="2" charset="2"/>
              <a:buChar char="u"/>
            </a:pPr>
            <a:r>
              <a:rPr kumimoji="0" lang="zh-CN" altLang="en-US" b="1" dirty="0" smtClean="0">
                <a:solidFill>
                  <a:schemeClr val="tx1"/>
                </a:solidFill>
                <a:latin typeface="宋体" pitchFamily="2" charset="-122"/>
                <a:ea typeface="宋体" pitchFamily="2" charset="-122"/>
              </a:rPr>
              <a:t>物理光栅：用于光谱仪器，作色散元件；</a:t>
            </a:r>
            <a:endParaRPr kumimoji="0" lang="en-US" altLang="zh-CN" b="1" dirty="0" smtClean="0">
              <a:solidFill>
                <a:schemeClr val="tx1"/>
              </a:solidFill>
              <a:latin typeface="宋体" pitchFamily="2" charset="-122"/>
              <a:ea typeface="宋体" pitchFamily="2" charset="-122"/>
            </a:endParaRPr>
          </a:p>
          <a:p>
            <a:pPr lvl="1" indent="274638">
              <a:lnSpc>
                <a:spcPct val="110000"/>
              </a:lnSpc>
              <a:spcBef>
                <a:spcPct val="20000"/>
              </a:spcBef>
              <a:buClr>
                <a:schemeClr val="tx1"/>
              </a:buClr>
              <a:buFont typeface="Wingdings" pitchFamily="2" charset="2"/>
              <a:buChar char="u"/>
            </a:pPr>
            <a:r>
              <a:rPr kumimoji="0" lang="zh-CN" altLang="en-US" b="1" dirty="0" smtClean="0">
                <a:solidFill>
                  <a:schemeClr val="tx1"/>
                </a:solidFill>
                <a:latin typeface="宋体" pitchFamily="2" charset="-122"/>
                <a:ea typeface="宋体" pitchFamily="2" charset="-122"/>
              </a:rPr>
              <a:t>计量光栅：用于精密测量和精密机械的自动控制；</a:t>
            </a:r>
            <a:endParaRPr kumimoji="0" lang="en-US" altLang="zh-CN" b="1" dirty="0" smtClean="0">
              <a:solidFill>
                <a:schemeClr val="tx1"/>
              </a:solidFill>
              <a:latin typeface="宋体" pitchFamily="2" charset="-122"/>
              <a:ea typeface="宋体" pitchFamily="2" charset="-122"/>
            </a:endParaRPr>
          </a:p>
          <a:p>
            <a:pPr indent="274638">
              <a:lnSpc>
                <a:spcPct val="110000"/>
              </a:lnSpc>
              <a:spcBef>
                <a:spcPct val="20000"/>
              </a:spcBef>
              <a:buClr>
                <a:schemeClr val="bg1"/>
              </a:buClr>
              <a:buFont typeface="Wingdings" pitchFamily="2" charset="2"/>
              <a:buNone/>
            </a:pPr>
            <a:r>
              <a:rPr kumimoji="0" lang="zh-CN" altLang="en-US" b="1" dirty="0" smtClean="0">
                <a:solidFill>
                  <a:schemeClr val="tx1"/>
                </a:solidFill>
                <a:latin typeface="宋体" pitchFamily="2" charset="-122"/>
                <a:ea typeface="宋体" pitchFamily="2" charset="-122"/>
              </a:rPr>
              <a:t>计量光栅按其用途可分为长光栅和圆光栅两类。</a:t>
            </a:r>
            <a:endParaRPr lang="zh-CN" altLang="en-US" dirty="0">
              <a:solidFill>
                <a:schemeClr val="tx1"/>
              </a:solidFill>
            </a:endParaRPr>
          </a:p>
        </p:txBody>
      </p:sp>
      <p:pic>
        <p:nvPicPr>
          <p:cNvPr id="8" name="Picture 8"/>
          <p:cNvPicPr>
            <a:picLocks noChangeAspect="1" noChangeArrowheads="1"/>
          </p:cNvPicPr>
          <p:nvPr/>
        </p:nvPicPr>
        <p:blipFill>
          <a:blip r:embed="rId2"/>
          <a:srcRect/>
          <a:stretch>
            <a:fillRect/>
          </a:stretch>
        </p:blipFill>
        <p:spPr bwMode="auto">
          <a:xfrm>
            <a:off x="2357422" y="4357694"/>
            <a:ext cx="4002088" cy="218295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长光栅和圆光栅</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graphicFrame>
        <p:nvGraphicFramePr>
          <p:cNvPr id="663558" name="Object 6"/>
          <p:cNvGraphicFramePr>
            <a:graphicFrameLocks noGrp="1" noChangeAspect="1"/>
          </p:cNvGraphicFramePr>
          <p:nvPr/>
        </p:nvGraphicFramePr>
        <p:xfrm>
          <a:off x="684213" y="3048000"/>
          <a:ext cx="4397375" cy="2030413"/>
        </p:xfrm>
        <a:graphic>
          <a:graphicData uri="http://schemas.openxmlformats.org/presentationml/2006/ole">
            <mc:AlternateContent xmlns:mc="http://schemas.openxmlformats.org/markup-compatibility/2006">
              <mc:Choice xmlns:v="urn:schemas-microsoft-com:vml" Requires="v">
                <p:oleObj spid="_x0000_s139272" name="Image" r:id="rId3" imgW="30083265" imgH="13890612" progId="">
                  <p:embed/>
                </p:oleObj>
              </mc:Choice>
              <mc:Fallback>
                <p:oleObj name="Image" r:id="rId3" imgW="30083265" imgH="13890612" progId="">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048000"/>
                        <a:ext cx="4397375" cy="203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3559" name="Object 7"/>
          <p:cNvGraphicFramePr>
            <a:graphicFrameLocks noChangeAspect="1"/>
          </p:cNvGraphicFramePr>
          <p:nvPr/>
        </p:nvGraphicFramePr>
        <p:xfrm>
          <a:off x="5148263" y="1844675"/>
          <a:ext cx="3700462" cy="4525963"/>
        </p:xfrm>
        <a:graphic>
          <a:graphicData uri="http://schemas.openxmlformats.org/presentationml/2006/ole">
            <mc:AlternateContent xmlns:mc="http://schemas.openxmlformats.org/markup-compatibility/2006">
              <mc:Choice xmlns:v="urn:schemas-microsoft-com:vml" Requires="v">
                <p:oleObj spid="_x0000_s139273" name="Image" r:id="rId5" imgW="20826122" imgH="25469388" progId="">
                  <p:embed/>
                </p:oleObj>
              </mc:Choice>
              <mc:Fallback>
                <p:oleObj name="Image" r:id="rId5" imgW="20826122" imgH="25469388"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1844675"/>
                        <a:ext cx="370046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63558"/>
                                        </p:tgtEl>
                                        <p:attrNameLst>
                                          <p:attrName>style.visibility</p:attrName>
                                        </p:attrNameLst>
                                      </p:cBhvr>
                                      <p:to>
                                        <p:strVal val="visible"/>
                                      </p:to>
                                    </p:set>
                                    <p:animEffect transition="in" filter="strips(downRight)">
                                      <p:cBhvr>
                                        <p:cTn id="7" dur="500"/>
                                        <p:tgtEl>
                                          <p:spTgt spid="663558"/>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63559"/>
                                        </p:tgtEl>
                                        <p:attrNameLst>
                                          <p:attrName>style.visibility</p:attrName>
                                        </p:attrNameLst>
                                      </p:cBhvr>
                                      <p:to>
                                        <p:strVal val="visible"/>
                                      </p:to>
                                    </p:set>
                                    <p:animEffect transition="in" filter="strips(downRight)">
                                      <p:cBhvr>
                                        <p:cTn id="11" dur="500"/>
                                        <p:tgtEl>
                                          <p:spTgt spid="66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特点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3108543"/>
          </a:xfrm>
          <a:prstGeom prst="rect">
            <a:avLst/>
          </a:prstGeom>
          <a:noFill/>
          <a:ln w="9525" algn="ctr">
            <a:noFill/>
            <a:miter lim="800000"/>
            <a:headEnd/>
            <a:tailEnd/>
          </a:ln>
        </p:spPr>
        <p:txBody>
          <a:bodyPr wrap="square">
            <a:spAutoFit/>
          </a:bodyPr>
          <a:lstStyle/>
          <a:p>
            <a:pPr marL="441325" indent="-346075">
              <a:lnSpc>
                <a:spcPct val="110000"/>
              </a:lnSpc>
              <a:spcBef>
                <a:spcPct val="20000"/>
              </a:spcBef>
              <a:buClr>
                <a:schemeClr val="tx1"/>
              </a:buClr>
              <a:buFont typeface="Wingdings" pitchFamily="2" charset="2"/>
              <a:buChar char="u"/>
            </a:pPr>
            <a:r>
              <a:rPr kumimoji="0" lang="zh-CN" altLang="en-US" b="1" dirty="0" smtClean="0">
                <a:solidFill>
                  <a:schemeClr val="tx1"/>
                </a:solidFill>
                <a:latin typeface="Tahoma" pitchFamily="34" charset="0"/>
                <a:ea typeface="宋体" pitchFamily="2" charset="-122"/>
              </a:rPr>
              <a:t>测量精度高：在圆分度和角位移测量方面，一般认为光栅式传感器是精度最高的一种，可实现大量程测量兼有高分辨率；</a:t>
            </a:r>
            <a:endParaRPr kumimoji="0" lang="en-US" altLang="zh-CN" b="1" dirty="0" smtClean="0">
              <a:solidFill>
                <a:schemeClr val="tx1"/>
              </a:solidFill>
              <a:latin typeface="Tahoma" pitchFamily="34" charset="0"/>
              <a:ea typeface="宋体" pitchFamily="2" charset="-122"/>
            </a:endParaRPr>
          </a:p>
          <a:p>
            <a:pPr marL="441325" indent="-346075">
              <a:lnSpc>
                <a:spcPct val="110000"/>
              </a:lnSpc>
              <a:spcBef>
                <a:spcPct val="20000"/>
              </a:spcBef>
              <a:buClr>
                <a:schemeClr val="tx1"/>
              </a:buClr>
              <a:buFont typeface="Wingdings" pitchFamily="2" charset="2"/>
              <a:buChar char="u"/>
            </a:pPr>
            <a:r>
              <a:rPr kumimoji="0" lang="zh-CN" altLang="en-US" b="1" dirty="0" smtClean="0">
                <a:solidFill>
                  <a:schemeClr val="tx1"/>
                </a:solidFill>
                <a:latin typeface="Tahoma" pitchFamily="34" charset="0"/>
                <a:ea typeface="宋体" pitchFamily="2" charset="-122"/>
              </a:rPr>
              <a:t>可实现动态测量，易于实现测量及数据处理的自动化；</a:t>
            </a:r>
            <a:endParaRPr kumimoji="0" lang="en-US" altLang="zh-CN" b="1" dirty="0" smtClean="0">
              <a:solidFill>
                <a:schemeClr val="tx1"/>
              </a:solidFill>
              <a:latin typeface="Tahoma" pitchFamily="34" charset="0"/>
              <a:ea typeface="宋体" pitchFamily="2" charset="-122"/>
            </a:endParaRPr>
          </a:p>
          <a:p>
            <a:pPr marL="441325" indent="-346075">
              <a:lnSpc>
                <a:spcPct val="110000"/>
              </a:lnSpc>
              <a:spcBef>
                <a:spcPct val="20000"/>
              </a:spcBef>
              <a:buClr>
                <a:schemeClr val="tx1"/>
              </a:buClr>
              <a:buFont typeface="Wingdings" pitchFamily="2" charset="2"/>
              <a:buChar char="u"/>
            </a:pPr>
            <a:r>
              <a:rPr kumimoji="0" lang="zh-CN" altLang="en-US" b="1" dirty="0" smtClean="0">
                <a:solidFill>
                  <a:schemeClr val="tx1"/>
                </a:solidFill>
                <a:latin typeface="Tahoma" pitchFamily="34" charset="0"/>
                <a:ea typeface="宋体" pitchFamily="2" charset="-122"/>
              </a:rPr>
              <a:t>且具有较强的抗干扰能力。</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莫尔条纹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1384995"/>
          </a:xfrm>
          <a:prstGeom prst="rect">
            <a:avLst/>
          </a:prstGeom>
          <a:noFill/>
          <a:ln w="9525" algn="ctr">
            <a:noFill/>
            <a:miter lim="800000"/>
            <a:headEnd/>
            <a:tailEnd/>
          </a:ln>
        </p:spPr>
        <p:txBody>
          <a:bodyPr wrap="square">
            <a:spAutoFit/>
          </a:bodyPr>
          <a:lstStyle/>
          <a:p>
            <a:pPr indent="449263">
              <a:spcBef>
                <a:spcPct val="50000"/>
              </a:spcBef>
            </a:pPr>
            <a:r>
              <a:rPr kumimoji="0" lang="zh-CN" altLang="en-US" b="1" dirty="0" smtClean="0">
                <a:solidFill>
                  <a:schemeClr val="tx1"/>
                </a:solidFill>
                <a:latin typeface="宋体" pitchFamily="2" charset="-122"/>
                <a:ea typeface="宋体" pitchFamily="2" charset="-122"/>
              </a:rPr>
              <a:t>相邻的两明暗条纹之间的距离</a:t>
            </a:r>
            <a:r>
              <a:rPr kumimoji="0" lang="en-US" altLang="zh-CN" b="1" dirty="0" smtClean="0">
                <a:solidFill>
                  <a:schemeClr val="tx1"/>
                </a:solidFill>
                <a:latin typeface="宋体" pitchFamily="2" charset="-122"/>
                <a:ea typeface="宋体" pitchFamily="2" charset="-122"/>
              </a:rPr>
              <a:t>B</a:t>
            </a:r>
            <a:r>
              <a:rPr kumimoji="0" lang="zh-CN" altLang="en-US" b="1" dirty="0" smtClean="0">
                <a:solidFill>
                  <a:schemeClr val="tx1"/>
                </a:solidFill>
                <a:latin typeface="宋体" pitchFamily="2" charset="-122"/>
                <a:ea typeface="宋体" pitchFamily="2" charset="-122"/>
              </a:rPr>
              <a:t>称为莫尔条纹间距。 当光栅副间的夹角</a:t>
            </a:r>
            <a:r>
              <a:rPr kumimoji="0" lang="en-US" altLang="zh-CN" b="1" dirty="0" smtClean="0">
                <a:solidFill>
                  <a:schemeClr val="tx1"/>
                </a:solidFill>
                <a:latin typeface="宋体" pitchFamily="2" charset="-122"/>
                <a:ea typeface="宋体" pitchFamily="2" charset="-122"/>
              </a:rPr>
              <a:t>θ</a:t>
            </a:r>
            <a:r>
              <a:rPr kumimoji="0" lang="zh-CN" altLang="en-US" b="1" dirty="0" smtClean="0">
                <a:solidFill>
                  <a:schemeClr val="tx1"/>
                </a:solidFill>
                <a:latin typeface="宋体" pitchFamily="2" charset="-122"/>
                <a:ea typeface="宋体" pitchFamily="2" charset="-122"/>
              </a:rPr>
              <a:t>很小，且两光栅的栅距相等，都为</a:t>
            </a:r>
            <a:r>
              <a:rPr kumimoji="0" lang="en-US" altLang="zh-CN" b="1" dirty="0" smtClean="0">
                <a:solidFill>
                  <a:schemeClr val="tx1"/>
                </a:solidFill>
                <a:latin typeface="宋体" pitchFamily="2" charset="-122"/>
                <a:ea typeface="宋体" pitchFamily="2" charset="-122"/>
              </a:rPr>
              <a:t>W</a:t>
            </a:r>
            <a:r>
              <a:rPr kumimoji="0" lang="zh-CN" altLang="en-US" b="1" dirty="0" smtClean="0">
                <a:solidFill>
                  <a:schemeClr val="tx1"/>
                </a:solidFill>
                <a:latin typeface="宋体" pitchFamily="2" charset="-122"/>
                <a:ea typeface="宋体" pitchFamily="2" charset="-122"/>
              </a:rPr>
              <a:t>时，莫尔条纹间距</a:t>
            </a:r>
            <a:r>
              <a:rPr kumimoji="0" lang="en-US" altLang="zh-CN" b="1" dirty="0" smtClean="0">
                <a:solidFill>
                  <a:schemeClr val="tx1"/>
                </a:solidFill>
                <a:latin typeface="宋体" pitchFamily="2" charset="-122"/>
                <a:ea typeface="宋体" pitchFamily="2" charset="-122"/>
              </a:rPr>
              <a:t>B</a:t>
            </a:r>
            <a:r>
              <a:rPr kumimoji="0" lang="zh-CN" altLang="en-US" b="1" dirty="0" smtClean="0">
                <a:solidFill>
                  <a:schemeClr val="tx1"/>
                </a:solidFill>
                <a:latin typeface="宋体" pitchFamily="2" charset="-122"/>
                <a:ea typeface="宋体" pitchFamily="2" charset="-122"/>
              </a:rPr>
              <a:t>为</a:t>
            </a:r>
            <a:endParaRPr kumimoji="0" lang="zh-CN" altLang="en-US" b="1" dirty="0">
              <a:solidFill>
                <a:schemeClr val="tx1"/>
              </a:solidFill>
              <a:latin typeface="宋体" pitchFamily="2" charset="-122"/>
              <a:ea typeface="宋体" pitchFamily="2" charset="-122"/>
            </a:endParaRPr>
          </a:p>
        </p:txBody>
      </p:sp>
      <p:graphicFrame>
        <p:nvGraphicFramePr>
          <p:cNvPr id="595981" name="Object 13"/>
          <p:cNvGraphicFramePr>
            <a:graphicFrameLocks noGrp="1" noChangeAspect="1"/>
          </p:cNvGraphicFramePr>
          <p:nvPr/>
        </p:nvGraphicFramePr>
        <p:xfrm>
          <a:off x="1142976" y="3500438"/>
          <a:ext cx="1760537" cy="1136650"/>
        </p:xfrm>
        <a:graphic>
          <a:graphicData uri="http://schemas.openxmlformats.org/presentationml/2006/ole">
            <mc:AlternateContent xmlns:mc="http://schemas.openxmlformats.org/markup-compatibility/2006">
              <mc:Choice xmlns:v="urn:schemas-microsoft-com:vml" Requires="v">
                <p:oleObj spid="_x0000_s140296" name="Flash Movie" r:id="rId3" imgW="1058040" imgH="683280" progId="">
                  <p:embed/>
                </p:oleObj>
              </mc:Choice>
              <mc:Fallback>
                <p:oleObj name="Flash Movie" r:id="rId3" imgW="1058040" imgH="683280" progId="">
                  <p:embed/>
                  <p:pic>
                    <p:nvPicPr>
                      <p:cNvPr id="0" name="Object 1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976" y="3500438"/>
                        <a:ext cx="1760537"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5977" name="Object 9"/>
          <p:cNvGraphicFramePr>
            <a:graphicFrameLocks noGrp="1" noChangeAspect="1"/>
          </p:cNvGraphicFramePr>
          <p:nvPr/>
        </p:nvGraphicFramePr>
        <p:xfrm>
          <a:off x="4754563" y="3421063"/>
          <a:ext cx="4284662" cy="3341687"/>
        </p:xfrm>
        <a:graphic>
          <a:graphicData uri="http://schemas.openxmlformats.org/presentationml/2006/ole">
            <mc:AlternateContent xmlns:mc="http://schemas.openxmlformats.org/markup-compatibility/2006">
              <mc:Choice xmlns:v="urn:schemas-microsoft-com:vml" Requires="v">
                <p:oleObj spid="_x0000_s140297" name="Image" r:id="rId5" imgW="21423673" imgH="16711837" progId="">
                  <p:embed/>
                </p:oleObj>
              </mc:Choice>
              <mc:Fallback>
                <p:oleObj name="Image" r:id="rId5" imgW="21423673" imgH="16711837" progId="">
                  <p:embed/>
                  <p:pic>
                    <p:nvPicPr>
                      <p:cNvPr id="0" name="Object 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4563" y="3421063"/>
                        <a:ext cx="4284662" cy="334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6"/>
          <p:cNvSpPr txBox="1">
            <a:spLocks noChangeArrowheads="1"/>
          </p:cNvSpPr>
          <p:nvPr/>
        </p:nvSpPr>
        <p:spPr bwMode="auto">
          <a:xfrm>
            <a:off x="285720" y="4714884"/>
            <a:ext cx="4103687" cy="1373188"/>
          </a:xfrm>
          <a:prstGeom prst="rect">
            <a:avLst/>
          </a:prstGeom>
          <a:noFill/>
          <a:ln w="9525">
            <a:noFill/>
            <a:miter lim="800000"/>
            <a:headEnd/>
            <a:tailEnd/>
          </a:ln>
        </p:spPr>
        <p:txBody>
          <a:bodyPr>
            <a:spAutoFit/>
          </a:bodyPr>
          <a:lstStyle/>
          <a:p>
            <a:pPr indent="273050" algn="just">
              <a:spcBef>
                <a:spcPct val="20000"/>
              </a:spcBef>
              <a:buClr>
                <a:schemeClr val="folHlink"/>
              </a:buClr>
              <a:buFont typeface="Wingdings" pitchFamily="2" charset="2"/>
              <a:buNone/>
            </a:pPr>
            <a:r>
              <a:rPr kumimoji="0" lang="zh-CN" altLang="en-US" b="1" dirty="0">
                <a:solidFill>
                  <a:schemeClr val="tx1"/>
                </a:solidFill>
                <a:latin typeface="宋体" pitchFamily="2" charset="-122"/>
                <a:ea typeface="宋体" pitchFamily="2" charset="-122"/>
              </a:rPr>
              <a:t>由于</a:t>
            </a:r>
            <a:r>
              <a:rPr kumimoji="0" lang="en-US" altLang="zh-CN" b="1" dirty="0">
                <a:solidFill>
                  <a:schemeClr val="tx1"/>
                </a:solidFill>
                <a:latin typeface="宋体" pitchFamily="2" charset="-122"/>
                <a:ea typeface="宋体" pitchFamily="2" charset="-122"/>
              </a:rPr>
              <a:t>θ</a:t>
            </a:r>
            <a:r>
              <a:rPr kumimoji="0" lang="zh-CN" altLang="en-US" b="1" dirty="0">
                <a:solidFill>
                  <a:schemeClr val="tx1"/>
                </a:solidFill>
                <a:latin typeface="宋体" pitchFamily="2" charset="-122"/>
                <a:ea typeface="宋体" pitchFamily="2" charset="-122"/>
              </a:rPr>
              <a:t>值很小，条纹近似与栅线的方向垂直，故称为</a:t>
            </a:r>
            <a:r>
              <a:rPr kumimoji="0" lang="zh-CN" altLang="en-US" b="1" dirty="0">
                <a:solidFill>
                  <a:srgbClr val="CC3300"/>
                </a:solidFill>
                <a:latin typeface="宋体" pitchFamily="2" charset="-122"/>
                <a:ea typeface="宋体" pitchFamily="2" charset="-122"/>
              </a:rPr>
              <a:t>横向莫尔条纹</a:t>
            </a:r>
            <a:r>
              <a:rPr kumimoji="0" lang="zh-CN" altLang="en-US" b="1" dirty="0">
                <a:latin typeface="宋体" pitchFamily="2" charset="-122"/>
                <a:ea typeface="宋体" pitchFamily="2" charset="-122"/>
              </a:rPr>
              <a:t>。</a:t>
            </a:r>
            <a:endParaRPr kumimoji="0"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95981"/>
                                        </p:tgtEl>
                                        <p:attrNameLst>
                                          <p:attrName>style.visibility</p:attrName>
                                        </p:attrNameLst>
                                      </p:cBhvr>
                                      <p:to>
                                        <p:strVal val="visible"/>
                                      </p:to>
                                    </p:set>
                                    <p:anim calcmode="lin" valueType="num">
                                      <p:cBhvr additive="base">
                                        <p:cTn id="11" dur="500" fill="hold"/>
                                        <p:tgtEl>
                                          <p:spTgt spid="595981"/>
                                        </p:tgtEl>
                                        <p:attrNameLst>
                                          <p:attrName>ppt_x</p:attrName>
                                        </p:attrNameLst>
                                      </p:cBhvr>
                                      <p:tavLst>
                                        <p:tav tm="0">
                                          <p:val>
                                            <p:strVal val="0-#ppt_w/2"/>
                                          </p:val>
                                        </p:tav>
                                        <p:tav tm="100000">
                                          <p:val>
                                            <p:strVal val="#ppt_x"/>
                                          </p:val>
                                        </p:tav>
                                      </p:tavLst>
                                    </p:anim>
                                    <p:anim calcmode="lin" valueType="num">
                                      <p:cBhvr additive="base">
                                        <p:cTn id="12" dur="500" fill="hold"/>
                                        <p:tgtEl>
                                          <p:spTgt spid="59598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595977"/>
                                        </p:tgtEl>
                                        <p:attrNameLst>
                                          <p:attrName>style.visibility</p:attrName>
                                        </p:attrNameLst>
                                      </p:cBhvr>
                                      <p:to>
                                        <p:strVal val="visible"/>
                                      </p:to>
                                    </p:set>
                                    <p:animEffect transition="in" filter="strips(downRight)">
                                      <p:cBhvr>
                                        <p:cTn id="16" dur="500"/>
                                        <p:tgtEl>
                                          <p:spTgt spid="59597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blinds(horizontal)">
                                      <p:cBhvr>
                                        <p:cTn id="2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横向莫尔条纹特性</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4708981"/>
          </a:xfrm>
          <a:prstGeom prst="rect">
            <a:avLst/>
          </a:prstGeom>
          <a:noFill/>
          <a:ln w="9525" algn="ctr">
            <a:noFill/>
            <a:miter lim="800000"/>
            <a:headEnd/>
            <a:tailEnd/>
          </a:ln>
        </p:spPr>
        <p:txBody>
          <a:bodyPr wrap="square">
            <a:spAutoFit/>
          </a:bodyPr>
          <a:lstStyle/>
          <a:p>
            <a:pPr indent="625475">
              <a:spcBef>
                <a:spcPct val="50000"/>
              </a:spcBef>
              <a:buClr>
                <a:schemeClr val="tx1"/>
              </a:buClr>
              <a:buFont typeface="Wingdings" pitchFamily="2" charset="2"/>
              <a:buChar char="u"/>
            </a:pPr>
            <a:r>
              <a:rPr lang="zh-CN" altLang="en-US" b="1" dirty="0" smtClean="0">
                <a:solidFill>
                  <a:srgbClr val="CC3300"/>
                </a:solidFill>
                <a:latin typeface="宋体" pitchFamily="2" charset="-122"/>
                <a:ea typeface="宋体" pitchFamily="2" charset="-122"/>
              </a:rPr>
              <a:t>与光栅运动具有对应关系</a:t>
            </a:r>
            <a:endParaRPr lang="en-US" altLang="zh-CN" b="1" dirty="0" smtClean="0">
              <a:solidFill>
                <a:schemeClr val="folHlink"/>
              </a:solidFill>
              <a:latin typeface="宋体" pitchFamily="2" charset="-122"/>
              <a:ea typeface="宋体" pitchFamily="2" charset="-122"/>
            </a:endParaRPr>
          </a:p>
          <a:p>
            <a:pPr marL="630238" indent="-268288">
              <a:spcBef>
                <a:spcPts val="600"/>
              </a:spcBef>
              <a:buFont typeface="Wingdings" pitchFamily="2" charset="2"/>
              <a:buChar char="n"/>
            </a:pPr>
            <a:r>
              <a:rPr lang="zh-CN" altLang="en-US" b="1" dirty="0" smtClean="0">
                <a:solidFill>
                  <a:schemeClr val="tx1"/>
                </a:solidFill>
                <a:latin typeface="宋体" pitchFamily="2" charset="-122"/>
                <a:ea typeface="宋体" pitchFamily="2" charset="-122"/>
              </a:rPr>
              <a:t>在光栅副中，任一光栅沿着垂直于刻线方向移动时，莫尔条纹就沿着近似垂直于光栅移动方向运动。</a:t>
            </a:r>
            <a:endParaRPr lang="en-US" altLang="zh-CN" b="1" dirty="0" smtClean="0">
              <a:solidFill>
                <a:schemeClr val="tx1"/>
              </a:solidFill>
              <a:latin typeface="宋体" pitchFamily="2" charset="-122"/>
              <a:ea typeface="宋体" pitchFamily="2" charset="-122"/>
            </a:endParaRPr>
          </a:p>
          <a:p>
            <a:pPr marL="630238" indent="-268288">
              <a:spcBef>
                <a:spcPts val="600"/>
              </a:spcBef>
              <a:buFont typeface="Wingdings" pitchFamily="2" charset="2"/>
              <a:buChar char="n"/>
            </a:pPr>
            <a:r>
              <a:rPr lang="zh-CN" altLang="en-US" b="1" dirty="0" smtClean="0">
                <a:solidFill>
                  <a:schemeClr val="tx1"/>
                </a:solidFill>
                <a:latin typeface="宋体" pitchFamily="2" charset="-122"/>
                <a:ea typeface="宋体" pitchFamily="2" charset="-122"/>
              </a:rPr>
              <a:t>当光栅移动一个栅距时，莫尔条纹就移动一个条纹间距；</a:t>
            </a:r>
            <a:endParaRPr lang="en-US" altLang="zh-CN" b="1" dirty="0" smtClean="0">
              <a:solidFill>
                <a:schemeClr val="tx1"/>
              </a:solidFill>
              <a:latin typeface="宋体" pitchFamily="2" charset="-122"/>
              <a:ea typeface="宋体" pitchFamily="2" charset="-122"/>
            </a:endParaRPr>
          </a:p>
          <a:p>
            <a:pPr marL="630238" indent="-268288">
              <a:spcBef>
                <a:spcPts val="600"/>
              </a:spcBef>
              <a:buFont typeface="Wingdings" pitchFamily="2" charset="2"/>
              <a:buChar char="n"/>
            </a:pPr>
            <a:r>
              <a:rPr lang="zh-CN" altLang="en-US" b="1" dirty="0" smtClean="0">
                <a:solidFill>
                  <a:schemeClr val="tx1"/>
                </a:solidFill>
                <a:latin typeface="宋体" pitchFamily="2" charset="-122"/>
                <a:ea typeface="宋体" pitchFamily="2" charset="-122"/>
              </a:rPr>
              <a:t>当光栅改变移动方向时，莫尔条纹也随之改变运动方向，两者运动方向是对应的。</a:t>
            </a:r>
          </a:p>
          <a:p>
            <a:pPr marL="630238" indent="-268288">
              <a:spcBef>
                <a:spcPts val="600"/>
              </a:spcBef>
              <a:buFont typeface="Wingdings" pitchFamily="2" charset="2"/>
              <a:buChar char="n"/>
            </a:pPr>
            <a:r>
              <a:rPr lang="zh-CN" altLang="en-US" b="1" dirty="0" smtClean="0">
                <a:solidFill>
                  <a:schemeClr val="tx1"/>
                </a:solidFill>
                <a:latin typeface="宋体" pitchFamily="2" charset="-122"/>
                <a:ea typeface="宋体" pitchFamily="2" charset="-122"/>
              </a:rPr>
              <a:t>可以通过测量莫尔条纹的移动量和移动方向判定光栅</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或指示光栅</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的位移量和位移方向。</a:t>
            </a:r>
            <a:endParaRPr kumimoji="0"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blinds(horizontal)">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横向莫尔条纹特性</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523220"/>
          </a:xfrm>
          <a:prstGeom prst="rect">
            <a:avLst/>
          </a:prstGeom>
          <a:noFill/>
          <a:ln w="9525" algn="ctr">
            <a:noFill/>
            <a:miter lim="800000"/>
            <a:headEnd/>
            <a:tailEnd/>
          </a:ln>
        </p:spPr>
        <p:txBody>
          <a:bodyPr wrap="square">
            <a:spAutoFit/>
          </a:bodyPr>
          <a:lstStyle/>
          <a:p>
            <a:pPr>
              <a:spcBef>
                <a:spcPct val="50000"/>
              </a:spcBef>
              <a:buClr>
                <a:schemeClr val="tx1"/>
              </a:buClr>
              <a:buFont typeface="Wingdings" pitchFamily="2" charset="2"/>
              <a:buChar char="u"/>
            </a:pPr>
            <a:r>
              <a:rPr lang="zh-CN" altLang="en-US" b="1" dirty="0" smtClean="0">
                <a:solidFill>
                  <a:srgbClr val="CC3300"/>
                </a:solidFill>
                <a:latin typeface="宋体" pitchFamily="2" charset="-122"/>
                <a:ea typeface="宋体" pitchFamily="2" charset="-122"/>
              </a:rPr>
              <a:t>具有位移放大作用</a:t>
            </a:r>
            <a:endParaRPr lang="zh-CN" altLang="en-US" b="1" dirty="0">
              <a:solidFill>
                <a:schemeClr val="folHlink"/>
              </a:solidFill>
              <a:latin typeface="宋体" pitchFamily="2" charset="-122"/>
              <a:ea typeface="宋体" pitchFamily="2" charset="-122"/>
            </a:endParaRPr>
          </a:p>
        </p:txBody>
      </p:sp>
      <p:graphicFrame>
        <p:nvGraphicFramePr>
          <p:cNvPr id="8" name="Object 3"/>
          <p:cNvGraphicFramePr>
            <a:graphicFrameLocks noChangeAspect="1"/>
          </p:cNvGraphicFramePr>
          <p:nvPr/>
        </p:nvGraphicFramePr>
        <p:xfrm>
          <a:off x="3927472" y="2711448"/>
          <a:ext cx="1409700" cy="504825"/>
        </p:xfrm>
        <a:graphic>
          <a:graphicData uri="http://schemas.openxmlformats.org/presentationml/2006/ole">
            <mc:AlternateContent xmlns:mc="http://schemas.openxmlformats.org/markup-compatibility/2006">
              <mc:Choice xmlns:v="urn:schemas-microsoft-com:vml" Requires="v">
                <p:oleObj spid="_x0000_s142344" name="图像文档" r:id="rId3" imgW="1409760" imgH="504720" progId="">
                  <p:embed/>
                </p:oleObj>
              </mc:Choice>
              <mc:Fallback>
                <p:oleObj name="图像文档" r:id="rId3" imgW="1409760" imgH="50472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7472" y="2711448"/>
                        <a:ext cx="1409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4"/>
          <p:cNvSpPr txBox="1">
            <a:spLocks noChangeArrowheads="1"/>
          </p:cNvSpPr>
          <p:nvPr/>
        </p:nvSpPr>
        <p:spPr bwMode="auto">
          <a:xfrm>
            <a:off x="214282" y="3714752"/>
            <a:ext cx="8643998" cy="2591479"/>
          </a:xfrm>
          <a:prstGeom prst="rect">
            <a:avLst/>
          </a:prstGeom>
          <a:noFill/>
          <a:ln w="9525">
            <a:noFill/>
            <a:miter lim="800000"/>
            <a:headEnd/>
            <a:tailEnd/>
          </a:ln>
        </p:spPr>
        <p:txBody>
          <a:bodyPr wrap="square">
            <a:spAutoFit/>
          </a:bodyPr>
          <a:lstStyle/>
          <a:p>
            <a:pPr>
              <a:spcBef>
                <a:spcPct val="50000"/>
              </a:spcBef>
              <a:buClr>
                <a:schemeClr val="tx1"/>
              </a:buClr>
              <a:buFont typeface="Wingdings" pitchFamily="2" charset="2"/>
              <a:buChar char="u"/>
            </a:pPr>
            <a:r>
              <a:rPr lang="zh-CN" altLang="en-US" b="1" dirty="0" smtClean="0">
                <a:solidFill>
                  <a:srgbClr val="CC3300"/>
                </a:solidFill>
                <a:latin typeface="Times New Roman" pitchFamily="18" charset="0"/>
                <a:ea typeface="宋体" pitchFamily="2" charset="-122"/>
              </a:rPr>
              <a:t>具有</a:t>
            </a:r>
            <a:r>
              <a:rPr lang="zh-CN" altLang="en-US" b="1" dirty="0">
                <a:solidFill>
                  <a:srgbClr val="CC3300"/>
                </a:solidFill>
                <a:latin typeface="Times New Roman" pitchFamily="18" charset="0"/>
                <a:ea typeface="宋体" pitchFamily="2" charset="-122"/>
              </a:rPr>
              <a:t>平均光栅误差</a:t>
            </a:r>
            <a:r>
              <a:rPr lang="zh-CN" altLang="en-US" b="1" dirty="0" smtClean="0">
                <a:solidFill>
                  <a:srgbClr val="CC3300"/>
                </a:solidFill>
                <a:latin typeface="Times New Roman" pitchFamily="18" charset="0"/>
                <a:ea typeface="宋体" pitchFamily="2" charset="-122"/>
              </a:rPr>
              <a:t>作用</a:t>
            </a:r>
            <a:endParaRPr lang="en-US" altLang="zh-CN" b="1" dirty="0" smtClean="0">
              <a:solidFill>
                <a:srgbClr val="CC3300"/>
              </a:solidFill>
              <a:latin typeface="Times New Roman" pitchFamily="18" charset="0"/>
              <a:ea typeface="宋体" pitchFamily="2" charset="-122"/>
            </a:endParaRPr>
          </a:p>
          <a:p>
            <a:pPr indent="450850">
              <a:lnSpc>
                <a:spcPct val="120000"/>
              </a:lnSpc>
              <a:spcBef>
                <a:spcPts val="0"/>
              </a:spcBef>
              <a:buClr>
                <a:srgbClr val="F84D08"/>
              </a:buClr>
            </a:pPr>
            <a:r>
              <a:rPr lang="zh-CN" altLang="en-US" b="1" dirty="0" smtClean="0">
                <a:solidFill>
                  <a:schemeClr val="tx1"/>
                </a:solidFill>
                <a:latin typeface="Times New Roman" pitchFamily="18" charset="0"/>
                <a:ea typeface="宋体" pitchFamily="2" charset="-122"/>
              </a:rPr>
              <a:t>若</a:t>
            </a:r>
            <a:r>
              <a:rPr lang="zh-CN" altLang="en-US" b="1" dirty="0">
                <a:solidFill>
                  <a:schemeClr val="tx1"/>
                </a:solidFill>
                <a:latin typeface="Times New Roman" pitchFamily="18" charset="0"/>
                <a:ea typeface="宋体" pitchFamily="2" charset="-122"/>
              </a:rPr>
              <a:t>假定单个栅距误差为</a:t>
            </a:r>
            <a:r>
              <a:rPr lang="en-US" altLang="zh-CN" b="1" dirty="0">
                <a:solidFill>
                  <a:schemeClr val="tx1"/>
                </a:solidFill>
                <a:latin typeface="Times New Roman" pitchFamily="18" charset="0"/>
                <a:ea typeface="宋体" pitchFamily="2" charset="-122"/>
              </a:rPr>
              <a:t>δ</a:t>
            </a:r>
            <a:r>
              <a:rPr lang="zh-CN" altLang="en-US" b="1" dirty="0">
                <a:solidFill>
                  <a:schemeClr val="tx1"/>
                </a:solidFill>
                <a:latin typeface="Times New Roman" pitchFamily="18" charset="0"/>
                <a:ea typeface="宋体" pitchFamily="2" charset="-122"/>
              </a:rPr>
              <a:t>，形成莫尔条纹区域内有</a:t>
            </a:r>
            <a:r>
              <a:rPr lang="en-US" altLang="zh-CN" b="1" dirty="0">
                <a:solidFill>
                  <a:schemeClr val="tx1"/>
                </a:solidFill>
                <a:latin typeface="Times New Roman" pitchFamily="18" charset="0"/>
                <a:ea typeface="宋体" pitchFamily="2" charset="-122"/>
              </a:rPr>
              <a:t>N</a:t>
            </a:r>
            <a:r>
              <a:rPr lang="zh-CN" altLang="en-US" b="1" dirty="0">
                <a:solidFill>
                  <a:schemeClr val="tx1"/>
                </a:solidFill>
                <a:latin typeface="Times New Roman" pitchFamily="18" charset="0"/>
                <a:ea typeface="宋体" pitchFamily="2" charset="-122"/>
              </a:rPr>
              <a:t>条刻线，则综合栅距误差可近似为</a:t>
            </a:r>
            <a:r>
              <a:rPr lang="zh-CN" altLang="en-US" b="1" i="1" dirty="0">
                <a:solidFill>
                  <a:srgbClr val="CC3300"/>
                </a:solidFill>
                <a:latin typeface="Times New Roman" pitchFamily="18" charset="0"/>
                <a:ea typeface="宋体" pitchFamily="2" charset="-122"/>
              </a:rPr>
              <a:t>∆＝ </a:t>
            </a:r>
            <a:r>
              <a:rPr lang="en-US" altLang="zh-CN" b="1" i="1" dirty="0">
                <a:solidFill>
                  <a:srgbClr val="CC3300"/>
                </a:solidFill>
                <a:latin typeface="Times New Roman" pitchFamily="18" charset="0"/>
                <a:ea typeface="宋体" pitchFamily="2" charset="-122"/>
              </a:rPr>
              <a:t>δ /</a:t>
            </a:r>
            <a:r>
              <a:rPr lang="en-US" altLang="zh-CN" b="1" i="1" dirty="0" smtClean="0">
                <a:solidFill>
                  <a:srgbClr val="CC3300"/>
                </a:solidFill>
                <a:latin typeface="Times New Roman" pitchFamily="18" charset="0"/>
                <a:ea typeface="宋体" pitchFamily="2" charset="-122"/>
              </a:rPr>
              <a:t>N</a:t>
            </a:r>
            <a:r>
              <a:rPr lang="en-US" altLang="zh-CN" b="1" i="1" baseline="30000" dirty="0" smtClean="0">
                <a:solidFill>
                  <a:srgbClr val="CC3300"/>
                </a:solidFill>
                <a:latin typeface="Times New Roman" pitchFamily="18" charset="0"/>
                <a:ea typeface="宋体" pitchFamily="2" charset="-122"/>
              </a:rPr>
              <a:t>1/2</a:t>
            </a:r>
            <a:r>
              <a:rPr lang="zh-CN" altLang="en-US" b="1" dirty="0" smtClean="0">
                <a:solidFill>
                  <a:schemeClr val="tx1"/>
                </a:solidFill>
                <a:latin typeface="Times New Roman" pitchFamily="18" charset="0"/>
                <a:ea typeface="宋体" pitchFamily="2" charset="-122"/>
              </a:rPr>
              <a:t>说明</a:t>
            </a:r>
            <a:r>
              <a:rPr lang="zh-CN" altLang="en-US" b="1" dirty="0">
                <a:solidFill>
                  <a:schemeClr val="tx1"/>
                </a:solidFill>
                <a:latin typeface="Times New Roman" pitchFamily="18" charset="0"/>
                <a:ea typeface="宋体" pitchFamily="2" charset="-122"/>
              </a:rPr>
              <a:t>莫尔条纹位置的可靠性大为提高，从而提高了光栅传感器的测量精度。</a:t>
            </a:r>
          </a:p>
        </p:txBody>
      </p:sp>
      <p:graphicFrame>
        <p:nvGraphicFramePr>
          <p:cNvPr id="10" name="Object 10"/>
          <p:cNvGraphicFramePr>
            <a:graphicFrameLocks noGrp="1" noChangeAspect="1"/>
          </p:cNvGraphicFramePr>
          <p:nvPr>
            <p:ph idx="1"/>
          </p:nvPr>
        </p:nvGraphicFramePr>
        <p:xfrm>
          <a:off x="2198685" y="2638423"/>
          <a:ext cx="1392237" cy="898525"/>
        </p:xfrm>
        <a:graphic>
          <a:graphicData uri="http://schemas.openxmlformats.org/presentationml/2006/ole">
            <mc:AlternateContent xmlns:mc="http://schemas.openxmlformats.org/markup-compatibility/2006">
              <mc:Choice xmlns:v="urn:schemas-microsoft-com:vml" Requires="v">
                <p:oleObj spid="_x0000_s142345" name="Flash Movie" r:id="rId5" imgW="1058040" imgH="683280" progId="">
                  <p:embed/>
                </p:oleObj>
              </mc:Choice>
              <mc:Fallback>
                <p:oleObj name="Flash Movie" r:id="rId5" imgW="1058040" imgH="683280" progId="">
                  <p:embed/>
                  <p:pic>
                    <p:nvPicPr>
                      <p:cNvPr id="0" name="Object 10"/>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8685" y="2638423"/>
                        <a:ext cx="1392237"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辨向原理和细分电路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715436" cy="3898503"/>
          </a:xfrm>
          <a:prstGeom prst="rect">
            <a:avLst/>
          </a:prstGeom>
          <a:noFill/>
          <a:ln w="9525" algn="ctr">
            <a:noFill/>
            <a:miter lim="800000"/>
            <a:headEnd/>
            <a:tailEnd/>
          </a:ln>
        </p:spPr>
        <p:txBody>
          <a:bodyPr wrap="square">
            <a:spAutoFit/>
          </a:bodyPr>
          <a:lstStyle/>
          <a:p>
            <a:pPr indent="449263">
              <a:lnSpc>
                <a:spcPts val="4000"/>
              </a:lnSpc>
              <a:spcBef>
                <a:spcPct val="50000"/>
              </a:spcBef>
            </a:pPr>
            <a:r>
              <a:rPr kumimoji="0" lang="zh-CN" altLang="en-US" b="1" dirty="0" smtClean="0">
                <a:solidFill>
                  <a:schemeClr val="tx1"/>
                </a:solidFill>
                <a:ea typeface="宋体" pitchFamily="2" charset="-122"/>
              </a:rPr>
              <a:t>单个光电元件只能判别明暗的变化，不能辨别莫尔条纹的移动方向，就不能判别光栅的运动方向，不能正确测量位移。</a:t>
            </a:r>
            <a:endParaRPr kumimoji="0" lang="en-US" altLang="zh-CN" b="1" dirty="0" smtClean="0">
              <a:solidFill>
                <a:schemeClr val="tx1"/>
              </a:solidFill>
              <a:ea typeface="宋体" pitchFamily="2" charset="-122"/>
            </a:endParaRPr>
          </a:p>
          <a:p>
            <a:pPr indent="449263">
              <a:lnSpc>
                <a:spcPts val="4000"/>
              </a:lnSpc>
              <a:spcBef>
                <a:spcPct val="50000"/>
              </a:spcBef>
            </a:pPr>
            <a:r>
              <a:rPr kumimoji="0" lang="zh-CN" altLang="en-US" b="1" dirty="0" smtClean="0">
                <a:solidFill>
                  <a:srgbClr val="FF0000"/>
                </a:solidFill>
                <a:latin typeface="宋体" pitchFamily="2" charset="-122"/>
                <a:ea typeface="宋体" pitchFamily="2" charset="-122"/>
              </a:rPr>
              <a:t>辨向电路</a:t>
            </a:r>
            <a:r>
              <a:rPr kumimoji="0" lang="zh-CN" altLang="en-US" b="1" dirty="0" smtClean="0">
                <a:solidFill>
                  <a:schemeClr val="tx1"/>
                </a:solidFill>
                <a:latin typeface="宋体" pitchFamily="2" charset="-122"/>
                <a:ea typeface="宋体" pitchFamily="2" charset="-122"/>
              </a:rPr>
              <a:t>：在物体正向移动时，将莫尔条纹转换成脉冲，并将得到的脉冲数累加；而物体反向移动时就从已累加的脉冲数中减去反向移动所得的脉冲数，就能得到正确的测量结果。</a:t>
            </a:r>
            <a:endParaRPr kumimoji="0" lang="zh-CN" altLang="en-US" b="1" dirty="0">
              <a:solidFill>
                <a:schemeClr val="tx1"/>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辨向原理和细分电路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8"/>
          <p:cNvSpPr txBox="1">
            <a:spLocks noChangeArrowheads="1"/>
          </p:cNvSpPr>
          <p:nvPr/>
        </p:nvSpPr>
        <p:spPr bwMode="auto">
          <a:xfrm>
            <a:off x="214282" y="2071678"/>
            <a:ext cx="8643998" cy="2277547"/>
          </a:xfrm>
          <a:prstGeom prst="rect">
            <a:avLst/>
          </a:prstGeom>
          <a:noFill/>
          <a:ln w="9525" algn="ctr">
            <a:noFill/>
            <a:miter lim="800000"/>
            <a:headEnd/>
            <a:tailEnd/>
          </a:ln>
        </p:spPr>
        <p:txBody>
          <a:bodyPr wrap="square">
            <a:spAutoFit/>
          </a:bodyPr>
          <a:lstStyle/>
          <a:p>
            <a:pPr indent="449263">
              <a:lnSpc>
                <a:spcPts val="4000"/>
              </a:lnSpc>
              <a:spcBef>
                <a:spcPct val="50000"/>
              </a:spcBef>
            </a:pPr>
            <a:r>
              <a:rPr kumimoji="0" lang="zh-CN" altLang="en-US" b="1" dirty="0" smtClean="0">
                <a:solidFill>
                  <a:schemeClr val="tx1"/>
                </a:solidFill>
                <a:ea typeface="宋体" pitchFamily="2" charset="-122"/>
              </a:rPr>
              <a:t>将两个或两个以上光电元件安放在规定的位置，通过处理来自这些传感器的信号，就可以辨别条纹移动的方向和移动量。</a:t>
            </a:r>
          </a:p>
          <a:p>
            <a:pPr indent="449263">
              <a:spcBef>
                <a:spcPct val="50000"/>
              </a:spcBef>
            </a:pPr>
            <a:endParaRPr kumimoji="0" lang="zh-CN" altLang="en-US" b="1" dirty="0">
              <a:solidFill>
                <a:schemeClr val="tx1"/>
              </a:solidFill>
              <a:ea typeface="宋体" pitchFamily="2" charset="-122"/>
            </a:endParaRPr>
          </a:p>
        </p:txBody>
      </p:sp>
      <p:graphicFrame>
        <p:nvGraphicFramePr>
          <p:cNvPr id="667653" name="Object 5"/>
          <p:cNvGraphicFramePr>
            <a:graphicFrameLocks noGrp="1" noChangeAspect="1"/>
          </p:cNvGraphicFramePr>
          <p:nvPr/>
        </p:nvGraphicFramePr>
        <p:xfrm>
          <a:off x="1500166" y="3857628"/>
          <a:ext cx="6188090" cy="2383308"/>
        </p:xfrm>
        <a:graphic>
          <a:graphicData uri="http://schemas.openxmlformats.org/presentationml/2006/ole">
            <mc:AlternateContent xmlns:mc="http://schemas.openxmlformats.org/markup-compatibility/2006">
              <mc:Choice xmlns:v="urn:schemas-microsoft-com:vml" Requires="v">
                <p:oleObj spid="_x0000_s144389" name="Image" r:id="rId3" imgW="15046531" imgH="5789388" progId="">
                  <p:embed/>
                </p:oleObj>
              </mc:Choice>
              <mc:Fallback>
                <p:oleObj name="Image" r:id="rId3" imgW="15046531" imgH="5789388" progId="">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66" y="3857628"/>
                        <a:ext cx="6188090" cy="238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67653"/>
                                        </p:tgtEl>
                                        <p:attrNameLst>
                                          <p:attrName>style.visibility</p:attrName>
                                        </p:attrNameLst>
                                      </p:cBhvr>
                                      <p:to>
                                        <p:strVal val="visible"/>
                                      </p:to>
                                    </p:set>
                                    <p:animEffect transition="in" filter="strips(downRight)">
                                      <p:cBhvr>
                                        <p:cTn id="11" dur="500"/>
                                        <p:tgtEl>
                                          <p:spTgt spid="66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辨向原理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graphicFrame>
        <p:nvGraphicFramePr>
          <p:cNvPr id="669700" name="Object 4"/>
          <p:cNvGraphicFramePr>
            <a:graphicFrameLocks noGrp="1" noChangeAspect="1"/>
          </p:cNvGraphicFramePr>
          <p:nvPr/>
        </p:nvGraphicFramePr>
        <p:xfrm>
          <a:off x="214282" y="2214554"/>
          <a:ext cx="4038600" cy="2020887"/>
        </p:xfrm>
        <a:graphic>
          <a:graphicData uri="http://schemas.openxmlformats.org/presentationml/2006/ole">
            <mc:AlternateContent xmlns:mc="http://schemas.openxmlformats.org/markup-compatibility/2006">
              <mc:Choice xmlns:v="urn:schemas-microsoft-com:vml" Requires="v">
                <p:oleObj spid="_x0000_s146441" name="Image" r:id="rId3" imgW="25469388" imgH="12744490" progId="">
                  <p:embed/>
                </p:oleObj>
              </mc:Choice>
              <mc:Fallback>
                <p:oleObj name="Image" r:id="rId3" imgW="25469388" imgH="12744490" progId="">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282" y="2214554"/>
                        <a:ext cx="4038600" cy="202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9702" name="Object 6"/>
          <p:cNvGraphicFramePr>
            <a:graphicFrameLocks noGrp="1" noChangeAspect="1"/>
          </p:cNvGraphicFramePr>
          <p:nvPr/>
        </p:nvGraphicFramePr>
        <p:xfrm>
          <a:off x="4286248" y="1928802"/>
          <a:ext cx="4627664" cy="4078311"/>
        </p:xfrm>
        <a:graphic>
          <a:graphicData uri="http://schemas.openxmlformats.org/presentationml/2006/ole">
            <mc:AlternateContent xmlns:mc="http://schemas.openxmlformats.org/markup-compatibility/2006">
              <mc:Choice xmlns:v="urn:schemas-microsoft-com:vml" Requires="v">
                <p:oleObj spid="_x0000_s146442" name="Image" r:id="rId5" imgW="24303673" imgH="21413878" progId="">
                  <p:embed/>
                </p:oleObj>
              </mc:Choice>
              <mc:Fallback>
                <p:oleObj name="Image" r:id="rId5" imgW="24303673" imgH="21413878" progId="">
                  <p:embed/>
                  <p:pic>
                    <p:nvPicPr>
                      <p:cNvPr id="0" name="Object 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248" y="1928802"/>
                        <a:ext cx="4627664" cy="4078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69700"/>
                                        </p:tgtEl>
                                        <p:attrNameLst>
                                          <p:attrName>style.visibility</p:attrName>
                                        </p:attrNameLst>
                                      </p:cBhvr>
                                      <p:to>
                                        <p:strVal val="visible"/>
                                      </p:to>
                                    </p:set>
                                    <p:animEffect transition="in" filter="strips(downRight)">
                                      <p:cBhvr>
                                        <p:cTn id="7" dur="500"/>
                                        <p:tgtEl>
                                          <p:spTgt spid="669700"/>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69702"/>
                                        </p:tgtEl>
                                        <p:attrNameLst>
                                          <p:attrName>style.visibility</p:attrName>
                                        </p:attrNameLst>
                                      </p:cBhvr>
                                      <p:to>
                                        <p:strVal val="visible"/>
                                      </p:to>
                                    </p:set>
                                    <p:animEffect transition="in" filter="strips(downRight)">
                                      <p:cBhvr>
                                        <p:cTn id="11" dur="500"/>
                                        <p:tgtEl>
                                          <p:spTgt spid="66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细分原理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14"/>
          <p:cNvSpPr txBox="1">
            <a:spLocks noChangeArrowheads="1"/>
          </p:cNvSpPr>
          <p:nvPr/>
        </p:nvSpPr>
        <p:spPr bwMode="auto">
          <a:xfrm>
            <a:off x="357158" y="2000240"/>
            <a:ext cx="8501122" cy="2462213"/>
          </a:xfrm>
          <a:prstGeom prst="rect">
            <a:avLst/>
          </a:prstGeom>
          <a:noFill/>
          <a:ln w="9525" algn="ctr">
            <a:noFill/>
            <a:miter lim="800000"/>
            <a:headEnd/>
            <a:tailEnd/>
          </a:ln>
        </p:spPr>
        <p:txBody>
          <a:bodyPr wrap="square">
            <a:spAutoFit/>
          </a:bodyPr>
          <a:lstStyle/>
          <a:p>
            <a:pPr indent="449263">
              <a:spcBef>
                <a:spcPct val="50000"/>
              </a:spcBef>
            </a:pPr>
            <a:r>
              <a:rPr kumimoji="0" lang="zh-CN" altLang="en-US" b="1" dirty="0" smtClean="0">
                <a:solidFill>
                  <a:schemeClr val="tx1"/>
                </a:solidFill>
                <a:latin typeface="Times New Roman" pitchFamily="18" charset="0"/>
                <a:ea typeface="宋体" pitchFamily="2" charset="-122"/>
              </a:rPr>
              <a:t>辨</a:t>
            </a:r>
            <a:r>
              <a:rPr kumimoji="0" lang="zh-CN" altLang="en-US" b="1" dirty="0">
                <a:solidFill>
                  <a:schemeClr val="tx1"/>
                </a:solidFill>
                <a:latin typeface="Times New Roman" pitchFamily="18" charset="0"/>
                <a:ea typeface="宋体" pitchFamily="2" charset="-122"/>
              </a:rPr>
              <a:t>向逻辑电路的分辨力为一个光栅极距</a:t>
            </a:r>
            <a:r>
              <a:rPr kumimoji="0" lang="en-US" altLang="zh-CN" b="1" dirty="0">
                <a:solidFill>
                  <a:schemeClr val="tx1"/>
                </a:solidFill>
                <a:latin typeface="Times New Roman" pitchFamily="18" charset="0"/>
                <a:ea typeface="宋体" pitchFamily="2" charset="-122"/>
              </a:rPr>
              <a:t>W</a:t>
            </a:r>
            <a:r>
              <a:rPr kumimoji="0" lang="zh-CN" altLang="en-US" b="1" dirty="0">
                <a:solidFill>
                  <a:schemeClr val="tx1"/>
                </a:solidFill>
                <a:latin typeface="Times New Roman" pitchFamily="18" charset="0"/>
                <a:ea typeface="宋体" pitchFamily="2" charset="-122"/>
              </a:rPr>
              <a:t>，为了提高分辨力，可以增大刻线密度来减小栅距，</a:t>
            </a:r>
            <a:r>
              <a:rPr kumimoji="0" lang="zh-CN" altLang="en-US" b="1" dirty="0" smtClean="0">
                <a:solidFill>
                  <a:schemeClr val="tx1"/>
                </a:solidFill>
                <a:latin typeface="Times New Roman" pitchFamily="18" charset="0"/>
                <a:ea typeface="宋体" pitchFamily="2" charset="-122"/>
              </a:rPr>
              <a:t>但受到</a:t>
            </a:r>
            <a:r>
              <a:rPr kumimoji="0" lang="zh-CN" altLang="en-US" b="1" dirty="0">
                <a:solidFill>
                  <a:schemeClr val="tx1"/>
                </a:solidFill>
                <a:latin typeface="Times New Roman" pitchFamily="18" charset="0"/>
                <a:ea typeface="宋体" pitchFamily="2" charset="-122"/>
              </a:rPr>
              <a:t>制造工艺的限制</a:t>
            </a:r>
            <a:r>
              <a:rPr kumimoji="0" lang="zh-CN" altLang="en-US" b="1" dirty="0" smtClean="0">
                <a:solidFill>
                  <a:schemeClr val="tx1"/>
                </a:solidFill>
                <a:latin typeface="Times New Roman" pitchFamily="18" charset="0"/>
                <a:ea typeface="宋体" pitchFamily="2" charset="-122"/>
              </a:rPr>
              <a:t>。</a:t>
            </a:r>
            <a:endParaRPr kumimoji="0" lang="en-US" altLang="zh-CN" b="1" dirty="0" smtClean="0">
              <a:solidFill>
                <a:schemeClr val="tx1"/>
              </a:solidFill>
              <a:latin typeface="Times New Roman" pitchFamily="18" charset="0"/>
              <a:ea typeface="宋体" pitchFamily="2" charset="-122"/>
            </a:endParaRPr>
          </a:p>
          <a:p>
            <a:pPr indent="449263">
              <a:spcBef>
                <a:spcPct val="50000"/>
              </a:spcBef>
            </a:pPr>
            <a:r>
              <a:rPr kumimoji="0" lang="zh-CN" altLang="en-US" b="1" dirty="0" smtClean="0">
                <a:solidFill>
                  <a:schemeClr val="tx1"/>
                </a:solidFill>
                <a:latin typeface="Times New Roman" pitchFamily="18" charset="0"/>
                <a:ea typeface="宋体" pitchFamily="2" charset="-122"/>
              </a:rPr>
              <a:t>可以采用</a:t>
            </a:r>
            <a:r>
              <a:rPr kumimoji="0" lang="zh-CN" altLang="en-US" b="1" dirty="0">
                <a:solidFill>
                  <a:schemeClr val="tx1"/>
                </a:solidFill>
                <a:latin typeface="Times New Roman" pitchFamily="18" charset="0"/>
                <a:ea typeface="宋体" pitchFamily="2" charset="-122"/>
              </a:rPr>
              <a:t>细分技术，使光栅每移动一个栅距时输出均匀分布的几个脉冲，从而使分辨率提高到</a:t>
            </a:r>
            <a:r>
              <a:rPr kumimoji="0" lang="en-US" altLang="zh-CN" b="1" dirty="0">
                <a:solidFill>
                  <a:schemeClr val="tx1"/>
                </a:solidFill>
                <a:latin typeface="Times New Roman" pitchFamily="18" charset="0"/>
                <a:ea typeface="宋体" pitchFamily="2" charset="-122"/>
              </a:rPr>
              <a:t>W</a:t>
            </a:r>
            <a:r>
              <a:rPr kumimoji="0" lang="zh-CN" altLang="en-US" b="1" dirty="0">
                <a:solidFill>
                  <a:schemeClr val="tx1"/>
                </a:solidFill>
                <a:latin typeface="Times New Roman" pitchFamily="18" charset="0"/>
                <a:ea typeface="宋体" pitchFamily="2" charset="-122"/>
              </a:rPr>
              <a:t>／</a:t>
            </a:r>
            <a:r>
              <a:rPr kumimoji="0" lang="en-US" altLang="zh-CN" b="1" dirty="0">
                <a:solidFill>
                  <a:schemeClr val="tx1"/>
                </a:solidFill>
                <a:latin typeface="Times New Roman" pitchFamily="18" charset="0"/>
                <a:ea typeface="宋体" pitchFamily="2" charset="-122"/>
              </a:rPr>
              <a:t>n</a:t>
            </a:r>
            <a:r>
              <a:rPr kumimoji="0" lang="zh-CN" altLang="en-US" b="1" dirty="0" smtClean="0">
                <a:solidFill>
                  <a:schemeClr val="tx1"/>
                </a:solidFill>
                <a:latin typeface="Times New Roman" pitchFamily="18" charset="0"/>
                <a:ea typeface="宋体" pitchFamily="2" charset="-122"/>
              </a:rPr>
              <a:t>。</a:t>
            </a:r>
            <a:endParaRPr kumimoji="0" lang="zh-CN" altLang="en-US" b="1" dirty="0">
              <a:solidFill>
                <a:schemeClr val="tx1"/>
              </a:solidFill>
              <a:latin typeface="Times New Roman" pitchFamily="18" charset="0"/>
              <a:ea typeface="宋体" pitchFamily="2" charset="-122"/>
            </a:endParaRPr>
          </a:p>
        </p:txBody>
      </p:sp>
      <p:graphicFrame>
        <p:nvGraphicFramePr>
          <p:cNvPr id="671759" name="Object 15"/>
          <p:cNvGraphicFramePr>
            <a:graphicFrameLocks noGrp="1" noChangeAspect="1"/>
          </p:cNvGraphicFramePr>
          <p:nvPr/>
        </p:nvGraphicFramePr>
        <p:xfrm>
          <a:off x="3143240" y="4500570"/>
          <a:ext cx="5767387" cy="2079625"/>
        </p:xfrm>
        <a:graphic>
          <a:graphicData uri="http://schemas.openxmlformats.org/presentationml/2006/ole">
            <mc:AlternateContent xmlns:mc="http://schemas.openxmlformats.org/markup-compatibility/2006">
              <mc:Choice xmlns:v="urn:schemas-microsoft-com:vml" Requires="v">
                <p:oleObj spid="_x0000_s147463" name="Image" r:id="rId3" imgW="28927347" imgH="10422857" progId="">
                  <p:embed/>
                </p:oleObj>
              </mc:Choice>
              <mc:Fallback>
                <p:oleObj name="Image" r:id="rId3" imgW="28927347" imgH="10422857" progId="">
                  <p:embed/>
                  <p:pic>
                    <p:nvPicPr>
                      <p:cNvPr id="0" name="Object 1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40" y="4500570"/>
                        <a:ext cx="5767387"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71759"/>
                                        </p:tgtEl>
                                        <p:attrNameLst>
                                          <p:attrName>style.visibility</p:attrName>
                                        </p:attrNameLst>
                                      </p:cBhvr>
                                      <p:to>
                                        <p:strVal val="visible"/>
                                      </p:to>
                                    </p:set>
                                    <p:animEffect transition="in" filter="strips(downRight)">
                                      <p:cBhvr>
                                        <p:cTn id="7" dur="500"/>
                                        <p:tgtEl>
                                          <p:spTgt spid="671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细分原理</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8.7 </a:t>
            </a:r>
            <a:r>
              <a:rPr lang="zh-CN" altLang="en-US" sz="4400" b="1" dirty="0" smtClean="0">
                <a:latin typeface="黑体" pitchFamily="49" charset="-122"/>
                <a:ea typeface="黑体" pitchFamily="49" charset="-122"/>
              </a:rPr>
              <a:t>光栅式传感器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graphicFrame>
        <p:nvGraphicFramePr>
          <p:cNvPr id="677893" name="Object 5"/>
          <p:cNvGraphicFramePr>
            <a:graphicFrameLocks noGrp="1" noChangeAspect="1"/>
          </p:cNvGraphicFramePr>
          <p:nvPr/>
        </p:nvGraphicFramePr>
        <p:xfrm>
          <a:off x="1285852" y="2205038"/>
          <a:ext cx="7164388" cy="4652962"/>
        </p:xfrm>
        <a:graphic>
          <a:graphicData uri="http://schemas.openxmlformats.org/presentationml/2006/ole">
            <mc:AlternateContent xmlns:mc="http://schemas.openxmlformats.org/markup-compatibility/2006">
              <mc:Choice xmlns:v="urn:schemas-microsoft-com:vml" Requires="v">
                <p:oleObj spid="_x0000_s148486" name="Image" r:id="rId3" imgW="28927347" imgH="17368163" progId="">
                  <p:embed/>
                </p:oleObj>
              </mc:Choice>
              <mc:Fallback>
                <p:oleObj name="Image" r:id="rId3" imgW="28927347" imgH="17368163" progId="">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2205038"/>
                        <a:ext cx="7164388" cy="465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77893"/>
                                        </p:tgtEl>
                                        <p:attrNameLst>
                                          <p:attrName>style.visibility</p:attrName>
                                        </p:attrNameLst>
                                      </p:cBhvr>
                                      <p:to>
                                        <p:strVal val="visible"/>
                                      </p:to>
                                    </p:set>
                                    <p:animEffect transition="in" filter="strips(downRight)">
                                      <p:cBhvr>
                                        <p:cTn id="7" dur="500"/>
                                        <p:tgtEl>
                                          <p:spTgt spid="67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8.8 </a:t>
            </a:r>
            <a:r>
              <a:rPr lang="zh-CN" altLang="en-US" b="1" dirty="0" smtClean="0">
                <a:solidFill>
                  <a:schemeClr val="tx2"/>
                </a:solidFill>
                <a:latin typeface="黑体" pitchFamily="49" charset="-122"/>
                <a:ea typeface="黑体" pitchFamily="49" charset="-122"/>
              </a:rPr>
              <a:t>激光式传感器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矩形 4"/>
          <p:cNvSpPr/>
          <p:nvPr/>
        </p:nvSpPr>
        <p:spPr>
          <a:xfrm>
            <a:off x="285720" y="1500174"/>
            <a:ext cx="8572560" cy="4633024"/>
          </a:xfrm>
          <a:prstGeom prst="rect">
            <a:avLst/>
          </a:prstGeom>
        </p:spPr>
        <p:txBody>
          <a:bodyPr wrap="square">
            <a:spAutoFit/>
          </a:bodyPr>
          <a:lstStyle/>
          <a:p>
            <a:pPr indent="352425">
              <a:lnSpc>
                <a:spcPct val="150000"/>
              </a:lnSpc>
            </a:pPr>
            <a:r>
              <a:rPr kumimoji="0" lang="zh-CN" altLang="en-US" b="1" dirty="0" smtClean="0">
                <a:solidFill>
                  <a:schemeClr val="tx1"/>
                </a:solidFill>
                <a:latin typeface="宋体" pitchFamily="2" charset="-122"/>
                <a:ea typeface="宋体" pitchFamily="2" charset="-122"/>
              </a:rPr>
              <a:t>激光干涉传感器以光的干涉现象为基础，在精密测量领域有较广泛应用。</a:t>
            </a:r>
            <a:endParaRPr kumimoji="0" lang="en-US" altLang="zh-CN" b="1" dirty="0" smtClean="0">
              <a:solidFill>
                <a:schemeClr val="tx1"/>
              </a:solidFill>
              <a:latin typeface="宋体" pitchFamily="2" charset="-122"/>
              <a:ea typeface="宋体" pitchFamily="2" charset="-122"/>
            </a:endParaRPr>
          </a:p>
          <a:p>
            <a:pPr indent="352425">
              <a:lnSpc>
                <a:spcPct val="150000"/>
              </a:lnSpc>
            </a:pPr>
            <a:r>
              <a:rPr kumimoji="0" lang="zh-CN" altLang="en-US" b="1" dirty="0" smtClean="0">
                <a:solidFill>
                  <a:schemeClr val="tx1"/>
                </a:solidFill>
                <a:latin typeface="宋体" pitchFamily="2" charset="-122"/>
                <a:ea typeface="宋体" pitchFamily="2" charset="-122"/>
              </a:rPr>
              <a:t>按工作原理不同可分为三类：</a:t>
            </a:r>
            <a:endParaRPr kumimoji="0" lang="en-US" altLang="zh-CN" b="1" dirty="0" smtClean="0">
              <a:solidFill>
                <a:schemeClr val="tx1"/>
              </a:solidFill>
              <a:latin typeface="宋体" pitchFamily="2" charset="-122"/>
              <a:ea typeface="宋体" pitchFamily="2" charset="-122"/>
            </a:endParaRPr>
          </a:p>
          <a:p>
            <a:pPr lvl="2" indent="352425">
              <a:lnSpc>
                <a:spcPct val="150000"/>
              </a:lnSpc>
              <a:buFont typeface="Wingdings" pitchFamily="2" charset="2"/>
              <a:buChar char="u"/>
            </a:pPr>
            <a:r>
              <a:rPr kumimoji="0" lang="zh-CN" altLang="en-US" b="1" dirty="0" smtClean="0">
                <a:solidFill>
                  <a:schemeClr val="tx1"/>
                </a:solidFill>
                <a:latin typeface="宋体" pitchFamily="2" charset="-122"/>
                <a:ea typeface="宋体" pitchFamily="2" charset="-122"/>
              </a:rPr>
              <a:t>激光干涉传感器</a:t>
            </a:r>
            <a:endParaRPr kumimoji="0" lang="en-US" altLang="zh-CN" b="1" dirty="0" smtClean="0">
              <a:solidFill>
                <a:schemeClr val="tx1"/>
              </a:solidFill>
              <a:latin typeface="宋体" pitchFamily="2" charset="-122"/>
              <a:ea typeface="宋体" pitchFamily="2" charset="-122"/>
            </a:endParaRPr>
          </a:p>
          <a:p>
            <a:pPr lvl="2" indent="352425">
              <a:lnSpc>
                <a:spcPct val="150000"/>
              </a:lnSpc>
              <a:buFont typeface="Wingdings" pitchFamily="2" charset="2"/>
              <a:buChar char="u"/>
            </a:pPr>
            <a:r>
              <a:rPr kumimoji="0" lang="zh-CN" altLang="en-US" b="1" dirty="0" smtClean="0">
                <a:solidFill>
                  <a:schemeClr val="tx1"/>
                </a:solidFill>
                <a:latin typeface="宋体" pitchFamily="2" charset="-122"/>
                <a:ea typeface="宋体" pitchFamily="2" charset="-122"/>
              </a:rPr>
              <a:t>激光衍射传感器</a:t>
            </a:r>
            <a:endParaRPr kumimoji="0" lang="en-US" altLang="zh-CN" b="1" dirty="0" smtClean="0">
              <a:solidFill>
                <a:schemeClr val="tx1"/>
              </a:solidFill>
              <a:latin typeface="宋体" pitchFamily="2" charset="-122"/>
              <a:ea typeface="宋体" pitchFamily="2" charset="-122"/>
            </a:endParaRPr>
          </a:p>
          <a:p>
            <a:pPr lvl="2" indent="352425">
              <a:lnSpc>
                <a:spcPct val="150000"/>
              </a:lnSpc>
              <a:buFont typeface="Wingdings" pitchFamily="2" charset="2"/>
              <a:buChar char="u"/>
            </a:pPr>
            <a:r>
              <a:rPr kumimoji="0" lang="zh-CN" altLang="en-US" b="1" dirty="0" smtClean="0">
                <a:solidFill>
                  <a:schemeClr val="tx1"/>
                </a:solidFill>
                <a:latin typeface="宋体" pitchFamily="2" charset="-122"/>
                <a:ea typeface="宋体" pitchFamily="2" charset="-122"/>
              </a:rPr>
              <a:t>激光扫描传感器</a:t>
            </a:r>
            <a:endParaRPr kumimoji="0" lang="en-US" altLang="zh-CN" b="1" dirty="0" smtClean="0">
              <a:solidFill>
                <a:schemeClr val="tx1"/>
              </a:solidFill>
              <a:latin typeface="宋体" pitchFamily="2" charset="-122"/>
              <a:ea typeface="宋体" pitchFamily="2" charset="-122"/>
            </a:endParaRPr>
          </a:p>
          <a:p>
            <a:pPr indent="352425">
              <a:lnSpc>
                <a:spcPct val="120000"/>
              </a:lnSpc>
            </a:pPr>
            <a:endParaRPr kumimoji="0"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干涉</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8.8 </a:t>
            </a:r>
            <a:r>
              <a:rPr lang="zh-CN" altLang="en-US" sz="4400" b="1" dirty="0" smtClean="0">
                <a:latin typeface="黑体" pitchFamily="49" charset="-122"/>
                <a:ea typeface="黑体" pitchFamily="49" charset="-122"/>
              </a:rPr>
              <a:t>激光式传感器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矩形 6"/>
          <p:cNvSpPr/>
          <p:nvPr/>
        </p:nvSpPr>
        <p:spPr>
          <a:xfrm>
            <a:off x="285720" y="2112085"/>
            <a:ext cx="8572560" cy="3222998"/>
          </a:xfrm>
          <a:prstGeom prst="rect">
            <a:avLst/>
          </a:prstGeom>
        </p:spPr>
        <p:txBody>
          <a:bodyPr wrap="square">
            <a:spAutoFit/>
          </a:bodyPr>
          <a:lstStyle/>
          <a:p>
            <a:pPr indent="352425">
              <a:lnSpc>
                <a:spcPct val="150000"/>
              </a:lnSpc>
            </a:pPr>
            <a:r>
              <a:rPr kumimoji="0" lang="zh-CN" altLang="en-US" b="1" dirty="0" smtClean="0">
                <a:solidFill>
                  <a:schemeClr val="tx1"/>
                </a:solidFill>
                <a:latin typeface="宋体" pitchFamily="2" charset="-122"/>
                <a:ea typeface="宋体" pitchFamily="2" charset="-122"/>
              </a:rPr>
              <a:t>波长</a:t>
            </a:r>
            <a:r>
              <a:rPr kumimoji="0" lang="en-US" altLang="zh-CN" b="1" dirty="0" smtClean="0">
                <a:solidFill>
                  <a:schemeClr val="tx1"/>
                </a:solidFill>
                <a:latin typeface="宋体" pitchFamily="2" charset="-122"/>
                <a:ea typeface="宋体" pitchFamily="2" charset="-122"/>
              </a:rPr>
              <a:t>(</a:t>
            </a:r>
            <a:r>
              <a:rPr kumimoji="0" lang="zh-CN" altLang="en-US" b="1" dirty="0" smtClean="0">
                <a:solidFill>
                  <a:schemeClr val="tx1"/>
                </a:solidFill>
                <a:latin typeface="宋体" pitchFamily="2" charset="-122"/>
                <a:ea typeface="宋体" pitchFamily="2" charset="-122"/>
              </a:rPr>
              <a:t>频率</a:t>
            </a:r>
            <a:r>
              <a:rPr kumimoji="0" lang="en-US" altLang="zh-CN" b="1" dirty="0" smtClean="0">
                <a:solidFill>
                  <a:schemeClr val="tx1"/>
                </a:solidFill>
                <a:latin typeface="宋体" pitchFamily="2" charset="-122"/>
                <a:ea typeface="宋体" pitchFamily="2" charset="-122"/>
              </a:rPr>
              <a:t>)</a:t>
            </a:r>
            <a:r>
              <a:rPr kumimoji="0" lang="zh-CN" altLang="en-US" b="1" dirty="0" smtClean="0">
                <a:solidFill>
                  <a:schemeClr val="tx1"/>
                </a:solidFill>
                <a:latin typeface="宋体" pitchFamily="2" charset="-122"/>
                <a:ea typeface="宋体" pitchFamily="2" charset="-122"/>
              </a:rPr>
              <a:t>相同，振动方向相同，相位相关（固定相位差）的两束光具有相干性，当它们互相交叠时，会出现光强增强或减弱的现象，产生干涉条纹。</a:t>
            </a:r>
            <a:endParaRPr kumimoji="0" lang="en-US" altLang="zh-CN" b="1" dirty="0" smtClean="0">
              <a:solidFill>
                <a:schemeClr val="tx1"/>
              </a:solidFill>
              <a:latin typeface="宋体" pitchFamily="2" charset="-122"/>
              <a:ea typeface="宋体" pitchFamily="2" charset="-122"/>
            </a:endParaRPr>
          </a:p>
          <a:p>
            <a:pPr indent="352425">
              <a:lnSpc>
                <a:spcPct val="150000"/>
              </a:lnSpc>
            </a:pPr>
            <a:r>
              <a:rPr kumimoji="0" lang="zh-CN" altLang="en-US" b="1" dirty="0" smtClean="0">
                <a:solidFill>
                  <a:schemeClr val="tx1"/>
                </a:solidFill>
                <a:latin typeface="宋体" pitchFamily="2" charset="-122"/>
                <a:ea typeface="宋体" pitchFamily="2" charset="-122"/>
              </a:rPr>
              <a:t>利用干涉条纹随被测长度的变化而变化的原理可实现长度计量。</a:t>
            </a:r>
            <a:endParaRPr kumimoji="0"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激光干涉仪测位移</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8.8 </a:t>
            </a:r>
            <a:r>
              <a:rPr lang="zh-CN" altLang="en-US" sz="4400" b="1" dirty="0" smtClean="0">
                <a:latin typeface="黑体" pitchFamily="49" charset="-122"/>
                <a:ea typeface="黑体" pitchFamily="49" charset="-122"/>
              </a:rPr>
              <a:t>激光式传感器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graphicFrame>
        <p:nvGraphicFramePr>
          <p:cNvPr id="682006" name="Object 22"/>
          <p:cNvGraphicFramePr>
            <a:graphicFrameLocks noGrp="1" noChangeAspect="1"/>
          </p:cNvGraphicFramePr>
          <p:nvPr/>
        </p:nvGraphicFramePr>
        <p:xfrm>
          <a:off x="1042988" y="2060575"/>
          <a:ext cx="7612062" cy="4525963"/>
        </p:xfrm>
        <a:graphic>
          <a:graphicData uri="http://schemas.openxmlformats.org/presentationml/2006/ole">
            <mc:AlternateContent xmlns:mc="http://schemas.openxmlformats.org/markup-compatibility/2006">
              <mc:Choice xmlns:v="urn:schemas-microsoft-com:vml" Requires="v">
                <p:oleObj spid="_x0000_s151557" name="Image" r:id="rId3" imgW="27252245" imgH="16202449" progId="">
                  <p:embed/>
                </p:oleObj>
              </mc:Choice>
              <mc:Fallback>
                <p:oleObj name="Image" r:id="rId3" imgW="27252245" imgH="16202449" progId="">
                  <p:embed/>
                  <p:pic>
                    <p:nvPicPr>
                      <p:cNvPr id="0" name="Object 2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060575"/>
                        <a:ext cx="761206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82006"/>
                                        </p:tgtEl>
                                        <p:attrNameLst>
                                          <p:attrName>style.visibility</p:attrName>
                                        </p:attrNameLst>
                                      </p:cBhvr>
                                      <p:to>
                                        <p:strVal val="visible"/>
                                      </p:to>
                                    </p:set>
                                    <p:animEffect transition="in" filter="strips(downRight)">
                                      <p:cBhvr>
                                        <p:cTn id="7" dur="500"/>
                                        <p:tgtEl>
                                          <p:spTgt spid="682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285720" y="1500174"/>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gn="l">
              <a:lnSpc>
                <a:spcPct val="130000"/>
              </a:lnSpc>
            </a:pPr>
            <a:r>
              <a:rPr kumimoji="1" lang="zh-CN" altLang="en-US" sz="2800" b="1" dirty="0" smtClean="0">
                <a:solidFill>
                  <a:srgbClr val="F84D08"/>
                </a:solidFill>
                <a:latin typeface="黑体" pitchFamily="49" charset="-122"/>
                <a:ea typeface="黑体" pitchFamily="49" charset="-122"/>
              </a:rPr>
              <a:t>激光测长度原理 </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24" name="Rectangle 3"/>
          <p:cNvSpPr txBox="1">
            <a:spLocks noChangeArrowheads="1"/>
          </p:cNvSpPr>
          <p:nvPr/>
        </p:nvSpPr>
        <p:spPr bwMode="auto">
          <a:xfrm>
            <a:off x="1000100" y="642918"/>
            <a:ext cx="7812087" cy="719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ctr"/>
            <a:r>
              <a:rPr lang="en-US" altLang="zh-CN" sz="4400" b="1" dirty="0" smtClean="0">
                <a:latin typeface="黑体" pitchFamily="49" charset="-122"/>
                <a:ea typeface="黑体" pitchFamily="49" charset="-122"/>
              </a:rPr>
              <a:t>8.8 </a:t>
            </a:r>
            <a:r>
              <a:rPr lang="zh-CN" altLang="en-US" sz="4400" b="1" dirty="0" smtClean="0">
                <a:latin typeface="黑体" pitchFamily="49" charset="-122"/>
                <a:ea typeface="黑体" pitchFamily="49" charset="-122"/>
              </a:rPr>
              <a:t>激光式传感器</a:t>
            </a:r>
            <a:endParaRPr kumimoji="0" lang="zh-CN" altLang="en-US" sz="4400" b="1" i="0" u="none" strike="noStrike" kern="1200" cap="none" spc="0" normalizeH="0" baseline="0" noProof="0" dirty="0" smtClean="0">
              <a:ln>
                <a:noFill/>
              </a:ln>
              <a:solidFill>
                <a:schemeClr val="tx2"/>
              </a:solidFill>
              <a:effectLst/>
              <a:uLnTx/>
              <a:uFillTx/>
              <a:latin typeface="黑体" pitchFamily="49" charset="-122"/>
              <a:ea typeface="黑体" pitchFamily="49" charset="-122"/>
              <a:cs typeface="+mj-cs"/>
            </a:endParaRPr>
          </a:p>
        </p:txBody>
      </p:sp>
      <p:sp>
        <p:nvSpPr>
          <p:cNvPr id="7" name="Text Box 2"/>
          <p:cNvSpPr txBox="1">
            <a:spLocks noChangeArrowheads="1"/>
          </p:cNvSpPr>
          <p:nvPr/>
        </p:nvSpPr>
        <p:spPr bwMode="auto">
          <a:xfrm>
            <a:off x="214282" y="2214554"/>
            <a:ext cx="8643998" cy="2595839"/>
          </a:xfrm>
          <a:prstGeom prst="rect">
            <a:avLst/>
          </a:prstGeom>
          <a:noFill/>
          <a:ln w="9525">
            <a:noFill/>
            <a:miter lim="800000"/>
            <a:headEnd/>
            <a:tailEnd/>
          </a:ln>
        </p:spPr>
        <p:txBody>
          <a:bodyPr wrap="square">
            <a:spAutoFit/>
          </a:bodyPr>
          <a:lstStyle/>
          <a:p>
            <a:pPr indent="352425">
              <a:lnSpc>
                <a:spcPct val="150000"/>
              </a:lnSpc>
            </a:pPr>
            <a:r>
              <a:rPr kumimoji="0" lang="zh-CN" altLang="en-US" b="1" dirty="0">
                <a:solidFill>
                  <a:schemeClr val="tx1"/>
                </a:solidFill>
                <a:latin typeface="Times New Roman" pitchFamily="18" charset="0"/>
                <a:ea typeface="宋体" pitchFamily="2" charset="-122"/>
              </a:rPr>
              <a:t>现代长度计量很多都是利用光波的干涉现象来进行，其精度主要取决于光的</a:t>
            </a:r>
            <a:r>
              <a:rPr kumimoji="0" lang="zh-CN" altLang="en-US" b="1" dirty="0" smtClean="0">
                <a:solidFill>
                  <a:schemeClr val="tx1"/>
                </a:solidFill>
                <a:latin typeface="Times New Roman" pitchFamily="18" charset="0"/>
                <a:ea typeface="宋体" pitchFamily="2" charset="-122"/>
              </a:rPr>
              <a:t>单色性。</a:t>
            </a:r>
            <a:r>
              <a:rPr kumimoji="0" lang="zh-CN" altLang="en-US" b="1" dirty="0">
                <a:solidFill>
                  <a:schemeClr val="tx1"/>
                </a:solidFill>
                <a:latin typeface="Times New Roman" pitchFamily="18" charset="0"/>
                <a:ea typeface="宋体" pitchFamily="2" charset="-122"/>
              </a:rPr>
              <a:t>一种单色光的最大可测长度</a:t>
            </a:r>
            <a:r>
              <a:rPr kumimoji="0" lang="en-US" altLang="zh-CN" b="1" dirty="0">
                <a:solidFill>
                  <a:schemeClr val="tx1"/>
                </a:solidFill>
                <a:latin typeface="Times New Roman" pitchFamily="18" charset="0"/>
                <a:ea typeface="宋体" pitchFamily="2" charset="-122"/>
              </a:rPr>
              <a:t>L</a:t>
            </a:r>
            <a:r>
              <a:rPr kumimoji="0" lang="zh-CN" altLang="en-US" b="1" dirty="0">
                <a:solidFill>
                  <a:schemeClr val="tx1"/>
                </a:solidFill>
                <a:latin typeface="Times New Roman" pitchFamily="18" charset="0"/>
                <a:ea typeface="宋体" pitchFamily="2" charset="-122"/>
              </a:rPr>
              <a:t>与该单色光的波长</a:t>
            </a:r>
            <a:r>
              <a:rPr kumimoji="0" lang="en-US" altLang="zh-CN" b="1" dirty="0">
                <a:solidFill>
                  <a:schemeClr val="tx1"/>
                </a:solidFill>
                <a:latin typeface="Times New Roman" pitchFamily="18" charset="0"/>
                <a:ea typeface="宋体" pitchFamily="2" charset="-122"/>
              </a:rPr>
              <a:t>λ</a:t>
            </a:r>
            <a:r>
              <a:rPr kumimoji="0" lang="zh-CN" altLang="en-US" b="1" dirty="0">
                <a:solidFill>
                  <a:schemeClr val="tx1"/>
                </a:solidFill>
                <a:latin typeface="Times New Roman" pitchFamily="18" charset="0"/>
                <a:ea typeface="宋体" pitchFamily="2" charset="-122"/>
              </a:rPr>
              <a:t>及其谱线宽度</a:t>
            </a:r>
            <a:r>
              <a:rPr kumimoji="0" lang="en-US" altLang="zh-CN" b="1" dirty="0">
                <a:solidFill>
                  <a:schemeClr val="tx1"/>
                </a:solidFill>
                <a:latin typeface="Times New Roman" pitchFamily="18" charset="0"/>
                <a:ea typeface="宋体" pitchFamily="2" charset="-122"/>
              </a:rPr>
              <a:t>δ</a:t>
            </a:r>
            <a:r>
              <a:rPr kumimoji="0" lang="zh-CN" altLang="en-US" b="1" dirty="0">
                <a:solidFill>
                  <a:schemeClr val="tx1"/>
                </a:solidFill>
                <a:latin typeface="Times New Roman" pitchFamily="18" charset="0"/>
                <a:ea typeface="宋体" pitchFamily="2" charset="-122"/>
              </a:rPr>
              <a:t>之间的关系为</a:t>
            </a:r>
          </a:p>
        </p:txBody>
      </p:sp>
      <p:graphicFrame>
        <p:nvGraphicFramePr>
          <p:cNvPr id="683011" name="Object 3"/>
          <p:cNvGraphicFramePr>
            <a:graphicFrameLocks noChangeAspect="1"/>
          </p:cNvGraphicFramePr>
          <p:nvPr/>
        </p:nvGraphicFramePr>
        <p:xfrm>
          <a:off x="3643306" y="4643446"/>
          <a:ext cx="1143000" cy="1027112"/>
        </p:xfrm>
        <a:graphic>
          <a:graphicData uri="http://schemas.openxmlformats.org/presentationml/2006/ole">
            <mc:AlternateContent xmlns:mc="http://schemas.openxmlformats.org/markup-compatibility/2006">
              <mc:Choice xmlns:v="urn:schemas-microsoft-com:vml" Requires="v">
                <p:oleObj spid="_x0000_s152582" name="Flash Movie" r:id="rId3" imgW="1625040" imgH="1138680" progId="">
                  <p:embed/>
                </p:oleObj>
              </mc:Choice>
              <mc:Fallback>
                <p:oleObj name="Flash Movie" r:id="rId3" imgW="1625040" imgH="1138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3306" y="4643446"/>
                        <a:ext cx="11430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683011"/>
                                        </p:tgtEl>
                                        <p:attrNameLst>
                                          <p:attrName>style.visibility</p:attrName>
                                        </p:attrNameLst>
                                      </p:cBhvr>
                                      <p:to>
                                        <p:strVal val="visible"/>
                                      </p:to>
                                    </p:set>
                                    <p:anim calcmode="lin" valueType="num">
                                      <p:cBhvr additive="base">
                                        <p:cTn id="11" dur="500" fill="hold"/>
                                        <p:tgtEl>
                                          <p:spTgt spid="683011"/>
                                        </p:tgtEl>
                                        <p:attrNameLst>
                                          <p:attrName>ppt_x</p:attrName>
                                        </p:attrNameLst>
                                      </p:cBhvr>
                                      <p:tavLst>
                                        <p:tav tm="0">
                                          <p:val>
                                            <p:strVal val="0-#ppt_w/2"/>
                                          </p:val>
                                        </p:tav>
                                        <p:tav tm="100000">
                                          <p:val>
                                            <p:strVal val="#ppt_x"/>
                                          </p:val>
                                        </p:tav>
                                      </p:tavLst>
                                    </p:anim>
                                    <p:anim calcmode="lin" valueType="num">
                                      <p:cBhvr additive="base">
                                        <p:cTn id="12" dur="500" fill="hold"/>
                                        <p:tgtEl>
                                          <p:spTgt spid="6830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571472"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nSpc>
                <a:spcPct val="130000"/>
              </a:lnSpc>
            </a:pPr>
            <a:r>
              <a:rPr kumimoji="1" lang="zh-CN" altLang="en-US" b="1" dirty="0" smtClean="0">
                <a:solidFill>
                  <a:schemeClr val="tx2"/>
                </a:solidFill>
                <a:latin typeface="黑体" pitchFamily="49" charset="-122"/>
                <a:ea typeface="黑体" pitchFamily="49" charset="-122"/>
                <a:cs typeface="+mn-cs"/>
              </a:rPr>
              <a:t>本章要点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Text Box 2"/>
          <p:cNvSpPr txBox="1">
            <a:spLocks noChangeArrowheads="1"/>
          </p:cNvSpPr>
          <p:nvPr/>
        </p:nvSpPr>
        <p:spPr bwMode="auto">
          <a:xfrm>
            <a:off x="500002" y="1643050"/>
            <a:ext cx="8643998" cy="4789003"/>
          </a:xfrm>
          <a:prstGeom prst="rect">
            <a:avLst/>
          </a:prstGeom>
          <a:noFill/>
          <a:ln w="9525">
            <a:noFill/>
            <a:miter lim="800000"/>
            <a:headEnd/>
            <a:tailEnd/>
          </a:ln>
        </p:spPr>
        <p:txBody>
          <a:bodyPr wrap="square">
            <a:spAutoFit/>
          </a:bodyPr>
          <a:lstStyle/>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光电效应</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外光电效应</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内光电效应</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光生伏特效应</a:t>
            </a:r>
          </a:p>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光电式传感器测量电路</a:t>
            </a:r>
          </a:p>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光电式传感器及其应用</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模拟式光电传感器</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脉冲式光电传感器</a:t>
            </a:r>
            <a:endParaRPr lang="zh-CN" altLang="en-US" b="1" dirty="0">
              <a:latin typeface="Tahoma"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571472"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pPr marL="93663" indent="1588">
              <a:lnSpc>
                <a:spcPct val="130000"/>
              </a:lnSpc>
            </a:pPr>
            <a:r>
              <a:rPr kumimoji="1" lang="zh-CN" altLang="en-US" b="1" dirty="0" smtClean="0">
                <a:solidFill>
                  <a:schemeClr val="tx2"/>
                </a:solidFill>
                <a:latin typeface="黑体" pitchFamily="49" charset="-122"/>
                <a:ea typeface="黑体" pitchFamily="49" charset="-122"/>
                <a:cs typeface="+mn-cs"/>
              </a:rPr>
              <a:t>本章要点</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Text Box 2"/>
          <p:cNvSpPr txBox="1">
            <a:spLocks noChangeArrowheads="1"/>
          </p:cNvSpPr>
          <p:nvPr/>
        </p:nvSpPr>
        <p:spPr bwMode="auto">
          <a:xfrm>
            <a:off x="500002" y="1643050"/>
            <a:ext cx="8643998" cy="4228850"/>
          </a:xfrm>
          <a:prstGeom prst="rect">
            <a:avLst/>
          </a:prstGeom>
          <a:noFill/>
          <a:ln w="9525">
            <a:noFill/>
            <a:miter lim="800000"/>
            <a:headEnd/>
            <a:tailEnd/>
          </a:ln>
        </p:spPr>
        <p:txBody>
          <a:bodyPr wrap="square">
            <a:spAutoFit/>
          </a:bodyPr>
          <a:lstStyle/>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光纤传感器</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光导纤维</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光纤传感器的工作原理</a:t>
            </a:r>
          </a:p>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电荷耦合器件</a:t>
            </a:r>
            <a:r>
              <a:rPr lang="en-US" altLang="zh-CN" b="1" dirty="0" smtClean="0">
                <a:solidFill>
                  <a:srgbClr val="FF0000"/>
                </a:solidFill>
                <a:latin typeface="Tahoma" pitchFamily="34" charset="0"/>
                <a:ea typeface="宋体" pitchFamily="2" charset="-122"/>
              </a:rPr>
              <a:t>(CCD)</a:t>
            </a:r>
            <a:r>
              <a:rPr lang="zh-CN" altLang="en-US" b="1" dirty="0" smtClean="0">
                <a:solidFill>
                  <a:srgbClr val="FF0000"/>
                </a:solidFill>
                <a:latin typeface="Tahoma" pitchFamily="34" charset="0"/>
                <a:ea typeface="宋体" pitchFamily="2" charset="-122"/>
              </a:rPr>
              <a:t>的工作原理</a:t>
            </a:r>
          </a:p>
          <a:p>
            <a:pPr marL="342900" indent="-342900">
              <a:lnSpc>
                <a:spcPct val="120000"/>
              </a:lnSpc>
              <a:spcBef>
                <a:spcPct val="20000"/>
              </a:spcBef>
              <a:buClr>
                <a:srgbClr val="FF0000"/>
              </a:buClr>
              <a:buSzPct val="100000"/>
              <a:buFont typeface="Wingdings" pitchFamily="2" charset="2"/>
              <a:buChar char="u"/>
            </a:pPr>
            <a:r>
              <a:rPr lang="zh-CN" altLang="en-US" b="1" dirty="0" smtClean="0">
                <a:solidFill>
                  <a:srgbClr val="FF0000"/>
                </a:solidFill>
                <a:latin typeface="Tahoma" pitchFamily="34" charset="0"/>
                <a:ea typeface="宋体" pitchFamily="2" charset="-122"/>
              </a:rPr>
              <a:t> 光栅传感器</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莫尔条纹</a:t>
            </a:r>
          </a:p>
          <a:p>
            <a:pPr marL="800100" lvl="1" indent="-342900">
              <a:lnSpc>
                <a:spcPct val="120000"/>
              </a:lnSpc>
              <a:spcBef>
                <a:spcPct val="20000"/>
              </a:spcBef>
              <a:buClr>
                <a:schemeClr val="tx1"/>
              </a:buClr>
              <a:buSzPct val="100000"/>
              <a:buFont typeface="Wingdings" pitchFamily="2" charset="2"/>
              <a:buChar char="Ø"/>
            </a:pPr>
            <a:r>
              <a:rPr lang="zh-CN" altLang="en-US" b="1" dirty="0" smtClean="0">
                <a:latin typeface="Tahoma" pitchFamily="34" charset="0"/>
                <a:ea typeface="宋体" pitchFamily="2" charset="-122"/>
              </a:rPr>
              <a:t>辨向细分电路</a:t>
            </a:r>
            <a:endParaRPr lang="zh-CN" altLang="en-US" b="1" dirty="0">
              <a:latin typeface="Tahoma"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theme/theme1.xml><?xml version="1.0" encoding="utf-8"?>
<a:theme xmlns:a="http://schemas.openxmlformats.org/drawingml/2006/main" name="传感技术与测试系统2012-2  传感器的特性">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传感技术与测试系统2012-2  传感器的特性</Template>
  <TotalTime>3605</TotalTime>
  <Words>3835</Words>
  <Application>Microsoft Office PowerPoint</Application>
  <PresentationFormat>全屏显示(4:3)</PresentationFormat>
  <Paragraphs>257</Paragraphs>
  <Slides>56</Slides>
  <Notes>0</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56</vt:i4>
      </vt:variant>
    </vt:vector>
  </HeadingPairs>
  <TitlesOfParts>
    <vt:vector size="61" baseType="lpstr">
      <vt:lpstr>传感技术与测试系统2012-2  传感器的特性</vt:lpstr>
      <vt:lpstr>Image</vt:lpstr>
      <vt:lpstr>位图图像</vt:lpstr>
      <vt:lpstr>图像文档</vt:lpstr>
      <vt:lpstr>Flash Movie</vt:lpstr>
      <vt:lpstr>第8章 光电式传感器（2）</vt:lpstr>
      <vt:lpstr>8.5 光纤式传感器</vt:lpstr>
      <vt:lpstr>光纤的结构</vt:lpstr>
      <vt:lpstr>工作原理</vt:lpstr>
      <vt:lpstr>数值孔径 (Numerical aperture) </vt:lpstr>
      <vt:lpstr>分类</vt:lpstr>
      <vt:lpstr>分类</vt:lpstr>
      <vt:lpstr>按传输模式分类</vt:lpstr>
      <vt:lpstr>分类</vt:lpstr>
      <vt:lpstr>单模光纤和多模光纤特点</vt:lpstr>
      <vt:lpstr>按工作原理分类</vt:lpstr>
      <vt:lpstr>功能型光纤传感器的特点</vt:lpstr>
      <vt:lpstr>功能型光纤传感器的特点</vt:lpstr>
      <vt:lpstr>功能型光纤传感器的调制方式</vt:lpstr>
      <vt:lpstr>光相位调制型</vt:lpstr>
      <vt:lpstr>非功能型光纤传感器</vt:lpstr>
      <vt:lpstr>非功能型光纤传感器</vt:lpstr>
      <vt:lpstr>非功能型光纤传感器</vt:lpstr>
      <vt:lpstr>光纤位移传感器</vt:lpstr>
      <vt:lpstr>光纤位移传感器</vt:lpstr>
      <vt:lpstr>其它光纤传感器</vt:lpstr>
      <vt:lpstr>8.6 电荷耦合器件</vt:lpstr>
      <vt:lpstr>工作原理</vt:lpstr>
      <vt:lpstr>工作原理</vt:lpstr>
      <vt:lpstr>工作原理</vt:lpstr>
      <vt:lpstr>工作原理</vt:lpstr>
      <vt:lpstr>工作原理</vt:lpstr>
      <vt:lpstr>工作原理</vt:lpstr>
      <vt:lpstr>结构</vt:lpstr>
      <vt:lpstr>线阵CCD</vt:lpstr>
      <vt:lpstr>线阵CCD</vt:lpstr>
      <vt:lpstr>面阵CCD</vt:lpstr>
      <vt:lpstr>CCD应用</vt:lpstr>
      <vt:lpstr>CCD应用</vt:lpstr>
      <vt:lpstr>CCD应用</vt:lpstr>
      <vt:lpstr>CCD应用</vt:lpstr>
      <vt:lpstr>CCD应用</vt:lpstr>
      <vt:lpstr>CMOS器件</vt:lpstr>
      <vt:lpstr>8.7 光栅式传感器</vt:lpstr>
      <vt:lpstr>分类</vt:lpstr>
      <vt:lpstr>长光栅和圆光栅</vt:lpstr>
      <vt:lpstr>特点</vt:lpstr>
      <vt:lpstr>莫尔条纹</vt:lpstr>
      <vt:lpstr>横向莫尔条纹特性</vt:lpstr>
      <vt:lpstr>横向莫尔条纹特性</vt:lpstr>
      <vt:lpstr>辨向原理和细分电路</vt:lpstr>
      <vt:lpstr>辨向原理和细分电路</vt:lpstr>
      <vt:lpstr>辨向原理</vt:lpstr>
      <vt:lpstr>细分原理</vt:lpstr>
      <vt:lpstr>细分原理</vt:lpstr>
      <vt:lpstr>8.8 激光式传感器</vt:lpstr>
      <vt:lpstr>干涉</vt:lpstr>
      <vt:lpstr>激光干涉仪测位移</vt:lpstr>
      <vt:lpstr>激光测长度原理 </vt:lpstr>
      <vt:lpstr>本章要点</vt:lpstr>
      <vt:lpstr>本章要点</vt:lpstr>
    </vt:vector>
  </TitlesOfParts>
  <Company>buaa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航空航天精密仪器系统技术</dc:title>
  <dc:creator>zgj</dc:creator>
  <cp:lastModifiedBy>Microsoft</cp:lastModifiedBy>
  <cp:revision>404</cp:revision>
  <dcterms:created xsi:type="dcterms:W3CDTF">2002-10-13T05:45:24Z</dcterms:created>
  <dcterms:modified xsi:type="dcterms:W3CDTF">2016-04-26T01:06:51Z</dcterms:modified>
</cp:coreProperties>
</file>