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diagrams/layout2.xml" ContentType="application/vnd.openxmlformats-officedocument.drawingml.diagramLayout+xml"/>
  <Override PartName="/ppt/slides/slide8.xml" ContentType="application/vnd.openxmlformats-officedocument.presentationml.slide+xml"/>
  <Override PartName="/ppt/slides/slide49.xml" ContentType="application/vnd.openxmlformats-officedocument.presentationml.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2" r:id="rId1"/>
  </p:sldMasterIdLst>
  <p:notesMasterIdLst>
    <p:notesMasterId r:id="rId60"/>
  </p:notesMasterIdLst>
  <p:sldIdLst>
    <p:sldId id="316" r:id="rId2"/>
    <p:sldId id="317" r:id="rId3"/>
    <p:sldId id="393" r:id="rId4"/>
    <p:sldId id="394" r:id="rId5"/>
    <p:sldId id="318" r:id="rId6"/>
    <p:sldId id="319" r:id="rId7"/>
    <p:sldId id="395" r:id="rId8"/>
    <p:sldId id="396" r:id="rId9"/>
    <p:sldId id="399" r:id="rId10"/>
    <p:sldId id="397" r:id="rId11"/>
    <p:sldId id="398" r:id="rId12"/>
    <p:sldId id="400" r:id="rId13"/>
    <p:sldId id="401" r:id="rId14"/>
    <p:sldId id="402" r:id="rId15"/>
    <p:sldId id="403" r:id="rId16"/>
    <p:sldId id="404" r:id="rId17"/>
    <p:sldId id="405" r:id="rId18"/>
    <p:sldId id="406" r:id="rId19"/>
    <p:sldId id="407" r:id="rId20"/>
    <p:sldId id="408" r:id="rId21"/>
    <p:sldId id="409" r:id="rId22"/>
    <p:sldId id="410" r:id="rId23"/>
    <p:sldId id="411" r:id="rId24"/>
    <p:sldId id="412" r:id="rId25"/>
    <p:sldId id="413" r:id="rId26"/>
    <p:sldId id="414" r:id="rId27"/>
    <p:sldId id="415" r:id="rId28"/>
    <p:sldId id="416" r:id="rId29"/>
    <p:sldId id="417" r:id="rId30"/>
    <p:sldId id="418" r:id="rId31"/>
    <p:sldId id="420" r:id="rId32"/>
    <p:sldId id="419" r:id="rId33"/>
    <p:sldId id="470" r:id="rId34"/>
    <p:sldId id="421" r:id="rId35"/>
    <p:sldId id="449" r:id="rId36"/>
    <p:sldId id="423" r:id="rId37"/>
    <p:sldId id="450" r:id="rId38"/>
    <p:sldId id="451" r:id="rId39"/>
    <p:sldId id="452" r:id="rId40"/>
    <p:sldId id="453" r:id="rId41"/>
    <p:sldId id="454" r:id="rId42"/>
    <p:sldId id="455" r:id="rId43"/>
    <p:sldId id="456" r:id="rId44"/>
    <p:sldId id="471" r:id="rId45"/>
    <p:sldId id="457" r:id="rId46"/>
    <p:sldId id="458" r:id="rId47"/>
    <p:sldId id="460" r:id="rId48"/>
    <p:sldId id="459" r:id="rId49"/>
    <p:sldId id="461" r:id="rId50"/>
    <p:sldId id="462" r:id="rId51"/>
    <p:sldId id="472" r:id="rId52"/>
    <p:sldId id="463" r:id="rId53"/>
    <p:sldId id="464" r:id="rId54"/>
    <p:sldId id="465" r:id="rId55"/>
    <p:sldId id="466" r:id="rId56"/>
    <p:sldId id="467" r:id="rId57"/>
    <p:sldId id="468" r:id="rId58"/>
    <p:sldId id="469" r:id="rId59"/>
  </p:sldIdLst>
  <p:sldSz cx="9144000" cy="6858000" type="screen4x3"/>
  <p:notesSz cx="6858000" cy="9144000"/>
  <p:defaultTextStyle>
    <a:defPPr>
      <a:defRPr lang="zh-CN"/>
    </a:defPPr>
    <a:lvl1pPr algn="l" rtl="0" fontAlgn="base">
      <a:spcBef>
        <a:spcPct val="0"/>
      </a:spcBef>
      <a:spcAft>
        <a:spcPct val="0"/>
      </a:spcAft>
      <a:defRPr kumimoji="1" sz="2000"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umimoji="1" sz="2000"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umimoji="1" sz="2000"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umimoji="1" sz="2000"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umimoji="1" sz="2000" kern="1200">
        <a:solidFill>
          <a:schemeClr val="tx1"/>
        </a:solidFill>
        <a:latin typeface="Tahoma" pitchFamily="34" charset="0"/>
        <a:ea typeface="宋体" pitchFamily="2" charset="-122"/>
        <a:cs typeface="+mn-cs"/>
      </a:defRPr>
    </a:lvl5pPr>
    <a:lvl6pPr marL="2286000" algn="l" defTabSz="914400" rtl="0" eaLnBrk="1" latinLnBrk="0" hangingPunct="1">
      <a:defRPr kumimoji="1" sz="2000" kern="1200">
        <a:solidFill>
          <a:schemeClr val="tx1"/>
        </a:solidFill>
        <a:latin typeface="Tahoma" pitchFamily="34" charset="0"/>
        <a:ea typeface="宋体" pitchFamily="2" charset="-122"/>
        <a:cs typeface="+mn-cs"/>
      </a:defRPr>
    </a:lvl6pPr>
    <a:lvl7pPr marL="2743200" algn="l" defTabSz="914400" rtl="0" eaLnBrk="1" latinLnBrk="0" hangingPunct="1">
      <a:defRPr kumimoji="1" sz="2000" kern="1200">
        <a:solidFill>
          <a:schemeClr val="tx1"/>
        </a:solidFill>
        <a:latin typeface="Tahoma" pitchFamily="34" charset="0"/>
        <a:ea typeface="宋体" pitchFamily="2" charset="-122"/>
        <a:cs typeface="+mn-cs"/>
      </a:defRPr>
    </a:lvl7pPr>
    <a:lvl8pPr marL="3200400" algn="l" defTabSz="914400" rtl="0" eaLnBrk="1" latinLnBrk="0" hangingPunct="1">
      <a:defRPr kumimoji="1" sz="2000" kern="1200">
        <a:solidFill>
          <a:schemeClr val="tx1"/>
        </a:solidFill>
        <a:latin typeface="Tahoma" pitchFamily="34" charset="0"/>
        <a:ea typeface="宋体" pitchFamily="2" charset="-122"/>
        <a:cs typeface="+mn-cs"/>
      </a:defRPr>
    </a:lvl8pPr>
    <a:lvl9pPr marL="3657600" algn="l" defTabSz="914400" rtl="0" eaLnBrk="1" latinLnBrk="0" hangingPunct="1">
      <a:defRPr kumimoji="1" sz="2000" kern="1200">
        <a:solidFill>
          <a:schemeClr val="tx1"/>
        </a:solidFill>
        <a:latin typeface="Tahoma"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clrMru>
    <a:srgbClr val="0000CC"/>
    <a:srgbClr val="FF6600"/>
    <a:srgbClr val="CC3300"/>
    <a:srgbClr val="CC0066"/>
    <a:srgbClr val="993300"/>
    <a:srgbClr val="660066"/>
    <a:srgbClr val="0099FF"/>
    <a:srgbClr val="FF0066"/>
  </p:clrMru>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34615" autoAdjust="0"/>
    <p:restoredTop sz="86340" autoAdjust="0"/>
  </p:normalViewPr>
  <p:slideViewPr>
    <p:cSldViewPr>
      <p:cViewPr>
        <p:scale>
          <a:sx n="70" d="100"/>
          <a:sy n="70" d="100"/>
        </p:scale>
        <p:origin x="-396" y="-30"/>
      </p:cViewPr>
      <p:guideLst>
        <p:guide orient="horz" pos="2160"/>
        <p:guide pos="2880"/>
      </p:guideLst>
    </p:cSldViewPr>
  </p:slideViewPr>
  <p:outlineViewPr>
    <p:cViewPr>
      <p:scale>
        <a:sx n="33" d="100"/>
        <a:sy n="33" d="100"/>
      </p:scale>
      <p:origin x="0" y="3234"/>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37" d="100"/>
          <a:sy n="37" d="100"/>
        </p:scale>
        <p:origin x="-1470" y="-96"/>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F06119-8C0D-4385-B50C-A2A0F27B121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DA09C5BD-1335-4AB0-9499-894312983921}">
      <dgm:prSet phldrT="[文本]"/>
      <dgm:spPr>
        <a:solidFill>
          <a:srgbClr val="00B050"/>
        </a:solidFill>
      </dgm:spPr>
      <dgm:t>
        <a:bodyPr/>
        <a:lstStyle/>
        <a:p>
          <a:r>
            <a:rPr kumimoji="0" lang="zh-CN" altLang="en-US" b="1" dirty="0" smtClean="0">
              <a:solidFill>
                <a:srgbClr val="CC3300"/>
              </a:solidFill>
            </a:rPr>
            <a:t>自感式</a:t>
          </a:r>
          <a:endParaRPr lang="zh-CN" altLang="en-US" dirty="0"/>
        </a:p>
      </dgm:t>
    </dgm:pt>
    <dgm:pt modelId="{A53C114B-69D4-4061-911D-155E9067C241}" type="parTrans" cxnId="{B4EEFC15-D1C1-48B7-8860-19E808583675}">
      <dgm:prSet/>
      <dgm:spPr/>
      <dgm:t>
        <a:bodyPr/>
        <a:lstStyle/>
        <a:p>
          <a:endParaRPr lang="zh-CN" altLang="en-US"/>
        </a:p>
      </dgm:t>
    </dgm:pt>
    <dgm:pt modelId="{E2333501-FE7D-4D23-9F48-F44DC68A862B}" type="sibTrans" cxnId="{B4EEFC15-D1C1-48B7-8860-19E808583675}">
      <dgm:prSet/>
      <dgm:spPr/>
      <dgm:t>
        <a:bodyPr/>
        <a:lstStyle/>
        <a:p>
          <a:endParaRPr lang="zh-CN" altLang="en-US"/>
        </a:p>
      </dgm:t>
    </dgm:pt>
    <dgm:pt modelId="{EF3BA484-9A42-4753-839B-00EB8BC57F9A}">
      <dgm:prSet phldrT="[文本]" custT="1"/>
      <dgm:spPr/>
      <dgm:t>
        <a:bodyPr/>
        <a:lstStyle/>
        <a:p>
          <a:r>
            <a:rPr kumimoji="0" lang="zh-CN" altLang="en-US" sz="2400" b="1" dirty="0" smtClean="0">
              <a:latin typeface="华文楷体" pitchFamily="2" charset="-122"/>
              <a:ea typeface="华文楷体" pitchFamily="2" charset="-122"/>
            </a:rPr>
            <a:t>利用自感原理，通常称为电感式传感器。</a:t>
          </a:r>
          <a:endParaRPr lang="zh-CN" altLang="en-US" sz="2400" dirty="0"/>
        </a:p>
      </dgm:t>
    </dgm:pt>
    <dgm:pt modelId="{1F3ECDC6-0DD5-4F3D-88BF-4CEA2D204D81}" type="parTrans" cxnId="{E34D8231-7065-4386-A338-F21D85A34EEC}">
      <dgm:prSet/>
      <dgm:spPr/>
      <dgm:t>
        <a:bodyPr/>
        <a:lstStyle/>
        <a:p>
          <a:endParaRPr lang="zh-CN" altLang="en-US"/>
        </a:p>
      </dgm:t>
    </dgm:pt>
    <dgm:pt modelId="{BA888E4F-FAE9-4601-B596-A8783DABCE7B}" type="sibTrans" cxnId="{E34D8231-7065-4386-A338-F21D85A34EEC}">
      <dgm:prSet/>
      <dgm:spPr/>
      <dgm:t>
        <a:bodyPr/>
        <a:lstStyle/>
        <a:p>
          <a:endParaRPr lang="zh-CN" altLang="en-US"/>
        </a:p>
      </dgm:t>
    </dgm:pt>
    <dgm:pt modelId="{CCD377A0-81AD-4E53-8899-33AAE02F9264}">
      <dgm:prSet phldrT="[文本]"/>
      <dgm:spPr>
        <a:solidFill>
          <a:srgbClr val="00B050"/>
        </a:solidFill>
      </dgm:spPr>
      <dgm:t>
        <a:bodyPr/>
        <a:lstStyle/>
        <a:p>
          <a:r>
            <a:rPr kumimoji="0" lang="zh-CN" altLang="en-US" b="1" dirty="0" smtClean="0">
              <a:solidFill>
                <a:srgbClr val="CC3300"/>
              </a:solidFill>
            </a:rPr>
            <a:t>变压器式</a:t>
          </a:r>
          <a:endParaRPr lang="zh-CN" altLang="en-US" dirty="0"/>
        </a:p>
      </dgm:t>
    </dgm:pt>
    <dgm:pt modelId="{860C0A99-1B70-458D-A60C-4F6BD9453E27}" type="parTrans" cxnId="{52532518-A897-4F73-94E3-0F7F5BBEA1DF}">
      <dgm:prSet/>
      <dgm:spPr/>
      <dgm:t>
        <a:bodyPr/>
        <a:lstStyle/>
        <a:p>
          <a:endParaRPr lang="zh-CN" altLang="en-US"/>
        </a:p>
      </dgm:t>
    </dgm:pt>
    <dgm:pt modelId="{9A414DC3-224E-4A08-B945-DF37C97325A7}" type="sibTrans" cxnId="{52532518-A897-4F73-94E3-0F7F5BBEA1DF}">
      <dgm:prSet/>
      <dgm:spPr/>
      <dgm:t>
        <a:bodyPr/>
        <a:lstStyle/>
        <a:p>
          <a:endParaRPr lang="zh-CN" altLang="en-US"/>
        </a:p>
      </dgm:t>
    </dgm:pt>
    <dgm:pt modelId="{4B955B56-7947-4E5D-8C52-2D40B8CD51D7}">
      <dgm:prSet phldrT="[文本]" custT="1"/>
      <dgm:spPr/>
      <dgm:t>
        <a:bodyPr/>
        <a:lstStyle/>
        <a:p>
          <a:r>
            <a:rPr kumimoji="0" lang="zh-CN" altLang="en-US" sz="2400" b="1" dirty="0" smtClean="0">
              <a:latin typeface="华文楷体" pitchFamily="2" charset="-122"/>
              <a:ea typeface="华文楷体" pitchFamily="2" charset="-122"/>
            </a:rPr>
            <a:t>利用互感原理，通常为差动式。</a:t>
          </a:r>
          <a:endParaRPr lang="zh-CN" altLang="en-US" sz="2400" dirty="0"/>
        </a:p>
      </dgm:t>
    </dgm:pt>
    <dgm:pt modelId="{34B80493-4377-43C0-8983-DC2D7B7A495E}" type="parTrans" cxnId="{B190B04A-6FF7-490E-BBED-25AB6B4A2B5A}">
      <dgm:prSet/>
      <dgm:spPr/>
      <dgm:t>
        <a:bodyPr/>
        <a:lstStyle/>
        <a:p>
          <a:endParaRPr lang="zh-CN" altLang="en-US"/>
        </a:p>
      </dgm:t>
    </dgm:pt>
    <dgm:pt modelId="{A7EA6504-6A28-4A7C-8F84-A726499ABC0F}" type="sibTrans" cxnId="{B190B04A-6FF7-490E-BBED-25AB6B4A2B5A}">
      <dgm:prSet/>
      <dgm:spPr/>
      <dgm:t>
        <a:bodyPr/>
        <a:lstStyle/>
        <a:p>
          <a:endParaRPr lang="zh-CN" altLang="en-US"/>
        </a:p>
      </dgm:t>
    </dgm:pt>
    <dgm:pt modelId="{D9BE497C-C63D-4E48-B28A-21D55EF866E6}">
      <dgm:prSet phldrT="[文本]"/>
      <dgm:spPr>
        <a:solidFill>
          <a:srgbClr val="00B050"/>
        </a:solidFill>
      </dgm:spPr>
      <dgm:t>
        <a:bodyPr/>
        <a:lstStyle/>
        <a:p>
          <a:r>
            <a:rPr kumimoji="0" lang="zh-CN" altLang="en-US" b="1" dirty="0" smtClean="0">
              <a:solidFill>
                <a:srgbClr val="CC3300"/>
              </a:solidFill>
            </a:rPr>
            <a:t>涡流式</a:t>
          </a:r>
          <a:endParaRPr lang="zh-CN" altLang="en-US" dirty="0"/>
        </a:p>
      </dgm:t>
    </dgm:pt>
    <dgm:pt modelId="{FC74342F-F3D2-4358-A53D-00D036156CFC}" type="parTrans" cxnId="{3A8E140B-3014-4328-A0C1-00221B14E7E8}">
      <dgm:prSet/>
      <dgm:spPr/>
      <dgm:t>
        <a:bodyPr/>
        <a:lstStyle/>
        <a:p>
          <a:endParaRPr lang="zh-CN" altLang="en-US"/>
        </a:p>
      </dgm:t>
    </dgm:pt>
    <dgm:pt modelId="{99B74C58-B886-476F-9CAF-161D5BC0273A}" type="sibTrans" cxnId="{3A8E140B-3014-4328-A0C1-00221B14E7E8}">
      <dgm:prSet/>
      <dgm:spPr/>
      <dgm:t>
        <a:bodyPr/>
        <a:lstStyle/>
        <a:p>
          <a:endParaRPr lang="zh-CN" altLang="en-US"/>
        </a:p>
      </dgm:t>
    </dgm:pt>
    <dgm:pt modelId="{428AC596-DE08-4050-81D3-6A3EBC512C1D}">
      <dgm:prSet phldrT="[文本]"/>
      <dgm:spPr/>
      <dgm:t>
        <a:bodyPr/>
        <a:lstStyle/>
        <a:p>
          <a:r>
            <a:rPr kumimoji="0" lang="zh-CN" altLang="en-US" b="1" dirty="0" smtClean="0">
              <a:latin typeface="华文楷体" pitchFamily="2" charset="-122"/>
              <a:ea typeface="华文楷体" pitchFamily="2" charset="-122"/>
            </a:rPr>
            <a:t>利用涡流原理。</a:t>
          </a:r>
          <a:endParaRPr lang="zh-CN" altLang="en-US" dirty="0"/>
        </a:p>
      </dgm:t>
    </dgm:pt>
    <dgm:pt modelId="{4CB8BF8D-5B3D-4D2A-B8B9-35F1A791F108}" type="parTrans" cxnId="{894744A2-9024-4E31-803D-4F4BEF808F59}">
      <dgm:prSet/>
      <dgm:spPr/>
      <dgm:t>
        <a:bodyPr/>
        <a:lstStyle/>
        <a:p>
          <a:endParaRPr lang="zh-CN" altLang="en-US"/>
        </a:p>
      </dgm:t>
    </dgm:pt>
    <dgm:pt modelId="{0F435813-7E45-489B-ACCF-22CB7879316F}" type="sibTrans" cxnId="{894744A2-9024-4E31-803D-4F4BEF808F59}">
      <dgm:prSet/>
      <dgm:spPr/>
      <dgm:t>
        <a:bodyPr/>
        <a:lstStyle/>
        <a:p>
          <a:endParaRPr lang="zh-CN" altLang="en-US"/>
        </a:p>
      </dgm:t>
    </dgm:pt>
    <dgm:pt modelId="{B590B94F-F6CB-4419-9C41-5A81E13FB93A}">
      <dgm:prSet phldrT="[文本]"/>
      <dgm:spPr>
        <a:solidFill>
          <a:srgbClr val="00B050"/>
        </a:solidFill>
      </dgm:spPr>
      <dgm:t>
        <a:bodyPr/>
        <a:lstStyle/>
        <a:p>
          <a:r>
            <a:rPr kumimoji="0" lang="zh-CN" altLang="en-US" b="1" dirty="0" smtClean="0">
              <a:solidFill>
                <a:srgbClr val="CC3300"/>
              </a:solidFill>
            </a:rPr>
            <a:t>压磁式</a:t>
          </a:r>
          <a:endParaRPr lang="zh-CN" altLang="en-US" dirty="0"/>
        </a:p>
      </dgm:t>
    </dgm:pt>
    <dgm:pt modelId="{672F11FF-5EA7-415E-9C44-D25E69A4C628}" type="parTrans" cxnId="{96D77764-3FEB-449A-BB8C-7A03982B694E}">
      <dgm:prSet/>
      <dgm:spPr/>
      <dgm:t>
        <a:bodyPr/>
        <a:lstStyle/>
        <a:p>
          <a:endParaRPr lang="zh-CN" altLang="en-US"/>
        </a:p>
      </dgm:t>
    </dgm:pt>
    <dgm:pt modelId="{B85F8086-7213-4D4A-BC5D-48375E63628F}" type="sibTrans" cxnId="{96D77764-3FEB-449A-BB8C-7A03982B694E}">
      <dgm:prSet/>
      <dgm:spPr/>
      <dgm:t>
        <a:bodyPr/>
        <a:lstStyle/>
        <a:p>
          <a:endParaRPr lang="zh-CN" altLang="en-US"/>
        </a:p>
      </dgm:t>
    </dgm:pt>
    <dgm:pt modelId="{D421FDE9-417F-4537-9D9E-9AF7B3C5EA9C}">
      <dgm:prSet phldrT="[文本]"/>
      <dgm:spPr/>
      <dgm:t>
        <a:bodyPr/>
        <a:lstStyle/>
        <a:p>
          <a:r>
            <a:rPr kumimoji="0" lang="zh-CN" altLang="en-US" b="1" dirty="0" smtClean="0">
              <a:latin typeface="华文楷体" pitchFamily="2" charset="-122"/>
              <a:ea typeface="华文楷体" pitchFamily="2" charset="-122"/>
            </a:rPr>
            <a:t>利用互感原理。</a:t>
          </a:r>
          <a:endParaRPr lang="zh-CN" altLang="en-US" dirty="0"/>
        </a:p>
      </dgm:t>
    </dgm:pt>
    <dgm:pt modelId="{E42C6C1D-879D-40FF-B3C0-0E25294DF15F}" type="parTrans" cxnId="{A876081C-EE22-4913-8FE4-38ADCE39E635}">
      <dgm:prSet/>
      <dgm:spPr/>
      <dgm:t>
        <a:bodyPr/>
        <a:lstStyle/>
        <a:p>
          <a:endParaRPr lang="zh-CN" altLang="en-US"/>
        </a:p>
      </dgm:t>
    </dgm:pt>
    <dgm:pt modelId="{3B856BE7-D84A-483A-B335-FE2F23B49398}" type="sibTrans" cxnId="{A876081C-EE22-4913-8FE4-38ADCE39E635}">
      <dgm:prSet/>
      <dgm:spPr/>
      <dgm:t>
        <a:bodyPr/>
        <a:lstStyle/>
        <a:p>
          <a:endParaRPr lang="zh-CN" altLang="en-US"/>
        </a:p>
      </dgm:t>
    </dgm:pt>
    <dgm:pt modelId="{8F31C23A-32A8-46EB-87E3-AED79AE3A3CA}">
      <dgm:prSet phldrT="[文本]"/>
      <dgm:spPr/>
      <dgm:t>
        <a:bodyPr/>
        <a:lstStyle/>
        <a:p>
          <a:r>
            <a:rPr kumimoji="0" lang="zh-CN" altLang="en-US" b="1" dirty="0" smtClean="0">
              <a:latin typeface="华文楷体" pitchFamily="2" charset="-122"/>
              <a:ea typeface="华文楷体" pitchFamily="2" charset="-122"/>
            </a:rPr>
            <a:t>利用压磁原理。</a:t>
          </a:r>
          <a:endParaRPr lang="zh-CN" altLang="en-US" dirty="0"/>
        </a:p>
      </dgm:t>
    </dgm:pt>
    <dgm:pt modelId="{12F3FCA3-56FA-4954-A908-0B61D50D3C43}" type="parTrans" cxnId="{5AF6DEDF-1FA0-4922-B9C8-7F1266F3659B}">
      <dgm:prSet/>
      <dgm:spPr/>
      <dgm:t>
        <a:bodyPr/>
        <a:lstStyle/>
        <a:p>
          <a:endParaRPr lang="zh-CN" altLang="en-US"/>
        </a:p>
      </dgm:t>
    </dgm:pt>
    <dgm:pt modelId="{09C37C9B-09F6-4F20-A3DD-C0D5B509B057}" type="sibTrans" cxnId="{5AF6DEDF-1FA0-4922-B9C8-7F1266F3659B}">
      <dgm:prSet/>
      <dgm:spPr/>
      <dgm:t>
        <a:bodyPr/>
        <a:lstStyle/>
        <a:p>
          <a:endParaRPr lang="zh-CN" altLang="en-US"/>
        </a:p>
      </dgm:t>
    </dgm:pt>
    <dgm:pt modelId="{D7F2E69D-B8E5-4243-AB06-A3B15C2EA661}">
      <dgm:prSet phldrT="[文本]"/>
      <dgm:spPr>
        <a:solidFill>
          <a:srgbClr val="00B050"/>
        </a:solidFill>
      </dgm:spPr>
      <dgm:t>
        <a:bodyPr/>
        <a:lstStyle/>
        <a:p>
          <a:r>
            <a:rPr kumimoji="0" lang="zh-CN" altLang="en-US" b="1" dirty="0" smtClean="0">
              <a:solidFill>
                <a:srgbClr val="CC3300"/>
              </a:solidFill>
            </a:rPr>
            <a:t>感应同步器</a:t>
          </a:r>
          <a:endParaRPr lang="zh-CN" altLang="en-US" dirty="0"/>
        </a:p>
      </dgm:t>
    </dgm:pt>
    <dgm:pt modelId="{F218109F-4D1A-4940-BEFB-C0DE8D2DC617}" type="parTrans" cxnId="{B0637F45-3FDE-492C-B66C-F871CBA91F83}">
      <dgm:prSet/>
      <dgm:spPr/>
      <dgm:t>
        <a:bodyPr/>
        <a:lstStyle/>
        <a:p>
          <a:endParaRPr lang="zh-CN" altLang="en-US"/>
        </a:p>
      </dgm:t>
    </dgm:pt>
    <dgm:pt modelId="{E9B50374-ECDF-474C-89F8-B2790C62B6F9}" type="sibTrans" cxnId="{B0637F45-3FDE-492C-B66C-F871CBA91F83}">
      <dgm:prSet/>
      <dgm:spPr/>
      <dgm:t>
        <a:bodyPr/>
        <a:lstStyle/>
        <a:p>
          <a:endParaRPr lang="zh-CN" altLang="en-US"/>
        </a:p>
      </dgm:t>
    </dgm:pt>
    <dgm:pt modelId="{FDE52234-FF48-43C8-A810-37D1BA64A733}" type="pres">
      <dgm:prSet presAssocID="{9FF06119-8C0D-4385-B50C-A2A0F27B121E}" presName="Name0" presStyleCnt="0">
        <dgm:presLayoutVars>
          <dgm:dir/>
          <dgm:animLvl val="lvl"/>
          <dgm:resizeHandles val="exact"/>
        </dgm:presLayoutVars>
      </dgm:prSet>
      <dgm:spPr/>
      <dgm:t>
        <a:bodyPr/>
        <a:lstStyle/>
        <a:p>
          <a:endParaRPr lang="zh-CN" altLang="en-US"/>
        </a:p>
      </dgm:t>
    </dgm:pt>
    <dgm:pt modelId="{6E4B1058-D5F9-4F81-95BF-88E2A034AA83}" type="pres">
      <dgm:prSet presAssocID="{DA09C5BD-1335-4AB0-9499-894312983921}" presName="linNode" presStyleCnt="0"/>
      <dgm:spPr/>
    </dgm:pt>
    <dgm:pt modelId="{ACC91253-8C78-43C8-9BD5-FF92B4AE619F}" type="pres">
      <dgm:prSet presAssocID="{DA09C5BD-1335-4AB0-9499-894312983921}" presName="parentText" presStyleLbl="node1" presStyleIdx="0" presStyleCnt="5" custScaleX="102626" custLinFactNeighborX="0" custLinFactNeighborY="-229">
        <dgm:presLayoutVars>
          <dgm:chMax val="1"/>
          <dgm:bulletEnabled val="1"/>
        </dgm:presLayoutVars>
      </dgm:prSet>
      <dgm:spPr/>
      <dgm:t>
        <a:bodyPr/>
        <a:lstStyle/>
        <a:p>
          <a:endParaRPr lang="zh-CN" altLang="en-US"/>
        </a:p>
      </dgm:t>
    </dgm:pt>
    <dgm:pt modelId="{47634FA2-192F-44CA-B545-4C55789D0822}" type="pres">
      <dgm:prSet presAssocID="{DA09C5BD-1335-4AB0-9499-894312983921}" presName="descendantText" presStyleLbl="alignAccFollowNode1" presStyleIdx="0" presStyleCnt="5" custScaleX="154122" custScaleY="119572">
        <dgm:presLayoutVars>
          <dgm:bulletEnabled val="1"/>
        </dgm:presLayoutVars>
      </dgm:prSet>
      <dgm:spPr/>
      <dgm:t>
        <a:bodyPr/>
        <a:lstStyle/>
        <a:p>
          <a:endParaRPr lang="zh-CN" altLang="en-US"/>
        </a:p>
      </dgm:t>
    </dgm:pt>
    <dgm:pt modelId="{BB13B000-F0FF-41A9-8975-E75F2E53B422}" type="pres">
      <dgm:prSet presAssocID="{E2333501-FE7D-4D23-9F48-F44DC68A862B}" presName="sp" presStyleCnt="0"/>
      <dgm:spPr/>
    </dgm:pt>
    <dgm:pt modelId="{5FCB7812-5576-4C3F-9D3F-13F4E1764304}" type="pres">
      <dgm:prSet presAssocID="{CCD377A0-81AD-4E53-8899-33AAE02F9264}" presName="linNode" presStyleCnt="0"/>
      <dgm:spPr/>
    </dgm:pt>
    <dgm:pt modelId="{8CA98837-AA65-4006-A6E8-262D0A609AF0}" type="pres">
      <dgm:prSet presAssocID="{CCD377A0-81AD-4E53-8899-33AAE02F9264}" presName="parentText" presStyleLbl="node1" presStyleIdx="1" presStyleCnt="5" custScaleX="80469">
        <dgm:presLayoutVars>
          <dgm:chMax val="1"/>
          <dgm:bulletEnabled val="1"/>
        </dgm:presLayoutVars>
      </dgm:prSet>
      <dgm:spPr/>
      <dgm:t>
        <a:bodyPr/>
        <a:lstStyle/>
        <a:p>
          <a:endParaRPr lang="zh-CN" altLang="en-US"/>
        </a:p>
      </dgm:t>
    </dgm:pt>
    <dgm:pt modelId="{62F96752-9F47-4E50-BEF3-D1324A7FB018}" type="pres">
      <dgm:prSet presAssocID="{CCD377A0-81AD-4E53-8899-33AAE02F9264}" presName="descendantText" presStyleLbl="alignAccFollowNode1" presStyleIdx="1" presStyleCnt="5" custScaleX="119992" custScaleY="121071">
        <dgm:presLayoutVars>
          <dgm:bulletEnabled val="1"/>
        </dgm:presLayoutVars>
      </dgm:prSet>
      <dgm:spPr/>
      <dgm:t>
        <a:bodyPr/>
        <a:lstStyle/>
        <a:p>
          <a:endParaRPr lang="zh-CN" altLang="en-US"/>
        </a:p>
      </dgm:t>
    </dgm:pt>
    <dgm:pt modelId="{F8B6768F-0D6E-4825-B9C7-CEC6C3FA9686}" type="pres">
      <dgm:prSet presAssocID="{9A414DC3-224E-4A08-B945-DF37C97325A7}" presName="sp" presStyleCnt="0"/>
      <dgm:spPr/>
    </dgm:pt>
    <dgm:pt modelId="{D602CD45-2B78-4CCA-B96D-9C7B964AA81D}" type="pres">
      <dgm:prSet presAssocID="{D9BE497C-C63D-4E48-B28A-21D55EF866E6}" presName="linNode" presStyleCnt="0"/>
      <dgm:spPr/>
    </dgm:pt>
    <dgm:pt modelId="{95878A81-29CA-4D10-9AF8-19A971BC7DA9}" type="pres">
      <dgm:prSet presAssocID="{D9BE497C-C63D-4E48-B28A-21D55EF866E6}" presName="parentText" presStyleLbl="node1" presStyleIdx="2" presStyleCnt="5" custScaleX="82292">
        <dgm:presLayoutVars>
          <dgm:chMax val="1"/>
          <dgm:bulletEnabled val="1"/>
        </dgm:presLayoutVars>
      </dgm:prSet>
      <dgm:spPr/>
      <dgm:t>
        <a:bodyPr/>
        <a:lstStyle/>
        <a:p>
          <a:endParaRPr lang="zh-CN" altLang="en-US"/>
        </a:p>
      </dgm:t>
    </dgm:pt>
    <dgm:pt modelId="{51080AA9-7905-434D-854E-E5CF670C31E1}" type="pres">
      <dgm:prSet presAssocID="{D9BE497C-C63D-4E48-B28A-21D55EF866E6}" presName="descendantText" presStyleLbl="alignAccFollowNode1" presStyleIdx="2" presStyleCnt="5" custScaleX="122096">
        <dgm:presLayoutVars>
          <dgm:bulletEnabled val="1"/>
        </dgm:presLayoutVars>
      </dgm:prSet>
      <dgm:spPr/>
      <dgm:t>
        <a:bodyPr/>
        <a:lstStyle/>
        <a:p>
          <a:endParaRPr lang="zh-CN" altLang="en-US"/>
        </a:p>
      </dgm:t>
    </dgm:pt>
    <dgm:pt modelId="{478088C2-BFC8-4D60-85AE-70AAB9B27612}" type="pres">
      <dgm:prSet presAssocID="{99B74C58-B886-476F-9CAF-161D5BC0273A}" presName="sp" presStyleCnt="0"/>
      <dgm:spPr/>
    </dgm:pt>
    <dgm:pt modelId="{0F607DC2-953B-4DDB-9B15-D6FA0417A6A3}" type="pres">
      <dgm:prSet presAssocID="{B590B94F-F6CB-4419-9C41-5A81E13FB93A}" presName="linNode" presStyleCnt="0"/>
      <dgm:spPr/>
    </dgm:pt>
    <dgm:pt modelId="{E3EBB89E-CE64-4A07-B80B-0C90B36B39D5}" type="pres">
      <dgm:prSet presAssocID="{B590B94F-F6CB-4419-9C41-5A81E13FB93A}" presName="parentText" presStyleLbl="node1" presStyleIdx="3" presStyleCnt="5" custScaleX="82293">
        <dgm:presLayoutVars>
          <dgm:chMax val="1"/>
          <dgm:bulletEnabled val="1"/>
        </dgm:presLayoutVars>
      </dgm:prSet>
      <dgm:spPr/>
      <dgm:t>
        <a:bodyPr/>
        <a:lstStyle/>
        <a:p>
          <a:endParaRPr lang="zh-CN" altLang="en-US"/>
        </a:p>
      </dgm:t>
    </dgm:pt>
    <dgm:pt modelId="{BD991408-C428-4B0B-A19A-78F3DCFE568F}" type="pres">
      <dgm:prSet presAssocID="{B590B94F-F6CB-4419-9C41-5A81E13FB93A}" presName="descendantText" presStyleLbl="alignAccFollowNode1" presStyleIdx="3" presStyleCnt="5" custScaleX="122095">
        <dgm:presLayoutVars>
          <dgm:bulletEnabled val="1"/>
        </dgm:presLayoutVars>
      </dgm:prSet>
      <dgm:spPr/>
      <dgm:t>
        <a:bodyPr/>
        <a:lstStyle/>
        <a:p>
          <a:endParaRPr lang="zh-CN" altLang="en-US"/>
        </a:p>
      </dgm:t>
    </dgm:pt>
    <dgm:pt modelId="{84AFCF2A-3E38-42D2-B372-AA5E54A23B61}" type="pres">
      <dgm:prSet presAssocID="{B85F8086-7213-4D4A-BC5D-48375E63628F}" presName="sp" presStyleCnt="0"/>
      <dgm:spPr/>
    </dgm:pt>
    <dgm:pt modelId="{EAA50ABE-C0EA-4C3C-AE85-2EAFBD6CE057}" type="pres">
      <dgm:prSet presAssocID="{D7F2E69D-B8E5-4243-AB06-A3B15C2EA661}" presName="linNode" presStyleCnt="0"/>
      <dgm:spPr/>
    </dgm:pt>
    <dgm:pt modelId="{47B3A2B0-D9E0-4BB6-8D5C-CA8945694C30}" type="pres">
      <dgm:prSet presAssocID="{D7F2E69D-B8E5-4243-AB06-A3B15C2EA661}" presName="parentText" presStyleLbl="node1" presStyleIdx="4" presStyleCnt="5">
        <dgm:presLayoutVars>
          <dgm:chMax val="1"/>
          <dgm:bulletEnabled val="1"/>
        </dgm:presLayoutVars>
      </dgm:prSet>
      <dgm:spPr/>
      <dgm:t>
        <a:bodyPr/>
        <a:lstStyle/>
        <a:p>
          <a:endParaRPr lang="zh-CN" altLang="en-US"/>
        </a:p>
      </dgm:t>
    </dgm:pt>
    <dgm:pt modelId="{A232E29F-FAF7-4CCC-90A1-2EFBE2DA5D99}" type="pres">
      <dgm:prSet presAssocID="{D7F2E69D-B8E5-4243-AB06-A3B15C2EA661}" presName="descendantText" presStyleLbl="alignAccFollowNode1" presStyleIdx="4" presStyleCnt="5">
        <dgm:presLayoutVars>
          <dgm:bulletEnabled val="1"/>
        </dgm:presLayoutVars>
      </dgm:prSet>
      <dgm:spPr/>
      <dgm:t>
        <a:bodyPr/>
        <a:lstStyle/>
        <a:p>
          <a:endParaRPr lang="zh-CN" altLang="en-US"/>
        </a:p>
      </dgm:t>
    </dgm:pt>
  </dgm:ptLst>
  <dgm:cxnLst>
    <dgm:cxn modelId="{A876081C-EE22-4913-8FE4-38ADCE39E635}" srcId="{D7F2E69D-B8E5-4243-AB06-A3B15C2EA661}" destId="{D421FDE9-417F-4537-9D9E-9AF7B3C5EA9C}" srcOrd="0" destOrd="0" parTransId="{E42C6C1D-879D-40FF-B3C0-0E25294DF15F}" sibTransId="{3B856BE7-D84A-483A-B335-FE2F23B49398}"/>
    <dgm:cxn modelId="{1ACB7EF7-0BB7-4B6C-B61A-EC85EE236285}" type="presOf" srcId="{428AC596-DE08-4050-81D3-6A3EBC512C1D}" destId="{51080AA9-7905-434D-854E-E5CF670C31E1}" srcOrd="0" destOrd="0" presId="urn:microsoft.com/office/officeart/2005/8/layout/vList5"/>
    <dgm:cxn modelId="{B190B04A-6FF7-490E-BBED-25AB6B4A2B5A}" srcId="{CCD377A0-81AD-4E53-8899-33AAE02F9264}" destId="{4B955B56-7947-4E5D-8C52-2D40B8CD51D7}" srcOrd="0" destOrd="0" parTransId="{34B80493-4377-43C0-8983-DC2D7B7A495E}" sibTransId="{A7EA6504-6A28-4A7C-8F84-A726499ABC0F}"/>
    <dgm:cxn modelId="{52532518-A897-4F73-94E3-0F7F5BBEA1DF}" srcId="{9FF06119-8C0D-4385-B50C-A2A0F27B121E}" destId="{CCD377A0-81AD-4E53-8899-33AAE02F9264}" srcOrd="1" destOrd="0" parTransId="{860C0A99-1B70-458D-A60C-4F6BD9453E27}" sibTransId="{9A414DC3-224E-4A08-B945-DF37C97325A7}"/>
    <dgm:cxn modelId="{8B33C911-2F9A-4AC1-9483-3EC453476A7B}" type="presOf" srcId="{9FF06119-8C0D-4385-B50C-A2A0F27B121E}" destId="{FDE52234-FF48-43C8-A810-37D1BA64A733}" srcOrd="0" destOrd="0" presId="urn:microsoft.com/office/officeart/2005/8/layout/vList5"/>
    <dgm:cxn modelId="{3A8E140B-3014-4328-A0C1-00221B14E7E8}" srcId="{9FF06119-8C0D-4385-B50C-A2A0F27B121E}" destId="{D9BE497C-C63D-4E48-B28A-21D55EF866E6}" srcOrd="2" destOrd="0" parTransId="{FC74342F-F3D2-4358-A53D-00D036156CFC}" sibTransId="{99B74C58-B886-476F-9CAF-161D5BC0273A}"/>
    <dgm:cxn modelId="{C5C3C2DB-4CC5-481D-BC41-E99348A211F3}" type="presOf" srcId="{B590B94F-F6CB-4419-9C41-5A81E13FB93A}" destId="{E3EBB89E-CE64-4A07-B80B-0C90B36B39D5}" srcOrd="0" destOrd="0" presId="urn:microsoft.com/office/officeart/2005/8/layout/vList5"/>
    <dgm:cxn modelId="{894744A2-9024-4E31-803D-4F4BEF808F59}" srcId="{D9BE497C-C63D-4E48-B28A-21D55EF866E6}" destId="{428AC596-DE08-4050-81D3-6A3EBC512C1D}" srcOrd="0" destOrd="0" parTransId="{4CB8BF8D-5B3D-4D2A-B8B9-35F1A791F108}" sibTransId="{0F435813-7E45-489B-ACCF-22CB7879316F}"/>
    <dgm:cxn modelId="{5978540B-79A3-4456-ADFB-D043B47CCB94}" type="presOf" srcId="{D9BE497C-C63D-4E48-B28A-21D55EF866E6}" destId="{95878A81-29CA-4D10-9AF8-19A971BC7DA9}" srcOrd="0" destOrd="0" presId="urn:microsoft.com/office/officeart/2005/8/layout/vList5"/>
    <dgm:cxn modelId="{1298C911-5A3D-4C4C-B092-3DB51766153F}" type="presOf" srcId="{DA09C5BD-1335-4AB0-9499-894312983921}" destId="{ACC91253-8C78-43C8-9BD5-FF92B4AE619F}" srcOrd="0" destOrd="0" presId="urn:microsoft.com/office/officeart/2005/8/layout/vList5"/>
    <dgm:cxn modelId="{E34D8231-7065-4386-A338-F21D85A34EEC}" srcId="{DA09C5BD-1335-4AB0-9499-894312983921}" destId="{EF3BA484-9A42-4753-839B-00EB8BC57F9A}" srcOrd="0" destOrd="0" parTransId="{1F3ECDC6-0DD5-4F3D-88BF-4CEA2D204D81}" sibTransId="{BA888E4F-FAE9-4601-B596-A8783DABCE7B}"/>
    <dgm:cxn modelId="{96D77764-3FEB-449A-BB8C-7A03982B694E}" srcId="{9FF06119-8C0D-4385-B50C-A2A0F27B121E}" destId="{B590B94F-F6CB-4419-9C41-5A81E13FB93A}" srcOrd="3" destOrd="0" parTransId="{672F11FF-5EA7-415E-9C44-D25E69A4C628}" sibTransId="{B85F8086-7213-4D4A-BC5D-48375E63628F}"/>
    <dgm:cxn modelId="{B6333FE7-7D0B-4B91-885F-EB7F53DF3FE6}" type="presOf" srcId="{8F31C23A-32A8-46EB-87E3-AED79AE3A3CA}" destId="{BD991408-C428-4B0B-A19A-78F3DCFE568F}" srcOrd="0" destOrd="0" presId="urn:microsoft.com/office/officeart/2005/8/layout/vList5"/>
    <dgm:cxn modelId="{9748B857-A666-4F9A-A332-C52DA5160E58}" type="presOf" srcId="{4B955B56-7947-4E5D-8C52-2D40B8CD51D7}" destId="{62F96752-9F47-4E50-BEF3-D1324A7FB018}" srcOrd="0" destOrd="0" presId="urn:microsoft.com/office/officeart/2005/8/layout/vList5"/>
    <dgm:cxn modelId="{5D6FE91F-15BB-4D71-9049-01C76EE6F607}" type="presOf" srcId="{EF3BA484-9A42-4753-839B-00EB8BC57F9A}" destId="{47634FA2-192F-44CA-B545-4C55789D0822}" srcOrd="0" destOrd="0" presId="urn:microsoft.com/office/officeart/2005/8/layout/vList5"/>
    <dgm:cxn modelId="{B4EEFC15-D1C1-48B7-8860-19E808583675}" srcId="{9FF06119-8C0D-4385-B50C-A2A0F27B121E}" destId="{DA09C5BD-1335-4AB0-9499-894312983921}" srcOrd="0" destOrd="0" parTransId="{A53C114B-69D4-4061-911D-155E9067C241}" sibTransId="{E2333501-FE7D-4D23-9F48-F44DC68A862B}"/>
    <dgm:cxn modelId="{57C62692-EEEA-4B6B-BF69-50DAC1C9299F}" type="presOf" srcId="{D7F2E69D-B8E5-4243-AB06-A3B15C2EA661}" destId="{47B3A2B0-D9E0-4BB6-8D5C-CA8945694C30}" srcOrd="0" destOrd="0" presId="urn:microsoft.com/office/officeart/2005/8/layout/vList5"/>
    <dgm:cxn modelId="{5AF6DEDF-1FA0-4922-B9C8-7F1266F3659B}" srcId="{B590B94F-F6CB-4419-9C41-5A81E13FB93A}" destId="{8F31C23A-32A8-46EB-87E3-AED79AE3A3CA}" srcOrd="0" destOrd="0" parTransId="{12F3FCA3-56FA-4954-A908-0B61D50D3C43}" sibTransId="{09C37C9B-09F6-4F20-A3DD-C0D5B509B057}"/>
    <dgm:cxn modelId="{B6EBA587-5140-43B5-B5AD-1FAE9A898537}" type="presOf" srcId="{CCD377A0-81AD-4E53-8899-33AAE02F9264}" destId="{8CA98837-AA65-4006-A6E8-262D0A609AF0}" srcOrd="0" destOrd="0" presId="urn:microsoft.com/office/officeart/2005/8/layout/vList5"/>
    <dgm:cxn modelId="{B0637F45-3FDE-492C-B66C-F871CBA91F83}" srcId="{9FF06119-8C0D-4385-B50C-A2A0F27B121E}" destId="{D7F2E69D-B8E5-4243-AB06-A3B15C2EA661}" srcOrd="4" destOrd="0" parTransId="{F218109F-4D1A-4940-BEFB-C0DE8D2DC617}" sibTransId="{E9B50374-ECDF-474C-89F8-B2790C62B6F9}"/>
    <dgm:cxn modelId="{EC9F904B-CDB5-451C-8224-EA7E6721144B}" type="presOf" srcId="{D421FDE9-417F-4537-9D9E-9AF7B3C5EA9C}" destId="{A232E29F-FAF7-4CCC-90A1-2EFBE2DA5D99}" srcOrd="0" destOrd="0" presId="urn:microsoft.com/office/officeart/2005/8/layout/vList5"/>
    <dgm:cxn modelId="{C0F9084E-D200-468F-8D2F-674CB83D2B7E}" type="presParOf" srcId="{FDE52234-FF48-43C8-A810-37D1BA64A733}" destId="{6E4B1058-D5F9-4F81-95BF-88E2A034AA83}" srcOrd="0" destOrd="0" presId="urn:microsoft.com/office/officeart/2005/8/layout/vList5"/>
    <dgm:cxn modelId="{BDDE45D3-9502-4C9D-AD86-5429485310CC}" type="presParOf" srcId="{6E4B1058-D5F9-4F81-95BF-88E2A034AA83}" destId="{ACC91253-8C78-43C8-9BD5-FF92B4AE619F}" srcOrd="0" destOrd="0" presId="urn:microsoft.com/office/officeart/2005/8/layout/vList5"/>
    <dgm:cxn modelId="{AD1500CF-444C-43EE-ABDF-C0E9168B4FC4}" type="presParOf" srcId="{6E4B1058-D5F9-4F81-95BF-88E2A034AA83}" destId="{47634FA2-192F-44CA-B545-4C55789D0822}" srcOrd="1" destOrd="0" presId="urn:microsoft.com/office/officeart/2005/8/layout/vList5"/>
    <dgm:cxn modelId="{B78F4626-79F8-448E-8313-86370164A5DC}" type="presParOf" srcId="{FDE52234-FF48-43C8-A810-37D1BA64A733}" destId="{BB13B000-F0FF-41A9-8975-E75F2E53B422}" srcOrd="1" destOrd="0" presId="urn:microsoft.com/office/officeart/2005/8/layout/vList5"/>
    <dgm:cxn modelId="{FFDCDFEB-485C-46A7-BFAF-9A1E0D5F2E11}" type="presParOf" srcId="{FDE52234-FF48-43C8-A810-37D1BA64A733}" destId="{5FCB7812-5576-4C3F-9D3F-13F4E1764304}" srcOrd="2" destOrd="0" presId="urn:microsoft.com/office/officeart/2005/8/layout/vList5"/>
    <dgm:cxn modelId="{64A80F34-229D-46C9-95BD-547D022F751C}" type="presParOf" srcId="{5FCB7812-5576-4C3F-9D3F-13F4E1764304}" destId="{8CA98837-AA65-4006-A6E8-262D0A609AF0}" srcOrd="0" destOrd="0" presId="urn:microsoft.com/office/officeart/2005/8/layout/vList5"/>
    <dgm:cxn modelId="{14012998-F83A-4DC8-B60F-ED6A6AD48D2B}" type="presParOf" srcId="{5FCB7812-5576-4C3F-9D3F-13F4E1764304}" destId="{62F96752-9F47-4E50-BEF3-D1324A7FB018}" srcOrd="1" destOrd="0" presId="urn:microsoft.com/office/officeart/2005/8/layout/vList5"/>
    <dgm:cxn modelId="{A0857161-FFCF-4053-BBAE-C9F3A9C412AB}" type="presParOf" srcId="{FDE52234-FF48-43C8-A810-37D1BA64A733}" destId="{F8B6768F-0D6E-4825-B9C7-CEC6C3FA9686}" srcOrd="3" destOrd="0" presId="urn:microsoft.com/office/officeart/2005/8/layout/vList5"/>
    <dgm:cxn modelId="{2B3B49BF-171C-4736-9098-D6A0F150A2D4}" type="presParOf" srcId="{FDE52234-FF48-43C8-A810-37D1BA64A733}" destId="{D602CD45-2B78-4CCA-B96D-9C7B964AA81D}" srcOrd="4" destOrd="0" presId="urn:microsoft.com/office/officeart/2005/8/layout/vList5"/>
    <dgm:cxn modelId="{CC6FCACA-84B1-46FE-A553-A9F2C9401F65}" type="presParOf" srcId="{D602CD45-2B78-4CCA-B96D-9C7B964AA81D}" destId="{95878A81-29CA-4D10-9AF8-19A971BC7DA9}" srcOrd="0" destOrd="0" presId="urn:microsoft.com/office/officeart/2005/8/layout/vList5"/>
    <dgm:cxn modelId="{3D4A5D89-908C-4EC1-8872-A5CB6E44A932}" type="presParOf" srcId="{D602CD45-2B78-4CCA-B96D-9C7B964AA81D}" destId="{51080AA9-7905-434D-854E-E5CF670C31E1}" srcOrd="1" destOrd="0" presId="urn:microsoft.com/office/officeart/2005/8/layout/vList5"/>
    <dgm:cxn modelId="{3A53F129-B707-4C86-BB4F-B6E0A463AB71}" type="presParOf" srcId="{FDE52234-FF48-43C8-A810-37D1BA64A733}" destId="{478088C2-BFC8-4D60-85AE-70AAB9B27612}" srcOrd="5" destOrd="0" presId="urn:microsoft.com/office/officeart/2005/8/layout/vList5"/>
    <dgm:cxn modelId="{1C6F3AF4-759B-4D8E-B0BF-110F78724A0B}" type="presParOf" srcId="{FDE52234-FF48-43C8-A810-37D1BA64A733}" destId="{0F607DC2-953B-4DDB-9B15-D6FA0417A6A3}" srcOrd="6" destOrd="0" presId="urn:microsoft.com/office/officeart/2005/8/layout/vList5"/>
    <dgm:cxn modelId="{5F5B471B-4C32-43EA-9B84-7184D8365686}" type="presParOf" srcId="{0F607DC2-953B-4DDB-9B15-D6FA0417A6A3}" destId="{E3EBB89E-CE64-4A07-B80B-0C90B36B39D5}" srcOrd="0" destOrd="0" presId="urn:microsoft.com/office/officeart/2005/8/layout/vList5"/>
    <dgm:cxn modelId="{A5064263-FBED-41D0-BBD5-63B626D2CF4D}" type="presParOf" srcId="{0F607DC2-953B-4DDB-9B15-D6FA0417A6A3}" destId="{BD991408-C428-4B0B-A19A-78F3DCFE568F}" srcOrd="1" destOrd="0" presId="urn:microsoft.com/office/officeart/2005/8/layout/vList5"/>
    <dgm:cxn modelId="{531A073B-EF23-420F-AC89-4A72D0438A7F}" type="presParOf" srcId="{FDE52234-FF48-43C8-A810-37D1BA64A733}" destId="{84AFCF2A-3E38-42D2-B372-AA5E54A23B61}" srcOrd="7" destOrd="0" presId="urn:microsoft.com/office/officeart/2005/8/layout/vList5"/>
    <dgm:cxn modelId="{8EF7EB0E-D9EE-4B96-A70F-C9C5B7201FFB}" type="presParOf" srcId="{FDE52234-FF48-43C8-A810-37D1BA64A733}" destId="{EAA50ABE-C0EA-4C3C-AE85-2EAFBD6CE057}" srcOrd="8" destOrd="0" presId="urn:microsoft.com/office/officeart/2005/8/layout/vList5"/>
    <dgm:cxn modelId="{C4B3AA14-0752-4708-B7D1-17669A03D143}" type="presParOf" srcId="{EAA50ABE-C0EA-4C3C-AE85-2EAFBD6CE057}" destId="{47B3A2B0-D9E0-4BB6-8D5C-CA8945694C30}" srcOrd="0" destOrd="0" presId="urn:microsoft.com/office/officeart/2005/8/layout/vList5"/>
    <dgm:cxn modelId="{F1F789E9-BE5E-4C69-B9B4-0A85A96F7EC4}" type="presParOf" srcId="{EAA50ABE-C0EA-4C3C-AE85-2EAFBD6CE057}" destId="{A232E29F-FAF7-4CCC-90A1-2EFBE2DA5D99}" srcOrd="1" destOrd="0" presId="urn:microsoft.com/office/officeart/2005/8/layout/vList5"/>
  </dgm:cxnLst>
  <dgm:bg/>
  <dgm:whole/>
</dgm:dataModel>
</file>

<file path=ppt/diagrams/data2.xml><?xml version="1.0" encoding="utf-8"?>
<dgm:dataModel xmlns:dgm="http://schemas.openxmlformats.org/drawingml/2006/diagram" xmlns:a="http://schemas.openxmlformats.org/drawingml/2006/main">
  <dgm:ptLst>
    <dgm:pt modelId="{B8A9C528-8590-49B0-9EA2-7DBCB34BAF80}" type="doc">
      <dgm:prSet loTypeId="urn:microsoft.com/office/officeart/2005/8/layout/vList3" loCatId="list" qsTypeId="urn:microsoft.com/office/officeart/2005/8/quickstyle/simple1" qsCatId="simple" csTypeId="urn:microsoft.com/office/officeart/2005/8/colors/accent1_2" csCatId="accent1" phldr="1"/>
      <dgm:spPr/>
    </dgm:pt>
    <dgm:pt modelId="{7C849864-6A5E-4C48-8DCF-D53EA7E46E93}">
      <dgm:prSet phldrT="[文本]"/>
      <dgm:spPr>
        <a:solidFill>
          <a:srgbClr val="92D050"/>
        </a:solidFill>
      </dgm:spPr>
      <dgm:t>
        <a:bodyPr/>
        <a:lstStyle/>
        <a:p>
          <a:pPr marL="173038" indent="0" algn="l"/>
          <a:r>
            <a:rPr kumimoji="0" lang="zh-CN" altLang="en-US" b="1" dirty="0" smtClean="0">
              <a:solidFill>
                <a:schemeClr val="tx1"/>
              </a:solidFill>
              <a:latin typeface="宋体" charset="-122"/>
              <a:ea typeface="宋体" charset="-122"/>
            </a:rPr>
            <a:t>灵敏度较高，可测优于</a:t>
          </a:r>
          <a:r>
            <a:rPr kumimoji="0" lang="en-US" altLang="zh-CN" b="1" dirty="0" smtClean="0">
              <a:solidFill>
                <a:schemeClr val="tx1"/>
              </a:solidFill>
              <a:latin typeface="Times New Roman" pitchFamily="18" charset="0"/>
              <a:ea typeface="宋体" charset="-122"/>
              <a:cs typeface="Times New Roman" pitchFamily="18" charset="0"/>
            </a:rPr>
            <a:t>0.1</a:t>
          </a:r>
          <a:r>
            <a:rPr kumimoji="0" lang="en-US" altLang="zh-CN" b="1" i="1" dirty="0" smtClean="0">
              <a:solidFill>
                <a:schemeClr val="tx1"/>
              </a:solidFill>
              <a:latin typeface="Times New Roman" pitchFamily="18" charset="0"/>
              <a:ea typeface="宋体" charset="-122"/>
              <a:cs typeface="Times New Roman" pitchFamily="18" charset="0"/>
            </a:rPr>
            <a:t>μm</a:t>
          </a:r>
          <a:r>
            <a:rPr kumimoji="0" lang="zh-CN" altLang="en-US" b="1" dirty="0" smtClean="0">
              <a:solidFill>
                <a:schemeClr val="tx1"/>
              </a:solidFill>
              <a:latin typeface="宋体" charset="-122"/>
              <a:ea typeface="宋体" charset="-122"/>
            </a:rPr>
            <a:t>的直线位移；输出信号比较大、信噪比较好；</a:t>
          </a:r>
          <a:endParaRPr lang="zh-CN" altLang="en-US" dirty="0">
            <a:solidFill>
              <a:schemeClr val="tx1"/>
            </a:solidFill>
          </a:endParaRPr>
        </a:p>
      </dgm:t>
    </dgm:pt>
    <dgm:pt modelId="{9C2C6057-835A-4023-8589-6AACEF444B08}" type="parTrans" cxnId="{E07234EA-9528-403E-89A8-4EAD0DD90D3A}">
      <dgm:prSet/>
      <dgm:spPr/>
      <dgm:t>
        <a:bodyPr/>
        <a:lstStyle/>
        <a:p>
          <a:endParaRPr lang="zh-CN" altLang="en-US"/>
        </a:p>
      </dgm:t>
    </dgm:pt>
    <dgm:pt modelId="{54C2C3DB-3DCC-4E1E-90F1-D490EABDA522}" type="sibTrans" cxnId="{E07234EA-9528-403E-89A8-4EAD0DD90D3A}">
      <dgm:prSet/>
      <dgm:spPr/>
      <dgm:t>
        <a:bodyPr/>
        <a:lstStyle/>
        <a:p>
          <a:endParaRPr lang="zh-CN" altLang="en-US"/>
        </a:p>
      </dgm:t>
    </dgm:pt>
    <dgm:pt modelId="{72901080-FEC1-4DC1-9FCF-5AA2EDBAA154}">
      <dgm:prSet phldrT="[文本]"/>
      <dgm:spPr/>
      <dgm:t>
        <a:bodyPr/>
        <a:lstStyle/>
        <a:p>
          <a:r>
            <a:rPr kumimoji="0" lang="zh-CN" altLang="en-US" b="1" dirty="0" smtClean="0">
              <a:solidFill>
                <a:schemeClr val="tx1"/>
              </a:solidFill>
              <a:latin typeface="宋体" charset="-122"/>
              <a:ea typeface="宋体" charset="-122"/>
            </a:rPr>
            <a:t>存在非线性，测量范围比较小；</a:t>
          </a:r>
          <a:endParaRPr lang="zh-CN" altLang="en-US" dirty="0">
            <a:solidFill>
              <a:schemeClr val="tx1"/>
            </a:solidFill>
          </a:endParaRPr>
        </a:p>
      </dgm:t>
    </dgm:pt>
    <dgm:pt modelId="{B6F4FA04-9FB7-42AA-8014-514CB387C7C2}" type="parTrans" cxnId="{41910289-3702-4D99-9203-B371EA1462BF}">
      <dgm:prSet/>
      <dgm:spPr/>
      <dgm:t>
        <a:bodyPr/>
        <a:lstStyle/>
        <a:p>
          <a:endParaRPr lang="zh-CN" altLang="en-US"/>
        </a:p>
      </dgm:t>
    </dgm:pt>
    <dgm:pt modelId="{7D772F56-A4EE-4154-A216-3AB304534A8B}" type="sibTrans" cxnId="{41910289-3702-4D99-9203-B371EA1462BF}">
      <dgm:prSet/>
      <dgm:spPr/>
      <dgm:t>
        <a:bodyPr/>
        <a:lstStyle/>
        <a:p>
          <a:endParaRPr lang="zh-CN" altLang="en-US"/>
        </a:p>
      </dgm:t>
    </dgm:pt>
    <dgm:pt modelId="{9E5D01D7-018F-4497-A8EF-B2032AB29D4D}">
      <dgm:prSet phldrT="[文本]"/>
      <dgm:spPr/>
      <dgm:t>
        <a:bodyPr/>
        <a:lstStyle/>
        <a:p>
          <a:pPr algn="l"/>
          <a:r>
            <a:rPr kumimoji="0" lang="zh-CN" altLang="en-US" b="1" dirty="0" smtClean="0">
              <a:solidFill>
                <a:schemeClr val="tx1"/>
              </a:solidFill>
              <a:latin typeface="宋体" charset="-122"/>
              <a:ea typeface="宋体" charset="-122"/>
            </a:rPr>
            <a:t>消耗功率较大（有较大的电磁吸力等原因）</a:t>
          </a:r>
          <a:endParaRPr lang="zh-CN" altLang="en-US" dirty="0">
            <a:solidFill>
              <a:schemeClr val="tx1"/>
            </a:solidFill>
          </a:endParaRPr>
        </a:p>
      </dgm:t>
    </dgm:pt>
    <dgm:pt modelId="{5F26A8FC-E5FE-4A17-94EE-402841745A30}" type="parTrans" cxnId="{76A5BE2D-8A5F-49D1-83C7-82B08A94864B}">
      <dgm:prSet/>
      <dgm:spPr/>
      <dgm:t>
        <a:bodyPr/>
        <a:lstStyle/>
        <a:p>
          <a:endParaRPr lang="zh-CN" altLang="en-US"/>
        </a:p>
      </dgm:t>
    </dgm:pt>
    <dgm:pt modelId="{01B05529-FD64-4256-9FF9-9D85F305DCE9}" type="sibTrans" cxnId="{76A5BE2D-8A5F-49D1-83C7-82B08A94864B}">
      <dgm:prSet/>
      <dgm:spPr/>
      <dgm:t>
        <a:bodyPr/>
        <a:lstStyle/>
        <a:p>
          <a:endParaRPr lang="zh-CN" altLang="en-US"/>
        </a:p>
      </dgm:t>
    </dgm:pt>
    <dgm:pt modelId="{B2938844-20D6-4591-BC86-3DB5C3C4179E}" type="pres">
      <dgm:prSet presAssocID="{B8A9C528-8590-49B0-9EA2-7DBCB34BAF80}" presName="linearFlow" presStyleCnt="0">
        <dgm:presLayoutVars>
          <dgm:dir/>
          <dgm:resizeHandles val="exact"/>
        </dgm:presLayoutVars>
      </dgm:prSet>
      <dgm:spPr/>
    </dgm:pt>
    <dgm:pt modelId="{351A73CC-DEB4-423C-A549-023257A8C67F}" type="pres">
      <dgm:prSet presAssocID="{7C849864-6A5E-4C48-8DCF-D53EA7E46E93}" presName="composite" presStyleCnt="0"/>
      <dgm:spPr/>
    </dgm:pt>
    <dgm:pt modelId="{8213E9B3-073F-4512-878E-5CB7E614B559}" type="pres">
      <dgm:prSet presAssocID="{7C849864-6A5E-4C48-8DCF-D53EA7E46E93}" presName="imgShp" presStyleLbl="fgImgPlace1" presStyleIdx="0" presStyleCnt="3" custLinFactNeighborX="-73971" custLinFactNeighborY="6242"/>
      <dgm:spPr/>
    </dgm:pt>
    <dgm:pt modelId="{5E52E001-A813-47DA-891B-466ED875132F}" type="pres">
      <dgm:prSet presAssocID="{7C849864-6A5E-4C48-8DCF-D53EA7E46E93}" presName="txShp" presStyleLbl="node1" presStyleIdx="0" presStyleCnt="3" custScaleX="127056" custLinFactNeighborX="10190" custLinFactNeighborY="-83">
        <dgm:presLayoutVars>
          <dgm:bulletEnabled val="1"/>
        </dgm:presLayoutVars>
      </dgm:prSet>
      <dgm:spPr/>
      <dgm:t>
        <a:bodyPr/>
        <a:lstStyle/>
        <a:p>
          <a:endParaRPr lang="zh-CN" altLang="en-US"/>
        </a:p>
      </dgm:t>
    </dgm:pt>
    <dgm:pt modelId="{947F1066-DD23-4D57-A2D5-AA866F87FDE4}" type="pres">
      <dgm:prSet presAssocID="{54C2C3DB-3DCC-4E1E-90F1-D490EABDA522}" presName="spacing" presStyleCnt="0"/>
      <dgm:spPr/>
    </dgm:pt>
    <dgm:pt modelId="{B1CCAEEB-BADD-419D-B783-1ECA8F87AF98}" type="pres">
      <dgm:prSet presAssocID="{72901080-FEC1-4DC1-9FCF-5AA2EDBAA154}" presName="composite" presStyleCnt="0"/>
      <dgm:spPr/>
    </dgm:pt>
    <dgm:pt modelId="{FCA6E5E6-36DC-4A7E-B6F9-FC9CA395BFA8}" type="pres">
      <dgm:prSet presAssocID="{72901080-FEC1-4DC1-9FCF-5AA2EDBAA154}" presName="imgShp" presStyleLbl="fgImgPlace1" presStyleIdx="1" presStyleCnt="3" custLinFactNeighborX="-79918" custLinFactNeighborY="-16081"/>
      <dgm:spPr/>
    </dgm:pt>
    <dgm:pt modelId="{71FB7FE8-A998-4FB8-9DA9-290521F8C2A5}" type="pres">
      <dgm:prSet presAssocID="{72901080-FEC1-4DC1-9FCF-5AA2EDBAA154}" presName="txShp" presStyleLbl="node1" presStyleIdx="1" presStyleCnt="3" custScaleX="124805" custLinFactNeighborX="11518" custLinFactNeighborY="-16081">
        <dgm:presLayoutVars>
          <dgm:bulletEnabled val="1"/>
        </dgm:presLayoutVars>
      </dgm:prSet>
      <dgm:spPr/>
      <dgm:t>
        <a:bodyPr/>
        <a:lstStyle/>
        <a:p>
          <a:endParaRPr lang="zh-CN" altLang="en-US"/>
        </a:p>
      </dgm:t>
    </dgm:pt>
    <dgm:pt modelId="{F4BA1D86-2B49-4E39-9FED-58F7CA295104}" type="pres">
      <dgm:prSet presAssocID="{7D772F56-A4EE-4154-A216-3AB304534A8B}" presName="spacing" presStyleCnt="0"/>
      <dgm:spPr/>
    </dgm:pt>
    <dgm:pt modelId="{ED41F187-05E4-4747-8485-F3B91854AB56}" type="pres">
      <dgm:prSet presAssocID="{9E5D01D7-018F-4497-A8EF-B2032AB29D4D}" presName="composite" presStyleCnt="0"/>
      <dgm:spPr/>
    </dgm:pt>
    <dgm:pt modelId="{C2689B0D-CDD3-40EF-8556-88E1665B162C}" type="pres">
      <dgm:prSet presAssocID="{9E5D01D7-018F-4497-A8EF-B2032AB29D4D}" presName="imgShp" presStyleLbl="fgImgPlace1" presStyleIdx="2" presStyleCnt="3" custLinFactNeighborX="-79918" custLinFactNeighborY="-19391"/>
      <dgm:spPr/>
    </dgm:pt>
    <dgm:pt modelId="{3361263B-43BA-4D2C-8AAA-821FCDF72084}" type="pres">
      <dgm:prSet presAssocID="{9E5D01D7-018F-4497-A8EF-B2032AB29D4D}" presName="txShp" presStyleLbl="node1" presStyleIdx="2" presStyleCnt="3" custScaleX="125926" custLinFactNeighborX="11798" custLinFactNeighborY="-19391">
        <dgm:presLayoutVars>
          <dgm:bulletEnabled val="1"/>
        </dgm:presLayoutVars>
      </dgm:prSet>
      <dgm:spPr/>
      <dgm:t>
        <a:bodyPr/>
        <a:lstStyle/>
        <a:p>
          <a:endParaRPr lang="zh-CN" altLang="en-US"/>
        </a:p>
      </dgm:t>
    </dgm:pt>
  </dgm:ptLst>
  <dgm:cxnLst>
    <dgm:cxn modelId="{41910289-3702-4D99-9203-B371EA1462BF}" srcId="{B8A9C528-8590-49B0-9EA2-7DBCB34BAF80}" destId="{72901080-FEC1-4DC1-9FCF-5AA2EDBAA154}" srcOrd="1" destOrd="0" parTransId="{B6F4FA04-9FB7-42AA-8014-514CB387C7C2}" sibTransId="{7D772F56-A4EE-4154-A216-3AB304534A8B}"/>
    <dgm:cxn modelId="{EE23125E-12FF-474F-8E5F-351ED993EFE5}" type="presOf" srcId="{72901080-FEC1-4DC1-9FCF-5AA2EDBAA154}" destId="{71FB7FE8-A998-4FB8-9DA9-290521F8C2A5}" srcOrd="0" destOrd="0" presId="urn:microsoft.com/office/officeart/2005/8/layout/vList3"/>
    <dgm:cxn modelId="{E07234EA-9528-403E-89A8-4EAD0DD90D3A}" srcId="{B8A9C528-8590-49B0-9EA2-7DBCB34BAF80}" destId="{7C849864-6A5E-4C48-8DCF-D53EA7E46E93}" srcOrd="0" destOrd="0" parTransId="{9C2C6057-835A-4023-8589-6AACEF444B08}" sibTransId="{54C2C3DB-3DCC-4E1E-90F1-D490EABDA522}"/>
    <dgm:cxn modelId="{D7BEE51A-A7ED-4854-B6F5-2A8B64772D96}" type="presOf" srcId="{9E5D01D7-018F-4497-A8EF-B2032AB29D4D}" destId="{3361263B-43BA-4D2C-8AAA-821FCDF72084}" srcOrd="0" destOrd="0" presId="urn:microsoft.com/office/officeart/2005/8/layout/vList3"/>
    <dgm:cxn modelId="{76A5BE2D-8A5F-49D1-83C7-82B08A94864B}" srcId="{B8A9C528-8590-49B0-9EA2-7DBCB34BAF80}" destId="{9E5D01D7-018F-4497-A8EF-B2032AB29D4D}" srcOrd="2" destOrd="0" parTransId="{5F26A8FC-E5FE-4A17-94EE-402841745A30}" sibTransId="{01B05529-FD64-4256-9FF9-9D85F305DCE9}"/>
    <dgm:cxn modelId="{0880C891-F533-4DB0-B2CF-5298D65D6DCD}" type="presOf" srcId="{7C849864-6A5E-4C48-8DCF-D53EA7E46E93}" destId="{5E52E001-A813-47DA-891B-466ED875132F}" srcOrd="0" destOrd="0" presId="urn:microsoft.com/office/officeart/2005/8/layout/vList3"/>
    <dgm:cxn modelId="{4F460BAA-5880-43ED-902C-6F8D242132EE}" type="presOf" srcId="{B8A9C528-8590-49B0-9EA2-7DBCB34BAF80}" destId="{B2938844-20D6-4591-BC86-3DB5C3C4179E}" srcOrd="0" destOrd="0" presId="urn:microsoft.com/office/officeart/2005/8/layout/vList3"/>
    <dgm:cxn modelId="{5E54545C-4756-4A1C-9F0B-300FB10010F3}" type="presParOf" srcId="{B2938844-20D6-4591-BC86-3DB5C3C4179E}" destId="{351A73CC-DEB4-423C-A549-023257A8C67F}" srcOrd="0" destOrd="0" presId="urn:microsoft.com/office/officeart/2005/8/layout/vList3"/>
    <dgm:cxn modelId="{79E4447C-2163-49EC-825E-030BDB73F5ED}" type="presParOf" srcId="{351A73CC-DEB4-423C-A549-023257A8C67F}" destId="{8213E9B3-073F-4512-878E-5CB7E614B559}" srcOrd="0" destOrd="0" presId="urn:microsoft.com/office/officeart/2005/8/layout/vList3"/>
    <dgm:cxn modelId="{0F598CB7-9937-42B8-A066-835DEFB423F9}" type="presParOf" srcId="{351A73CC-DEB4-423C-A549-023257A8C67F}" destId="{5E52E001-A813-47DA-891B-466ED875132F}" srcOrd="1" destOrd="0" presId="urn:microsoft.com/office/officeart/2005/8/layout/vList3"/>
    <dgm:cxn modelId="{11B2E248-4AE2-4B13-9927-429A939CA237}" type="presParOf" srcId="{B2938844-20D6-4591-BC86-3DB5C3C4179E}" destId="{947F1066-DD23-4D57-A2D5-AA866F87FDE4}" srcOrd="1" destOrd="0" presId="urn:microsoft.com/office/officeart/2005/8/layout/vList3"/>
    <dgm:cxn modelId="{25BF8972-E005-45E5-B932-6BD26E04F1E9}" type="presParOf" srcId="{B2938844-20D6-4591-BC86-3DB5C3C4179E}" destId="{B1CCAEEB-BADD-419D-B783-1ECA8F87AF98}" srcOrd="2" destOrd="0" presId="urn:microsoft.com/office/officeart/2005/8/layout/vList3"/>
    <dgm:cxn modelId="{F75C4D80-FBD5-4FFE-AE03-D5928231CE98}" type="presParOf" srcId="{B1CCAEEB-BADD-419D-B783-1ECA8F87AF98}" destId="{FCA6E5E6-36DC-4A7E-B6F9-FC9CA395BFA8}" srcOrd="0" destOrd="0" presId="urn:microsoft.com/office/officeart/2005/8/layout/vList3"/>
    <dgm:cxn modelId="{70DBA414-B6B2-4FA5-94A8-EF61E3178943}" type="presParOf" srcId="{B1CCAEEB-BADD-419D-B783-1ECA8F87AF98}" destId="{71FB7FE8-A998-4FB8-9DA9-290521F8C2A5}" srcOrd="1" destOrd="0" presId="urn:microsoft.com/office/officeart/2005/8/layout/vList3"/>
    <dgm:cxn modelId="{9F22A1D5-B121-4F9F-9FAB-F41DB1E7812A}" type="presParOf" srcId="{B2938844-20D6-4591-BC86-3DB5C3C4179E}" destId="{F4BA1D86-2B49-4E39-9FED-58F7CA295104}" srcOrd="3" destOrd="0" presId="urn:microsoft.com/office/officeart/2005/8/layout/vList3"/>
    <dgm:cxn modelId="{127A305E-3225-4473-B965-EF613B650298}" type="presParOf" srcId="{B2938844-20D6-4591-BC86-3DB5C3C4179E}" destId="{ED41F187-05E4-4747-8485-F3B91854AB56}" srcOrd="4" destOrd="0" presId="urn:microsoft.com/office/officeart/2005/8/layout/vList3"/>
    <dgm:cxn modelId="{437A3374-FAB1-4A1E-9240-6E92CDDDE5C9}" type="presParOf" srcId="{ED41F187-05E4-4747-8485-F3B91854AB56}" destId="{C2689B0D-CDD3-40EF-8556-88E1665B162C}" srcOrd="0" destOrd="0" presId="urn:microsoft.com/office/officeart/2005/8/layout/vList3"/>
    <dgm:cxn modelId="{798E6BB8-2720-449A-9973-7BA0B4D2FC47}" type="presParOf" srcId="{ED41F187-05E4-4747-8485-F3B91854AB56}" destId="{3361263B-43BA-4D2C-8AAA-821FCDF72084}" srcOrd="1" destOrd="0" presId="urn:microsoft.com/office/officeart/2005/8/layout/vList3"/>
  </dgm:cxnLst>
  <dgm:bg/>
  <dgm:whole/>
</dgm:dataModel>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wmf"/><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image" Target="../media/image23.wmf"/><Relationship Id="rId7" Type="http://schemas.openxmlformats.org/officeDocument/2006/relationships/image" Target="../media/image27.wmf"/><Relationship Id="rId2" Type="http://schemas.openxmlformats.org/officeDocument/2006/relationships/image" Target="../media/image22.wmf"/><Relationship Id="rId1" Type="http://schemas.openxmlformats.org/officeDocument/2006/relationships/image" Target="../media/image21.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image" Target="../media/image41.png"/></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image" Target="../media/image43.png"/></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7.wmf"/><Relationship Id="rId7" Type="http://schemas.openxmlformats.org/officeDocument/2006/relationships/image" Target="../media/image51.wmf"/><Relationship Id="rId2" Type="http://schemas.openxmlformats.org/officeDocument/2006/relationships/image" Target="../media/image46.wmf"/><Relationship Id="rId1" Type="http://schemas.openxmlformats.org/officeDocument/2006/relationships/image" Target="../media/image45.wmf"/><Relationship Id="rId6" Type="http://schemas.openxmlformats.org/officeDocument/2006/relationships/image" Target="../media/image50.wmf"/><Relationship Id="rId5" Type="http://schemas.openxmlformats.org/officeDocument/2006/relationships/image" Target="../media/image49.wmf"/><Relationship Id="rId4" Type="http://schemas.openxmlformats.org/officeDocument/2006/relationships/image" Target="../media/image4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72.wmf"/><Relationship Id="rId1" Type="http://schemas.openxmlformats.org/officeDocument/2006/relationships/image" Target="../media/image71.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73.png"/></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7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542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297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42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542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542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r">
              <a:defRPr sz="1200"/>
            </a:lvl1pPr>
          </a:lstStyle>
          <a:p>
            <a:pPr>
              <a:defRPr/>
            </a:pPr>
            <a:fld id="{94020F6E-148F-46CA-987C-AE62EAE2DD3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4020F6E-148F-46CA-987C-AE62EAE2DD3B}" type="slidenum">
              <a:rPr lang="en-US" altLang="zh-CN" smtClean="0"/>
              <a:pPr>
                <a:defRPr/>
              </a:pPr>
              <a:t>31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F38D0A6-96F5-4522-AC09-F417C2D41821}"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4A431D3E-286D-47D8-B2BB-AFD6BC54B558}"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F7C805A3-91FB-4F8A-8695-AB962E5F0387}"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B77E0602-0F3B-4B1E-BFDB-C329D53B6541}"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B6E4C8E3-5929-48D2-A565-C064400823F5}"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435FAA22-F173-44F2-BB9E-D06091BBD574}"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endParaRPr lang="en-US" altLang="zh-CN"/>
          </a:p>
        </p:txBody>
      </p:sp>
      <p:sp>
        <p:nvSpPr>
          <p:cNvPr id="8" name="页脚占位符 4"/>
          <p:cNvSpPr>
            <a:spLocks noGrp="1"/>
          </p:cNvSpPr>
          <p:nvPr>
            <p:ph type="ftr" sz="quarter" idx="11"/>
          </p:nvPr>
        </p:nvSpPr>
        <p:spPr/>
        <p:txBody>
          <a:bodyPr/>
          <a:lstStyle>
            <a:lvl1pPr>
              <a:defRPr/>
            </a:lvl1pPr>
          </a:lstStyle>
          <a:p>
            <a:pPr>
              <a:defRPr/>
            </a:pP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4876EF53-38B0-47BF-89D8-5AC93C99DB03}"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4868D03A-C22D-47A6-AD38-718B13657CCB}"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en-US" altLang="zh-CN"/>
          </a:p>
        </p:txBody>
      </p:sp>
      <p:sp>
        <p:nvSpPr>
          <p:cNvPr id="3" name="页脚占位符 4"/>
          <p:cNvSpPr>
            <a:spLocks noGrp="1"/>
          </p:cNvSpPr>
          <p:nvPr>
            <p:ph type="ftr" sz="quarter" idx="11"/>
          </p:nvPr>
        </p:nvSpPr>
        <p:spPr/>
        <p:txBody>
          <a:bodyPr/>
          <a:lstStyle>
            <a:lvl1pPr>
              <a:defRPr/>
            </a:lvl1pPr>
          </a:lstStyle>
          <a:p>
            <a:pPr>
              <a:defRPr/>
            </a:pP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72E49607-130F-4C29-B5E2-9D63088A6575}"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0CACCF6F-7B75-41CF-9414-5A0422A7DF16}"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54A0C31F-5E62-49D7-BF3D-7973015E8ED5}"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4364A535-A096-4E83-B7FF-D5FF3B9F2C60}" type="slidenum">
              <a:rPr lang="en-US" altLang="zh-CN"/>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4B8D88F4-76C5-484C-8EF6-E6D960F157CD}"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5E9EFF"/>
            </a:gs>
            <a:gs pos="999">
              <a:srgbClr val="5E9EFF"/>
            </a:gs>
            <a:gs pos="39999">
              <a:srgbClr val="85C2FF"/>
            </a:gs>
            <a:gs pos="70000">
              <a:srgbClr val="C4D6EB"/>
            </a:gs>
            <a:gs pos="100000">
              <a:srgbClr val="FFEBFA"/>
            </a:gs>
          </a:gsLst>
          <a:lin ang="5400000"/>
        </a:gradFill>
        <a:effectLst/>
      </p:bgPr>
    </p:bg>
    <p:spTree>
      <p:nvGrpSpPr>
        <p:cNvPr id="1" name=""/>
        <p:cNvGrpSpPr/>
        <p:nvPr/>
      </p:nvGrpSpPr>
      <p:grpSpPr>
        <a:xfrm>
          <a:off x="0" y="0"/>
          <a:ext cx="0" cy="0"/>
          <a:chOff x="0" y="0"/>
          <a:chExt cx="0" cy="0"/>
        </a:xfrm>
      </p:grpSpPr>
      <p:sp>
        <p:nvSpPr>
          <p:cNvPr id="15362"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5363"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A68676C-466D-4FED-8DC3-9EB4975A30A3}" type="slidenum">
              <a:rPr lang="en-US" altLang="zh-CN"/>
              <a:pPr>
                <a:defRPr/>
              </a:pPr>
              <a:t>‹#›</a:t>
            </a:fld>
            <a:endParaRPr lang="en-US" altLang="zh-CN"/>
          </a:p>
        </p:txBody>
      </p:sp>
      <p:pic>
        <p:nvPicPr>
          <p:cNvPr id="15367" name="Picture 12" descr="xh"/>
          <p:cNvPicPr>
            <a:picLocks noChangeAspect="1" noChangeArrowheads="1"/>
          </p:cNvPicPr>
          <p:nvPr userDrawn="1"/>
        </p:nvPicPr>
        <p:blipFill>
          <a:blip r:embed="rId15">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15368" name="Picture 9" descr="buaa2"/>
          <p:cNvPicPr>
            <a:picLocks noChangeAspect="1" noChangeArrowheads="1"/>
          </p:cNvPicPr>
          <p:nvPr userDrawn="1"/>
        </p:nvPicPr>
        <p:blipFill>
          <a:blip r:embed="rId16">
            <a:lum bright="48000"/>
          </a:blip>
          <a:srcRect/>
          <a:stretch>
            <a:fillRect/>
          </a:stretch>
        </p:blipFill>
        <p:spPr bwMode="auto">
          <a:xfrm>
            <a:off x="1000125" y="285750"/>
            <a:ext cx="2560638" cy="36036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 id="2147483934" r:id="rId12"/>
    <p:sldLayoutId id="2147483935" r:id="rId13"/>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oleObject" Target="../embeddings/oleObject7.bin"/><Relationship Id="rId4"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3.xml"/><Relationship Id="rId1" Type="http://schemas.openxmlformats.org/officeDocument/2006/relationships/vmlDrawing" Target="../drawings/vmlDrawing4.v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3.xml"/><Relationship Id="rId1" Type="http://schemas.openxmlformats.org/officeDocument/2006/relationships/vmlDrawing" Target="../drawings/vmlDrawing5.vml"/><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vmlDrawing" Target="../drawings/vmlDrawing6.vml"/><Relationship Id="rId4" Type="http://schemas.openxmlformats.org/officeDocument/2006/relationships/oleObject" Target="../embeddings/oleObject13.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3.xml"/><Relationship Id="rId1" Type="http://schemas.openxmlformats.org/officeDocument/2006/relationships/vmlDrawing" Target="../drawings/vmlDrawing7.vml"/><Relationship Id="rId5" Type="http://schemas.openxmlformats.org/officeDocument/2006/relationships/image" Target="../media/image10.png"/><Relationship Id="rId4" Type="http://schemas.openxmlformats.org/officeDocument/2006/relationships/oleObject" Target="../embeddings/oleObject15.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3.xml"/><Relationship Id="rId1" Type="http://schemas.openxmlformats.org/officeDocument/2006/relationships/vmlDrawing" Target="../drawings/vmlDrawing8.vml"/><Relationship Id="rId4" Type="http://schemas.openxmlformats.org/officeDocument/2006/relationships/oleObject" Target="../embeddings/oleObject17.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3.xml"/><Relationship Id="rId1" Type="http://schemas.openxmlformats.org/officeDocument/2006/relationships/vmlDrawing" Target="../drawings/vmlDrawing9.v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3.xml"/><Relationship Id="rId1" Type="http://schemas.openxmlformats.org/officeDocument/2006/relationships/vmlDrawing" Target="../drawings/vmlDrawing10.vml"/><Relationship Id="rId4" Type="http://schemas.openxmlformats.org/officeDocument/2006/relationships/oleObject" Target="../embeddings/oleObject20.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29.png"/><Relationship Id="rId7"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vmlDrawing" Target="../drawings/vmlDrawing11.vml"/><Relationship Id="rId6" Type="http://schemas.openxmlformats.org/officeDocument/2006/relationships/oleObject" Target="../embeddings/oleObject23.bin"/><Relationship Id="rId11" Type="http://schemas.openxmlformats.org/officeDocument/2006/relationships/oleObject" Target="../embeddings/oleObject28.bin"/><Relationship Id="rId5" Type="http://schemas.openxmlformats.org/officeDocument/2006/relationships/oleObject" Target="../embeddings/oleObject22.bin"/><Relationship Id="rId10" Type="http://schemas.openxmlformats.org/officeDocument/2006/relationships/oleObject" Target="../embeddings/oleObject27.bin"/><Relationship Id="rId4" Type="http://schemas.openxmlformats.org/officeDocument/2006/relationships/oleObject" Target="../embeddings/oleObject21.bin"/><Relationship Id="rId9" Type="http://schemas.openxmlformats.org/officeDocument/2006/relationships/oleObject" Target="../embeddings/oleObject26.bin"/></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3.xml"/><Relationship Id="rId1" Type="http://schemas.openxmlformats.org/officeDocument/2006/relationships/vmlDrawing" Target="../drawings/vmlDrawing12.vml"/><Relationship Id="rId5" Type="http://schemas.openxmlformats.org/officeDocument/2006/relationships/image" Target="../media/image31.png"/><Relationship Id="rId4" Type="http://schemas.openxmlformats.org/officeDocument/2006/relationships/oleObject" Target="../embeddings/oleObject29.bin"/></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3.xml"/><Relationship Id="rId1" Type="http://schemas.openxmlformats.org/officeDocument/2006/relationships/vmlDrawing" Target="../drawings/vmlDrawing13.vml"/><Relationship Id="rId5" Type="http://schemas.openxmlformats.org/officeDocument/2006/relationships/oleObject" Target="../embeddings/oleObject31.bin"/><Relationship Id="rId4" Type="http://schemas.openxmlformats.org/officeDocument/2006/relationships/oleObject" Target="../embeddings/oleObject30.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slideLayout" Target="../slideLayouts/slideLayout3.xml"/><Relationship Id="rId1" Type="http://schemas.openxmlformats.org/officeDocument/2006/relationships/vmlDrawing" Target="../drawings/vmlDrawing14.vml"/><Relationship Id="rId6" Type="http://schemas.openxmlformats.org/officeDocument/2006/relationships/oleObject" Target="../embeddings/oleObject33.bin"/><Relationship Id="rId5" Type="http://schemas.openxmlformats.org/officeDocument/2006/relationships/image" Target="../media/image39.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3.xml"/><Relationship Id="rId1" Type="http://schemas.openxmlformats.org/officeDocument/2006/relationships/vmlDrawing" Target="../drawings/vmlDrawing15.v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3.xml"/><Relationship Id="rId1" Type="http://schemas.openxmlformats.org/officeDocument/2006/relationships/vmlDrawing" Target="../drawings/vmlDrawing16.v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3.xml"/><Relationship Id="rId1" Type="http://schemas.openxmlformats.org/officeDocument/2006/relationships/vmlDrawing" Target="../drawings/vmlDrawing17.vml"/><Relationship Id="rId4" Type="http://schemas.openxmlformats.org/officeDocument/2006/relationships/oleObject" Target="../embeddings/oleObject38.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3.xml"/><Relationship Id="rId1" Type="http://schemas.openxmlformats.org/officeDocument/2006/relationships/vmlDrawing" Target="../drawings/vmlDrawing18.vml"/><Relationship Id="rId4" Type="http://schemas.openxmlformats.org/officeDocument/2006/relationships/oleObject" Target="../embeddings/oleObject40.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52.png"/><Relationship Id="rId7" Type="http://schemas.openxmlformats.org/officeDocument/2006/relationships/oleObject" Target="../embeddings/oleObject44.bin"/><Relationship Id="rId2" Type="http://schemas.openxmlformats.org/officeDocument/2006/relationships/slideLayout" Target="../slideLayouts/slideLayout3.xml"/><Relationship Id="rId1" Type="http://schemas.openxmlformats.org/officeDocument/2006/relationships/vmlDrawing" Target="../drawings/vmlDrawing19.vml"/><Relationship Id="rId6" Type="http://schemas.openxmlformats.org/officeDocument/2006/relationships/oleObject" Target="../embeddings/oleObject43.bin"/><Relationship Id="rId5" Type="http://schemas.openxmlformats.org/officeDocument/2006/relationships/oleObject" Target="../embeddings/oleObject42.bin"/><Relationship Id="rId10" Type="http://schemas.openxmlformats.org/officeDocument/2006/relationships/oleObject" Target="../embeddings/oleObject47.bin"/><Relationship Id="rId4" Type="http://schemas.openxmlformats.org/officeDocument/2006/relationships/oleObject" Target="../embeddings/oleObject41.bin"/><Relationship Id="rId9" Type="http://schemas.openxmlformats.org/officeDocument/2006/relationships/oleObject" Target="../embeddings/oleObject46.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3.xml"/><Relationship Id="rId1" Type="http://schemas.openxmlformats.org/officeDocument/2006/relationships/vmlDrawing" Target="../drawings/vmlDrawing20.vml"/><Relationship Id="rId5" Type="http://schemas.openxmlformats.org/officeDocument/2006/relationships/oleObject" Target="../embeddings/oleObject50.bin"/><Relationship Id="rId4" Type="http://schemas.openxmlformats.org/officeDocument/2006/relationships/oleObject" Target="../embeddings/oleObject49.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3.xml"/><Relationship Id="rId1" Type="http://schemas.openxmlformats.org/officeDocument/2006/relationships/vmlDrawing" Target="../drawings/vmlDrawing21.vml"/></Relationships>
</file>

<file path=ppt/slides/_rels/slide4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3.xml"/><Relationship Id="rId1" Type="http://schemas.openxmlformats.org/officeDocument/2006/relationships/vmlDrawing" Target="../drawings/vmlDrawing22.vml"/><Relationship Id="rId4" Type="http://schemas.openxmlformats.org/officeDocument/2006/relationships/oleObject" Target="../embeddings/oleObject53.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3.xml"/><Relationship Id="rId1" Type="http://schemas.openxmlformats.org/officeDocument/2006/relationships/vmlDrawing" Target="../drawings/vmlDrawing23.v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3.xml"/><Relationship Id="rId1" Type="http://schemas.openxmlformats.org/officeDocument/2006/relationships/vmlDrawing" Target="../drawings/vmlDrawing24.vml"/><Relationship Id="rId4" Type="http://schemas.openxmlformats.org/officeDocument/2006/relationships/oleObject" Target="../embeddings/oleObject55.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3.xml"/><Relationship Id="rId1" Type="http://schemas.openxmlformats.org/officeDocument/2006/relationships/vmlDrawing" Target="../drawings/vmlDrawing25.vml"/><Relationship Id="rId4" Type="http://schemas.openxmlformats.org/officeDocument/2006/relationships/oleObject" Target="../embeddings/oleObject57.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3.xml"/><Relationship Id="rId5" Type="http://schemas.openxmlformats.org/officeDocument/2006/relationships/image" Target="../media/image69.png"/><Relationship Id="rId4" Type="http://schemas.openxmlformats.org/officeDocument/2006/relationships/image" Target="../media/image68.png"/></Relationships>
</file>

<file path=ppt/slides/_rels/slide5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3.xml"/><Relationship Id="rId1" Type="http://schemas.openxmlformats.org/officeDocument/2006/relationships/vmlDrawing" Target="../drawings/vmlDrawing26.vml"/><Relationship Id="rId4" Type="http://schemas.openxmlformats.org/officeDocument/2006/relationships/oleObject" Target="../embeddings/oleObject59.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3.xml"/><Relationship Id="rId1" Type="http://schemas.openxmlformats.org/officeDocument/2006/relationships/vmlDrawing" Target="../drawings/vmlDrawing27.v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3.xml"/><Relationship Id="rId1" Type="http://schemas.openxmlformats.org/officeDocument/2006/relationships/vmlDrawing" Target="../drawings/vmlDrawing28.vml"/><Relationship Id="rId4" Type="http://schemas.openxmlformats.org/officeDocument/2006/relationships/oleObject" Target="../embeddings/oleObject62.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071563" y="1857375"/>
            <a:ext cx="6715125" cy="862013"/>
          </a:xfrm>
        </p:spPr>
        <p:txBody>
          <a:bodyPr anchor="b"/>
          <a:lstStyle/>
          <a:p>
            <a:pPr eaLnBrk="1" hangingPunct="1"/>
            <a:r>
              <a:rPr lang="zh-CN" altLang="en-US" sz="5400" b="1" dirty="0" smtClean="0">
                <a:solidFill>
                  <a:srgbClr val="FF0000"/>
                </a:solidFill>
                <a:latin typeface="黑体" pitchFamily="2" charset="-122"/>
                <a:ea typeface="黑体" pitchFamily="2" charset="-122"/>
              </a:rPr>
              <a:t>第</a:t>
            </a:r>
            <a:r>
              <a:rPr lang="en-US" altLang="zh-CN" sz="5400" b="1" dirty="0" smtClean="0">
                <a:solidFill>
                  <a:srgbClr val="FF0000"/>
                </a:solidFill>
                <a:latin typeface="黑体" pitchFamily="2" charset="-122"/>
                <a:ea typeface="黑体" pitchFamily="2" charset="-122"/>
              </a:rPr>
              <a:t>4</a:t>
            </a:r>
            <a:r>
              <a:rPr lang="zh-CN" altLang="en-US" sz="5400" b="1" dirty="0" smtClean="0">
                <a:solidFill>
                  <a:srgbClr val="FF0000"/>
                </a:solidFill>
                <a:latin typeface="黑体" pitchFamily="2" charset="-122"/>
                <a:ea typeface="黑体" pitchFamily="2" charset="-122"/>
              </a:rPr>
              <a:t>章 </a:t>
            </a:r>
            <a:r>
              <a:rPr lang="zh-CN" altLang="en-US" sz="5400" b="1" dirty="0" smtClean="0">
                <a:solidFill>
                  <a:schemeClr val="tx2"/>
                </a:solidFill>
                <a:latin typeface="黑体" pitchFamily="2" charset="-122"/>
                <a:ea typeface="黑体" pitchFamily="2" charset="-122"/>
              </a:rPr>
              <a:t>电感式传感器</a:t>
            </a:r>
            <a:endParaRPr lang="zh-CN" altLang="en-US" sz="6000" b="1" dirty="0" smtClean="0">
              <a:solidFill>
                <a:schemeClr val="tx2"/>
              </a:solidFill>
              <a:latin typeface="黑体" pitchFamily="2" charset="-122"/>
              <a:ea typeface="黑体" pitchFamily="2" charset="-122"/>
            </a:endParaRPr>
          </a:p>
        </p:txBody>
      </p:sp>
      <p:sp>
        <p:nvSpPr>
          <p:cNvPr id="6" name="Rectangle 5"/>
          <p:cNvSpPr>
            <a:spLocks noGrp="1" noChangeArrowheads="1"/>
          </p:cNvSpPr>
          <p:nvPr>
            <p:ph idx="1"/>
          </p:nvPr>
        </p:nvSpPr>
        <p:spPr>
          <a:xfrm>
            <a:off x="857250" y="3429000"/>
            <a:ext cx="7772400" cy="2451100"/>
          </a:xfrm>
        </p:spPr>
        <p:txBody>
          <a:bodyPr rtlCol="0">
            <a:normAutofit fontScale="85000" lnSpcReduction="20000"/>
          </a:bodyPr>
          <a:lstStyle/>
          <a:p>
            <a:pPr eaLnBrk="1" fontAlgn="auto" hangingPunct="1">
              <a:spcAft>
                <a:spcPts val="0"/>
              </a:spcAft>
              <a:buFont typeface="Wingdings" pitchFamily="2" charset="2"/>
              <a:buNone/>
              <a:defRPr/>
            </a:pPr>
            <a:endParaRPr lang="en-US" altLang="zh-CN" sz="2400" b="1" dirty="0">
              <a:latin typeface="楷体_GB2312" pitchFamily="49" charset="-122"/>
              <a:ea typeface="楷体_GB2312" pitchFamily="49" charset="-122"/>
            </a:endParaRPr>
          </a:p>
          <a:p>
            <a:pPr algn="ctr" eaLnBrk="1" fontAlgn="auto" hangingPunct="1">
              <a:spcAft>
                <a:spcPts val="0"/>
              </a:spcAft>
              <a:buFont typeface="Arial" pitchFamily="34" charset="0"/>
              <a:buNone/>
              <a:defRPr/>
            </a:pPr>
            <a:r>
              <a:rPr lang="zh-CN" altLang="en-US" sz="3900" b="1" dirty="0" smtClean="0">
                <a:solidFill>
                  <a:srgbClr val="0033CC"/>
                </a:solidFill>
                <a:effectLst>
                  <a:outerShdw blurRad="38100" dist="38100" dir="2700000" algn="tl">
                    <a:srgbClr val="C0C0C0"/>
                  </a:outerShdw>
                </a:effectLst>
              </a:rPr>
              <a:t>主讲教师：徐 平</a:t>
            </a:r>
          </a:p>
          <a:p>
            <a:pPr algn="ctr" eaLnBrk="1" fontAlgn="auto" hangingPunct="1">
              <a:lnSpc>
                <a:spcPct val="160000"/>
              </a:lnSpc>
              <a:spcBef>
                <a:spcPct val="50000"/>
              </a:spcBef>
              <a:spcAft>
                <a:spcPts val="0"/>
              </a:spcAft>
              <a:buFontTx/>
              <a:buNone/>
              <a:defRPr/>
            </a:pPr>
            <a:r>
              <a:rPr lang="en-US" altLang="zh-CN" b="1" dirty="0" smtClean="0">
                <a:solidFill>
                  <a:srgbClr val="660066"/>
                </a:solidFill>
                <a:latin typeface="Times New Roman" pitchFamily="18" charset="0"/>
                <a:ea typeface="楷体_GB2312" pitchFamily="49" charset="-122"/>
                <a:cs typeface="Times New Roman" pitchFamily="18" charset="0"/>
              </a:rPr>
              <a:t>xuping@buaa.edu.cn</a:t>
            </a:r>
          </a:p>
          <a:p>
            <a:pPr algn="ctr" eaLnBrk="1" fontAlgn="auto" hangingPunct="1">
              <a:lnSpc>
                <a:spcPct val="160000"/>
              </a:lnSpc>
              <a:spcAft>
                <a:spcPts val="0"/>
              </a:spcAft>
              <a:buFont typeface="Arial" pitchFamily="34" charset="0"/>
              <a:buNone/>
              <a:defRPr/>
            </a:pPr>
            <a:r>
              <a:rPr lang="zh-CN" altLang="en-US" sz="4000" b="1" dirty="0">
                <a:solidFill>
                  <a:srgbClr val="0033CC"/>
                </a:solidFill>
                <a:effectLst>
                  <a:outerShdw blurRad="38100" dist="38100" dir="2700000" algn="tl">
                    <a:srgbClr val="C0C0C0"/>
                  </a:outerShdw>
                </a:effectLst>
                <a:latin typeface="华文行楷" pitchFamily="2" charset="-122"/>
                <a:ea typeface="华文行楷" pitchFamily="2" charset="-122"/>
              </a:rPr>
              <a:t>物理科学与核能工程</a:t>
            </a:r>
            <a:r>
              <a:rPr lang="zh-CN" altLang="en-US" sz="4000" b="1" dirty="0" smtClean="0">
                <a:solidFill>
                  <a:srgbClr val="0033CC"/>
                </a:solidFill>
                <a:effectLst>
                  <a:outerShdw blurRad="38100" dist="38100" dir="2700000" algn="tl">
                    <a:srgbClr val="C0C0C0"/>
                  </a:outerShdw>
                </a:effectLst>
                <a:latin typeface="华文行楷" pitchFamily="2" charset="-122"/>
                <a:ea typeface="华文行楷" pitchFamily="2" charset="-122"/>
              </a:rPr>
              <a:t>学院</a:t>
            </a:r>
            <a:endParaRPr lang="en-US" altLang="zh-CN" sz="2800" dirty="0">
              <a:solidFill>
                <a:srgbClr val="0099FF"/>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214438" y="571500"/>
            <a:ext cx="6572250" cy="862013"/>
          </a:xfrm>
        </p:spPr>
        <p:txBody>
          <a:bodyPr anchor="b"/>
          <a:lstStyle/>
          <a:p>
            <a:pPr eaLnBrk="1" hangingPunct="1"/>
            <a:r>
              <a:rPr lang="zh-CN" altLang="en-US" sz="4000" b="1" dirty="0" smtClean="0">
                <a:solidFill>
                  <a:schemeClr val="tx2"/>
                </a:solidFill>
                <a:latin typeface="黑体" pitchFamily="2" charset="-122"/>
                <a:ea typeface="黑体" pitchFamily="2" charset="-122"/>
              </a:rPr>
              <a:t>第</a:t>
            </a:r>
            <a:r>
              <a:rPr lang="en-US" altLang="zh-CN" sz="4000" b="1" dirty="0" smtClean="0">
                <a:solidFill>
                  <a:schemeClr val="tx2"/>
                </a:solidFill>
                <a:latin typeface="黑体" pitchFamily="2" charset="-122"/>
                <a:ea typeface="黑体" pitchFamily="2" charset="-122"/>
              </a:rPr>
              <a:t>4</a:t>
            </a:r>
            <a:r>
              <a:rPr lang="zh-CN" altLang="en-US" sz="4000" b="1" dirty="0" smtClean="0">
                <a:solidFill>
                  <a:schemeClr val="tx2"/>
                </a:solidFill>
                <a:latin typeface="黑体" pitchFamily="2" charset="-122"/>
                <a:ea typeface="黑体" pitchFamily="2" charset="-122"/>
              </a:rPr>
              <a:t>章 电感式传感器</a:t>
            </a:r>
            <a:endParaRPr lang="zh-CN" altLang="en-US"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7412" name="Text Box 4"/>
          <p:cNvSpPr txBox="1">
            <a:spLocks noChangeArrowheads="1"/>
          </p:cNvSpPr>
          <p:nvPr/>
        </p:nvSpPr>
        <p:spPr bwMode="auto">
          <a:xfrm>
            <a:off x="285750" y="1714500"/>
            <a:ext cx="8572500" cy="1643063"/>
          </a:xfrm>
          <a:prstGeom prst="rect">
            <a:avLst/>
          </a:prstGeom>
          <a:noFill/>
          <a:ln w="9525">
            <a:noFill/>
            <a:miter lim="800000"/>
            <a:headEnd/>
            <a:tailEnd/>
          </a:ln>
        </p:spPr>
        <p:txBody>
          <a:bodyPr>
            <a:spAutoFit/>
          </a:bodyPr>
          <a:lstStyle/>
          <a:p>
            <a:pPr marL="0" lvl="1" indent="620713">
              <a:lnSpc>
                <a:spcPct val="120000"/>
              </a:lnSpc>
            </a:pPr>
            <a:r>
              <a:rPr kumimoji="0" lang="zh-CN" altLang="en-US" sz="2800" b="1">
                <a:latin typeface="宋体" pitchFamily="2" charset="-122"/>
              </a:rPr>
              <a:t>利用线圈</a:t>
            </a:r>
            <a:r>
              <a:rPr kumimoji="0" lang="zh-CN" altLang="en-US" sz="2800" b="1">
                <a:solidFill>
                  <a:srgbClr val="FF0000"/>
                </a:solidFill>
                <a:latin typeface="宋体" pitchFamily="2" charset="-122"/>
              </a:rPr>
              <a:t>自感</a:t>
            </a:r>
            <a:r>
              <a:rPr kumimoji="0" lang="zh-CN" altLang="en-US" sz="2800" b="1">
                <a:latin typeface="宋体" pitchFamily="2" charset="-122"/>
              </a:rPr>
              <a:t>或</a:t>
            </a:r>
            <a:r>
              <a:rPr kumimoji="0" lang="zh-CN" altLang="en-US" sz="2800" b="1">
                <a:solidFill>
                  <a:srgbClr val="FF0000"/>
                </a:solidFill>
                <a:latin typeface="宋体" pitchFamily="2" charset="-122"/>
              </a:rPr>
              <a:t>互感</a:t>
            </a:r>
            <a:r>
              <a:rPr kumimoji="0" lang="zh-CN" altLang="en-US" sz="2800" b="1">
                <a:latin typeface="宋体" pitchFamily="2" charset="-122"/>
              </a:rPr>
              <a:t>的变化来实现测量的一种装置。可以用来测量位移、振动、压力、流量、重量、力矩、应变等多种物理量。</a:t>
            </a:r>
          </a:p>
        </p:txBody>
      </p:sp>
      <p:sp>
        <p:nvSpPr>
          <p:cNvPr id="9" name="Text Box 4"/>
          <p:cNvSpPr txBox="1">
            <a:spLocks noChangeArrowheads="1"/>
          </p:cNvSpPr>
          <p:nvPr/>
        </p:nvSpPr>
        <p:spPr bwMode="auto">
          <a:xfrm>
            <a:off x="285750" y="3429000"/>
            <a:ext cx="8572500" cy="1643063"/>
          </a:xfrm>
          <a:prstGeom prst="rect">
            <a:avLst/>
          </a:prstGeom>
          <a:noFill/>
          <a:ln w="9525">
            <a:noFill/>
            <a:miter lim="800000"/>
            <a:headEnd/>
            <a:tailEnd/>
          </a:ln>
        </p:spPr>
        <p:txBody>
          <a:bodyPr>
            <a:spAutoFit/>
          </a:bodyPr>
          <a:lstStyle/>
          <a:p>
            <a:pPr marL="0" lvl="1" indent="620713">
              <a:lnSpc>
                <a:spcPct val="120000"/>
              </a:lnSpc>
            </a:pPr>
            <a:r>
              <a:rPr kumimoji="0" lang="zh-CN" altLang="en-US" sz="2800" b="1" dirty="0">
                <a:solidFill>
                  <a:srgbClr val="FF0000"/>
                </a:solidFill>
                <a:latin typeface="宋体" pitchFamily="2" charset="-122"/>
              </a:rPr>
              <a:t>核心部分</a:t>
            </a:r>
            <a:r>
              <a:rPr kumimoji="0" lang="en-US" altLang="zh-CN" sz="2800" b="1" dirty="0">
                <a:latin typeface="宋体" pitchFamily="2" charset="-122"/>
              </a:rPr>
              <a:t>: </a:t>
            </a:r>
            <a:r>
              <a:rPr kumimoji="0" lang="zh-CN" altLang="en-US" sz="2800" b="1" dirty="0">
                <a:latin typeface="宋体" pitchFamily="2" charset="-122"/>
              </a:rPr>
              <a:t>可变自感或可变互感。</a:t>
            </a:r>
            <a:endParaRPr kumimoji="0" lang="en-US" altLang="zh-CN" sz="2800" b="1" dirty="0">
              <a:latin typeface="宋体" pitchFamily="2" charset="-122"/>
            </a:endParaRPr>
          </a:p>
          <a:p>
            <a:pPr marL="0" lvl="1" indent="620713">
              <a:lnSpc>
                <a:spcPct val="120000"/>
              </a:lnSpc>
            </a:pPr>
            <a:r>
              <a:rPr kumimoji="0" lang="zh-CN" altLang="en-US" sz="2800" b="1" dirty="0">
                <a:latin typeface="宋体" pitchFamily="2" charset="-122"/>
              </a:rPr>
              <a:t>在被测量转换成线圈自感或互感的变化时，一般要利用磁场作为媒介或利用铁磁体的某些现象。</a:t>
            </a:r>
            <a:endParaRPr kumimoji="0" lang="en-US" altLang="zh-CN" sz="2800" b="1" dirty="0">
              <a:latin typeface="宋体" pitchFamily="2" charset="-122"/>
            </a:endParaRPr>
          </a:p>
        </p:txBody>
      </p:sp>
      <p:sp>
        <p:nvSpPr>
          <p:cNvPr id="11" name="流程图: 可选过程 10"/>
          <p:cNvSpPr/>
          <p:nvPr/>
        </p:nvSpPr>
        <p:spPr>
          <a:xfrm>
            <a:off x="1643063" y="5143500"/>
            <a:ext cx="5214937" cy="928688"/>
          </a:xfrm>
          <a:prstGeom prst="flowChartAlternateProcess">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indent="620713">
              <a:lnSpc>
                <a:spcPct val="120000"/>
              </a:lnSpc>
              <a:defRPr/>
            </a:pPr>
            <a:r>
              <a:rPr kumimoji="0" lang="zh-CN" altLang="en-US" sz="2800" b="1" dirty="0">
                <a:solidFill>
                  <a:srgbClr val="FF0000"/>
                </a:solidFill>
                <a:latin typeface="宋体" pitchFamily="2" charset="-122"/>
              </a:rPr>
              <a:t>主要特征</a:t>
            </a:r>
            <a:r>
              <a:rPr kumimoji="0" lang="zh-CN" altLang="en-US" sz="2800" b="1" dirty="0">
                <a:solidFill>
                  <a:schemeClr val="tx2"/>
                </a:solidFill>
                <a:latin typeface="宋体" pitchFamily="2" charset="-122"/>
              </a:rPr>
              <a:t>：</a:t>
            </a:r>
            <a:r>
              <a:rPr kumimoji="0" lang="zh-CN" altLang="en-US" sz="2800" b="1" dirty="0">
                <a:solidFill>
                  <a:schemeClr val="tx1"/>
                </a:solidFill>
                <a:latin typeface="宋体" pitchFamily="2" charset="-122"/>
              </a:rPr>
              <a:t>具有线圈绕组。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linds(horizont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blinds(horizontal)">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14438" y="571500"/>
            <a:ext cx="6572250" cy="862013"/>
          </a:xfrm>
        </p:spPr>
        <p:txBody>
          <a:bodyPr anchor="b"/>
          <a:lstStyle/>
          <a:p>
            <a:pPr eaLnBrk="1" hangingPunct="1"/>
            <a:r>
              <a:rPr lang="zh-CN" altLang="en-US" sz="4000" b="1" dirty="0" smtClean="0">
                <a:solidFill>
                  <a:schemeClr val="tx2"/>
                </a:solidFill>
                <a:latin typeface="黑体" pitchFamily="2" charset="-122"/>
                <a:ea typeface="黑体" pitchFamily="2" charset="-122"/>
              </a:rPr>
              <a:t>第</a:t>
            </a:r>
            <a:r>
              <a:rPr lang="en-US" altLang="zh-CN" sz="4000" b="1" dirty="0" smtClean="0">
                <a:solidFill>
                  <a:schemeClr val="tx2"/>
                </a:solidFill>
                <a:latin typeface="黑体" pitchFamily="2" charset="-122"/>
                <a:ea typeface="黑体" pitchFamily="2" charset="-122"/>
              </a:rPr>
              <a:t>4</a:t>
            </a:r>
            <a:r>
              <a:rPr lang="zh-CN" altLang="en-US" sz="4000" b="1" dirty="0" smtClean="0">
                <a:solidFill>
                  <a:schemeClr val="tx2"/>
                </a:solidFill>
                <a:latin typeface="黑体" pitchFamily="2" charset="-122"/>
                <a:ea typeface="黑体" pitchFamily="2" charset="-122"/>
              </a:rPr>
              <a:t>章 电感式传感器</a:t>
            </a:r>
            <a:endParaRPr lang="zh-CN" altLang="en-US"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8436" name="Text Box 2"/>
          <p:cNvSpPr txBox="1">
            <a:spLocks noChangeArrowheads="1"/>
          </p:cNvSpPr>
          <p:nvPr/>
        </p:nvSpPr>
        <p:spPr bwMode="auto">
          <a:xfrm>
            <a:off x="285720" y="1857364"/>
            <a:ext cx="8564563" cy="1643062"/>
          </a:xfrm>
          <a:prstGeom prst="rect">
            <a:avLst/>
          </a:prstGeom>
          <a:noFill/>
          <a:ln w="9525">
            <a:noFill/>
            <a:miter lim="800000"/>
            <a:headEnd/>
            <a:tailEnd/>
          </a:ln>
        </p:spPr>
        <p:txBody>
          <a:bodyPr>
            <a:spAutoFit/>
          </a:bodyPr>
          <a:lstStyle/>
          <a:p>
            <a:pPr marL="0" lvl="1" indent="620713">
              <a:lnSpc>
                <a:spcPct val="120000"/>
              </a:lnSpc>
            </a:pPr>
            <a:r>
              <a:rPr kumimoji="0" lang="zh-CN" altLang="en-US" sz="2800" b="1" dirty="0">
                <a:solidFill>
                  <a:srgbClr val="FF0000"/>
                </a:solidFill>
                <a:latin typeface="宋体" pitchFamily="2" charset="-122"/>
              </a:rPr>
              <a:t>优点</a:t>
            </a:r>
            <a:r>
              <a:rPr kumimoji="0" lang="zh-CN" altLang="en-US" sz="2800" b="1" dirty="0">
                <a:latin typeface="宋体" pitchFamily="2" charset="-122"/>
              </a:rPr>
              <a:t>：结构简单可靠、输出功率大、输出阻抗小、抗干扰能力强、对工作环境要求不高；分辨力较高，稳定性好；重复性好，线性度优良。         </a:t>
            </a:r>
          </a:p>
        </p:txBody>
      </p:sp>
      <p:sp>
        <p:nvSpPr>
          <p:cNvPr id="13" name="Text Box 5"/>
          <p:cNvSpPr txBox="1">
            <a:spLocks noChangeArrowheads="1"/>
          </p:cNvSpPr>
          <p:nvPr/>
        </p:nvSpPr>
        <p:spPr bwMode="auto">
          <a:xfrm>
            <a:off x="285750" y="5072063"/>
            <a:ext cx="8572500" cy="1127125"/>
          </a:xfrm>
          <a:prstGeom prst="rect">
            <a:avLst/>
          </a:prstGeom>
          <a:noFill/>
          <a:ln w="9525" algn="ctr">
            <a:noFill/>
            <a:miter lim="800000"/>
            <a:headEnd/>
            <a:tailEnd/>
          </a:ln>
        </p:spPr>
        <p:txBody>
          <a:bodyPr>
            <a:spAutoFit/>
          </a:bodyPr>
          <a:lstStyle/>
          <a:p>
            <a:pPr marL="0" lvl="1" indent="620713">
              <a:lnSpc>
                <a:spcPct val="120000"/>
              </a:lnSpc>
            </a:pPr>
            <a:r>
              <a:rPr kumimoji="0" lang="zh-CN" altLang="en-US" sz="2800" b="1" dirty="0">
                <a:solidFill>
                  <a:srgbClr val="FF0000"/>
                </a:solidFill>
                <a:latin typeface="宋体" pitchFamily="2" charset="-122"/>
              </a:rPr>
              <a:t>缺点</a:t>
            </a:r>
            <a:r>
              <a:rPr kumimoji="0" lang="zh-CN" altLang="en-US" sz="2800" b="1" dirty="0">
                <a:latin typeface="宋体" pitchFamily="2" charset="-122"/>
              </a:rPr>
              <a:t>：频率响应低，不宜用于快速动态测量；存在交流零位信号。</a:t>
            </a:r>
          </a:p>
        </p:txBody>
      </p:sp>
      <p:sp>
        <p:nvSpPr>
          <p:cNvPr id="14" name="矩形 13"/>
          <p:cNvSpPr>
            <a:spLocks noChangeArrowheads="1"/>
          </p:cNvSpPr>
          <p:nvPr/>
        </p:nvSpPr>
        <p:spPr bwMode="auto">
          <a:xfrm>
            <a:off x="1000100" y="3500438"/>
            <a:ext cx="7000875" cy="1357312"/>
          </a:xfrm>
          <a:prstGeom prst="rect">
            <a:avLst/>
          </a:prstGeom>
          <a:solidFill>
            <a:srgbClr val="92D050"/>
          </a:solidFill>
          <a:ln w="9525" algn="ctr">
            <a:solidFill>
              <a:srgbClr val="000000"/>
            </a:solidFill>
            <a:round/>
            <a:headEnd/>
            <a:tailEnd/>
          </a:ln>
        </p:spPr>
        <p:txBody>
          <a:bodyPr/>
          <a:lstStyle/>
          <a:p>
            <a:pPr indent="630238"/>
            <a:r>
              <a:rPr lang="zh-CN" altLang="en-US" sz="2800" b="1" dirty="0">
                <a:solidFill>
                  <a:srgbClr val="FF0000"/>
                </a:solidFill>
                <a:latin typeface="华文楷体" pitchFamily="2" charset="-122"/>
                <a:ea typeface="华文楷体" pitchFamily="2" charset="-122"/>
              </a:rPr>
              <a:t>电感式传感器的分辨力和示值误差与示值范围有关：示值范围大时，分辨力和示值精度将相应降低。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214438" y="571500"/>
            <a:ext cx="6572250" cy="862013"/>
          </a:xfrm>
        </p:spPr>
        <p:txBody>
          <a:bodyPr anchor="b"/>
          <a:lstStyle/>
          <a:p>
            <a:pPr eaLnBrk="1" hangingPunct="1"/>
            <a:r>
              <a:rPr lang="zh-CN" altLang="en-US" sz="4000" b="1" dirty="0" smtClean="0">
                <a:solidFill>
                  <a:schemeClr val="tx2"/>
                </a:solidFill>
                <a:latin typeface="黑体" pitchFamily="2" charset="-122"/>
                <a:ea typeface="黑体" pitchFamily="2" charset="-122"/>
              </a:rPr>
              <a:t>第</a:t>
            </a:r>
            <a:r>
              <a:rPr lang="en-US" altLang="zh-CN" sz="4000" b="1" dirty="0" smtClean="0">
                <a:solidFill>
                  <a:schemeClr val="tx2"/>
                </a:solidFill>
                <a:latin typeface="黑体" pitchFamily="2" charset="-122"/>
                <a:ea typeface="黑体" pitchFamily="2" charset="-122"/>
              </a:rPr>
              <a:t>4</a:t>
            </a:r>
            <a:r>
              <a:rPr lang="zh-CN" altLang="en-US" sz="4000" b="1" dirty="0" smtClean="0">
                <a:solidFill>
                  <a:schemeClr val="tx2"/>
                </a:solidFill>
                <a:latin typeface="黑体" pitchFamily="2" charset="-122"/>
                <a:ea typeface="黑体" pitchFamily="2" charset="-122"/>
              </a:rPr>
              <a:t>章 电感式传感器</a:t>
            </a:r>
            <a:endParaRPr lang="zh-CN" altLang="en-US"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pic>
        <p:nvPicPr>
          <p:cNvPr id="19462" name="Picture 7" descr="ZLJ-C"/>
          <p:cNvPicPr>
            <a:picLocks noChangeAspect="1" noChangeArrowheads="1"/>
          </p:cNvPicPr>
          <p:nvPr/>
        </p:nvPicPr>
        <p:blipFill>
          <a:blip r:embed="rId2"/>
          <a:srcRect/>
          <a:stretch>
            <a:fillRect/>
          </a:stretch>
        </p:blipFill>
        <p:spPr bwMode="auto">
          <a:xfrm>
            <a:off x="7286644" y="2071678"/>
            <a:ext cx="1679575" cy="2000250"/>
          </a:xfrm>
          <a:prstGeom prst="rect">
            <a:avLst/>
          </a:prstGeom>
          <a:noFill/>
          <a:ln w="9525">
            <a:noFill/>
            <a:miter lim="800000"/>
            <a:headEnd/>
            <a:tailEnd/>
          </a:ln>
        </p:spPr>
      </p:pic>
      <p:pic>
        <p:nvPicPr>
          <p:cNvPr id="19463" name="Picture 8" descr="zlj"/>
          <p:cNvPicPr>
            <a:picLocks noChangeAspect="1" noChangeArrowheads="1"/>
          </p:cNvPicPr>
          <p:nvPr/>
        </p:nvPicPr>
        <p:blipFill>
          <a:blip r:embed="rId3"/>
          <a:srcRect/>
          <a:stretch>
            <a:fillRect/>
          </a:stretch>
        </p:blipFill>
        <p:spPr bwMode="auto">
          <a:xfrm>
            <a:off x="7286644" y="4214818"/>
            <a:ext cx="1679575" cy="2000250"/>
          </a:xfrm>
          <a:prstGeom prst="rect">
            <a:avLst/>
          </a:prstGeom>
          <a:noFill/>
          <a:ln w="9525">
            <a:noFill/>
            <a:miter lim="800000"/>
            <a:headEnd/>
            <a:tailEnd/>
          </a:ln>
        </p:spPr>
      </p:pic>
      <p:graphicFrame>
        <p:nvGraphicFramePr>
          <p:cNvPr id="16" name="图示 15"/>
          <p:cNvGraphicFramePr/>
          <p:nvPr/>
        </p:nvGraphicFramePr>
        <p:xfrm>
          <a:off x="214282" y="1643050"/>
          <a:ext cx="7000924" cy="49292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graphicEl>
                                              <a:dgm id="{ACC91253-8C78-43C8-9BD5-FF92B4AE619F}"/>
                                            </p:graphicEl>
                                          </p:spTgt>
                                        </p:tgtEl>
                                        <p:attrNameLst>
                                          <p:attrName>style.visibility</p:attrName>
                                        </p:attrNameLst>
                                      </p:cBhvr>
                                      <p:to>
                                        <p:strVal val="visible"/>
                                      </p:to>
                                    </p:set>
                                    <p:animEffect transition="in" filter="blinds(horizontal)">
                                      <p:cBhvr>
                                        <p:cTn id="7" dur="500"/>
                                        <p:tgtEl>
                                          <p:spTgt spid="16">
                                            <p:graphicEl>
                                              <a:dgm id="{ACC91253-8C78-43C8-9BD5-FF92B4AE619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graphicEl>
                                              <a:dgm id="{47634FA2-192F-44CA-B545-4C55789D0822}"/>
                                            </p:graphicEl>
                                          </p:spTgt>
                                        </p:tgtEl>
                                        <p:attrNameLst>
                                          <p:attrName>style.visibility</p:attrName>
                                        </p:attrNameLst>
                                      </p:cBhvr>
                                      <p:to>
                                        <p:strVal val="visible"/>
                                      </p:to>
                                    </p:set>
                                    <p:animEffect transition="in" filter="blinds(horizontal)">
                                      <p:cBhvr>
                                        <p:cTn id="12" dur="500"/>
                                        <p:tgtEl>
                                          <p:spTgt spid="16">
                                            <p:graphicEl>
                                              <a:dgm id="{47634FA2-192F-44CA-B545-4C55789D0822}"/>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
                                            <p:graphicEl>
                                              <a:dgm id="{8CA98837-AA65-4006-A6E8-262D0A609AF0}"/>
                                            </p:graphicEl>
                                          </p:spTgt>
                                        </p:tgtEl>
                                        <p:attrNameLst>
                                          <p:attrName>style.visibility</p:attrName>
                                        </p:attrNameLst>
                                      </p:cBhvr>
                                      <p:to>
                                        <p:strVal val="visible"/>
                                      </p:to>
                                    </p:set>
                                    <p:animEffect transition="in" filter="blinds(horizontal)">
                                      <p:cBhvr>
                                        <p:cTn id="17" dur="500"/>
                                        <p:tgtEl>
                                          <p:spTgt spid="16">
                                            <p:graphicEl>
                                              <a:dgm id="{8CA98837-AA65-4006-A6E8-262D0A609AF0}"/>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
                                            <p:graphicEl>
                                              <a:dgm id="{62F96752-9F47-4E50-BEF3-D1324A7FB018}"/>
                                            </p:graphicEl>
                                          </p:spTgt>
                                        </p:tgtEl>
                                        <p:attrNameLst>
                                          <p:attrName>style.visibility</p:attrName>
                                        </p:attrNameLst>
                                      </p:cBhvr>
                                      <p:to>
                                        <p:strVal val="visible"/>
                                      </p:to>
                                    </p:set>
                                    <p:animEffect transition="in" filter="blinds(horizontal)">
                                      <p:cBhvr>
                                        <p:cTn id="22" dur="500"/>
                                        <p:tgtEl>
                                          <p:spTgt spid="16">
                                            <p:graphicEl>
                                              <a:dgm id="{62F96752-9F47-4E50-BEF3-D1324A7FB018}"/>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
                                            <p:graphicEl>
                                              <a:dgm id="{95878A81-29CA-4D10-9AF8-19A971BC7DA9}"/>
                                            </p:graphicEl>
                                          </p:spTgt>
                                        </p:tgtEl>
                                        <p:attrNameLst>
                                          <p:attrName>style.visibility</p:attrName>
                                        </p:attrNameLst>
                                      </p:cBhvr>
                                      <p:to>
                                        <p:strVal val="visible"/>
                                      </p:to>
                                    </p:set>
                                    <p:animEffect transition="in" filter="blinds(horizontal)">
                                      <p:cBhvr>
                                        <p:cTn id="27" dur="500"/>
                                        <p:tgtEl>
                                          <p:spTgt spid="16">
                                            <p:graphicEl>
                                              <a:dgm id="{95878A81-29CA-4D10-9AF8-19A971BC7DA9}"/>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
                                            <p:graphicEl>
                                              <a:dgm id="{51080AA9-7905-434D-854E-E5CF670C31E1}"/>
                                            </p:graphicEl>
                                          </p:spTgt>
                                        </p:tgtEl>
                                        <p:attrNameLst>
                                          <p:attrName>style.visibility</p:attrName>
                                        </p:attrNameLst>
                                      </p:cBhvr>
                                      <p:to>
                                        <p:strVal val="visible"/>
                                      </p:to>
                                    </p:set>
                                    <p:animEffect transition="in" filter="blinds(horizontal)">
                                      <p:cBhvr>
                                        <p:cTn id="32" dur="500"/>
                                        <p:tgtEl>
                                          <p:spTgt spid="16">
                                            <p:graphicEl>
                                              <a:dgm id="{51080AA9-7905-434D-854E-E5CF670C31E1}"/>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
                                            <p:graphicEl>
                                              <a:dgm id="{E3EBB89E-CE64-4A07-B80B-0C90B36B39D5}"/>
                                            </p:graphicEl>
                                          </p:spTgt>
                                        </p:tgtEl>
                                        <p:attrNameLst>
                                          <p:attrName>style.visibility</p:attrName>
                                        </p:attrNameLst>
                                      </p:cBhvr>
                                      <p:to>
                                        <p:strVal val="visible"/>
                                      </p:to>
                                    </p:set>
                                    <p:animEffect transition="in" filter="blinds(horizontal)">
                                      <p:cBhvr>
                                        <p:cTn id="37" dur="500"/>
                                        <p:tgtEl>
                                          <p:spTgt spid="16">
                                            <p:graphicEl>
                                              <a:dgm id="{E3EBB89E-CE64-4A07-B80B-0C90B36B39D5}"/>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
                                            <p:graphicEl>
                                              <a:dgm id="{BD991408-C428-4B0B-A19A-78F3DCFE568F}"/>
                                            </p:graphicEl>
                                          </p:spTgt>
                                        </p:tgtEl>
                                        <p:attrNameLst>
                                          <p:attrName>style.visibility</p:attrName>
                                        </p:attrNameLst>
                                      </p:cBhvr>
                                      <p:to>
                                        <p:strVal val="visible"/>
                                      </p:to>
                                    </p:set>
                                    <p:animEffect transition="in" filter="blinds(horizontal)">
                                      <p:cBhvr>
                                        <p:cTn id="42" dur="500"/>
                                        <p:tgtEl>
                                          <p:spTgt spid="16">
                                            <p:graphicEl>
                                              <a:dgm id="{BD991408-C428-4B0B-A19A-78F3DCFE568F}"/>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
                                            <p:graphicEl>
                                              <a:dgm id="{47B3A2B0-D9E0-4BB6-8D5C-CA8945694C30}"/>
                                            </p:graphicEl>
                                          </p:spTgt>
                                        </p:tgtEl>
                                        <p:attrNameLst>
                                          <p:attrName>style.visibility</p:attrName>
                                        </p:attrNameLst>
                                      </p:cBhvr>
                                      <p:to>
                                        <p:strVal val="visible"/>
                                      </p:to>
                                    </p:set>
                                    <p:animEffect transition="in" filter="blinds(horizontal)">
                                      <p:cBhvr>
                                        <p:cTn id="47" dur="500"/>
                                        <p:tgtEl>
                                          <p:spTgt spid="16">
                                            <p:graphicEl>
                                              <a:dgm id="{47B3A2B0-D9E0-4BB6-8D5C-CA8945694C30}"/>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6">
                                            <p:graphicEl>
                                              <a:dgm id="{A232E29F-FAF7-4CCC-90A1-2EFBE2DA5D99}"/>
                                            </p:graphicEl>
                                          </p:spTgt>
                                        </p:tgtEl>
                                        <p:attrNameLst>
                                          <p:attrName>style.visibility</p:attrName>
                                        </p:attrNameLst>
                                      </p:cBhvr>
                                      <p:to>
                                        <p:strVal val="visible"/>
                                      </p:to>
                                    </p:set>
                                    <p:animEffect transition="in" filter="blinds(horizontal)">
                                      <p:cBhvr>
                                        <p:cTn id="52" dur="500"/>
                                        <p:tgtEl>
                                          <p:spTgt spid="16">
                                            <p:graphicEl>
                                              <a:dgm id="{A232E29F-FAF7-4CCC-90A1-2EFBE2DA5D9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6" grpId="0" uiExpand="1">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14438" y="571500"/>
            <a:ext cx="6572250" cy="862013"/>
          </a:xfrm>
        </p:spPr>
        <p:txBody>
          <a:bodyPr anchor="b"/>
          <a:lstStyle/>
          <a:p>
            <a:pPr eaLnBrk="1" hangingPunct="1"/>
            <a:r>
              <a:rPr lang="zh-CN" altLang="en-US" sz="4000" b="1" dirty="0" smtClean="0">
                <a:solidFill>
                  <a:schemeClr val="tx2"/>
                </a:solidFill>
                <a:latin typeface="黑体" pitchFamily="2" charset="-122"/>
                <a:ea typeface="黑体" pitchFamily="2" charset="-122"/>
              </a:rPr>
              <a:t>第</a:t>
            </a:r>
            <a:r>
              <a:rPr lang="en-US" altLang="zh-CN" sz="4000" b="1" dirty="0" smtClean="0">
                <a:solidFill>
                  <a:schemeClr val="tx2"/>
                </a:solidFill>
                <a:latin typeface="黑体" pitchFamily="2" charset="-122"/>
                <a:ea typeface="黑体" pitchFamily="2" charset="-122"/>
              </a:rPr>
              <a:t>4</a:t>
            </a:r>
            <a:r>
              <a:rPr lang="zh-CN" altLang="en-US" sz="4000" b="1" dirty="0" smtClean="0">
                <a:solidFill>
                  <a:schemeClr val="tx2"/>
                </a:solidFill>
                <a:latin typeface="黑体" pitchFamily="2" charset="-122"/>
                <a:ea typeface="黑体" pitchFamily="2" charset="-122"/>
              </a:rPr>
              <a:t>章 电感式传感器</a:t>
            </a:r>
            <a:endParaRPr lang="zh-CN" altLang="en-US"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6" name="Text Box 4"/>
          <p:cNvSpPr txBox="1">
            <a:spLocks noChangeArrowheads="1"/>
          </p:cNvSpPr>
          <p:nvPr/>
        </p:nvSpPr>
        <p:spPr bwMode="auto">
          <a:xfrm>
            <a:off x="571500" y="1571625"/>
            <a:ext cx="8286750" cy="3194721"/>
          </a:xfrm>
          <a:prstGeom prst="rect">
            <a:avLst/>
          </a:prstGeom>
          <a:noFill/>
          <a:ln w="9525">
            <a:noFill/>
            <a:miter lim="800000"/>
            <a:headEnd/>
            <a:tailEnd/>
          </a:ln>
        </p:spPr>
        <p:txBody>
          <a:bodyPr>
            <a:spAutoFit/>
          </a:bodyPr>
          <a:lstStyle/>
          <a:p>
            <a:pPr marL="0" lvl="1" indent="620713">
              <a:lnSpc>
                <a:spcPct val="120000"/>
              </a:lnSpc>
            </a:pPr>
            <a:r>
              <a:rPr lang="en-US" altLang="zh-CN" sz="2800" b="1" dirty="0">
                <a:latin typeface="黑体" pitchFamily="2" charset="-122"/>
                <a:ea typeface="黑体" pitchFamily="2" charset="-122"/>
              </a:rPr>
              <a:t>4.1 </a:t>
            </a:r>
            <a:r>
              <a:rPr lang="zh-CN" altLang="en-US" sz="2800" b="1" dirty="0">
                <a:solidFill>
                  <a:srgbClr val="FF0000"/>
                </a:solidFill>
                <a:latin typeface="黑体" pitchFamily="2" charset="-122"/>
                <a:ea typeface="黑体" pitchFamily="2" charset="-122"/>
              </a:rPr>
              <a:t>自感式传感器</a:t>
            </a:r>
            <a:endParaRPr lang="en-US" altLang="zh-CN" sz="2800" b="1" dirty="0">
              <a:solidFill>
                <a:srgbClr val="FF0000"/>
              </a:solidFill>
              <a:latin typeface="黑体" pitchFamily="2" charset="-122"/>
              <a:ea typeface="黑体" pitchFamily="2" charset="-122"/>
            </a:endParaRPr>
          </a:p>
          <a:p>
            <a:pPr marL="0" lvl="1" indent="620713">
              <a:lnSpc>
                <a:spcPct val="120000"/>
              </a:lnSpc>
            </a:pPr>
            <a:r>
              <a:rPr lang="en-US" altLang="zh-CN" sz="2800" b="1" dirty="0" smtClean="0">
                <a:latin typeface="黑体" pitchFamily="2" charset="-122"/>
                <a:ea typeface="黑体" pitchFamily="2" charset="-122"/>
              </a:rPr>
              <a:t>4.2 </a:t>
            </a:r>
            <a:r>
              <a:rPr lang="zh-CN" altLang="en-US" sz="2800" b="1" dirty="0" smtClean="0">
                <a:latin typeface="黑体" pitchFamily="2" charset="-122"/>
                <a:ea typeface="黑体" pitchFamily="2" charset="-122"/>
              </a:rPr>
              <a:t>变压器式传感器</a:t>
            </a:r>
            <a:endParaRPr lang="en-US" altLang="zh-CN" sz="2800" b="1" dirty="0" smtClean="0">
              <a:latin typeface="黑体" pitchFamily="2" charset="-122"/>
              <a:ea typeface="黑体" pitchFamily="2" charset="-122"/>
            </a:endParaRPr>
          </a:p>
          <a:p>
            <a:pPr marL="0" lvl="1" indent="620713">
              <a:lnSpc>
                <a:spcPct val="120000"/>
              </a:lnSpc>
            </a:pPr>
            <a:r>
              <a:rPr lang="en-US" altLang="zh-CN" sz="2800" b="1" dirty="0" smtClean="0">
                <a:latin typeface="黑体" pitchFamily="2" charset="-122"/>
                <a:ea typeface="黑体" pitchFamily="2" charset="-122"/>
              </a:rPr>
              <a:t>4.3 </a:t>
            </a:r>
            <a:r>
              <a:rPr lang="zh-CN" altLang="en-US" sz="2800" b="1" dirty="0" smtClean="0">
                <a:latin typeface="黑体" pitchFamily="2" charset="-122"/>
                <a:ea typeface="黑体" pitchFamily="2" charset="-122"/>
              </a:rPr>
              <a:t>电涡流式传感器</a:t>
            </a:r>
            <a:endParaRPr lang="en-US" altLang="zh-CN" sz="2800" b="1" dirty="0" smtClean="0">
              <a:latin typeface="黑体" pitchFamily="2" charset="-122"/>
              <a:ea typeface="黑体" pitchFamily="2" charset="-122"/>
            </a:endParaRPr>
          </a:p>
          <a:p>
            <a:pPr marL="0" lvl="1" indent="620713">
              <a:lnSpc>
                <a:spcPct val="120000"/>
              </a:lnSpc>
            </a:pPr>
            <a:r>
              <a:rPr lang="en-US" altLang="zh-CN" sz="2800" b="1" dirty="0" smtClean="0">
                <a:latin typeface="黑体" pitchFamily="2" charset="-122"/>
                <a:ea typeface="黑体" pitchFamily="2" charset="-122"/>
              </a:rPr>
              <a:t>4.4</a:t>
            </a:r>
            <a:r>
              <a:rPr lang="zh-CN" altLang="en-US" sz="2800" b="1" dirty="0" smtClean="0">
                <a:latin typeface="黑体" pitchFamily="2" charset="-122"/>
                <a:ea typeface="黑体" pitchFamily="2" charset="-122"/>
              </a:rPr>
              <a:t> 压磁式传感器</a:t>
            </a:r>
            <a:endParaRPr lang="en-US" altLang="zh-CN" sz="2800" b="1" dirty="0">
              <a:latin typeface="黑体" pitchFamily="2" charset="-122"/>
              <a:ea typeface="黑体" pitchFamily="2" charset="-122"/>
            </a:endParaRPr>
          </a:p>
          <a:p>
            <a:pPr marL="0" lvl="1" indent="620713">
              <a:lnSpc>
                <a:spcPct val="120000"/>
              </a:lnSpc>
            </a:pPr>
            <a:endParaRPr lang="en-US" altLang="zh-CN" sz="2800" b="1" dirty="0">
              <a:latin typeface="黑体" pitchFamily="2" charset="-122"/>
              <a:ea typeface="黑体" pitchFamily="2" charset="-122"/>
            </a:endParaRPr>
          </a:p>
          <a:p>
            <a:pPr marL="0" lvl="1" indent="620713">
              <a:lnSpc>
                <a:spcPct val="120000"/>
              </a:lnSpc>
            </a:pPr>
            <a:endParaRPr kumimoji="0" lang="zh-CN" altLang="en-US" sz="2800" b="1"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Rectangle 4"/>
          <p:cNvSpPr txBox="1">
            <a:spLocks noChangeArrowheads="1"/>
          </p:cNvSpPr>
          <p:nvPr/>
        </p:nvSpPr>
        <p:spPr bwMode="auto">
          <a:xfrm>
            <a:off x="285750" y="1643063"/>
            <a:ext cx="8572500" cy="714375"/>
          </a:xfrm>
          <a:prstGeom prst="rect">
            <a:avLst/>
          </a:prstGeom>
          <a:noFill/>
          <a:ln w="9525">
            <a:noFill/>
            <a:miter lim="800000"/>
            <a:headEnd/>
            <a:tailEnd/>
          </a:ln>
        </p:spPr>
        <p:txBody>
          <a:bodyPr/>
          <a:lstStyle/>
          <a:p>
            <a:pPr indent="536575">
              <a:lnSpc>
                <a:spcPct val="120000"/>
              </a:lnSpc>
              <a:defRPr/>
            </a:pPr>
            <a:r>
              <a:rPr kumimoji="0" lang="zh-CN" altLang="en-US" sz="2800" b="1" dirty="0">
                <a:solidFill>
                  <a:srgbClr val="F84D08"/>
                </a:solidFill>
                <a:latin typeface="黑体" pitchFamily="2" charset="-122"/>
                <a:ea typeface="黑体" pitchFamily="2" charset="-122"/>
                <a:cs typeface="+mj-cs"/>
              </a:rPr>
              <a:t>工作原理</a:t>
            </a:r>
          </a:p>
        </p:txBody>
      </p:sp>
      <p:sp>
        <p:nvSpPr>
          <p:cNvPr id="1031" name="Text Box 8"/>
          <p:cNvSpPr txBox="1">
            <a:spLocks noChangeArrowheads="1"/>
          </p:cNvSpPr>
          <p:nvPr/>
        </p:nvSpPr>
        <p:spPr bwMode="auto">
          <a:xfrm>
            <a:off x="214313" y="2214563"/>
            <a:ext cx="5975350" cy="2654300"/>
          </a:xfrm>
          <a:prstGeom prst="rect">
            <a:avLst/>
          </a:prstGeom>
          <a:noFill/>
          <a:ln w="9525" algn="ctr">
            <a:noFill/>
            <a:miter lim="800000"/>
            <a:headEnd/>
            <a:tailEnd/>
          </a:ln>
        </p:spPr>
        <p:txBody>
          <a:bodyPr>
            <a:spAutoFit/>
          </a:bodyPr>
          <a:lstStyle/>
          <a:p>
            <a:pPr indent="627063"/>
            <a:r>
              <a:rPr lang="zh-CN" altLang="en-US" sz="2800" b="1" dirty="0">
                <a:latin typeface="宋体" pitchFamily="2" charset="-122"/>
              </a:rPr>
              <a:t>电感</a:t>
            </a:r>
            <a:r>
              <a:rPr lang="zh-CN" altLang="en-US" sz="2800" b="1" dirty="0">
                <a:solidFill>
                  <a:srgbClr val="0000FF"/>
                </a:solidFill>
                <a:latin typeface="宋体" pitchFamily="2" charset="-122"/>
              </a:rPr>
              <a:t>     </a:t>
            </a:r>
          </a:p>
          <a:p>
            <a:pPr indent="627063"/>
            <a:r>
              <a:rPr lang="zh-CN" altLang="en-US" sz="2800" b="1" dirty="0">
                <a:solidFill>
                  <a:srgbClr val="0000FF"/>
                </a:solidFill>
                <a:latin typeface="宋体" pitchFamily="2" charset="-122"/>
              </a:rPr>
              <a:t>      </a:t>
            </a:r>
            <a:r>
              <a:rPr lang="en-US" altLang="zh-CN" sz="2800" b="1" i="1" dirty="0">
                <a:solidFill>
                  <a:srgbClr val="CC0066"/>
                </a:solidFill>
                <a:latin typeface="Times New Roman" pitchFamily="18" charset="0"/>
              </a:rPr>
              <a:t>L=WΦ/I</a:t>
            </a:r>
          </a:p>
          <a:p>
            <a:pPr indent="627063"/>
            <a:r>
              <a:rPr lang="en-US" altLang="zh-CN" sz="2800" b="1" i="1" dirty="0">
                <a:solidFill>
                  <a:srgbClr val="CC0066"/>
                </a:solidFill>
                <a:latin typeface="Times New Roman" pitchFamily="18" charset="0"/>
              </a:rPr>
              <a:t>W-</a:t>
            </a:r>
            <a:r>
              <a:rPr lang="zh-CN" altLang="en-US" sz="2800" b="1" i="1" dirty="0">
                <a:solidFill>
                  <a:srgbClr val="CC0066"/>
                </a:solidFill>
                <a:latin typeface="Times New Roman" pitchFamily="18" charset="0"/>
              </a:rPr>
              <a:t> </a:t>
            </a:r>
            <a:r>
              <a:rPr lang="zh-CN" altLang="en-US" sz="2800" b="1" dirty="0">
                <a:latin typeface="Times New Roman" pitchFamily="18" charset="0"/>
              </a:rPr>
              <a:t>线圈的匝数</a:t>
            </a:r>
          </a:p>
          <a:p>
            <a:pPr indent="627063"/>
            <a:r>
              <a:rPr lang="en-US" altLang="zh-CN" sz="2800" b="1" i="1" dirty="0">
                <a:solidFill>
                  <a:srgbClr val="CC0066"/>
                </a:solidFill>
                <a:latin typeface="Times New Roman" pitchFamily="18" charset="0"/>
              </a:rPr>
              <a:t>I-</a:t>
            </a:r>
            <a:r>
              <a:rPr lang="zh-CN" altLang="en-US" sz="2800" b="1" i="1" dirty="0">
                <a:solidFill>
                  <a:srgbClr val="CC0066"/>
                </a:solidFill>
                <a:latin typeface="Times New Roman" pitchFamily="18" charset="0"/>
              </a:rPr>
              <a:t> </a:t>
            </a:r>
            <a:r>
              <a:rPr lang="zh-CN" altLang="en-US" sz="2800" b="1" dirty="0">
                <a:latin typeface="Times New Roman" pitchFamily="18" charset="0"/>
              </a:rPr>
              <a:t>线圈中通过的电流</a:t>
            </a:r>
          </a:p>
          <a:p>
            <a:pPr indent="627063"/>
            <a:r>
              <a:rPr lang="en-US" altLang="zh-CN" sz="2800" b="1" i="1" dirty="0">
                <a:solidFill>
                  <a:srgbClr val="CC0066"/>
                </a:solidFill>
                <a:latin typeface="Times New Roman" pitchFamily="18" charset="0"/>
              </a:rPr>
              <a:t>Φ-</a:t>
            </a:r>
            <a:r>
              <a:rPr lang="zh-CN" altLang="en-US" sz="2800" b="1" i="1" dirty="0">
                <a:solidFill>
                  <a:srgbClr val="CC0066"/>
                </a:solidFill>
                <a:latin typeface="Times New Roman" pitchFamily="18" charset="0"/>
              </a:rPr>
              <a:t> </a:t>
            </a:r>
            <a:r>
              <a:rPr lang="zh-CN" altLang="en-US" sz="2800" b="1" dirty="0">
                <a:latin typeface="Times New Roman" pitchFamily="18" charset="0"/>
              </a:rPr>
              <a:t>穿过线圈的磁通</a:t>
            </a:r>
            <a:r>
              <a:rPr lang="en-US" altLang="zh-CN" sz="2800" b="1" dirty="0">
                <a:latin typeface="Times New Roman" pitchFamily="18" charset="0"/>
              </a:rPr>
              <a:t>:</a:t>
            </a:r>
          </a:p>
          <a:p>
            <a:pPr indent="627063"/>
            <a:r>
              <a:rPr lang="en-US" altLang="zh-CN" sz="2800" b="1" i="1" dirty="0">
                <a:solidFill>
                  <a:schemeClr val="folHlink"/>
                </a:solidFill>
                <a:latin typeface="Times New Roman" pitchFamily="18" charset="0"/>
              </a:rPr>
              <a:t>            </a:t>
            </a:r>
            <a:r>
              <a:rPr lang="en-US" altLang="zh-CN" sz="2800" b="1" i="1" dirty="0">
                <a:solidFill>
                  <a:srgbClr val="CC0066"/>
                </a:solidFill>
                <a:latin typeface="Times New Roman" pitchFamily="18" charset="0"/>
              </a:rPr>
              <a:t>Φ =WI/</a:t>
            </a:r>
            <a:r>
              <a:rPr lang="en-US" altLang="zh-CN" sz="2800" b="1" i="1" dirty="0" err="1">
                <a:solidFill>
                  <a:srgbClr val="CC0066"/>
                </a:solidFill>
                <a:latin typeface="Times New Roman" pitchFamily="18" charset="0"/>
              </a:rPr>
              <a:t>Rm</a:t>
            </a:r>
            <a:endParaRPr lang="en-US" altLang="zh-CN" sz="2800" b="1" dirty="0">
              <a:solidFill>
                <a:srgbClr val="CC0066"/>
              </a:solidFill>
            </a:endParaRPr>
          </a:p>
        </p:txBody>
      </p:sp>
      <p:sp>
        <p:nvSpPr>
          <p:cNvPr id="1032" name="Text Box 11"/>
          <p:cNvSpPr txBox="1">
            <a:spLocks noChangeArrowheads="1"/>
          </p:cNvSpPr>
          <p:nvPr/>
        </p:nvSpPr>
        <p:spPr bwMode="auto">
          <a:xfrm>
            <a:off x="857250" y="4929188"/>
            <a:ext cx="2232025" cy="519112"/>
          </a:xfrm>
          <a:prstGeom prst="rect">
            <a:avLst/>
          </a:prstGeom>
          <a:noFill/>
          <a:ln w="9525">
            <a:noFill/>
            <a:miter lim="800000"/>
            <a:headEnd/>
            <a:tailEnd/>
          </a:ln>
        </p:spPr>
        <p:txBody>
          <a:bodyPr>
            <a:spAutoFit/>
          </a:bodyPr>
          <a:lstStyle/>
          <a:p>
            <a:pPr>
              <a:spcBef>
                <a:spcPct val="50000"/>
              </a:spcBef>
            </a:pPr>
            <a:r>
              <a:rPr lang="zh-CN" altLang="en-US" sz="2800" b="1">
                <a:latin typeface="Verdana" pitchFamily="34" charset="0"/>
              </a:rPr>
              <a:t>磁动势 </a:t>
            </a:r>
            <a:r>
              <a:rPr lang="en-US" altLang="zh-CN" sz="2800" b="1" i="1">
                <a:solidFill>
                  <a:srgbClr val="CC0066"/>
                </a:solidFill>
                <a:latin typeface="Times New Roman" pitchFamily="18" charset="0"/>
              </a:rPr>
              <a:t>WI</a:t>
            </a:r>
          </a:p>
        </p:txBody>
      </p:sp>
      <p:sp>
        <p:nvSpPr>
          <p:cNvPr id="1033" name="Text Box 12"/>
          <p:cNvSpPr txBox="1">
            <a:spLocks noChangeArrowheads="1"/>
          </p:cNvSpPr>
          <p:nvPr/>
        </p:nvSpPr>
        <p:spPr bwMode="auto">
          <a:xfrm>
            <a:off x="992188" y="5716588"/>
            <a:ext cx="914400" cy="519112"/>
          </a:xfrm>
          <a:prstGeom prst="rect">
            <a:avLst/>
          </a:prstGeom>
          <a:noFill/>
          <a:ln w="9525">
            <a:noFill/>
            <a:miter lim="800000"/>
            <a:headEnd/>
            <a:tailEnd/>
          </a:ln>
        </p:spPr>
        <p:txBody>
          <a:bodyPr>
            <a:spAutoFit/>
          </a:bodyPr>
          <a:lstStyle/>
          <a:p>
            <a:pPr>
              <a:spcBef>
                <a:spcPct val="50000"/>
              </a:spcBef>
            </a:pPr>
            <a:r>
              <a:rPr lang="zh-CN" altLang="en-US" sz="2800" b="1" dirty="0">
                <a:latin typeface="Verdana" pitchFamily="34" charset="0"/>
              </a:rPr>
              <a:t>磁阻</a:t>
            </a:r>
          </a:p>
        </p:txBody>
      </p:sp>
      <p:graphicFrame>
        <p:nvGraphicFramePr>
          <p:cNvPr id="1026" name="Object 13"/>
          <p:cNvGraphicFramePr>
            <a:graphicFrameLocks noGrp="1" noChangeAspect="1"/>
          </p:cNvGraphicFramePr>
          <p:nvPr>
            <p:ph sz="half" idx="4294967295"/>
          </p:nvPr>
        </p:nvGraphicFramePr>
        <p:xfrm>
          <a:off x="2000250" y="5429250"/>
          <a:ext cx="3313113" cy="912813"/>
        </p:xfrm>
        <a:graphic>
          <a:graphicData uri="http://schemas.openxmlformats.org/presentationml/2006/ole">
            <p:oleObj spid="_x0000_s1026" name="图像文档" r:id="rId3" imgW="2419200" imgH="666720" progId="">
              <p:embed/>
            </p:oleObj>
          </a:graphicData>
        </a:graphic>
      </p:graphicFrame>
      <p:graphicFrame>
        <p:nvGraphicFramePr>
          <p:cNvPr id="1027" name="Object 9"/>
          <p:cNvGraphicFramePr>
            <a:graphicFrameLocks noGrp="1" noChangeAspect="1"/>
          </p:cNvGraphicFramePr>
          <p:nvPr>
            <p:ph sz="half" idx="1"/>
          </p:nvPr>
        </p:nvGraphicFramePr>
        <p:xfrm>
          <a:off x="4643438" y="3143250"/>
          <a:ext cx="4038600" cy="1995488"/>
        </p:xfrm>
        <a:graphic>
          <a:graphicData uri="http://schemas.openxmlformats.org/presentationml/2006/ole">
            <p:oleObj spid="_x0000_s1027" name="Image" r:id="rId4" imgW="13822041" imgH="6827755" progId="">
              <p:embed/>
            </p:oleObj>
          </a:graphicData>
        </a:graphic>
      </p:graphicFrame>
      <p:sp>
        <p:nvSpPr>
          <p:cNvPr id="17" name="圆角矩形标注 16"/>
          <p:cNvSpPr/>
          <p:nvPr/>
        </p:nvSpPr>
        <p:spPr>
          <a:xfrm>
            <a:off x="5143500" y="1714500"/>
            <a:ext cx="1143000" cy="714375"/>
          </a:xfrm>
          <a:prstGeom prst="wedgeRoundRectCallout">
            <a:avLst>
              <a:gd name="adj1" fmla="val 39856"/>
              <a:gd name="adj2" fmla="val 23243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r>
              <a:rPr lang="zh-CN" altLang="en-US" sz="2800" b="1" dirty="0">
                <a:solidFill>
                  <a:srgbClr val="0000CC"/>
                </a:solidFill>
                <a:latin typeface="Verdana" pitchFamily="34" charset="0"/>
                <a:ea typeface="楷体_GB2312" pitchFamily="49" charset="-122"/>
              </a:rPr>
              <a:t>衔铁</a:t>
            </a:r>
          </a:p>
        </p:txBody>
      </p:sp>
      <p:sp>
        <p:nvSpPr>
          <p:cNvPr id="18" name="圆角矩形标注 17"/>
          <p:cNvSpPr/>
          <p:nvPr/>
        </p:nvSpPr>
        <p:spPr>
          <a:xfrm>
            <a:off x="7786688" y="5214938"/>
            <a:ext cx="1143000" cy="714375"/>
          </a:xfrm>
          <a:prstGeom prst="wedgeRoundRectCallout">
            <a:avLst>
              <a:gd name="adj1" fmla="val -124281"/>
              <a:gd name="adj2" fmla="val -10743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r>
              <a:rPr lang="zh-CN" altLang="en-US" sz="2800" b="1" dirty="0">
                <a:solidFill>
                  <a:srgbClr val="0000CC"/>
                </a:solidFill>
                <a:latin typeface="Verdana" pitchFamily="34" charset="0"/>
                <a:ea typeface="楷体_GB2312" pitchFamily="49" charset="-122"/>
              </a:rPr>
              <a:t>铁心</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054" name="Text Box 8"/>
          <p:cNvSpPr txBox="1">
            <a:spLocks noChangeArrowheads="1"/>
          </p:cNvSpPr>
          <p:nvPr/>
        </p:nvSpPr>
        <p:spPr bwMode="auto">
          <a:xfrm>
            <a:off x="428625" y="1643063"/>
            <a:ext cx="4214813" cy="954087"/>
          </a:xfrm>
          <a:prstGeom prst="rect">
            <a:avLst/>
          </a:prstGeom>
          <a:noFill/>
          <a:ln w="9525" algn="ctr">
            <a:noFill/>
            <a:miter lim="800000"/>
            <a:headEnd/>
            <a:tailEnd/>
          </a:ln>
        </p:spPr>
        <p:txBody>
          <a:bodyPr>
            <a:spAutoFit/>
          </a:bodyPr>
          <a:lstStyle/>
          <a:p>
            <a:pPr indent="95250"/>
            <a:r>
              <a:rPr lang="zh-CN" altLang="en-US" sz="2800" b="1">
                <a:latin typeface="宋体" pitchFamily="2" charset="-122"/>
              </a:rPr>
              <a:t>当</a:t>
            </a:r>
            <a:r>
              <a:rPr lang="zh-CN" altLang="en-US" sz="2800" b="1">
                <a:latin typeface="Verdana" pitchFamily="34" charset="0"/>
              </a:rPr>
              <a:t>铁心工作在非饱和状态时：</a:t>
            </a:r>
            <a:r>
              <a:rPr lang="zh-CN" altLang="en-US" sz="2800" b="1">
                <a:solidFill>
                  <a:srgbClr val="0000FF"/>
                </a:solidFill>
                <a:latin typeface="宋体" pitchFamily="2" charset="-122"/>
              </a:rPr>
              <a:t>      </a:t>
            </a:r>
            <a:endParaRPr lang="en-US" altLang="zh-CN" sz="2800" b="1">
              <a:solidFill>
                <a:srgbClr val="CC0066"/>
              </a:solidFill>
            </a:endParaRPr>
          </a:p>
        </p:txBody>
      </p:sp>
      <p:graphicFrame>
        <p:nvGraphicFramePr>
          <p:cNvPr id="2050" name="Object 9"/>
          <p:cNvGraphicFramePr>
            <a:graphicFrameLocks noGrp="1" noChangeAspect="1"/>
          </p:cNvGraphicFramePr>
          <p:nvPr>
            <p:ph sz="half" idx="1"/>
          </p:nvPr>
        </p:nvGraphicFramePr>
        <p:xfrm>
          <a:off x="4929188" y="1643063"/>
          <a:ext cx="4038600" cy="1995487"/>
        </p:xfrm>
        <a:graphic>
          <a:graphicData uri="http://schemas.openxmlformats.org/presentationml/2006/ole">
            <p:oleObj spid="_x0000_s2050" name="Image" r:id="rId3" imgW="13822041" imgH="6827755" progId="">
              <p:embed/>
            </p:oleObj>
          </a:graphicData>
        </a:graphic>
      </p:graphicFrame>
      <p:graphicFrame>
        <p:nvGraphicFramePr>
          <p:cNvPr id="2051" name="Object 11"/>
          <p:cNvGraphicFramePr>
            <a:graphicFrameLocks noGrp="1" noChangeAspect="1"/>
          </p:cNvGraphicFramePr>
          <p:nvPr/>
        </p:nvGraphicFramePr>
        <p:xfrm>
          <a:off x="1571625" y="2643188"/>
          <a:ext cx="2414588" cy="857250"/>
        </p:xfrm>
        <a:graphic>
          <a:graphicData uri="http://schemas.openxmlformats.org/presentationml/2006/ole">
            <p:oleObj spid="_x0000_s2051" name="图像文档" r:id="rId4" imgW="1581120" imgH="561960" progId="">
              <p:embed/>
            </p:oleObj>
          </a:graphicData>
        </a:graphic>
      </p:graphicFrame>
      <p:sp>
        <p:nvSpPr>
          <p:cNvPr id="14" name="Text Box 12"/>
          <p:cNvSpPr txBox="1">
            <a:spLocks noChangeArrowheads="1"/>
          </p:cNvSpPr>
          <p:nvPr/>
        </p:nvSpPr>
        <p:spPr bwMode="auto">
          <a:xfrm>
            <a:off x="857250" y="3714750"/>
            <a:ext cx="7286625" cy="1384300"/>
          </a:xfrm>
          <a:prstGeom prst="rect">
            <a:avLst/>
          </a:prstGeom>
          <a:noFill/>
          <a:ln w="9525">
            <a:noFill/>
            <a:miter lim="800000"/>
            <a:headEnd/>
            <a:tailEnd/>
          </a:ln>
        </p:spPr>
        <p:txBody>
          <a:bodyPr>
            <a:spAutoFit/>
          </a:bodyPr>
          <a:lstStyle/>
          <a:p>
            <a:pPr indent="627063">
              <a:buClr>
                <a:srgbClr val="FF0000"/>
              </a:buClr>
              <a:buFont typeface="Wingdings" pitchFamily="2" charset="2"/>
              <a:buChar char="u"/>
            </a:pPr>
            <a:r>
              <a:rPr lang="zh-CN" altLang="en-US" sz="2800" b="1">
                <a:latin typeface="宋体" pitchFamily="2" charset="-122"/>
              </a:rPr>
              <a:t>电感值与线圈匝数 </a:t>
            </a:r>
            <a:r>
              <a:rPr lang="en-US" altLang="zh-CN" sz="2800" b="1" i="1">
                <a:solidFill>
                  <a:srgbClr val="FF0000"/>
                </a:solidFill>
                <a:latin typeface="Times New Roman" pitchFamily="18" charset="0"/>
                <a:cs typeface="Times New Roman" pitchFamily="18" charset="0"/>
              </a:rPr>
              <a:t>W</a:t>
            </a:r>
            <a:r>
              <a:rPr lang="zh-CN" altLang="en-US" sz="2800" b="1" i="1">
                <a:solidFill>
                  <a:srgbClr val="FF0000"/>
                </a:solidFill>
                <a:latin typeface="Times New Roman" pitchFamily="18" charset="0"/>
                <a:cs typeface="Times New Roman" pitchFamily="18" charset="0"/>
              </a:rPr>
              <a:t> </a:t>
            </a:r>
            <a:r>
              <a:rPr lang="zh-CN" altLang="en-US" sz="2800" b="1">
                <a:latin typeface="宋体" pitchFamily="2" charset="-122"/>
              </a:rPr>
              <a:t>平方成正比，与空气隙有效截面积 </a:t>
            </a:r>
            <a:r>
              <a:rPr lang="en-US" altLang="zh-CN" sz="2800" b="1" i="1">
                <a:solidFill>
                  <a:srgbClr val="FF0000"/>
                </a:solidFill>
                <a:latin typeface="Times New Roman" pitchFamily="18" charset="0"/>
                <a:cs typeface="Times New Roman" pitchFamily="18" charset="0"/>
              </a:rPr>
              <a:t>S</a:t>
            </a:r>
            <a:r>
              <a:rPr lang="en-US" altLang="zh-CN" sz="2800" b="1" i="1" baseline="-25000">
                <a:solidFill>
                  <a:srgbClr val="FF0000"/>
                </a:solidFill>
                <a:latin typeface="Times New Roman" pitchFamily="18" charset="0"/>
                <a:cs typeface="Times New Roman" pitchFamily="18" charset="0"/>
              </a:rPr>
              <a:t>0</a:t>
            </a:r>
            <a:r>
              <a:rPr lang="zh-CN" altLang="en-US" sz="2800" b="1" i="1" baseline="-25000">
                <a:solidFill>
                  <a:srgbClr val="FF0000"/>
                </a:solidFill>
                <a:latin typeface="Times New Roman" pitchFamily="18" charset="0"/>
                <a:cs typeface="Times New Roman" pitchFamily="18" charset="0"/>
              </a:rPr>
              <a:t> </a:t>
            </a:r>
            <a:r>
              <a:rPr lang="zh-CN" altLang="en-US" sz="2800" b="1">
                <a:latin typeface="宋体" pitchFamily="2" charset="-122"/>
              </a:rPr>
              <a:t>成正比，与空气隙长度 </a:t>
            </a:r>
            <a:r>
              <a:rPr lang="en-US" altLang="zh-CN" sz="2800" b="1" i="1">
                <a:solidFill>
                  <a:srgbClr val="FF0000"/>
                </a:solidFill>
                <a:latin typeface="Times New Roman" pitchFamily="18" charset="0"/>
                <a:cs typeface="Times New Roman" pitchFamily="18" charset="0"/>
              </a:rPr>
              <a:t>l</a:t>
            </a:r>
            <a:r>
              <a:rPr lang="en-US" altLang="zh-CN" sz="2800" b="1" i="1" baseline="-25000">
                <a:solidFill>
                  <a:srgbClr val="FF0000"/>
                </a:solidFill>
                <a:latin typeface="Times New Roman" pitchFamily="18" charset="0"/>
                <a:cs typeface="Times New Roman" pitchFamily="18" charset="0"/>
              </a:rPr>
              <a:t>0</a:t>
            </a:r>
            <a:r>
              <a:rPr lang="zh-CN" altLang="en-US" sz="2800" b="1" i="1" baseline="-25000">
                <a:solidFill>
                  <a:srgbClr val="FF0000"/>
                </a:solidFill>
                <a:latin typeface="Times New Roman" pitchFamily="18" charset="0"/>
                <a:cs typeface="Times New Roman" pitchFamily="18" charset="0"/>
              </a:rPr>
              <a:t> </a:t>
            </a:r>
            <a:r>
              <a:rPr lang="zh-CN" altLang="en-US" sz="2800" b="1">
                <a:latin typeface="宋体" pitchFamily="2" charset="-122"/>
              </a:rPr>
              <a:t>成反比。</a:t>
            </a:r>
          </a:p>
        </p:txBody>
      </p:sp>
      <p:sp>
        <p:nvSpPr>
          <p:cNvPr id="15" name="Text Box 13"/>
          <p:cNvSpPr txBox="1">
            <a:spLocks noChangeArrowheads="1"/>
          </p:cNvSpPr>
          <p:nvPr/>
        </p:nvSpPr>
        <p:spPr bwMode="auto">
          <a:xfrm>
            <a:off x="642938" y="5286375"/>
            <a:ext cx="7748587" cy="954088"/>
          </a:xfrm>
          <a:prstGeom prst="rect">
            <a:avLst/>
          </a:prstGeom>
          <a:noFill/>
          <a:ln w="9525" algn="ctr">
            <a:noFill/>
            <a:miter lim="800000"/>
            <a:headEnd/>
            <a:tailEnd/>
          </a:ln>
        </p:spPr>
        <p:txBody>
          <a:bodyPr>
            <a:spAutoFit/>
          </a:bodyPr>
          <a:lstStyle/>
          <a:p>
            <a:pPr marL="179388" lvl="1" indent="627063">
              <a:buClr>
                <a:srgbClr val="FF0000"/>
              </a:buClr>
              <a:buSzPct val="100000"/>
              <a:buFont typeface="Wingdings" pitchFamily="2" charset="2"/>
              <a:buChar char="u"/>
            </a:pPr>
            <a:r>
              <a:rPr lang="zh-CN" altLang="en-US" sz="2800" b="1">
                <a:latin typeface="宋体" pitchFamily="2" charset="-122"/>
              </a:rPr>
              <a:t>当铁心的结构和材料确定后，自感 </a:t>
            </a:r>
            <a:r>
              <a:rPr lang="en-US" altLang="zh-CN" sz="2800" b="1" i="1">
                <a:solidFill>
                  <a:srgbClr val="FF0000"/>
                </a:solidFill>
                <a:latin typeface="Times New Roman" pitchFamily="18" charset="0"/>
                <a:cs typeface="Times New Roman" pitchFamily="18" charset="0"/>
              </a:rPr>
              <a:t>L </a:t>
            </a:r>
            <a:r>
              <a:rPr lang="zh-CN" altLang="en-US" sz="2800" b="1">
                <a:latin typeface="宋体" pitchFamily="2" charset="-122"/>
              </a:rPr>
              <a:t>只是气隙厚度 </a:t>
            </a:r>
            <a:r>
              <a:rPr lang="en-US" altLang="zh-CN" sz="2800" b="1" i="1">
                <a:solidFill>
                  <a:srgbClr val="FF0000"/>
                </a:solidFill>
                <a:latin typeface="Times New Roman" pitchFamily="18" charset="0"/>
                <a:cs typeface="Times New Roman" pitchFamily="18" charset="0"/>
              </a:rPr>
              <a:t>l</a:t>
            </a:r>
            <a:r>
              <a:rPr lang="en-US" altLang="zh-CN" sz="2800" b="1" i="1" baseline="-25000">
                <a:solidFill>
                  <a:srgbClr val="FF0000"/>
                </a:solidFill>
                <a:latin typeface="Times New Roman" pitchFamily="18" charset="0"/>
                <a:cs typeface="Times New Roman" pitchFamily="18" charset="0"/>
              </a:rPr>
              <a:t>0</a:t>
            </a:r>
            <a:r>
              <a:rPr lang="zh-CN" altLang="en-US" sz="2800" b="1" i="1" baseline="-25000">
                <a:solidFill>
                  <a:srgbClr val="FF0000"/>
                </a:solidFill>
                <a:latin typeface="Times New Roman" pitchFamily="18" charset="0"/>
                <a:cs typeface="Times New Roman" pitchFamily="18" charset="0"/>
              </a:rPr>
              <a:t> </a:t>
            </a:r>
            <a:r>
              <a:rPr lang="zh-CN" altLang="en-US" sz="2800" b="1">
                <a:latin typeface="宋体" pitchFamily="2" charset="-122"/>
                <a:sym typeface="Symbol" pitchFamily="18" charset="2"/>
              </a:rPr>
              <a:t>和</a:t>
            </a:r>
            <a:r>
              <a:rPr lang="zh-CN" altLang="en-US" sz="2800" b="1">
                <a:latin typeface="宋体" pitchFamily="2" charset="-122"/>
              </a:rPr>
              <a:t>空气隙的截面积 </a:t>
            </a:r>
            <a:r>
              <a:rPr lang="en-US" altLang="zh-CN" sz="2800" b="1" i="1">
                <a:solidFill>
                  <a:srgbClr val="FF0000"/>
                </a:solidFill>
                <a:latin typeface="Times New Roman" pitchFamily="18" charset="0"/>
                <a:cs typeface="Times New Roman" pitchFamily="18" charset="0"/>
              </a:rPr>
              <a:t>S</a:t>
            </a:r>
            <a:r>
              <a:rPr lang="en-US" altLang="zh-CN" sz="2800" b="1" i="1" baseline="-25000">
                <a:solidFill>
                  <a:srgbClr val="FF0000"/>
                </a:solidFill>
                <a:latin typeface="Times New Roman" pitchFamily="18" charset="0"/>
                <a:cs typeface="Times New Roman" pitchFamily="18" charset="0"/>
              </a:rPr>
              <a:t>0</a:t>
            </a:r>
            <a:r>
              <a:rPr lang="zh-CN" altLang="en-US" sz="2800" b="1" i="1" baseline="-25000">
                <a:solidFill>
                  <a:srgbClr val="FF0000"/>
                </a:solidFill>
                <a:latin typeface="Times New Roman" pitchFamily="18" charset="0"/>
                <a:cs typeface="Times New Roman" pitchFamily="18" charset="0"/>
              </a:rPr>
              <a:t> </a:t>
            </a:r>
            <a:r>
              <a:rPr lang="zh-CN" altLang="en-US" sz="2800" b="1">
                <a:latin typeface="宋体" pitchFamily="2" charset="-122"/>
              </a:rPr>
              <a:t>的函数。</a:t>
            </a:r>
          </a:p>
        </p:txBody>
      </p:sp>
      <p:sp>
        <p:nvSpPr>
          <p:cNvPr id="16" name="圆角矩形标注 15"/>
          <p:cNvSpPr/>
          <p:nvPr/>
        </p:nvSpPr>
        <p:spPr>
          <a:xfrm>
            <a:off x="8286750" y="3714750"/>
            <a:ext cx="642938" cy="571500"/>
          </a:xfrm>
          <a:prstGeom prst="wedgeRoundRectCallout">
            <a:avLst>
              <a:gd name="adj1" fmla="val -82596"/>
              <a:gd name="adj2" fmla="val -15156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r>
              <a:rPr lang="en-US" altLang="zh-CN" sz="2800" b="1" i="1" dirty="0">
                <a:solidFill>
                  <a:srgbClr val="FF0000"/>
                </a:solidFill>
                <a:latin typeface="Times New Roman" pitchFamily="18" charset="0"/>
                <a:cs typeface="Times New Roman" pitchFamily="18" charset="0"/>
              </a:rPr>
              <a:t>S</a:t>
            </a:r>
            <a:r>
              <a:rPr lang="en-US" altLang="zh-CN" sz="2800" b="1" i="1" baseline="-25000" dirty="0">
                <a:solidFill>
                  <a:srgbClr val="FF0000"/>
                </a:solidFill>
                <a:latin typeface="Times New Roman" pitchFamily="18" charset="0"/>
                <a:cs typeface="Times New Roman" pitchFamily="18" charset="0"/>
              </a:rPr>
              <a:t>0</a:t>
            </a:r>
            <a:endParaRPr lang="zh-CN" altLang="en-US" sz="2800" b="1" dirty="0">
              <a:solidFill>
                <a:srgbClr val="0000CC"/>
              </a:solidFill>
              <a:latin typeface="Verdana"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流程图: 可选过程 17"/>
          <p:cNvSpPr/>
          <p:nvPr/>
        </p:nvSpPr>
        <p:spPr>
          <a:xfrm>
            <a:off x="428625" y="4357688"/>
            <a:ext cx="8501063" cy="2214562"/>
          </a:xfrm>
          <a:prstGeom prst="flowChartAlternateProcess">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流程图: 可选过程 16"/>
          <p:cNvSpPr/>
          <p:nvPr/>
        </p:nvSpPr>
        <p:spPr>
          <a:xfrm>
            <a:off x="428625" y="2571750"/>
            <a:ext cx="8501063" cy="1714500"/>
          </a:xfrm>
          <a:prstGeom prst="flowChartAlternateProcess">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79"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3074" name="Object 9"/>
          <p:cNvGraphicFramePr>
            <a:graphicFrameLocks noGrp="1" noChangeAspect="1"/>
          </p:cNvGraphicFramePr>
          <p:nvPr>
            <p:ph sz="half" idx="1"/>
          </p:nvPr>
        </p:nvGraphicFramePr>
        <p:xfrm>
          <a:off x="5929313" y="2643188"/>
          <a:ext cx="2746375" cy="1357312"/>
        </p:xfrm>
        <a:graphic>
          <a:graphicData uri="http://schemas.openxmlformats.org/presentationml/2006/ole">
            <p:oleObj spid="_x0000_s3074" name="Image" r:id="rId3" imgW="13822041" imgH="6827755" progId="">
              <p:embed/>
            </p:oleObj>
          </a:graphicData>
        </a:graphic>
      </p:graphicFrame>
      <p:sp>
        <p:nvSpPr>
          <p:cNvPr id="3081" name="Text Box 21"/>
          <p:cNvSpPr txBox="1">
            <a:spLocks noChangeArrowheads="1"/>
          </p:cNvSpPr>
          <p:nvPr/>
        </p:nvSpPr>
        <p:spPr bwMode="auto">
          <a:xfrm>
            <a:off x="285750" y="2714625"/>
            <a:ext cx="5500688" cy="1592263"/>
          </a:xfrm>
          <a:prstGeom prst="rect">
            <a:avLst/>
          </a:prstGeom>
          <a:noFill/>
          <a:ln w="9525">
            <a:noFill/>
            <a:miter lim="800000"/>
            <a:headEnd/>
            <a:tailEnd/>
          </a:ln>
        </p:spPr>
        <p:txBody>
          <a:bodyPr>
            <a:spAutoFit/>
          </a:bodyPr>
          <a:lstStyle/>
          <a:p>
            <a:pPr marL="179388" lvl="1" indent="-6350">
              <a:lnSpc>
                <a:spcPct val="90000"/>
              </a:lnSpc>
              <a:spcBef>
                <a:spcPct val="20000"/>
              </a:spcBef>
              <a:buClr>
                <a:schemeClr val="folHlink"/>
              </a:buClr>
              <a:buSzPct val="70000"/>
              <a:buFont typeface="Wingdings" pitchFamily="2" charset="2"/>
              <a:buNone/>
            </a:pPr>
            <a:r>
              <a:rPr lang="zh-CN" altLang="en-US" sz="2800" b="1">
                <a:solidFill>
                  <a:srgbClr val="CC0066"/>
                </a:solidFill>
                <a:sym typeface="Symbol" pitchFamily="18" charset="2"/>
              </a:rPr>
              <a:t>变气隙型：</a:t>
            </a:r>
            <a:endParaRPr lang="en-US" altLang="zh-CN" sz="2800" b="1">
              <a:solidFill>
                <a:srgbClr val="CC0066"/>
              </a:solidFill>
              <a:sym typeface="Symbol" pitchFamily="18" charset="2"/>
            </a:endParaRPr>
          </a:p>
          <a:p>
            <a:pPr marL="179388" lvl="1" indent="-6350">
              <a:lnSpc>
                <a:spcPts val="4000"/>
              </a:lnSpc>
              <a:spcBef>
                <a:spcPct val="20000"/>
              </a:spcBef>
              <a:buClr>
                <a:schemeClr val="folHlink"/>
              </a:buClr>
              <a:buSzPct val="70000"/>
              <a:buFont typeface="Wingdings" pitchFamily="2" charset="2"/>
              <a:buNone/>
            </a:pPr>
            <a:r>
              <a:rPr lang="zh-CN" altLang="en-US" sz="2800" b="1">
                <a:solidFill>
                  <a:srgbClr val="CC0066"/>
                </a:solidFill>
                <a:latin typeface="宋体" pitchFamily="2" charset="-122"/>
                <a:sym typeface="Symbol" pitchFamily="18" charset="2"/>
              </a:rPr>
              <a:t>   </a:t>
            </a:r>
            <a:r>
              <a:rPr lang="zh-CN" altLang="en-US" sz="2800" b="1">
                <a:latin typeface="宋体" pitchFamily="2" charset="-122"/>
              </a:rPr>
              <a:t>保持 </a:t>
            </a:r>
            <a:r>
              <a:rPr lang="en-US" altLang="zh-CN" sz="2800" b="1" i="1">
                <a:solidFill>
                  <a:srgbClr val="FF0000"/>
                </a:solidFill>
                <a:latin typeface="Times New Roman" pitchFamily="18" charset="0"/>
              </a:rPr>
              <a:t>S</a:t>
            </a:r>
            <a:r>
              <a:rPr lang="en-US" altLang="zh-CN" sz="2800" b="1" baseline="-25000">
                <a:solidFill>
                  <a:srgbClr val="FF0000"/>
                </a:solidFill>
                <a:latin typeface="Times New Roman" pitchFamily="18" charset="0"/>
              </a:rPr>
              <a:t>0</a:t>
            </a:r>
            <a:r>
              <a:rPr lang="zh-CN" altLang="en-US" sz="2800" b="1">
                <a:latin typeface="Times New Roman" pitchFamily="18" charset="0"/>
              </a:rPr>
              <a:t>不变，</a:t>
            </a:r>
            <a:r>
              <a:rPr lang="en-US" altLang="zh-CN" sz="2800" b="1" i="1">
                <a:solidFill>
                  <a:srgbClr val="FF0000"/>
                </a:solidFill>
                <a:latin typeface="Times New Roman" pitchFamily="18" charset="0"/>
              </a:rPr>
              <a:t>L</a:t>
            </a:r>
            <a:r>
              <a:rPr lang="en-US" altLang="zh-CN" sz="2800" b="1">
                <a:latin typeface="Times New Roman" pitchFamily="18" charset="0"/>
              </a:rPr>
              <a:t> </a:t>
            </a:r>
            <a:r>
              <a:rPr lang="zh-CN" altLang="en-US" sz="2800" b="1">
                <a:latin typeface="Times New Roman" pitchFamily="18" charset="0"/>
              </a:rPr>
              <a:t>为 </a:t>
            </a:r>
            <a:r>
              <a:rPr lang="en-US" altLang="zh-CN" sz="2800" b="1" i="1">
                <a:solidFill>
                  <a:srgbClr val="FF0000"/>
                </a:solidFill>
                <a:latin typeface="Times New Roman" pitchFamily="18" charset="0"/>
                <a:sym typeface="Symbol" pitchFamily="18" charset="2"/>
              </a:rPr>
              <a:t>l</a:t>
            </a:r>
            <a:r>
              <a:rPr lang="en-US" altLang="zh-CN" sz="2800" b="1" baseline="-25000">
                <a:solidFill>
                  <a:srgbClr val="FF0000"/>
                </a:solidFill>
              </a:rPr>
              <a:t>0</a:t>
            </a:r>
            <a:r>
              <a:rPr lang="en-US" altLang="zh-CN" sz="2800" b="1">
                <a:solidFill>
                  <a:srgbClr val="FF0000"/>
                </a:solidFill>
                <a:latin typeface="Times New Roman" pitchFamily="18" charset="0"/>
                <a:sym typeface="Symbol" pitchFamily="18" charset="2"/>
              </a:rPr>
              <a:t> </a:t>
            </a:r>
            <a:r>
              <a:rPr lang="zh-CN" altLang="en-US" sz="2800" b="1">
                <a:latin typeface="Times New Roman" pitchFamily="18" charset="0"/>
                <a:sym typeface="Symbol" pitchFamily="18" charset="2"/>
              </a:rPr>
              <a:t>的单值函数；</a:t>
            </a:r>
          </a:p>
        </p:txBody>
      </p:sp>
      <p:graphicFrame>
        <p:nvGraphicFramePr>
          <p:cNvPr id="3075" name="Object 11"/>
          <p:cNvGraphicFramePr>
            <a:graphicFrameLocks noGrp="1" noChangeAspect="1"/>
          </p:cNvGraphicFramePr>
          <p:nvPr/>
        </p:nvGraphicFramePr>
        <p:xfrm>
          <a:off x="3286125" y="1571625"/>
          <a:ext cx="2414588" cy="857250"/>
        </p:xfrm>
        <a:graphic>
          <a:graphicData uri="http://schemas.openxmlformats.org/presentationml/2006/ole">
            <p:oleObj spid="_x0000_s3075" name="图像文档" r:id="rId4" imgW="1581120" imgH="561960" progId="">
              <p:embed/>
            </p:oleObj>
          </a:graphicData>
        </a:graphic>
      </p:graphicFrame>
      <p:sp>
        <p:nvSpPr>
          <p:cNvPr id="13" name="Text Box 21"/>
          <p:cNvSpPr txBox="1">
            <a:spLocks noChangeArrowheads="1"/>
          </p:cNvSpPr>
          <p:nvPr/>
        </p:nvSpPr>
        <p:spPr bwMode="auto">
          <a:xfrm>
            <a:off x="285750" y="4429125"/>
            <a:ext cx="3857625" cy="1543050"/>
          </a:xfrm>
          <a:prstGeom prst="rect">
            <a:avLst/>
          </a:prstGeom>
          <a:noFill/>
          <a:ln w="9525">
            <a:noFill/>
            <a:miter lim="800000"/>
            <a:headEnd/>
            <a:tailEnd/>
          </a:ln>
        </p:spPr>
        <p:txBody>
          <a:bodyPr>
            <a:spAutoFit/>
          </a:bodyPr>
          <a:lstStyle/>
          <a:p>
            <a:pPr marL="179388" lvl="1" indent="-6350">
              <a:lnSpc>
                <a:spcPct val="90000"/>
              </a:lnSpc>
              <a:spcBef>
                <a:spcPct val="20000"/>
              </a:spcBef>
              <a:buClr>
                <a:schemeClr val="folHlink"/>
              </a:buClr>
              <a:buSzPct val="70000"/>
              <a:buFont typeface="Wingdings" pitchFamily="2" charset="2"/>
              <a:buNone/>
            </a:pPr>
            <a:r>
              <a:rPr lang="zh-CN" altLang="en-US" sz="2800" b="1">
                <a:solidFill>
                  <a:srgbClr val="CC0066"/>
                </a:solidFill>
                <a:sym typeface="Symbol" pitchFamily="18" charset="2"/>
              </a:rPr>
              <a:t>变</a:t>
            </a:r>
            <a:r>
              <a:rPr lang="zh-CN" altLang="en-US" sz="2800" b="1">
                <a:solidFill>
                  <a:srgbClr val="CC0066"/>
                </a:solidFill>
              </a:rPr>
              <a:t>截面</a:t>
            </a:r>
            <a:r>
              <a:rPr lang="zh-CN" altLang="en-US" sz="2800" b="1">
                <a:solidFill>
                  <a:srgbClr val="CC0066"/>
                </a:solidFill>
                <a:sym typeface="Symbol" pitchFamily="18" charset="2"/>
              </a:rPr>
              <a:t>型：</a:t>
            </a:r>
            <a:endParaRPr lang="en-US" altLang="zh-CN" sz="2800" b="1">
              <a:solidFill>
                <a:srgbClr val="CC0066"/>
              </a:solidFill>
              <a:sym typeface="Symbol" pitchFamily="18" charset="2"/>
            </a:endParaRPr>
          </a:p>
          <a:p>
            <a:pPr marL="179388" lvl="1" indent="-6350">
              <a:lnSpc>
                <a:spcPts val="4000"/>
              </a:lnSpc>
              <a:spcBef>
                <a:spcPct val="20000"/>
              </a:spcBef>
              <a:buClr>
                <a:schemeClr val="folHlink"/>
              </a:buClr>
              <a:buSzPct val="70000"/>
              <a:buFont typeface="Wingdings" pitchFamily="2" charset="2"/>
              <a:buNone/>
            </a:pPr>
            <a:r>
              <a:rPr lang="zh-CN" altLang="en-US" sz="2800" b="1">
                <a:solidFill>
                  <a:srgbClr val="CC0066"/>
                </a:solidFill>
                <a:latin typeface="Times New Roman" pitchFamily="18" charset="0"/>
                <a:sym typeface="Symbol" pitchFamily="18" charset="2"/>
              </a:rPr>
              <a:t>   </a:t>
            </a:r>
            <a:r>
              <a:rPr lang="zh-CN" altLang="en-US" sz="2800" b="1">
                <a:latin typeface="Times New Roman" pitchFamily="18" charset="0"/>
              </a:rPr>
              <a:t>保持 </a:t>
            </a:r>
            <a:r>
              <a:rPr lang="en-US" altLang="zh-CN" sz="2800" b="1" i="1">
                <a:solidFill>
                  <a:srgbClr val="FF0000"/>
                </a:solidFill>
                <a:latin typeface="Times New Roman" pitchFamily="18" charset="0"/>
                <a:sym typeface="Symbol" pitchFamily="18" charset="2"/>
              </a:rPr>
              <a:t>l</a:t>
            </a:r>
            <a:r>
              <a:rPr lang="en-US" altLang="zh-CN" sz="2800" b="1" baseline="-25000">
                <a:solidFill>
                  <a:srgbClr val="FF0000"/>
                </a:solidFill>
              </a:rPr>
              <a:t>0</a:t>
            </a:r>
            <a:r>
              <a:rPr lang="en-US" altLang="zh-CN" sz="2800" b="1">
                <a:solidFill>
                  <a:srgbClr val="FF0000"/>
                </a:solidFill>
                <a:latin typeface="Times New Roman" pitchFamily="18" charset="0"/>
              </a:rPr>
              <a:t> </a:t>
            </a:r>
            <a:r>
              <a:rPr lang="zh-CN" altLang="en-US" sz="2800" b="1">
                <a:latin typeface="Times New Roman" pitchFamily="18" charset="0"/>
              </a:rPr>
              <a:t>不变， </a:t>
            </a:r>
            <a:r>
              <a:rPr lang="en-US" altLang="zh-CN" sz="2800" b="1" i="1">
                <a:solidFill>
                  <a:srgbClr val="FF0000"/>
                </a:solidFill>
                <a:latin typeface="Times New Roman" pitchFamily="18" charset="0"/>
              </a:rPr>
              <a:t>L</a:t>
            </a:r>
            <a:r>
              <a:rPr lang="en-US" altLang="zh-CN" sz="2800" b="1">
                <a:latin typeface="Times New Roman" pitchFamily="18" charset="0"/>
              </a:rPr>
              <a:t> </a:t>
            </a:r>
            <a:r>
              <a:rPr lang="zh-CN" altLang="en-US" sz="2800" b="1">
                <a:latin typeface="Times New Roman" pitchFamily="18" charset="0"/>
              </a:rPr>
              <a:t>为 </a:t>
            </a:r>
            <a:r>
              <a:rPr lang="en-US" altLang="zh-CN" sz="2800" b="1" i="1">
                <a:solidFill>
                  <a:srgbClr val="FF0000"/>
                </a:solidFill>
                <a:latin typeface="Times New Roman" pitchFamily="18" charset="0"/>
              </a:rPr>
              <a:t>S</a:t>
            </a:r>
            <a:r>
              <a:rPr lang="en-US" altLang="zh-CN" sz="2800" b="1" baseline="-25000">
                <a:solidFill>
                  <a:srgbClr val="FF0000"/>
                </a:solidFill>
                <a:latin typeface="Times New Roman" pitchFamily="18" charset="0"/>
              </a:rPr>
              <a:t>0</a:t>
            </a:r>
            <a:r>
              <a:rPr lang="en-US" altLang="zh-CN" sz="2800" b="1">
                <a:latin typeface="Times New Roman" pitchFamily="18" charset="0"/>
              </a:rPr>
              <a:t> </a:t>
            </a:r>
            <a:r>
              <a:rPr lang="zh-CN" altLang="en-US" sz="2800" b="1">
                <a:latin typeface="Times New Roman" pitchFamily="18" charset="0"/>
                <a:sym typeface="Symbol" pitchFamily="18" charset="2"/>
              </a:rPr>
              <a:t>的单值函数；</a:t>
            </a:r>
          </a:p>
        </p:txBody>
      </p:sp>
      <p:graphicFrame>
        <p:nvGraphicFramePr>
          <p:cNvPr id="3076" name="Object 23"/>
          <p:cNvGraphicFramePr>
            <a:graphicFrameLocks noGrp="1" noChangeAspect="1"/>
          </p:cNvGraphicFramePr>
          <p:nvPr/>
        </p:nvGraphicFramePr>
        <p:xfrm>
          <a:off x="4357688" y="4429125"/>
          <a:ext cx="4083050" cy="2149475"/>
        </p:xfrm>
        <a:graphic>
          <a:graphicData uri="http://schemas.openxmlformats.org/presentationml/2006/ole">
            <p:oleObj spid="_x0000_s3076" name="Image" r:id="rId5" imgW="25224490" imgH="13283265"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76"/>
                                        </p:tgtEl>
                                        <p:attrNameLst>
                                          <p:attrName>style.visibility</p:attrName>
                                        </p:attrNameLst>
                                      </p:cBhvr>
                                      <p:to>
                                        <p:strVal val="visible"/>
                                      </p:to>
                                    </p:set>
                                    <p:animEffect transition="in" filter="blinds(horizontal)">
                                      <p:cBhvr>
                                        <p:cTn id="17"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流程图: 可选过程 16"/>
          <p:cNvSpPr/>
          <p:nvPr/>
        </p:nvSpPr>
        <p:spPr>
          <a:xfrm>
            <a:off x="428625" y="1643063"/>
            <a:ext cx="8501063" cy="5000625"/>
          </a:xfrm>
          <a:prstGeom prst="flowChartAlternateProcess">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100"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4102" name="Text Box 21"/>
          <p:cNvSpPr txBox="1">
            <a:spLocks noChangeArrowheads="1"/>
          </p:cNvSpPr>
          <p:nvPr/>
        </p:nvSpPr>
        <p:spPr bwMode="auto">
          <a:xfrm>
            <a:off x="642938" y="1714500"/>
            <a:ext cx="4500562" cy="4670425"/>
          </a:xfrm>
          <a:prstGeom prst="rect">
            <a:avLst/>
          </a:prstGeom>
          <a:noFill/>
          <a:ln w="9525">
            <a:noFill/>
            <a:miter lim="800000"/>
            <a:headEnd/>
            <a:tailEnd/>
          </a:ln>
        </p:spPr>
        <p:txBody>
          <a:bodyPr>
            <a:spAutoFit/>
          </a:bodyPr>
          <a:lstStyle/>
          <a:p>
            <a:pPr marL="179388" lvl="1" indent="-6350">
              <a:lnSpc>
                <a:spcPct val="90000"/>
              </a:lnSpc>
              <a:spcBef>
                <a:spcPct val="20000"/>
              </a:spcBef>
              <a:buClr>
                <a:schemeClr val="folHlink"/>
              </a:buClr>
              <a:buSzPct val="70000"/>
              <a:buFont typeface="Wingdings" pitchFamily="2" charset="2"/>
              <a:buNone/>
            </a:pPr>
            <a:r>
              <a:rPr lang="zh-CN" altLang="en-US" sz="2800" b="1">
                <a:solidFill>
                  <a:srgbClr val="CC0066"/>
                </a:solidFill>
                <a:sym typeface="Symbol" pitchFamily="18" charset="2"/>
              </a:rPr>
              <a:t>螺线管型：</a:t>
            </a:r>
            <a:endParaRPr lang="en-US" altLang="zh-CN" sz="2800" b="1">
              <a:solidFill>
                <a:srgbClr val="CC0066"/>
              </a:solidFill>
              <a:sym typeface="Symbol" pitchFamily="18" charset="2"/>
            </a:endParaRPr>
          </a:p>
          <a:p>
            <a:pPr marL="179388" lvl="1" indent="-6350">
              <a:lnSpc>
                <a:spcPts val="4000"/>
              </a:lnSpc>
              <a:spcBef>
                <a:spcPct val="20000"/>
              </a:spcBef>
              <a:buClr>
                <a:schemeClr val="folHlink"/>
              </a:buClr>
              <a:buSzPct val="70000"/>
              <a:buFont typeface="Wingdings" pitchFamily="2" charset="2"/>
              <a:buNone/>
            </a:pPr>
            <a:r>
              <a:rPr lang="zh-CN" altLang="en-US" sz="2800" b="1">
                <a:latin typeface="Verdana" pitchFamily="34" charset="0"/>
              </a:rPr>
              <a:t>属于大气隙传感器，磁芯上下两端的空气隙可与侧气隙相比。磁通可认为由两部分组成，一部分经上下气隙闭合，称为主磁通，另一部分经过圆柱形磁芯侧面气隙闭合，称为侧磁通，又称漏磁通。</a:t>
            </a:r>
            <a:endParaRPr lang="zh-CN" altLang="en-US" sz="2800" b="1">
              <a:latin typeface="Times New Roman" pitchFamily="18" charset="0"/>
              <a:sym typeface="Symbol" pitchFamily="18" charset="2"/>
            </a:endParaRPr>
          </a:p>
        </p:txBody>
      </p:sp>
      <p:graphicFrame>
        <p:nvGraphicFramePr>
          <p:cNvPr id="4098" name="Object 3"/>
          <p:cNvGraphicFramePr>
            <a:graphicFrameLocks noChangeAspect="1"/>
          </p:cNvGraphicFramePr>
          <p:nvPr/>
        </p:nvGraphicFramePr>
        <p:xfrm>
          <a:off x="6199188" y="2532063"/>
          <a:ext cx="2343150" cy="2946400"/>
        </p:xfrm>
        <a:graphic>
          <a:graphicData uri="http://schemas.openxmlformats.org/presentationml/2006/ole">
            <p:oleObj spid="_x0000_s4098" name="Image" r:id="rId3" imgW="8907872" imgH="11195199" progId="Photoshop.Image.6">
              <p:embed/>
            </p:oleObj>
          </a:graphicData>
        </a:graphic>
      </p:graphicFrame>
      <p:sp>
        <p:nvSpPr>
          <p:cNvPr id="4103" name="Text Box 5"/>
          <p:cNvSpPr txBox="1">
            <a:spLocks noChangeArrowheads="1"/>
          </p:cNvSpPr>
          <p:nvPr/>
        </p:nvSpPr>
        <p:spPr bwMode="auto">
          <a:xfrm>
            <a:off x="5784850" y="4894263"/>
            <a:ext cx="1463675" cy="396875"/>
          </a:xfrm>
          <a:prstGeom prst="rect">
            <a:avLst/>
          </a:prstGeom>
          <a:noFill/>
          <a:ln w="9525">
            <a:noFill/>
            <a:miter lim="800000"/>
            <a:headEnd/>
            <a:tailEnd/>
          </a:ln>
        </p:spPr>
        <p:txBody>
          <a:bodyPr>
            <a:spAutoFit/>
          </a:bodyPr>
          <a:lstStyle/>
          <a:p>
            <a:r>
              <a:rPr lang="zh-CN" altLang="en-US" b="1">
                <a:solidFill>
                  <a:srgbClr val="FF0000"/>
                </a:solidFill>
                <a:latin typeface="Verdana" pitchFamily="34" charset="0"/>
              </a:rPr>
              <a:t>磁芯</a:t>
            </a:r>
          </a:p>
        </p:txBody>
      </p:sp>
      <p:sp>
        <p:nvSpPr>
          <p:cNvPr id="4104" name="Line 6"/>
          <p:cNvSpPr>
            <a:spLocks noChangeShapeType="1"/>
          </p:cNvSpPr>
          <p:nvPr/>
        </p:nvSpPr>
        <p:spPr bwMode="auto">
          <a:xfrm flipV="1">
            <a:off x="6318250" y="4208463"/>
            <a:ext cx="1066800" cy="838200"/>
          </a:xfrm>
          <a:prstGeom prst="line">
            <a:avLst/>
          </a:prstGeom>
          <a:noFill/>
          <a:ln w="9525">
            <a:solidFill>
              <a:srgbClr val="FF0000"/>
            </a:solidFill>
            <a:miter lim="800000"/>
            <a:headEnd/>
            <a:tailEnd type="triangle" w="med" len="med"/>
          </a:ln>
        </p:spPr>
        <p:txBody>
          <a:bodyPr wrap="none"/>
          <a:lstStyle/>
          <a:p>
            <a:endParaRPr lang="zh-CN" altLang="en-US"/>
          </a:p>
        </p:txBody>
      </p:sp>
      <p:sp>
        <p:nvSpPr>
          <p:cNvPr id="4105" name="Line 7"/>
          <p:cNvSpPr>
            <a:spLocks noChangeShapeType="1"/>
          </p:cNvSpPr>
          <p:nvPr/>
        </p:nvSpPr>
        <p:spPr bwMode="auto">
          <a:xfrm>
            <a:off x="6775450" y="3141663"/>
            <a:ext cx="76200" cy="1828800"/>
          </a:xfrm>
          <a:prstGeom prst="line">
            <a:avLst/>
          </a:prstGeom>
          <a:noFill/>
          <a:ln w="28575">
            <a:solidFill>
              <a:srgbClr val="FF0000"/>
            </a:solidFill>
            <a:miter lim="800000"/>
            <a:headEnd/>
            <a:tailEnd type="triangle" w="med" len="med"/>
          </a:ln>
        </p:spPr>
        <p:txBody>
          <a:bodyPr wrap="none"/>
          <a:lstStyle/>
          <a:p>
            <a:endParaRPr lang="zh-CN" altLang="en-US"/>
          </a:p>
        </p:txBody>
      </p:sp>
      <p:sp>
        <p:nvSpPr>
          <p:cNvPr id="4106" name="Line 8"/>
          <p:cNvSpPr>
            <a:spLocks noChangeShapeType="1"/>
          </p:cNvSpPr>
          <p:nvPr/>
        </p:nvSpPr>
        <p:spPr bwMode="auto">
          <a:xfrm>
            <a:off x="6851650" y="4970463"/>
            <a:ext cx="457200" cy="0"/>
          </a:xfrm>
          <a:prstGeom prst="line">
            <a:avLst/>
          </a:prstGeom>
          <a:noFill/>
          <a:ln w="28575">
            <a:solidFill>
              <a:srgbClr val="FF0000"/>
            </a:solidFill>
            <a:miter lim="800000"/>
            <a:headEnd/>
            <a:tailEnd/>
          </a:ln>
        </p:spPr>
        <p:txBody>
          <a:bodyPr wrap="none"/>
          <a:lstStyle/>
          <a:p>
            <a:endParaRPr lang="zh-CN" altLang="en-US"/>
          </a:p>
        </p:txBody>
      </p:sp>
      <p:sp>
        <p:nvSpPr>
          <p:cNvPr id="4107" name="Line 9"/>
          <p:cNvSpPr>
            <a:spLocks noChangeShapeType="1"/>
          </p:cNvSpPr>
          <p:nvPr/>
        </p:nvSpPr>
        <p:spPr bwMode="auto">
          <a:xfrm flipV="1">
            <a:off x="7308850" y="3141663"/>
            <a:ext cx="0" cy="1828800"/>
          </a:xfrm>
          <a:prstGeom prst="line">
            <a:avLst/>
          </a:prstGeom>
          <a:noFill/>
          <a:ln w="28575">
            <a:solidFill>
              <a:srgbClr val="FF0000"/>
            </a:solidFill>
            <a:miter lim="800000"/>
            <a:headEnd/>
            <a:tailEnd type="triangle" w="med" len="med"/>
          </a:ln>
        </p:spPr>
        <p:txBody>
          <a:bodyPr wrap="none"/>
          <a:lstStyle/>
          <a:p>
            <a:endParaRPr lang="zh-CN" altLang="en-US"/>
          </a:p>
        </p:txBody>
      </p:sp>
      <p:sp>
        <p:nvSpPr>
          <p:cNvPr id="4108" name="Line 10"/>
          <p:cNvSpPr>
            <a:spLocks noChangeShapeType="1"/>
          </p:cNvSpPr>
          <p:nvPr/>
        </p:nvSpPr>
        <p:spPr bwMode="auto">
          <a:xfrm flipH="1">
            <a:off x="6775450" y="3141663"/>
            <a:ext cx="533400" cy="0"/>
          </a:xfrm>
          <a:prstGeom prst="line">
            <a:avLst/>
          </a:prstGeom>
          <a:noFill/>
          <a:ln w="28575">
            <a:solidFill>
              <a:srgbClr val="FF0000"/>
            </a:solidFill>
            <a:miter lim="800000"/>
            <a:headEnd/>
            <a:tailEnd/>
          </a:ln>
        </p:spPr>
        <p:txBody>
          <a:bodyPr wrap="none"/>
          <a:lstStyle/>
          <a:p>
            <a:endParaRPr lang="zh-CN" altLang="en-US"/>
          </a:p>
        </p:txBody>
      </p:sp>
      <p:sp>
        <p:nvSpPr>
          <p:cNvPr id="4109" name="Line 11"/>
          <p:cNvSpPr>
            <a:spLocks noChangeShapeType="1"/>
          </p:cNvSpPr>
          <p:nvPr/>
        </p:nvSpPr>
        <p:spPr bwMode="auto">
          <a:xfrm flipV="1">
            <a:off x="7461250" y="3141663"/>
            <a:ext cx="0" cy="1828800"/>
          </a:xfrm>
          <a:prstGeom prst="line">
            <a:avLst/>
          </a:prstGeom>
          <a:noFill/>
          <a:ln w="28575">
            <a:solidFill>
              <a:srgbClr val="FF0000"/>
            </a:solidFill>
            <a:miter lim="800000"/>
            <a:headEnd/>
            <a:tailEnd type="triangle" w="med" len="med"/>
          </a:ln>
        </p:spPr>
        <p:txBody>
          <a:bodyPr wrap="none"/>
          <a:lstStyle/>
          <a:p>
            <a:endParaRPr lang="zh-CN" altLang="en-US"/>
          </a:p>
        </p:txBody>
      </p:sp>
      <p:sp>
        <p:nvSpPr>
          <p:cNvPr id="4110" name="Line 12"/>
          <p:cNvSpPr>
            <a:spLocks noChangeShapeType="1"/>
          </p:cNvSpPr>
          <p:nvPr/>
        </p:nvSpPr>
        <p:spPr bwMode="auto">
          <a:xfrm>
            <a:off x="7918450" y="3141663"/>
            <a:ext cx="0" cy="1828800"/>
          </a:xfrm>
          <a:prstGeom prst="line">
            <a:avLst/>
          </a:prstGeom>
          <a:noFill/>
          <a:ln w="28575">
            <a:solidFill>
              <a:srgbClr val="FF0000"/>
            </a:solidFill>
            <a:miter lim="800000"/>
            <a:headEnd/>
            <a:tailEnd type="triangle" w="med" len="med"/>
          </a:ln>
        </p:spPr>
        <p:txBody>
          <a:bodyPr wrap="none"/>
          <a:lstStyle/>
          <a:p>
            <a:endParaRPr lang="zh-CN" altLang="en-US"/>
          </a:p>
        </p:txBody>
      </p:sp>
      <p:sp>
        <p:nvSpPr>
          <p:cNvPr id="4111" name="Line 13"/>
          <p:cNvSpPr>
            <a:spLocks noChangeShapeType="1"/>
          </p:cNvSpPr>
          <p:nvPr/>
        </p:nvSpPr>
        <p:spPr bwMode="auto">
          <a:xfrm flipH="1">
            <a:off x="7461250" y="4970463"/>
            <a:ext cx="457200" cy="0"/>
          </a:xfrm>
          <a:prstGeom prst="line">
            <a:avLst/>
          </a:prstGeom>
          <a:noFill/>
          <a:ln w="28575">
            <a:solidFill>
              <a:srgbClr val="FF0000"/>
            </a:solidFill>
            <a:miter lim="800000"/>
            <a:headEnd/>
            <a:tailEnd/>
          </a:ln>
        </p:spPr>
        <p:txBody>
          <a:bodyPr wrap="none"/>
          <a:lstStyle/>
          <a:p>
            <a:endParaRPr lang="zh-CN" altLang="en-US"/>
          </a:p>
        </p:txBody>
      </p:sp>
      <p:sp>
        <p:nvSpPr>
          <p:cNvPr id="4112" name="Line 14"/>
          <p:cNvSpPr>
            <a:spLocks noChangeShapeType="1"/>
          </p:cNvSpPr>
          <p:nvPr/>
        </p:nvSpPr>
        <p:spPr bwMode="auto">
          <a:xfrm>
            <a:off x="7461250" y="3141663"/>
            <a:ext cx="457200" cy="0"/>
          </a:xfrm>
          <a:prstGeom prst="line">
            <a:avLst/>
          </a:prstGeom>
          <a:noFill/>
          <a:ln w="28575">
            <a:solidFill>
              <a:srgbClr val="FF0000"/>
            </a:solidFill>
            <a:miter lim="800000"/>
            <a:headEnd/>
            <a:tailEnd/>
          </a:ln>
        </p:spPr>
        <p:txBody>
          <a:bodyPr wrap="none"/>
          <a:lstStyle/>
          <a:p>
            <a:endParaRPr lang="zh-CN" altLang="en-US"/>
          </a:p>
        </p:txBody>
      </p:sp>
      <p:sp>
        <p:nvSpPr>
          <p:cNvPr id="4113" name="Line 15"/>
          <p:cNvSpPr>
            <a:spLocks noChangeShapeType="1"/>
          </p:cNvSpPr>
          <p:nvPr/>
        </p:nvSpPr>
        <p:spPr bwMode="auto">
          <a:xfrm>
            <a:off x="7537450" y="3675063"/>
            <a:ext cx="0" cy="762000"/>
          </a:xfrm>
          <a:prstGeom prst="line">
            <a:avLst/>
          </a:prstGeom>
          <a:noFill/>
          <a:ln w="28575">
            <a:solidFill>
              <a:srgbClr val="FF9933"/>
            </a:solidFill>
            <a:miter lim="800000"/>
            <a:headEnd/>
            <a:tailEnd/>
          </a:ln>
        </p:spPr>
        <p:txBody>
          <a:bodyPr wrap="none"/>
          <a:lstStyle/>
          <a:p>
            <a:endParaRPr lang="zh-CN" altLang="en-US"/>
          </a:p>
        </p:txBody>
      </p:sp>
      <p:sp>
        <p:nvSpPr>
          <p:cNvPr id="4114" name="Line 16"/>
          <p:cNvSpPr>
            <a:spLocks noChangeShapeType="1"/>
          </p:cNvSpPr>
          <p:nvPr/>
        </p:nvSpPr>
        <p:spPr bwMode="auto">
          <a:xfrm>
            <a:off x="7537450" y="3675063"/>
            <a:ext cx="457200" cy="0"/>
          </a:xfrm>
          <a:prstGeom prst="line">
            <a:avLst/>
          </a:prstGeom>
          <a:noFill/>
          <a:ln w="28575">
            <a:solidFill>
              <a:srgbClr val="FF9933"/>
            </a:solidFill>
            <a:miter lim="800000"/>
            <a:headEnd/>
            <a:tailEnd type="triangle" w="med" len="med"/>
          </a:ln>
        </p:spPr>
        <p:txBody>
          <a:bodyPr wrap="none"/>
          <a:lstStyle/>
          <a:p>
            <a:endParaRPr lang="zh-CN" altLang="en-US"/>
          </a:p>
        </p:txBody>
      </p:sp>
      <p:sp>
        <p:nvSpPr>
          <p:cNvPr id="4115" name="Line 17"/>
          <p:cNvSpPr>
            <a:spLocks noChangeShapeType="1"/>
          </p:cNvSpPr>
          <p:nvPr/>
        </p:nvSpPr>
        <p:spPr bwMode="auto">
          <a:xfrm flipH="1">
            <a:off x="7537450" y="4437063"/>
            <a:ext cx="457200" cy="0"/>
          </a:xfrm>
          <a:prstGeom prst="line">
            <a:avLst/>
          </a:prstGeom>
          <a:noFill/>
          <a:ln w="28575">
            <a:solidFill>
              <a:srgbClr val="FF9933"/>
            </a:solidFill>
            <a:miter lim="800000"/>
            <a:headEnd/>
            <a:tailEnd type="triangle" w="med" len="med"/>
          </a:ln>
        </p:spPr>
        <p:txBody>
          <a:bodyPr wrap="none"/>
          <a:lstStyle/>
          <a:p>
            <a:endParaRPr lang="zh-CN" altLang="en-US"/>
          </a:p>
        </p:txBody>
      </p:sp>
      <p:sp>
        <p:nvSpPr>
          <p:cNvPr id="4116" name="Line 18"/>
          <p:cNvSpPr>
            <a:spLocks noChangeShapeType="1"/>
          </p:cNvSpPr>
          <p:nvPr/>
        </p:nvSpPr>
        <p:spPr bwMode="auto">
          <a:xfrm>
            <a:off x="7994650" y="3675063"/>
            <a:ext cx="0" cy="762000"/>
          </a:xfrm>
          <a:prstGeom prst="line">
            <a:avLst/>
          </a:prstGeom>
          <a:noFill/>
          <a:ln w="28575">
            <a:solidFill>
              <a:srgbClr val="FF9933"/>
            </a:solidFill>
            <a:miter lim="800000"/>
            <a:headEnd/>
            <a:tailEnd/>
          </a:ln>
        </p:spPr>
        <p:txBody>
          <a:bodyPr wrap="none"/>
          <a:lstStyle/>
          <a:p>
            <a:endParaRPr lang="zh-CN" altLang="en-US"/>
          </a:p>
        </p:txBody>
      </p:sp>
      <p:sp>
        <p:nvSpPr>
          <p:cNvPr id="4117" name="Line 19"/>
          <p:cNvSpPr>
            <a:spLocks noChangeShapeType="1"/>
          </p:cNvSpPr>
          <p:nvPr/>
        </p:nvSpPr>
        <p:spPr bwMode="auto">
          <a:xfrm flipV="1">
            <a:off x="7385050" y="3675063"/>
            <a:ext cx="0" cy="838200"/>
          </a:xfrm>
          <a:prstGeom prst="line">
            <a:avLst/>
          </a:prstGeom>
          <a:noFill/>
          <a:ln w="28575">
            <a:solidFill>
              <a:srgbClr val="FF9933"/>
            </a:solidFill>
            <a:miter lim="800000"/>
            <a:headEnd/>
            <a:tailEnd type="triangle" w="med" len="med"/>
          </a:ln>
        </p:spPr>
        <p:txBody>
          <a:bodyPr wrap="none"/>
          <a:lstStyle/>
          <a:p>
            <a:endParaRPr lang="zh-CN" altLang="en-US"/>
          </a:p>
        </p:txBody>
      </p:sp>
      <p:sp>
        <p:nvSpPr>
          <p:cNvPr id="4118" name="Line 20"/>
          <p:cNvSpPr>
            <a:spLocks noChangeShapeType="1"/>
          </p:cNvSpPr>
          <p:nvPr/>
        </p:nvSpPr>
        <p:spPr bwMode="auto">
          <a:xfrm>
            <a:off x="6851650" y="3751263"/>
            <a:ext cx="0" cy="762000"/>
          </a:xfrm>
          <a:prstGeom prst="line">
            <a:avLst/>
          </a:prstGeom>
          <a:noFill/>
          <a:ln w="28575">
            <a:solidFill>
              <a:srgbClr val="FF9933"/>
            </a:solidFill>
            <a:miter lim="800000"/>
            <a:headEnd/>
            <a:tailEnd type="triangle" w="med" len="med"/>
          </a:ln>
        </p:spPr>
        <p:txBody>
          <a:bodyPr wrap="none"/>
          <a:lstStyle/>
          <a:p>
            <a:endParaRPr lang="zh-CN" altLang="en-US"/>
          </a:p>
        </p:txBody>
      </p:sp>
      <p:sp>
        <p:nvSpPr>
          <p:cNvPr id="4119" name="Line 21"/>
          <p:cNvSpPr>
            <a:spLocks noChangeShapeType="1"/>
          </p:cNvSpPr>
          <p:nvPr/>
        </p:nvSpPr>
        <p:spPr bwMode="auto">
          <a:xfrm flipH="1">
            <a:off x="6851650" y="3675063"/>
            <a:ext cx="533400" cy="0"/>
          </a:xfrm>
          <a:prstGeom prst="line">
            <a:avLst/>
          </a:prstGeom>
          <a:noFill/>
          <a:ln w="28575">
            <a:solidFill>
              <a:srgbClr val="FF9933"/>
            </a:solidFill>
            <a:miter lim="800000"/>
            <a:headEnd/>
            <a:tailEnd/>
          </a:ln>
        </p:spPr>
        <p:txBody>
          <a:bodyPr wrap="none"/>
          <a:lstStyle/>
          <a:p>
            <a:endParaRPr lang="zh-CN" altLang="en-US"/>
          </a:p>
        </p:txBody>
      </p:sp>
      <p:sp>
        <p:nvSpPr>
          <p:cNvPr id="4120" name="Line 22"/>
          <p:cNvSpPr>
            <a:spLocks noChangeShapeType="1"/>
          </p:cNvSpPr>
          <p:nvPr/>
        </p:nvSpPr>
        <p:spPr bwMode="auto">
          <a:xfrm>
            <a:off x="6851650" y="4513263"/>
            <a:ext cx="533400" cy="0"/>
          </a:xfrm>
          <a:prstGeom prst="line">
            <a:avLst/>
          </a:prstGeom>
          <a:noFill/>
          <a:ln w="28575">
            <a:solidFill>
              <a:srgbClr val="FF9933"/>
            </a:solidFill>
            <a:miter lim="800000"/>
            <a:headEnd/>
            <a:tailEnd/>
          </a:ln>
        </p:spPr>
        <p:txBody>
          <a:bodyPr wrap="none"/>
          <a:lstStyle/>
          <a:p>
            <a:endParaRPr lang="zh-CN" altLang="en-US"/>
          </a:p>
        </p:txBody>
      </p:sp>
      <p:sp>
        <p:nvSpPr>
          <p:cNvPr id="4121" name="Text Box 23"/>
          <p:cNvSpPr txBox="1">
            <a:spLocks noChangeArrowheads="1"/>
          </p:cNvSpPr>
          <p:nvPr/>
        </p:nvSpPr>
        <p:spPr bwMode="auto">
          <a:xfrm>
            <a:off x="5692775" y="2455863"/>
            <a:ext cx="1082675" cy="396875"/>
          </a:xfrm>
          <a:prstGeom prst="rect">
            <a:avLst/>
          </a:prstGeom>
          <a:noFill/>
          <a:ln w="9525">
            <a:noFill/>
            <a:miter lim="800000"/>
            <a:headEnd/>
            <a:tailEnd/>
          </a:ln>
        </p:spPr>
        <p:txBody>
          <a:bodyPr>
            <a:spAutoFit/>
          </a:bodyPr>
          <a:lstStyle/>
          <a:p>
            <a:r>
              <a:rPr lang="zh-CN" altLang="en-US" b="1" dirty="0">
                <a:solidFill>
                  <a:srgbClr val="FF0000"/>
                </a:solidFill>
                <a:latin typeface="Verdana" pitchFamily="34" charset="0"/>
              </a:rPr>
              <a:t>主磁通</a:t>
            </a:r>
          </a:p>
        </p:txBody>
      </p:sp>
      <p:sp>
        <p:nvSpPr>
          <p:cNvPr id="4122" name="Line 24"/>
          <p:cNvSpPr>
            <a:spLocks noChangeShapeType="1"/>
          </p:cNvSpPr>
          <p:nvPr/>
        </p:nvSpPr>
        <p:spPr bwMode="auto">
          <a:xfrm>
            <a:off x="6546850" y="2608263"/>
            <a:ext cx="304800" cy="533400"/>
          </a:xfrm>
          <a:prstGeom prst="line">
            <a:avLst/>
          </a:prstGeom>
          <a:noFill/>
          <a:ln w="9525">
            <a:solidFill>
              <a:srgbClr val="FF0000"/>
            </a:solidFill>
            <a:miter lim="800000"/>
            <a:headEnd/>
            <a:tailEnd type="triangle" w="med" len="med"/>
          </a:ln>
        </p:spPr>
        <p:txBody>
          <a:bodyPr wrap="none"/>
          <a:lstStyle/>
          <a:p>
            <a:endParaRPr lang="zh-CN" altLang="en-US"/>
          </a:p>
        </p:txBody>
      </p:sp>
      <p:sp>
        <p:nvSpPr>
          <p:cNvPr id="4123" name="Text Box 25"/>
          <p:cNvSpPr txBox="1">
            <a:spLocks noChangeArrowheads="1"/>
          </p:cNvSpPr>
          <p:nvPr/>
        </p:nvSpPr>
        <p:spPr bwMode="auto">
          <a:xfrm>
            <a:off x="5403850" y="4284663"/>
            <a:ext cx="1082675" cy="396875"/>
          </a:xfrm>
          <a:prstGeom prst="rect">
            <a:avLst/>
          </a:prstGeom>
          <a:noFill/>
          <a:ln w="9525">
            <a:noFill/>
            <a:miter lim="800000"/>
            <a:headEnd/>
            <a:tailEnd/>
          </a:ln>
        </p:spPr>
        <p:txBody>
          <a:bodyPr>
            <a:spAutoFit/>
          </a:bodyPr>
          <a:lstStyle/>
          <a:p>
            <a:r>
              <a:rPr lang="zh-CN" altLang="en-US" b="1">
                <a:solidFill>
                  <a:srgbClr val="FF0000"/>
                </a:solidFill>
                <a:latin typeface="Verdana" pitchFamily="34" charset="0"/>
              </a:rPr>
              <a:t>侧磁通</a:t>
            </a:r>
          </a:p>
        </p:txBody>
      </p:sp>
      <p:sp>
        <p:nvSpPr>
          <p:cNvPr id="4124" name="Line 26"/>
          <p:cNvSpPr>
            <a:spLocks noChangeShapeType="1"/>
          </p:cNvSpPr>
          <p:nvPr/>
        </p:nvSpPr>
        <p:spPr bwMode="auto">
          <a:xfrm flipV="1">
            <a:off x="6242050" y="3751263"/>
            <a:ext cx="838200" cy="609600"/>
          </a:xfrm>
          <a:prstGeom prst="line">
            <a:avLst/>
          </a:prstGeom>
          <a:noFill/>
          <a:ln w="9525">
            <a:solidFill>
              <a:srgbClr val="FF0000"/>
            </a:solidFill>
            <a:miter lim="800000"/>
            <a:headEnd/>
            <a:tailEnd type="triangle" w="med" len="med"/>
          </a:ln>
        </p:spPr>
        <p:txBody>
          <a:bodyPr wrap="none"/>
          <a:lstStyle/>
          <a:p>
            <a:endParaRPr lang="zh-CN"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1508" name="Text Box 12"/>
          <p:cNvSpPr txBox="1">
            <a:spLocks noChangeArrowheads="1"/>
          </p:cNvSpPr>
          <p:nvPr/>
        </p:nvSpPr>
        <p:spPr bwMode="auto">
          <a:xfrm>
            <a:off x="214313" y="1643063"/>
            <a:ext cx="8643937" cy="946150"/>
          </a:xfrm>
          <a:prstGeom prst="rect">
            <a:avLst/>
          </a:prstGeom>
          <a:noFill/>
          <a:ln w="9525">
            <a:noFill/>
            <a:miter lim="800000"/>
            <a:headEnd/>
            <a:tailEnd/>
          </a:ln>
        </p:spPr>
        <p:txBody>
          <a:bodyPr>
            <a:spAutoFit/>
          </a:bodyPr>
          <a:lstStyle/>
          <a:p>
            <a:pPr indent="625475"/>
            <a:r>
              <a:rPr lang="zh-CN" altLang="en-US" sz="2800" b="1">
                <a:latin typeface="Verdana" pitchFamily="34" charset="0"/>
              </a:rPr>
              <a:t>单线圈传感器的线性差，实际使用时，多采用</a:t>
            </a:r>
            <a:r>
              <a:rPr lang="zh-CN" altLang="en-US" sz="2800" b="1">
                <a:solidFill>
                  <a:srgbClr val="FF0000"/>
                </a:solidFill>
                <a:latin typeface="Verdana" pitchFamily="34" charset="0"/>
              </a:rPr>
              <a:t>差动式</a:t>
            </a:r>
            <a:r>
              <a:rPr lang="zh-CN" altLang="en-US" sz="2800" b="1">
                <a:latin typeface="Verdana" pitchFamily="34" charset="0"/>
              </a:rPr>
              <a:t>。</a:t>
            </a:r>
          </a:p>
        </p:txBody>
      </p:sp>
      <p:sp>
        <p:nvSpPr>
          <p:cNvPr id="21509" name="Text Box 15"/>
          <p:cNvSpPr txBox="1">
            <a:spLocks noChangeArrowheads="1"/>
          </p:cNvSpPr>
          <p:nvPr/>
        </p:nvSpPr>
        <p:spPr bwMode="auto">
          <a:xfrm>
            <a:off x="214313" y="2571750"/>
            <a:ext cx="8429625" cy="954088"/>
          </a:xfrm>
          <a:prstGeom prst="rect">
            <a:avLst/>
          </a:prstGeom>
          <a:noFill/>
          <a:ln w="9525">
            <a:noFill/>
            <a:miter lim="800000"/>
            <a:headEnd/>
            <a:tailEnd/>
          </a:ln>
        </p:spPr>
        <p:txBody>
          <a:bodyPr>
            <a:spAutoFit/>
          </a:bodyPr>
          <a:lstStyle/>
          <a:p>
            <a:pPr indent="630238"/>
            <a:r>
              <a:rPr lang="zh-CN" altLang="en-US" sz="2800" b="1" dirty="0">
                <a:latin typeface="Verdana" pitchFamily="34" charset="0"/>
              </a:rPr>
              <a:t>当衔铁由平衡位置改变某个位移时，两个线圈中的一个电感量增加，另外一个则减少。</a:t>
            </a:r>
          </a:p>
        </p:txBody>
      </p:sp>
      <p:pic>
        <p:nvPicPr>
          <p:cNvPr id="21510" name="Picture 11"/>
          <p:cNvPicPr>
            <a:picLocks noGrp="1" noChangeAspect="1" noChangeArrowheads="1"/>
          </p:cNvPicPr>
          <p:nvPr>
            <p:ph idx="1"/>
          </p:nvPr>
        </p:nvPicPr>
        <p:blipFill>
          <a:blip r:embed="rId2"/>
          <a:srcRect/>
          <a:stretch>
            <a:fillRect/>
          </a:stretch>
        </p:blipFill>
        <p:spPr>
          <a:xfrm>
            <a:off x="3579813" y="3636963"/>
            <a:ext cx="4837112" cy="2419350"/>
          </a:xfrm>
        </p:spPr>
      </p:pic>
      <p:grpSp>
        <p:nvGrpSpPr>
          <p:cNvPr id="15" name="组合 14"/>
          <p:cNvGrpSpPr/>
          <p:nvPr/>
        </p:nvGrpSpPr>
        <p:grpSpPr>
          <a:xfrm>
            <a:off x="3571875" y="6027738"/>
            <a:ext cx="4730750" cy="830262"/>
            <a:chOff x="3571875" y="6027738"/>
            <a:chExt cx="4730750" cy="830262"/>
          </a:xfrm>
        </p:grpSpPr>
        <p:sp>
          <p:nvSpPr>
            <p:cNvPr id="21511" name="Text Box 13"/>
            <p:cNvSpPr txBox="1">
              <a:spLocks noChangeArrowheads="1"/>
            </p:cNvSpPr>
            <p:nvPr/>
          </p:nvSpPr>
          <p:spPr bwMode="auto">
            <a:xfrm>
              <a:off x="3571875" y="6027738"/>
              <a:ext cx="2714625" cy="830262"/>
            </a:xfrm>
            <a:prstGeom prst="rect">
              <a:avLst/>
            </a:prstGeom>
            <a:noFill/>
            <a:ln w="9525">
              <a:noFill/>
              <a:miter lim="800000"/>
              <a:headEnd/>
              <a:tailEnd/>
            </a:ln>
          </p:spPr>
          <p:txBody>
            <a:bodyPr>
              <a:spAutoFit/>
            </a:bodyPr>
            <a:lstStyle/>
            <a:p>
              <a:pPr algn="ctr"/>
              <a:r>
                <a:rPr lang="zh-CN" altLang="en-US" sz="2400" b="1" dirty="0">
                  <a:latin typeface="华文楷体" pitchFamily="2" charset="-122"/>
                  <a:ea typeface="华文楷体" pitchFamily="2" charset="-122"/>
                </a:rPr>
                <a:t>截面型</a:t>
              </a:r>
              <a:endParaRPr lang="en-US" altLang="zh-CN" sz="2400" b="1" dirty="0">
                <a:latin typeface="华文楷体" pitchFamily="2" charset="-122"/>
                <a:ea typeface="华文楷体" pitchFamily="2" charset="-122"/>
              </a:endParaRPr>
            </a:p>
            <a:p>
              <a:pPr algn="ctr"/>
              <a:r>
                <a:rPr lang="zh-CN" altLang="en-US" sz="2400" b="1" dirty="0">
                  <a:latin typeface="华文楷体" pitchFamily="2" charset="-122"/>
                  <a:ea typeface="华文楷体" pitchFamily="2" charset="-122"/>
                </a:rPr>
                <a:t>差动传感器</a:t>
              </a:r>
            </a:p>
          </p:txBody>
        </p:sp>
        <p:sp>
          <p:nvSpPr>
            <p:cNvPr id="21512" name="Text Box 14"/>
            <p:cNvSpPr txBox="1">
              <a:spLocks noChangeArrowheads="1"/>
            </p:cNvSpPr>
            <p:nvPr/>
          </p:nvSpPr>
          <p:spPr bwMode="auto">
            <a:xfrm>
              <a:off x="6286500" y="6027738"/>
              <a:ext cx="2016125" cy="830262"/>
            </a:xfrm>
            <a:prstGeom prst="rect">
              <a:avLst/>
            </a:prstGeom>
            <a:noFill/>
            <a:ln w="9525">
              <a:noFill/>
              <a:miter lim="800000"/>
              <a:headEnd/>
              <a:tailEnd/>
            </a:ln>
          </p:spPr>
          <p:txBody>
            <a:bodyPr>
              <a:spAutoFit/>
            </a:bodyPr>
            <a:lstStyle/>
            <a:p>
              <a:pPr algn="ctr"/>
              <a:r>
                <a:rPr lang="zh-CN" altLang="en-US" sz="2400" b="1" dirty="0">
                  <a:latin typeface="华文楷体" pitchFamily="2" charset="-122"/>
                  <a:ea typeface="华文楷体" pitchFamily="2" charset="-122"/>
                </a:rPr>
                <a:t>气隙型</a:t>
              </a:r>
              <a:endParaRPr lang="en-US" altLang="zh-CN" sz="2400" b="1" dirty="0">
                <a:latin typeface="华文楷体" pitchFamily="2" charset="-122"/>
                <a:ea typeface="华文楷体" pitchFamily="2" charset="-122"/>
              </a:endParaRPr>
            </a:p>
            <a:p>
              <a:pPr algn="ctr"/>
              <a:r>
                <a:rPr lang="zh-CN" altLang="en-US" sz="2400" b="1" dirty="0">
                  <a:latin typeface="华文楷体" pitchFamily="2" charset="-122"/>
                  <a:ea typeface="华文楷体" pitchFamily="2" charset="-122"/>
                </a:rPr>
                <a:t>差动传感器</a:t>
              </a:r>
            </a:p>
          </p:txBody>
        </p:sp>
      </p:grpSp>
      <p:grpSp>
        <p:nvGrpSpPr>
          <p:cNvPr id="14" name="组合 13"/>
          <p:cNvGrpSpPr/>
          <p:nvPr/>
        </p:nvGrpSpPr>
        <p:grpSpPr>
          <a:xfrm>
            <a:off x="285750" y="4429125"/>
            <a:ext cx="6965950" cy="1744663"/>
            <a:chOff x="285750" y="4429125"/>
            <a:chExt cx="6965950" cy="1744663"/>
          </a:xfrm>
        </p:grpSpPr>
        <p:sp>
          <p:nvSpPr>
            <p:cNvPr id="21513" name="Text Box 16"/>
            <p:cNvSpPr txBox="1">
              <a:spLocks noChangeArrowheads="1"/>
            </p:cNvSpPr>
            <p:nvPr/>
          </p:nvSpPr>
          <p:spPr bwMode="auto">
            <a:xfrm>
              <a:off x="285750" y="4789488"/>
              <a:ext cx="3071813" cy="1384300"/>
            </a:xfrm>
            <a:prstGeom prst="rect">
              <a:avLst/>
            </a:prstGeom>
            <a:solidFill>
              <a:srgbClr val="92D050"/>
            </a:solidFill>
            <a:ln w="9525" algn="ctr">
              <a:noFill/>
              <a:miter lim="800000"/>
              <a:headEnd/>
              <a:tailEnd/>
            </a:ln>
          </p:spPr>
          <p:txBody>
            <a:bodyPr>
              <a:spAutoFit/>
            </a:bodyPr>
            <a:lstStyle/>
            <a:p>
              <a:pPr>
                <a:spcBef>
                  <a:spcPct val="50000"/>
                </a:spcBef>
              </a:pPr>
              <a:r>
                <a:rPr lang="zh-CN" altLang="en-US" sz="2800" b="1" dirty="0">
                  <a:latin typeface="楷体" pitchFamily="49" charset="-122"/>
                  <a:ea typeface="楷体" pitchFamily="49" charset="-122"/>
                </a:rPr>
                <a:t>调整衔铁 </a:t>
              </a:r>
              <a:r>
                <a:rPr lang="en-US" altLang="zh-CN" sz="2800" b="1" dirty="0">
                  <a:solidFill>
                    <a:srgbClr val="C00000"/>
                  </a:solidFill>
                  <a:latin typeface="楷体" pitchFamily="49" charset="-122"/>
                  <a:ea typeface="楷体" pitchFamily="49" charset="-122"/>
                </a:rPr>
                <a:t>B</a:t>
              </a:r>
              <a:r>
                <a:rPr lang="zh-CN" altLang="en-US" sz="2800" b="1" dirty="0">
                  <a:latin typeface="楷体" pitchFamily="49" charset="-122"/>
                  <a:ea typeface="楷体" pitchFamily="49" charset="-122"/>
                </a:rPr>
                <a:t>，使之在初始状态时，两组线圈电感相等。</a:t>
              </a:r>
            </a:p>
          </p:txBody>
        </p:sp>
        <p:sp>
          <p:nvSpPr>
            <p:cNvPr id="21514" name="Line 17"/>
            <p:cNvSpPr>
              <a:spLocks noChangeShapeType="1"/>
            </p:cNvSpPr>
            <p:nvPr/>
          </p:nvSpPr>
          <p:spPr bwMode="auto">
            <a:xfrm flipV="1">
              <a:off x="3357563" y="4429125"/>
              <a:ext cx="941387" cy="428625"/>
            </a:xfrm>
            <a:prstGeom prst="line">
              <a:avLst/>
            </a:prstGeom>
            <a:noFill/>
            <a:ln w="9525">
              <a:solidFill>
                <a:srgbClr val="FF0066"/>
              </a:solidFill>
              <a:round/>
              <a:headEnd/>
              <a:tailEnd/>
            </a:ln>
          </p:spPr>
          <p:txBody>
            <a:bodyPr/>
            <a:lstStyle/>
            <a:p>
              <a:endParaRPr lang="zh-CN" altLang="en-US"/>
            </a:p>
          </p:txBody>
        </p:sp>
        <p:sp>
          <p:nvSpPr>
            <p:cNvPr id="21515" name="Line 18"/>
            <p:cNvSpPr>
              <a:spLocks noChangeShapeType="1"/>
            </p:cNvSpPr>
            <p:nvPr/>
          </p:nvSpPr>
          <p:spPr bwMode="auto">
            <a:xfrm flipV="1">
              <a:off x="3429000" y="4500563"/>
              <a:ext cx="3822700" cy="428625"/>
            </a:xfrm>
            <a:prstGeom prst="line">
              <a:avLst/>
            </a:prstGeom>
            <a:noFill/>
            <a:ln w="9525">
              <a:solidFill>
                <a:srgbClr val="FF0066"/>
              </a:solidFill>
              <a:round/>
              <a:headEnd/>
              <a:tailEn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9"/>
                                        </p:tgtEl>
                                        <p:attrNameLst>
                                          <p:attrName>style.visibility</p:attrName>
                                        </p:attrNameLst>
                                      </p:cBhvr>
                                      <p:to>
                                        <p:strVal val="visible"/>
                                      </p:to>
                                    </p:set>
                                    <p:animEffect transition="in" filter="blinds(horizontal)">
                                      <p:cBhvr>
                                        <p:cTn id="7" dur="500"/>
                                        <p:tgtEl>
                                          <p:spTgt spid="2150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510"/>
                                        </p:tgtEl>
                                        <p:attrNameLst>
                                          <p:attrName>style.visibility</p:attrName>
                                        </p:attrNameLst>
                                      </p:cBhvr>
                                      <p:to>
                                        <p:strVal val="visible"/>
                                      </p:to>
                                    </p:set>
                                    <p:animEffect transition="in" filter="blinds(horizontal)">
                                      <p:cBhvr>
                                        <p:cTn id="12" dur="500"/>
                                        <p:tgtEl>
                                          <p:spTgt spid="215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2532" name="Text Box 32"/>
          <p:cNvSpPr txBox="1">
            <a:spLocks noChangeArrowheads="1"/>
          </p:cNvSpPr>
          <p:nvPr/>
        </p:nvSpPr>
        <p:spPr bwMode="auto">
          <a:xfrm>
            <a:off x="214313" y="1571625"/>
            <a:ext cx="8605837" cy="3108325"/>
          </a:xfrm>
          <a:prstGeom prst="rect">
            <a:avLst/>
          </a:prstGeom>
          <a:noFill/>
          <a:ln w="9525" algn="ctr">
            <a:noFill/>
            <a:miter lim="800000"/>
            <a:headEnd/>
            <a:tailEnd/>
          </a:ln>
        </p:spPr>
        <p:txBody>
          <a:bodyPr>
            <a:spAutoFit/>
          </a:bodyPr>
          <a:lstStyle/>
          <a:p>
            <a:pPr marL="898525" lvl="1" indent="-449263">
              <a:buFont typeface="Wingdings" pitchFamily="2" charset="2"/>
              <a:buChar char="u"/>
            </a:pPr>
            <a:r>
              <a:rPr lang="zh-CN" altLang="en-US" sz="2800" b="1" dirty="0">
                <a:latin typeface="宋体" pitchFamily="2" charset="-122"/>
              </a:rPr>
              <a:t>线性好；</a:t>
            </a:r>
          </a:p>
          <a:p>
            <a:pPr marL="898525" lvl="1" indent="-449263">
              <a:buFont typeface="Wingdings" pitchFamily="2" charset="2"/>
              <a:buChar char="u"/>
            </a:pPr>
            <a:r>
              <a:rPr lang="zh-CN" altLang="en-US" sz="2800" b="1" dirty="0">
                <a:latin typeface="宋体" pitchFamily="2" charset="-122"/>
              </a:rPr>
              <a:t>灵敏度提高一倍</a:t>
            </a:r>
            <a:r>
              <a:rPr lang="zh-CN" altLang="en-US" sz="2800" b="1" dirty="0" smtClean="0">
                <a:latin typeface="宋体" pitchFamily="2" charset="-122"/>
              </a:rPr>
              <a:t>，衔铁</a:t>
            </a:r>
            <a:r>
              <a:rPr lang="zh-CN" altLang="en-US" sz="2800" b="1" dirty="0">
                <a:latin typeface="宋体" pitchFamily="2" charset="-122"/>
              </a:rPr>
              <a:t>位移相同时，输出信号大一倍；</a:t>
            </a:r>
          </a:p>
          <a:p>
            <a:pPr marL="898525" lvl="1" indent="-449263">
              <a:buFont typeface="Wingdings" pitchFamily="2" charset="2"/>
              <a:buChar char="u"/>
            </a:pPr>
            <a:r>
              <a:rPr lang="zh-CN" altLang="en-US" sz="2800" b="1" dirty="0">
                <a:latin typeface="宋体" pitchFamily="2" charset="-122"/>
              </a:rPr>
              <a:t>温度变化、电源波动、外界干扰等对传感器精度的影响，由于能相互抵消而减小。</a:t>
            </a:r>
          </a:p>
          <a:p>
            <a:pPr marL="898525" lvl="1" indent="-449263">
              <a:buFont typeface="Wingdings" pitchFamily="2" charset="2"/>
              <a:buChar char="u"/>
            </a:pPr>
            <a:r>
              <a:rPr lang="zh-CN" altLang="en-US" sz="2800" b="1" dirty="0">
                <a:latin typeface="宋体" pitchFamily="2" charset="-122"/>
              </a:rPr>
              <a:t>电磁吸力对测力变化的影响也由于能相互抵消而减小。</a:t>
            </a:r>
            <a:endParaRPr lang="zh-CN" altLang="en-US" sz="2800" b="1" dirty="0"/>
          </a:p>
        </p:txBody>
      </p:sp>
      <p:sp>
        <p:nvSpPr>
          <p:cNvPr id="17" name="Text Box 33"/>
          <p:cNvSpPr txBox="1">
            <a:spLocks noChangeArrowheads="1"/>
          </p:cNvSpPr>
          <p:nvPr/>
        </p:nvSpPr>
        <p:spPr bwMode="auto">
          <a:xfrm>
            <a:off x="214313" y="4714875"/>
            <a:ext cx="8715375" cy="1816100"/>
          </a:xfrm>
          <a:prstGeom prst="rect">
            <a:avLst/>
          </a:prstGeom>
          <a:solidFill>
            <a:srgbClr val="92D050"/>
          </a:solidFill>
          <a:ln w="9525" algn="ctr">
            <a:noFill/>
            <a:miter lim="800000"/>
            <a:headEnd/>
            <a:tailEnd/>
          </a:ln>
        </p:spPr>
        <p:txBody>
          <a:bodyPr>
            <a:spAutoFit/>
          </a:bodyPr>
          <a:lstStyle/>
          <a:p>
            <a:pPr marL="179388" lvl="1" indent="450850"/>
            <a:r>
              <a:rPr lang="zh-CN" altLang="en-US" sz="2800" b="1">
                <a:solidFill>
                  <a:srgbClr val="FF0000"/>
                </a:solidFill>
                <a:latin typeface="华文楷体" pitchFamily="2" charset="-122"/>
                <a:ea typeface="华文楷体" pitchFamily="2" charset="-122"/>
              </a:rPr>
              <a:t>实际使用时大都采用差动式；</a:t>
            </a:r>
            <a:endParaRPr lang="en-US" altLang="zh-CN" sz="2800" b="1">
              <a:solidFill>
                <a:srgbClr val="FF0000"/>
              </a:solidFill>
              <a:latin typeface="华文楷体" pitchFamily="2" charset="-122"/>
              <a:ea typeface="华文楷体" pitchFamily="2" charset="-122"/>
            </a:endParaRPr>
          </a:p>
          <a:p>
            <a:pPr marL="179388" lvl="1" indent="450850"/>
            <a:r>
              <a:rPr lang="zh-CN" altLang="en-US" sz="2800" b="1">
                <a:solidFill>
                  <a:srgbClr val="FF0000"/>
                </a:solidFill>
                <a:latin typeface="华文楷体" pitchFamily="2" charset="-122"/>
                <a:ea typeface="华文楷体" pitchFamily="2" charset="-122"/>
              </a:rPr>
              <a:t>单线圈式的结构简单，有时也应用于要求不高的场合；</a:t>
            </a:r>
            <a:endParaRPr lang="en-US" altLang="zh-CN" sz="2800" b="1">
              <a:solidFill>
                <a:srgbClr val="FF0000"/>
              </a:solidFill>
              <a:latin typeface="华文楷体" pitchFamily="2" charset="-122"/>
              <a:ea typeface="华文楷体" pitchFamily="2" charset="-122"/>
            </a:endParaRPr>
          </a:p>
          <a:p>
            <a:pPr marL="179388" lvl="1" indent="450850"/>
            <a:r>
              <a:rPr lang="zh-CN" altLang="en-US" sz="2800" b="1">
                <a:solidFill>
                  <a:srgbClr val="FF0000"/>
                </a:solidFill>
                <a:latin typeface="华文楷体" pitchFamily="2" charset="-122"/>
                <a:ea typeface="华文楷体" pitchFamily="2" charset="-122"/>
              </a:rPr>
              <a:t>所得结论对截面型及螺管型传感器也同样适合。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animEffect transition="in" filter="blinds(horizontal)">
                                      <p:cBhvr>
                                        <p:cTn id="7" dur="500"/>
                                        <p:tgtEl>
                                          <p:spTgt spid="225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532">
                                            <p:txEl>
                                              <p:pRg st="1" end="1"/>
                                            </p:txEl>
                                          </p:spTgt>
                                        </p:tgtEl>
                                        <p:attrNameLst>
                                          <p:attrName>style.visibility</p:attrName>
                                        </p:attrNameLst>
                                      </p:cBhvr>
                                      <p:to>
                                        <p:strVal val="visible"/>
                                      </p:to>
                                    </p:set>
                                    <p:animEffect transition="in" filter="blinds(horizontal)">
                                      <p:cBhvr>
                                        <p:cTn id="12" dur="500"/>
                                        <p:tgtEl>
                                          <p:spTgt spid="225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532">
                                            <p:txEl>
                                              <p:pRg st="2" end="2"/>
                                            </p:txEl>
                                          </p:spTgt>
                                        </p:tgtEl>
                                        <p:attrNameLst>
                                          <p:attrName>style.visibility</p:attrName>
                                        </p:attrNameLst>
                                      </p:cBhvr>
                                      <p:to>
                                        <p:strVal val="visible"/>
                                      </p:to>
                                    </p:set>
                                    <p:animEffect transition="in" filter="blinds(horizontal)">
                                      <p:cBhvr>
                                        <p:cTn id="17" dur="500"/>
                                        <p:tgtEl>
                                          <p:spTgt spid="225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532">
                                            <p:txEl>
                                              <p:pRg st="3" end="3"/>
                                            </p:txEl>
                                          </p:spTgt>
                                        </p:tgtEl>
                                        <p:attrNameLst>
                                          <p:attrName>style.visibility</p:attrName>
                                        </p:attrNameLst>
                                      </p:cBhvr>
                                      <p:to>
                                        <p:strVal val="visible"/>
                                      </p:to>
                                    </p:set>
                                    <p:animEffect transition="in" filter="blinds(horizontal)">
                                      <p:cBhvr>
                                        <p:cTn id="22" dur="500"/>
                                        <p:tgtEl>
                                          <p:spTgt spid="225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animEffect transition="in" filter="barn(inHorizontal)">
                                      <p:cBhvr>
                                        <p:cTn id="27" dur="500"/>
                                        <p:tgtEl>
                                          <p:spTgt spid="1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17">
                                            <p:txEl>
                                              <p:pRg st="1" end="1"/>
                                            </p:txEl>
                                          </p:spTgt>
                                        </p:tgtEl>
                                        <p:attrNameLst>
                                          <p:attrName>style.visibility</p:attrName>
                                        </p:attrNameLst>
                                      </p:cBhvr>
                                      <p:to>
                                        <p:strVal val="visible"/>
                                      </p:to>
                                    </p:set>
                                    <p:animEffect transition="in" filter="barn(inHorizontal)">
                                      <p:cBhvr>
                                        <p:cTn id="32" dur="500"/>
                                        <p:tgtEl>
                                          <p:spTgt spid="17">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17">
                                            <p:txEl>
                                              <p:pRg st="2" end="2"/>
                                            </p:txEl>
                                          </p:spTgt>
                                        </p:tgtEl>
                                        <p:attrNameLst>
                                          <p:attrName>style.visibility</p:attrName>
                                        </p:attrNameLst>
                                      </p:cBhvr>
                                      <p:to>
                                        <p:strVal val="visible"/>
                                      </p:to>
                                    </p:set>
                                    <p:animEffect transition="in" filter="barn(inHorizontal)">
                                      <p:cBhvr>
                                        <p:cTn id="37" dur="50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6" name="矩形 5"/>
          <p:cNvSpPr/>
          <p:nvPr/>
        </p:nvSpPr>
        <p:spPr>
          <a:xfrm>
            <a:off x="571500" y="1643063"/>
            <a:ext cx="2709863" cy="541337"/>
          </a:xfrm>
          <a:prstGeom prst="rect">
            <a:avLst/>
          </a:prstGeom>
        </p:spPr>
        <p:txBody>
          <a:bodyPr wrap="none">
            <a:spAutoFit/>
          </a:bodyPr>
          <a:lstStyle/>
          <a:p>
            <a:pPr>
              <a:lnSpc>
                <a:spcPct val="120000"/>
              </a:lnSpc>
              <a:defRPr/>
            </a:pPr>
            <a:r>
              <a:rPr kumimoji="0" lang="zh-CN" altLang="en-US" sz="2800" b="1" dirty="0">
                <a:solidFill>
                  <a:srgbClr val="F84D08"/>
                </a:solidFill>
                <a:latin typeface="黑体" pitchFamily="2" charset="-122"/>
                <a:ea typeface="黑体" pitchFamily="2" charset="-122"/>
                <a:cs typeface="+mj-cs"/>
              </a:rPr>
              <a:t>灵敏度与非线性</a:t>
            </a:r>
          </a:p>
        </p:txBody>
      </p:sp>
      <p:graphicFrame>
        <p:nvGraphicFramePr>
          <p:cNvPr id="5122" name="Object 28"/>
          <p:cNvGraphicFramePr>
            <a:graphicFrameLocks noGrp="1" noChangeAspect="1"/>
          </p:cNvGraphicFramePr>
          <p:nvPr/>
        </p:nvGraphicFramePr>
        <p:xfrm>
          <a:off x="4572000" y="1714500"/>
          <a:ext cx="2143125" cy="762000"/>
        </p:xfrm>
        <a:graphic>
          <a:graphicData uri="http://schemas.openxmlformats.org/presentationml/2006/ole">
            <p:oleObj spid="_x0000_s5122" name="图像文档" r:id="rId3" imgW="1581120" imgH="561960" progId="">
              <p:embed/>
            </p:oleObj>
          </a:graphicData>
        </a:graphic>
      </p:graphicFrame>
      <p:graphicFrame>
        <p:nvGraphicFramePr>
          <p:cNvPr id="5123" name="Object 35"/>
          <p:cNvGraphicFramePr>
            <a:graphicFrameLocks noGrp="1" noChangeAspect="1"/>
          </p:cNvGraphicFramePr>
          <p:nvPr>
            <p:ph sz="quarter" idx="4294967295"/>
          </p:nvPr>
        </p:nvGraphicFramePr>
        <p:xfrm>
          <a:off x="3214688" y="3143250"/>
          <a:ext cx="3281362" cy="784225"/>
        </p:xfrm>
        <a:graphic>
          <a:graphicData uri="http://schemas.openxmlformats.org/presentationml/2006/ole">
            <p:oleObj spid="_x0000_s5123" name="公式" r:id="rId4" imgW="2336760" imgH="558720" progId="Equation.3">
              <p:embed/>
            </p:oleObj>
          </a:graphicData>
        </a:graphic>
      </p:graphicFrame>
      <p:sp>
        <p:nvSpPr>
          <p:cNvPr id="5128" name="Rectangle 30"/>
          <p:cNvSpPr>
            <a:spLocks noChangeArrowheads="1"/>
          </p:cNvSpPr>
          <p:nvPr/>
        </p:nvSpPr>
        <p:spPr bwMode="auto">
          <a:xfrm>
            <a:off x="857250" y="2500313"/>
            <a:ext cx="3611563" cy="523875"/>
          </a:xfrm>
          <a:prstGeom prst="rect">
            <a:avLst/>
          </a:prstGeom>
          <a:noFill/>
          <a:ln w="9525" algn="ctr">
            <a:noFill/>
            <a:miter lim="800000"/>
            <a:headEnd/>
            <a:tailEnd/>
          </a:ln>
        </p:spPr>
        <p:txBody>
          <a:bodyPr wrap="none">
            <a:spAutoFit/>
          </a:bodyPr>
          <a:lstStyle/>
          <a:p>
            <a:pPr marL="536575" indent="-536575">
              <a:buFont typeface="Wingdings" pitchFamily="2" charset="2"/>
              <a:buChar char="u"/>
            </a:pPr>
            <a:r>
              <a:rPr kumimoji="0" lang="zh-CN" altLang="en-US" sz="2800" b="1">
                <a:latin typeface="宋体" pitchFamily="2" charset="-122"/>
              </a:rPr>
              <a:t>变气隙型的灵敏度</a:t>
            </a:r>
          </a:p>
        </p:txBody>
      </p:sp>
      <p:graphicFrame>
        <p:nvGraphicFramePr>
          <p:cNvPr id="5124" name="Object 38"/>
          <p:cNvGraphicFramePr>
            <a:graphicFrameLocks noGrp="1" noChangeAspect="1"/>
          </p:cNvGraphicFramePr>
          <p:nvPr>
            <p:ph sz="quarter" idx="4294967295"/>
          </p:nvPr>
        </p:nvGraphicFramePr>
        <p:xfrm>
          <a:off x="3571875" y="4572000"/>
          <a:ext cx="2597150" cy="777875"/>
        </p:xfrm>
        <a:graphic>
          <a:graphicData uri="http://schemas.openxmlformats.org/presentationml/2006/ole">
            <p:oleObj spid="_x0000_s5124" name="公式" r:id="rId5" imgW="1866600" imgH="558720" progId="Equation.3">
              <p:embed/>
            </p:oleObj>
          </a:graphicData>
        </a:graphic>
      </p:graphicFrame>
      <p:sp>
        <p:nvSpPr>
          <p:cNvPr id="5129" name="Text Box 41"/>
          <p:cNvSpPr txBox="1">
            <a:spLocks noChangeArrowheads="1"/>
          </p:cNvSpPr>
          <p:nvPr/>
        </p:nvSpPr>
        <p:spPr bwMode="auto">
          <a:xfrm>
            <a:off x="1285875" y="3940175"/>
            <a:ext cx="4683125" cy="523875"/>
          </a:xfrm>
          <a:prstGeom prst="rect">
            <a:avLst/>
          </a:prstGeom>
          <a:noFill/>
          <a:ln w="9525" algn="ctr">
            <a:noFill/>
            <a:miter lim="800000"/>
            <a:headEnd/>
            <a:tailEnd/>
          </a:ln>
        </p:spPr>
        <p:txBody>
          <a:bodyPr>
            <a:spAutoFit/>
          </a:bodyPr>
          <a:lstStyle/>
          <a:p>
            <a:pPr marL="838200" indent="-838200">
              <a:spcBef>
                <a:spcPct val="50000"/>
              </a:spcBef>
            </a:pPr>
            <a:r>
              <a:rPr kumimoji="0" lang="zh-CN" altLang="en-US" sz="2800" b="1" dirty="0">
                <a:latin typeface="宋体" pitchFamily="2" charset="-122"/>
              </a:rPr>
              <a:t>差动方式的灵敏度</a:t>
            </a:r>
          </a:p>
        </p:txBody>
      </p:sp>
      <p:sp>
        <p:nvSpPr>
          <p:cNvPr id="5130" name="Text Box 42"/>
          <p:cNvSpPr txBox="1">
            <a:spLocks noChangeArrowheads="1"/>
          </p:cNvSpPr>
          <p:nvPr/>
        </p:nvSpPr>
        <p:spPr bwMode="auto">
          <a:xfrm>
            <a:off x="1571625" y="5643563"/>
            <a:ext cx="6000750" cy="523875"/>
          </a:xfrm>
          <a:prstGeom prst="rect">
            <a:avLst/>
          </a:prstGeom>
          <a:solidFill>
            <a:srgbClr val="92D050"/>
          </a:solidFill>
          <a:ln w="9525" algn="ctr">
            <a:noFill/>
            <a:miter lim="800000"/>
            <a:headEnd/>
            <a:tailEnd/>
          </a:ln>
        </p:spPr>
        <p:txBody>
          <a:bodyPr>
            <a:spAutoFit/>
          </a:bodyPr>
          <a:lstStyle/>
          <a:p>
            <a:pPr marL="838200" indent="-838200">
              <a:spcBef>
                <a:spcPct val="50000"/>
              </a:spcBef>
            </a:pPr>
            <a:r>
              <a:rPr kumimoji="0" lang="zh-CN" altLang="en-US" sz="2800" b="1" dirty="0">
                <a:latin typeface="华文楷体" pitchFamily="2" charset="-122"/>
                <a:ea typeface="华文楷体" pitchFamily="2" charset="-122"/>
              </a:rPr>
              <a:t>以上结论在满足 </a:t>
            </a:r>
            <a:r>
              <a:rPr kumimoji="0" lang="en-US" altLang="zh-CN" sz="2800" b="1" i="1" dirty="0" err="1">
                <a:solidFill>
                  <a:srgbClr val="FF0000"/>
                </a:solidFill>
                <a:latin typeface="Times New Roman" pitchFamily="18" charset="0"/>
              </a:rPr>
              <a:t>Δl</a:t>
            </a:r>
            <a:r>
              <a:rPr kumimoji="0" lang="en-US" altLang="zh-CN" sz="2800" b="1" i="1" dirty="0">
                <a:solidFill>
                  <a:srgbClr val="FF0000"/>
                </a:solidFill>
                <a:latin typeface="Times New Roman" pitchFamily="18" charset="0"/>
              </a:rPr>
              <a:t> / l</a:t>
            </a:r>
            <a:r>
              <a:rPr kumimoji="0" lang="en-US" altLang="zh-CN" sz="2800" b="1" i="1" baseline="-25000" dirty="0">
                <a:solidFill>
                  <a:srgbClr val="FF0000"/>
                </a:solidFill>
                <a:latin typeface="Times New Roman" pitchFamily="18" charset="0"/>
              </a:rPr>
              <a:t>0</a:t>
            </a:r>
            <a:r>
              <a:rPr kumimoji="0" lang="zh-CN" altLang="en-US" sz="2800" b="1" i="1" dirty="0">
                <a:solidFill>
                  <a:srgbClr val="FF0000"/>
                </a:solidFill>
                <a:latin typeface="Times New Roman" pitchFamily="18" charset="0"/>
              </a:rPr>
              <a:t>＜＜</a:t>
            </a:r>
            <a:r>
              <a:rPr kumimoji="0" lang="en-US" altLang="zh-CN" sz="2800" b="1" i="1" dirty="0">
                <a:solidFill>
                  <a:srgbClr val="FF0000"/>
                </a:solidFill>
                <a:latin typeface="Times New Roman" pitchFamily="18" charset="0"/>
              </a:rPr>
              <a:t>1</a:t>
            </a:r>
            <a:r>
              <a:rPr kumimoji="0" lang="zh-CN" altLang="en-US" sz="2800" b="1" i="1" dirty="0">
                <a:solidFill>
                  <a:srgbClr val="FF0000"/>
                </a:solidFill>
                <a:latin typeface="Times New Roman" pitchFamily="18" charset="0"/>
              </a:rPr>
              <a:t> </a:t>
            </a:r>
            <a:r>
              <a:rPr kumimoji="0" lang="zh-CN" altLang="en-US" sz="2800" b="1" dirty="0">
                <a:latin typeface="华文楷体" pitchFamily="2" charset="-122"/>
                <a:ea typeface="华文楷体" pitchFamily="2" charset="-122"/>
              </a:rPr>
              <a:t>时成立。</a:t>
            </a:r>
          </a:p>
        </p:txBody>
      </p:sp>
      <p:sp>
        <p:nvSpPr>
          <p:cNvPr id="15" name="圆角矩形标注 14"/>
          <p:cNvSpPr/>
          <p:nvPr/>
        </p:nvSpPr>
        <p:spPr>
          <a:xfrm>
            <a:off x="6858000" y="3357563"/>
            <a:ext cx="2000250" cy="1785937"/>
          </a:xfrm>
          <a:prstGeom prst="wedgeRoundRectCallout">
            <a:avLst>
              <a:gd name="adj1" fmla="val -76793"/>
              <a:gd name="adj2" fmla="val 4275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2800" b="1" dirty="0">
                <a:solidFill>
                  <a:schemeClr val="tx1"/>
                </a:solidFill>
              </a:rPr>
              <a:t>灵敏度提高一倍；非线性减小。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9"/>
                                        </p:tgtEl>
                                        <p:attrNameLst>
                                          <p:attrName>style.visibility</p:attrName>
                                        </p:attrNameLst>
                                      </p:cBhvr>
                                      <p:to>
                                        <p:strVal val="visible"/>
                                      </p:to>
                                    </p:set>
                                    <p:animEffect transition="in" filter="blinds(horizontal)">
                                      <p:cBhvr>
                                        <p:cTn id="7" dur="500"/>
                                        <p:tgtEl>
                                          <p:spTgt spid="5129"/>
                                        </p:tgtEl>
                                      </p:cBhvr>
                                    </p:animEffect>
                                  </p:childTnLst>
                                </p:cTn>
                              </p:par>
                              <p:par>
                                <p:cTn id="8" presetID="3" presetClass="entr" presetSubtype="10" fill="hold" nodeType="withEffect">
                                  <p:stCondLst>
                                    <p:cond delay="0"/>
                                  </p:stCondLst>
                                  <p:childTnLst>
                                    <p:set>
                                      <p:cBhvr>
                                        <p:cTn id="9" dur="1" fill="hold">
                                          <p:stCondLst>
                                            <p:cond delay="0"/>
                                          </p:stCondLst>
                                        </p:cTn>
                                        <p:tgtEl>
                                          <p:spTgt spid="5124"/>
                                        </p:tgtEl>
                                        <p:attrNameLst>
                                          <p:attrName>style.visibility</p:attrName>
                                        </p:attrNameLst>
                                      </p:cBhvr>
                                      <p:to>
                                        <p:strVal val="visible"/>
                                      </p:to>
                                    </p:set>
                                    <p:animEffect transition="in" filter="blinds(horizontal)">
                                      <p:cBhvr>
                                        <p:cTn id="10" dur="500"/>
                                        <p:tgtEl>
                                          <p:spTgt spid="5124"/>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ox(in)">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130"/>
                                        </p:tgtEl>
                                        <p:attrNameLst>
                                          <p:attrName>style.visibility</p:attrName>
                                        </p:attrNameLst>
                                      </p:cBhvr>
                                      <p:to>
                                        <p:strVal val="visible"/>
                                      </p:to>
                                    </p:set>
                                    <p:animEffect transition="in" filter="blinds(horizontal)">
                                      <p:cBhvr>
                                        <p:cTn id="20" dur="500"/>
                                        <p:tgtEl>
                                          <p:spTgt spid="5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9" grpId="0"/>
      <p:bldP spid="5130"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6" name="矩形 5"/>
          <p:cNvSpPr/>
          <p:nvPr/>
        </p:nvSpPr>
        <p:spPr>
          <a:xfrm>
            <a:off x="571500" y="1643063"/>
            <a:ext cx="2709863" cy="541337"/>
          </a:xfrm>
          <a:prstGeom prst="rect">
            <a:avLst/>
          </a:prstGeom>
        </p:spPr>
        <p:txBody>
          <a:bodyPr wrap="none">
            <a:spAutoFit/>
          </a:bodyPr>
          <a:lstStyle/>
          <a:p>
            <a:pPr>
              <a:lnSpc>
                <a:spcPct val="120000"/>
              </a:lnSpc>
              <a:defRPr/>
            </a:pPr>
            <a:r>
              <a:rPr kumimoji="0" lang="zh-CN" altLang="en-US" sz="2800" b="1" dirty="0">
                <a:solidFill>
                  <a:srgbClr val="F84D08"/>
                </a:solidFill>
                <a:latin typeface="黑体" pitchFamily="2" charset="-122"/>
                <a:ea typeface="黑体" pitchFamily="2" charset="-122"/>
                <a:cs typeface="+mj-cs"/>
              </a:rPr>
              <a:t>提高灵敏度方法</a:t>
            </a:r>
          </a:p>
        </p:txBody>
      </p:sp>
      <p:graphicFrame>
        <p:nvGraphicFramePr>
          <p:cNvPr id="6146" name="Object 28"/>
          <p:cNvGraphicFramePr>
            <a:graphicFrameLocks noGrp="1" noChangeAspect="1"/>
          </p:cNvGraphicFramePr>
          <p:nvPr/>
        </p:nvGraphicFramePr>
        <p:xfrm>
          <a:off x="3571875" y="4000500"/>
          <a:ext cx="2143125" cy="762000"/>
        </p:xfrm>
        <a:graphic>
          <a:graphicData uri="http://schemas.openxmlformats.org/presentationml/2006/ole">
            <p:oleObj spid="_x0000_s6146" name="图像文档" r:id="rId3" imgW="1581120" imgH="561960" progId="">
              <p:embed/>
            </p:oleObj>
          </a:graphicData>
        </a:graphic>
      </p:graphicFrame>
      <p:graphicFrame>
        <p:nvGraphicFramePr>
          <p:cNvPr id="6147" name="Object 38"/>
          <p:cNvGraphicFramePr>
            <a:graphicFrameLocks noGrp="1" noChangeAspect="1"/>
          </p:cNvGraphicFramePr>
          <p:nvPr>
            <p:ph sz="quarter" idx="4294967295"/>
          </p:nvPr>
        </p:nvGraphicFramePr>
        <p:xfrm>
          <a:off x="3571875" y="2071688"/>
          <a:ext cx="2597150" cy="777875"/>
        </p:xfrm>
        <a:graphic>
          <a:graphicData uri="http://schemas.openxmlformats.org/presentationml/2006/ole">
            <p:oleObj spid="_x0000_s6147" name="公式" r:id="rId4" imgW="1866600" imgH="558720" progId="Equation.3">
              <p:embed/>
            </p:oleObj>
          </a:graphicData>
        </a:graphic>
      </p:graphicFrame>
      <p:sp>
        <p:nvSpPr>
          <p:cNvPr id="6151" name="Text Box 11"/>
          <p:cNvSpPr txBox="1">
            <a:spLocks noChangeArrowheads="1"/>
          </p:cNvSpPr>
          <p:nvPr/>
        </p:nvSpPr>
        <p:spPr bwMode="auto">
          <a:xfrm>
            <a:off x="500063" y="2928938"/>
            <a:ext cx="8358187" cy="954087"/>
          </a:xfrm>
          <a:prstGeom prst="rect">
            <a:avLst/>
          </a:prstGeom>
          <a:noFill/>
          <a:ln w="9525" algn="ctr">
            <a:noFill/>
            <a:miter lim="800000"/>
            <a:headEnd/>
            <a:tailEnd/>
          </a:ln>
        </p:spPr>
        <p:txBody>
          <a:bodyPr>
            <a:spAutoFit/>
          </a:bodyPr>
          <a:lstStyle/>
          <a:p>
            <a:pPr indent="546100">
              <a:spcBef>
                <a:spcPct val="50000"/>
              </a:spcBef>
            </a:pPr>
            <a:r>
              <a:rPr kumimoji="0" lang="zh-CN" altLang="en-US" sz="2800" b="1" dirty="0">
                <a:latin typeface="宋体" pitchFamily="2" charset="-122"/>
              </a:rPr>
              <a:t>减小初始空气隙 </a:t>
            </a:r>
            <a:r>
              <a:rPr kumimoji="0" lang="en-US" altLang="zh-CN" sz="2800" b="1" i="1" dirty="0">
                <a:solidFill>
                  <a:srgbClr val="FF0000"/>
                </a:solidFill>
                <a:latin typeface="Times New Roman" pitchFamily="18" charset="0"/>
                <a:cs typeface="Times New Roman" pitchFamily="18" charset="0"/>
              </a:rPr>
              <a:t>l</a:t>
            </a:r>
            <a:r>
              <a:rPr kumimoji="0" lang="en-US" altLang="zh-CN" sz="2800" b="1" i="1" baseline="-25000" dirty="0">
                <a:solidFill>
                  <a:srgbClr val="FF0000"/>
                </a:solidFill>
                <a:latin typeface="Times New Roman" pitchFamily="18" charset="0"/>
                <a:cs typeface="Times New Roman" pitchFamily="18" charset="0"/>
              </a:rPr>
              <a:t>0</a:t>
            </a:r>
            <a:r>
              <a:rPr kumimoji="0" lang="zh-CN" altLang="en-US" sz="2800" b="1" i="1" baseline="-25000" dirty="0">
                <a:solidFill>
                  <a:srgbClr val="FF0000"/>
                </a:solidFill>
                <a:latin typeface="Times New Roman" pitchFamily="18" charset="0"/>
                <a:cs typeface="Times New Roman" pitchFamily="18" charset="0"/>
              </a:rPr>
              <a:t> </a:t>
            </a:r>
            <a:r>
              <a:rPr kumimoji="0" lang="zh-CN" altLang="en-US" sz="2800" b="1" dirty="0">
                <a:latin typeface="宋体" pitchFamily="2" charset="-122"/>
              </a:rPr>
              <a:t>距离可增加灵敏度，但会导致被测量的范围变小，灵敏度的非线性也将增加。</a:t>
            </a:r>
          </a:p>
        </p:txBody>
      </p:sp>
      <p:sp>
        <p:nvSpPr>
          <p:cNvPr id="15" name="矩形 14"/>
          <p:cNvSpPr>
            <a:spLocks noChangeArrowheads="1"/>
          </p:cNvSpPr>
          <p:nvPr/>
        </p:nvSpPr>
        <p:spPr bwMode="auto">
          <a:xfrm>
            <a:off x="642938" y="4857750"/>
            <a:ext cx="8215312" cy="954088"/>
          </a:xfrm>
          <a:prstGeom prst="rect">
            <a:avLst/>
          </a:prstGeom>
          <a:noFill/>
          <a:ln w="9525">
            <a:noFill/>
            <a:miter lim="800000"/>
            <a:headEnd/>
            <a:tailEnd/>
          </a:ln>
        </p:spPr>
        <p:txBody>
          <a:bodyPr>
            <a:spAutoFit/>
          </a:bodyPr>
          <a:lstStyle/>
          <a:p>
            <a:pPr indent="536575"/>
            <a:r>
              <a:rPr kumimoji="0" lang="zh-CN" altLang="en-US" sz="2800" b="1" dirty="0">
                <a:latin typeface="宋体" pitchFamily="2" charset="-122"/>
              </a:rPr>
              <a:t>增大 </a:t>
            </a:r>
            <a:r>
              <a:rPr kumimoji="0" lang="en-US" altLang="zh-CN" sz="2800" b="1" i="1" dirty="0">
                <a:solidFill>
                  <a:srgbClr val="FF0000"/>
                </a:solidFill>
                <a:latin typeface="Times New Roman" pitchFamily="18" charset="0"/>
                <a:cs typeface="Times New Roman" pitchFamily="18" charset="0"/>
              </a:rPr>
              <a:t>L</a:t>
            </a:r>
            <a:r>
              <a:rPr kumimoji="0" lang="en-US" altLang="zh-CN" sz="2800" b="1" i="1" baseline="-25000" dirty="0">
                <a:solidFill>
                  <a:srgbClr val="FF0000"/>
                </a:solidFill>
                <a:latin typeface="Times New Roman" pitchFamily="18" charset="0"/>
                <a:cs typeface="Times New Roman" pitchFamily="18" charset="0"/>
              </a:rPr>
              <a:t>0</a:t>
            </a:r>
            <a:r>
              <a:rPr kumimoji="0" lang="zh-CN" altLang="en-US" sz="2800" b="1" i="1" baseline="-25000" dirty="0">
                <a:solidFill>
                  <a:srgbClr val="FF0000"/>
                </a:solidFill>
                <a:latin typeface="Times New Roman" pitchFamily="18" charset="0"/>
                <a:cs typeface="Times New Roman" pitchFamily="18" charset="0"/>
              </a:rPr>
              <a:t> </a:t>
            </a:r>
            <a:r>
              <a:rPr kumimoji="0" lang="zh-CN" altLang="en-US" sz="2800" b="1" dirty="0" smtClean="0">
                <a:latin typeface="宋体" pitchFamily="2" charset="-122"/>
              </a:rPr>
              <a:t>（或增大 </a:t>
            </a:r>
            <a:r>
              <a:rPr kumimoji="0" lang="en-US" altLang="zh-CN" sz="2800" b="1" i="1" dirty="0">
                <a:solidFill>
                  <a:srgbClr val="FF0000"/>
                </a:solidFill>
                <a:latin typeface="Times New Roman" pitchFamily="18" charset="0"/>
                <a:cs typeface="Times New Roman" pitchFamily="18" charset="0"/>
              </a:rPr>
              <a:t>S</a:t>
            </a:r>
            <a:r>
              <a:rPr kumimoji="0" lang="en-US" altLang="zh-CN" sz="2800" b="1" i="1" baseline="-25000" dirty="0">
                <a:solidFill>
                  <a:srgbClr val="FF0000"/>
                </a:solidFill>
                <a:latin typeface="Times New Roman" pitchFamily="18" charset="0"/>
                <a:cs typeface="Times New Roman" pitchFamily="18" charset="0"/>
              </a:rPr>
              <a:t>0</a:t>
            </a:r>
            <a:r>
              <a:rPr kumimoji="0" lang="zh-CN" altLang="en-US" sz="2800" b="1" i="1" baseline="-25000" dirty="0">
                <a:solidFill>
                  <a:srgbClr val="FF0000"/>
                </a:solidFill>
                <a:latin typeface="Times New Roman" pitchFamily="18" charset="0"/>
                <a:cs typeface="Times New Roman" pitchFamily="18" charset="0"/>
              </a:rPr>
              <a:t> </a:t>
            </a:r>
            <a:r>
              <a:rPr kumimoji="0" lang="zh-CN" altLang="en-US" sz="2800" b="1" dirty="0">
                <a:latin typeface="宋体" pitchFamily="2" charset="-122"/>
              </a:rPr>
              <a:t>和</a:t>
            </a:r>
            <a:r>
              <a:rPr kumimoji="0" lang="en-US" altLang="zh-CN" sz="2800" b="1" i="1" dirty="0">
                <a:solidFill>
                  <a:srgbClr val="FF0000"/>
                </a:solidFill>
                <a:latin typeface="Times New Roman" pitchFamily="18" charset="0"/>
                <a:cs typeface="Times New Roman" pitchFamily="18" charset="0"/>
              </a:rPr>
              <a:t>W</a:t>
            </a:r>
            <a:r>
              <a:rPr kumimoji="0" lang="zh-CN" altLang="en-US" sz="2800" b="1" i="1" dirty="0">
                <a:solidFill>
                  <a:srgbClr val="FF0000"/>
                </a:solidFill>
                <a:latin typeface="Times New Roman" pitchFamily="18" charset="0"/>
                <a:cs typeface="Times New Roman" pitchFamily="18" charset="0"/>
              </a:rPr>
              <a:t> </a:t>
            </a:r>
            <a:r>
              <a:rPr kumimoji="0" lang="zh-CN" altLang="en-US" sz="2800" b="1" dirty="0">
                <a:latin typeface="宋体" pitchFamily="2" charset="-122"/>
              </a:rPr>
              <a:t>）也可提高灵敏度，但将增大传感器的几何尺寸和重量。</a:t>
            </a:r>
            <a:endParaRPr kumimoji="0" lang="en-US" altLang="zh-CN" sz="2800" b="1" dirty="0">
              <a:latin typeface="宋体" pitchFamily="2" charset="-122"/>
            </a:endParaRPr>
          </a:p>
        </p:txBody>
      </p:sp>
      <p:sp>
        <p:nvSpPr>
          <p:cNvPr id="6153" name="TextBox 15"/>
          <p:cNvSpPr txBox="1">
            <a:spLocks noChangeArrowheads="1"/>
          </p:cNvSpPr>
          <p:nvPr/>
        </p:nvSpPr>
        <p:spPr bwMode="auto">
          <a:xfrm>
            <a:off x="2143125" y="6000750"/>
            <a:ext cx="5072063" cy="523875"/>
          </a:xfrm>
          <a:prstGeom prst="rect">
            <a:avLst/>
          </a:prstGeom>
          <a:solidFill>
            <a:srgbClr val="92D050"/>
          </a:solidFill>
          <a:ln w="9525">
            <a:noFill/>
            <a:miter lim="800000"/>
            <a:headEnd/>
            <a:tailEnd/>
          </a:ln>
        </p:spPr>
        <p:txBody>
          <a:bodyPr>
            <a:spAutoFit/>
          </a:bodyPr>
          <a:lstStyle/>
          <a:p>
            <a:pPr algn="ctr"/>
            <a:r>
              <a:rPr kumimoji="0" lang="zh-CN" altLang="en-US" sz="2800" b="1">
                <a:solidFill>
                  <a:srgbClr val="FF0000"/>
                </a:solidFill>
                <a:latin typeface="华文楷体" pitchFamily="2" charset="-122"/>
                <a:ea typeface="华文楷体" pitchFamily="2" charset="-122"/>
              </a:rPr>
              <a:t>在设计传感器时需综合考虑！</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animEffect transition="in" filter="blinds(horizontal)">
                                      <p:cBhvr>
                                        <p:cTn id="7" dur="500"/>
                                        <p:tgtEl>
                                          <p:spTgt spid="61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6"/>
                                        </p:tgtEl>
                                        <p:attrNameLst>
                                          <p:attrName>style.visibility</p:attrName>
                                        </p:attrNameLst>
                                      </p:cBhvr>
                                      <p:to>
                                        <p:strVal val="visible"/>
                                      </p:to>
                                    </p:set>
                                    <p:animEffect transition="in" filter="blinds(horizontal)">
                                      <p:cBhvr>
                                        <p:cTn id="12" dur="500"/>
                                        <p:tgtEl>
                                          <p:spTgt spid="614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53"/>
                                        </p:tgtEl>
                                        <p:attrNameLst>
                                          <p:attrName>style.visibility</p:attrName>
                                        </p:attrNameLst>
                                      </p:cBhvr>
                                      <p:to>
                                        <p:strVal val="visible"/>
                                      </p:to>
                                    </p:set>
                                    <p:animEffect transition="in" filter="blinds(horizontal)">
                                      <p:cBhvr>
                                        <p:cTn id="22" dur="500"/>
                                        <p:tgtEl>
                                          <p:spTgt spid="6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P spid="15" grpId="0"/>
      <p:bldP spid="615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7174" name="Rectangle 30"/>
          <p:cNvSpPr>
            <a:spLocks noChangeArrowheads="1"/>
          </p:cNvSpPr>
          <p:nvPr/>
        </p:nvSpPr>
        <p:spPr bwMode="auto">
          <a:xfrm>
            <a:off x="714375" y="1714500"/>
            <a:ext cx="3611563" cy="523875"/>
          </a:xfrm>
          <a:prstGeom prst="rect">
            <a:avLst/>
          </a:prstGeom>
          <a:noFill/>
          <a:ln w="9525" algn="ctr">
            <a:noFill/>
            <a:miter lim="800000"/>
            <a:headEnd/>
            <a:tailEnd/>
          </a:ln>
        </p:spPr>
        <p:txBody>
          <a:bodyPr wrap="none">
            <a:spAutoFit/>
          </a:bodyPr>
          <a:lstStyle/>
          <a:p>
            <a:pPr marL="536575" indent="-536575">
              <a:buFont typeface="Wingdings" pitchFamily="2" charset="2"/>
              <a:buChar char="u"/>
            </a:pPr>
            <a:r>
              <a:rPr kumimoji="0" lang="zh-CN" altLang="en-US" sz="2800" b="1">
                <a:latin typeface="宋体" pitchFamily="2" charset="-122"/>
              </a:rPr>
              <a:t>变截面型的灵敏度</a:t>
            </a:r>
          </a:p>
        </p:txBody>
      </p:sp>
      <p:graphicFrame>
        <p:nvGraphicFramePr>
          <p:cNvPr id="7170" name="Object 38"/>
          <p:cNvGraphicFramePr>
            <a:graphicFrameLocks noGrp="1" noChangeAspect="1"/>
          </p:cNvGraphicFramePr>
          <p:nvPr/>
        </p:nvGraphicFramePr>
        <p:xfrm>
          <a:off x="3359150" y="2446338"/>
          <a:ext cx="1165225" cy="600075"/>
        </p:xfrm>
        <a:graphic>
          <a:graphicData uri="http://schemas.openxmlformats.org/presentationml/2006/ole">
            <p:oleObj spid="_x0000_s7170" name="Equation" r:id="rId3" imgW="838080" imgH="431640" progId="Equation.3">
              <p:embed/>
            </p:oleObj>
          </a:graphicData>
        </a:graphic>
      </p:graphicFrame>
      <p:graphicFrame>
        <p:nvGraphicFramePr>
          <p:cNvPr id="7171" name="Object 28"/>
          <p:cNvGraphicFramePr>
            <a:graphicFrameLocks noGrp="1" noChangeAspect="1"/>
          </p:cNvGraphicFramePr>
          <p:nvPr/>
        </p:nvGraphicFramePr>
        <p:xfrm>
          <a:off x="4929188" y="1643063"/>
          <a:ext cx="2143125" cy="762000"/>
        </p:xfrm>
        <a:graphic>
          <a:graphicData uri="http://schemas.openxmlformats.org/presentationml/2006/ole">
            <p:oleObj spid="_x0000_s7171" name="图像文档" r:id="rId4" imgW="1581120" imgH="561960" progId="">
              <p:embed/>
            </p:oleObj>
          </a:graphicData>
        </a:graphic>
      </p:graphicFrame>
      <p:sp>
        <p:nvSpPr>
          <p:cNvPr id="7175" name="矩形 7"/>
          <p:cNvSpPr>
            <a:spLocks noChangeArrowheads="1"/>
          </p:cNvSpPr>
          <p:nvPr/>
        </p:nvSpPr>
        <p:spPr bwMode="auto">
          <a:xfrm>
            <a:off x="714375" y="3214688"/>
            <a:ext cx="7715250" cy="1816100"/>
          </a:xfrm>
          <a:prstGeom prst="rect">
            <a:avLst/>
          </a:prstGeom>
          <a:noFill/>
          <a:ln w="9525">
            <a:noFill/>
            <a:miter lim="800000"/>
            <a:headEnd/>
            <a:tailEnd/>
          </a:ln>
        </p:spPr>
        <p:txBody>
          <a:bodyPr>
            <a:spAutoFit/>
          </a:bodyPr>
          <a:lstStyle/>
          <a:p>
            <a:pPr indent="536575"/>
            <a:r>
              <a:rPr kumimoji="0" lang="zh-CN" altLang="en-US" sz="2800" b="1" dirty="0">
                <a:latin typeface="宋体" pitchFamily="2" charset="-122"/>
              </a:rPr>
              <a:t>与截面型自感传感器相比，气隙型的灵敏度较高。但其非线性严重，自由行程小，制造装配困难，因此在常规应用领域，这种类型的使用逐渐减少。</a:t>
            </a:r>
            <a:endParaRPr kumimoji="0" lang="en-US" altLang="zh-CN" sz="2800" b="1" dirty="0">
              <a:latin typeface="宋体" pitchFamily="2" charset="-122"/>
            </a:endParaRPr>
          </a:p>
        </p:txBody>
      </p:sp>
      <p:pic>
        <p:nvPicPr>
          <p:cNvPr id="9" name="Picture 11"/>
          <p:cNvPicPr>
            <a:picLocks noGrp="1" noChangeAspect="1" noChangeArrowheads="1"/>
          </p:cNvPicPr>
          <p:nvPr>
            <p:ph idx="1"/>
          </p:nvPr>
        </p:nvPicPr>
        <p:blipFill>
          <a:blip r:embed="rId5"/>
          <a:srcRect/>
          <a:stretch>
            <a:fillRect/>
          </a:stretch>
        </p:blipFill>
        <p:spPr>
          <a:xfrm>
            <a:off x="2643174" y="4643446"/>
            <a:ext cx="4051294" cy="2026312"/>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5"/>
                                        </p:tgtEl>
                                        <p:attrNameLst>
                                          <p:attrName>style.visibility</p:attrName>
                                        </p:attrNameLst>
                                      </p:cBhvr>
                                      <p:to>
                                        <p:strVal val="visible"/>
                                      </p:to>
                                    </p:set>
                                    <p:animEffect transition="in" filter="blinds(horizontal)">
                                      <p:cBhvr>
                                        <p:cTn id="7" dur="500"/>
                                        <p:tgtEl>
                                          <p:spTgt spid="71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9" name="Rectangle 7"/>
          <p:cNvSpPr txBox="1">
            <a:spLocks noChangeArrowheads="1"/>
          </p:cNvSpPr>
          <p:nvPr/>
        </p:nvSpPr>
        <p:spPr bwMode="auto">
          <a:xfrm>
            <a:off x="642938" y="1571625"/>
            <a:ext cx="7726362" cy="576263"/>
          </a:xfrm>
          <a:prstGeom prst="rect">
            <a:avLst/>
          </a:prstGeom>
          <a:noFill/>
          <a:ln w="9525">
            <a:noFill/>
            <a:miter lim="800000"/>
            <a:headEnd/>
            <a:tailEnd/>
          </a:ln>
        </p:spPr>
        <p:txBody>
          <a:bodyPr/>
          <a:lstStyle/>
          <a:p>
            <a:pPr>
              <a:defRPr/>
            </a:pPr>
            <a:r>
              <a:rPr kumimoji="0" lang="zh-CN" altLang="en-US" sz="2800" b="1" dirty="0">
                <a:solidFill>
                  <a:srgbClr val="FF6600"/>
                </a:solidFill>
                <a:latin typeface="黑体" pitchFamily="49" charset="-122"/>
                <a:ea typeface="黑体" pitchFamily="49" charset="-122"/>
                <a:cs typeface="+mj-cs"/>
              </a:rPr>
              <a:t>三种类型传感器比较</a:t>
            </a:r>
          </a:p>
        </p:txBody>
      </p:sp>
      <p:sp>
        <p:nvSpPr>
          <p:cNvPr id="15" name="圆角矩形 14"/>
          <p:cNvSpPr>
            <a:spLocks noChangeArrowheads="1"/>
          </p:cNvSpPr>
          <p:nvPr/>
        </p:nvSpPr>
        <p:spPr bwMode="auto">
          <a:xfrm>
            <a:off x="642938" y="5143500"/>
            <a:ext cx="8072437" cy="1500188"/>
          </a:xfrm>
          <a:prstGeom prst="roundRect">
            <a:avLst>
              <a:gd name="adj" fmla="val 16667"/>
            </a:avLst>
          </a:prstGeom>
          <a:solidFill>
            <a:srgbClr val="00B0F0"/>
          </a:solidFill>
          <a:ln w="9525" algn="ctr">
            <a:solidFill>
              <a:srgbClr val="000000"/>
            </a:solidFill>
            <a:round/>
            <a:headEnd/>
            <a:tailEnd/>
          </a:ln>
        </p:spPr>
        <p:txBody>
          <a:bodyPr/>
          <a:lstStyle/>
          <a:p>
            <a:pPr indent="361950"/>
            <a:r>
              <a:rPr lang="zh-CN" altLang="en-US" sz="2400" b="1">
                <a:solidFill>
                  <a:srgbClr val="CC3300"/>
                </a:solidFill>
                <a:latin typeface="宋体" pitchFamily="2" charset="-122"/>
              </a:rPr>
              <a:t> </a:t>
            </a:r>
            <a:r>
              <a:rPr lang="zh-CN" altLang="en-US" sz="2400" b="1">
                <a:solidFill>
                  <a:srgbClr val="CC3300"/>
                </a:solidFill>
                <a:latin typeface="华文楷体" pitchFamily="2" charset="-122"/>
                <a:ea typeface="华文楷体" pitchFamily="2" charset="-122"/>
              </a:rPr>
              <a:t>单线圈螺线管型可用于特大位移的测量；而差动螺线管型既可用于微小位移的测量，又可用于一般量程的测量。螺管型传感器制造装配方便，互换性好，应用较广泛。</a:t>
            </a:r>
            <a:endParaRPr lang="zh-CN" altLang="en-US" sz="2400">
              <a:solidFill>
                <a:srgbClr val="CC3300"/>
              </a:solidFill>
              <a:latin typeface="华文楷体" pitchFamily="2" charset="-122"/>
              <a:ea typeface="华文楷体" pitchFamily="2" charset="-122"/>
            </a:endParaRPr>
          </a:p>
        </p:txBody>
      </p:sp>
      <p:graphicFrame>
        <p:nvGraphicFramePr>
          <p:cNvPr id="16" name="表格 15"/>
          <p:cNvGraphicFramePr>
            <a:graphicFrameLocks noGrp="1"/>
          </p:cNvGraphicFramePr>
          <p:nvPr/>
        </p:nvGraphicFramePr>
        <p:xfrm>
          <a:off x="285750" y="2286000"/>
          <a:ext cx="8572560" cy="2500332"/>
        </p:xfrm>
        <a:graphic>
          <a:graphicData uri="http://schemas.openxmlformats.org/drawingml/2006/table">
            <a:tbl>
              <a:tblPr firstRow="1" bandRow="1">
                <a:tableStyleId>{5C22544A-7EE6-4342-B048-85BDC9FD1C3A}</a:tableStyleId>
              </a:tblPr>
              <a:tblGrid>
                <a:gridCol w="1428760"/>
                <a:gridCol w="1428760"/>
                <a:gridCol w="1428760"/>
                <a:gridCol w="1428760"/>
                <a:gridCol w="1428760"/>
                <a:gridCol w="1428760"/>
              </a:tblGrid>
              <a:tr h="625083">
                <a:tc>
                  <a:txBody>
                    <a:bodyPr/>
                    <a:lstStyle/>
                    <a:p>
                      <a:pPr algn="ctr"/>
                      <a:r>
                        <a:rPr lang="zh-CN" altLang="en-US" sz="2400" dirty="0" smtClean="0"/>
                        <a:t>类型</a:t>
                      </a:r>
                      <a:endParaRPr lang="zh-CN" altLang="en-US" sz="2400" dirty="0"/>
                    </a:p>
                  </a:txBody>
                  <a:tcPr/>
                </a:tc>
                <a:tc>
                  <a:txBody>
                    <a:bodyPr/>
                    <a:lstStyle/>
                    <a:p>
                      <a:pPr algn="ctr"/>
                      <a:r>
                        <a:rPr lang="zh-CN" altLang="en-US" sz="2400" dirty="0" smtClean="0"/>
                        <a:t>灵敏度</a:t>
                      </a:r>
                      <a:endParaRPr lang="zh-CN" altLang="en-US" sz="2400" dirty="0"/>
                    </a:p>
                  </a:txBody>
                  <a:tcPr/>
                </a:tc>
                <a:tc>
                  <a:txBody>
                    <a:bodyPr/>
                    <a:lstStyle/>
                    <a:p>
                      <a:pPr algn="ctr"/>
                      <a:r>
                        <a:rPr lang="zh-CN" altLang="en-US" sz="2400" dirty="0" smtClean="0"/>
                        <a:t>线性性</a:t>
                      </a:r>
                      <a:endParaRPr lang="zh-CN" altLang="en-US" sz="2400" dirty="0"/>
                    </a:p>
                  </a:txBody>
                  <a:tcPr/>
                </a:tc>
                <a:tc>
                  <a:txBody>
                    <a:bodyPr/>
                    <a:lstStyle/>
                    <a:p>
                      <a:pPr algn="ctr"/>
                      <a:r>
                        <a:rPr lang="zh-CN" altLang="en-US" sz="2400" dirty="0" smtClean="0"/>
                        <a:t>示值范围</a:t>
                      </a:r>
                      <a:endParaRPr lang="zh-CN" altLang="en-US" sz="2400" dirty="0"/>
                    </a:p>
                  </a:txBody>
                  <a:tcPr/>
                </a:tc>
                <a:tc>
                  <a:txBody>
                    <a:bodyPr/>
                    <a:lstStyle/>
                    <a:p>
                      <a:pPr algn="ctr"/>
                      <a:r>
                        <a:rPr lang="zh-CN" altLang="en-US" sz="2400" dirty="0" smtClean="0"/>
                        <a:t>装配难度</a:t>
                      </a:r>
                      <a:endParaRPr lang="zh-CN" altLang="en-US" sz="2400" dirty="0"/>
                    </a:p>
                  </a:txBody>
                  <a:tcPr/>
                </a:tc>
                <a:tc>
                  <a:txBody>
                    <a:bodyPr/>
                    <a:lstStyle/>
                    <a:p>
                      <a:pPr algn="ctr"/>
                      <a:r>
                        <a:rPr lang="zh-CN" altLang="en-US" sz="2400" dirty="0" smtClean="0"/>
                        <a:t>应用范围</a:t>
                      </a:r>
                      <a:endParaRPr lang="zh-CN" altLang="en-US" sz="2400" dirty="0"/>
                    </a:p>
                  </a:txBody>
                  <a:tcPr/>
                </a:tc>
              </a:tr>
              <a:tr h="625083">
                <a:tc>
                  <a:txBody>
                    <a:bodyPr/>
                    <a:lstStyle/>
                    <a:p>
                      <a:r>
                        <a:rPr lang="zh-CN" altLang="en-US" sz="2400" b="1" dirty="0" smtClean="0">
                          <a:solidFill>
                            <a:srgbClr val="C00000"/>
                          </a:solidFill>
                          <a:latin typeface="宋体" pitchFamily="2" charset="-122"/>
                          <a:ea typeface="宋体" pitchFamily="2" charset="-122"/>
                        </a:rPr>
                        <a:t>变气隙型</a:t>
                      </a:r>
                      <a:endParaRPr lang="zh-CN" altLang="en-US" sz="2400" dirty="0">
                        <a:solidFill>
                          <a:srgbClr val="C00000"/>
                        </a:solidFill>
                      </a:endParaRPr>
                    </a:p>
                  </a:txBody>
                  <a:tcPr/>
                </a:tc>
                <a:tc>
                  <a:txBody>
                    <a:bodyPr/>
                    <a:lstStyle/>
                    <a:p>
                      <a:pPr algn="ctr"/>
                      <a:r>
                        <a:rPr lang="zh-CN" altLang="en-US" sz="2400" b="1" dirty="0" smtClean="0"/>
                        <a:t>高</a:t>
                      </a:r>
                      <a:endParaRPr lang="zh-CN" altLang="en-US" sz="2400" b="1" dirty="0"/>
                    </a:p>
                  </a:txBody>
                  <a:tcPr/>
                </a:tc>
                <a:tc>
                  <a:txBody>
                    <a:bodyPr/>
                    <a:lstStyle/>
                    <a:p>
                      <a:pPr algn="ctr"/>
                      <a:r>
                        <a:rPr lang="zh-CN" altLang="en-US" sz="2400" b="1" dirty="0" smtClean="0"/>
                        <a:t>差</a:t>
                      </a:r>
                      <a:endParaRPr lang="zh-CN" altLang="en-US" sz="2400" b="1" dirty="0"/>
                    </a:p>
                  </a:txBody>
                  <a:tcPr/>
                </a:tc>
                <a:tc>
                  <a:txBody>
                    <a:bodyPr/>
                    <a:lstStyle/>
                    <a:p>
                      <a:pPr algn="ctr"/>
                      <a:r>
                        <a:rPr lang="zh-CN" altLang="en-US" sz="2400" b="1" dirty="0" smtClean="0"/>
                        <a:t>小</a:t>
                      </a:r>
                      <a:endParaRPr lang="zh-CN" altLang="en-US" sz="2400" b="1" dirty="0"/>
                    </a:p>
                  </a:txBody>
                  <a:tcPr/>
                </a:tc>
                <a:tc>
                  <a:txBody>
                    <a:bodyPr/>
                    <a:lstStyle/>
                    <a:p>
                      <a:pPr algn="ctr"/>
                      <a:r>
                        <a:rPr lang="zh-CN" altLang="en-US" sz="2400" b="1" dirty="0" smtClean="0"/>
                        <a:t>难</a:t>
                      </a:r>
                      <a:endParaRPr lang="zh-CN" altLang="en-US" sz="2400" b="1" dirty="0"/>
                    </a:p>
                  </a:txBody>
                  <a:tcPr/>
                </a:tc>
                <a:tc>
                  <a:txBody>
                    <a:bodyPr/>
                    <a:lstStyle/>
                    <a:p>
                      <a:pPr algn="ctr"/>
                      <a:r>
                        <a:rPr lang="zh-CN" altLang="en-US" sz="2400" b="1" dirty="0" smtClean="0"/>
                        <a:t>微小位移</a:t>
                      </a:r>
                      <a:endParaRPr lang="zh-CN" altLang="en-US" sz="2400" b="1" dirty="0"/>
                    </a:p>
                  </a:txBody>
                  <a:tcPr/>
                </a:tc>
              </a:tr>
              <a:tr h="625083">
                <a:tc>
                  <a:txBody>
                    <a:bodyPr/>
                    <a:lstStyle/>
                    <a:p>
                      <a:r>
                        <a:rPr lang="zh-CN" altLang="en-US" sz="2400" b="1" dirty="0" smtClean="0">
                          <a:solidFill>
                            <a:srgbClr val="C00000"/>
                          </a:solidFill>
                          <a:latin typeface="宋体" pitchFamily="2" charset="-122"/>
                          <a:ea typeface="宋体" pitchFamily="2" charset="-122"/>
                        </a:rPr>
                        <a:t>变截面型</a:t>
                      </a:r>
                      <a:endParaRPr lang="zh-CN" altLang="en-US" sz="2400" dirty="0">
                        <a:solidFill>
                          <a:srgbClr val="C00000"/>
                        </a:solidFill>
                      </a:endParaRPr>
                    </a:p>
                  </a:txBody>
                  <a:tcPr/>
                </a:tc>
                <a:tc>
                  <a:txBody>
                    <a:bodyPr/>
                    <a:lstStyle/>
                    <a:p>
                      <a:pPr algn="ctr"/>
                      <a:r>
                        <a:rPr lang="zh-CN" altLang="en-US" sz="2400" b="1" dirty="0" smtClean="0"/>
                        <a:t>中</a:t>
                      </a:r>
                      <a:endParaRPr lang="zh-CN" altLang="en-US" sz="2400" b="1" dirty="0"/>
                    </a:p>
                  </a:txBody>
                  <a:tcPr/>
                </a:tc>
                <a:tc>
                  <a:txBody>
                    <a:bodyPr/>
                    <a:lstStyle/>
                    <a:p>
                      <a:pPr algn="ctr"/>
                      <a:r>
                        <a:rPr lang="zh-CN" altLang="en-US" sz="2400" b="1" dirty="0" smtClean="0"/>
                        <a:t>好</a:t>
                      </a:r>
                      <a:endParaRPr lang="zh-CN" altLang="en-US" sz="2400" b="1" dirty="0"/>
                    </a:p>
                  </a:txBody>
                  <a:tcPr/>
                </a:tc>
                <a:tc>
                  <a:txBody>
                    <a:bodyPr/>
                    <a:lstStyle/>
                    <a:p>
                      <a:pPr algn="ctr"/>
                      <a:r>
                        <a:rPr lang="zh-CN" altLang="en-US" sz="2400" b="1" dirty="0" smtClean="0"/>
                        <a:t>较大</a:t>
                      </a:r>
                      <a:endParaRPr lang="zh-CN" altLang="en-US" sz="2400" b="1" dirty="0"/>
                    </a:p>
                  </a:txBody>
                  <a:tcPr/>
                </a:tc>
                <a:tc>
                  <a:txBody>
                    <a:bodyPr/>
                    <a:lstStyle/>
                    <a:p>
                      <a:pPr algn="ctr"/>
                      <a:r>
                        <a:rPr lang="zh-CN" altLang="en-US" sz="2400" b="1" dirty="0" smtClean="0"/>
                        <a:t>较容易</a:t>
                      </a:r>
                      <a:endParaRPr lang="zh-CN" altLang="en-US" sz="2400" b="1" dirty="0"/>
                    </a:p>
                  </a:txBody>
                  <a:tcPr/>
                </a:tc>
                <a:tc>
                  <a:txBody>
                    <a:bodyPr/>
                    <a:lstStyle/>
                    <a:p>
                      <a:pPr algn="ctr"/>
                      <a:r>
                        <a:rPr lang="zh-CN" altLang="en-US" sz="2400" b="1" dirty="0" smtClean="0"/>
                        <a:t>中等位移</a:t>
                      </a:r>
                      <a:endParaRPr lang="zh-CN" altLang="en-US" sz="2400" b="1" dirty="0"/>
                    </a:p>
                  </a:txBody>
                  <a:tcPr/>
                </a:tc>
              </a:tr>
              <a:tr h="625083">
                <a:tc>
                  <a:txBody>
                    <a:bodyPr/>
                    <a:lstStyle/>
                    <a:p>
                      <a:r>
                        <a:rPr lang="zh-CN" altLang="en-US" sz="2400" b="1" dirty="0" smtClean="0">
                          <a:solidFill>
                            <a:srgbClr val="C00000"/>
                          </a:solidFill>
                        </a:rPr>
                        <a:t>螺线管型</a:t>
                      </a:r>
                      <a:endParaRPr lang="zh-CN" altLang="en-US" sz="2400" b="1" dirty="0">
                        <a:solidFill>
                          <a:srgbClr val="C00000"/>
                        </a:solidFill>
                      </a:endParaRPr>
                    </a:p>
                  </a:txBody>
                  <a:tcPr/>
                </a:tc>
                <a:tc>
                  <a:txBody>
                    <a:bodyPr/>
                    <a:lstStyle/>
                    <a:p>
                      <a:pPr algn="ctr"/>
                      <a:r>
                        <a:rPr lang="zh-CN" altLang="en-US" sz="2400" b="1" dirty="0" smtClean="0">
                          <a:solidFill>
                            <a:schemeClr val="tx1"/>
                          </a:solidFill>
                        </a:rPr>
                        <a:t>低</a:t>
                      </a:r>
                      <a:endParaRPr lang="zh-CN" altLang="en-US" sz="2400" b="1" dirty="0">
                        <a:solidFill>
                          <a:schemeClr val="tx1"/>
                        </a:solidFill>
                      </a:endParaRPr>
                    </a:p>
                  </a:txBody>
                  <a:tcPr/>
                </a:tc>
                <a:tc>
                  <a:txBody>
                    <a:bodyPr/>
                    <a:lstStyle/>
                    <a:p>
                      <a:pPr algn="ctr"/>
                      <a:r>
                        <a:rPr lang="zh-CN" altLang="en-US" sz="2400" b="1" dirty="0" smtClean="0">
                          <a:solidFill>
                            <a:schemeClr val="tx1"/>
                          </a:solidFill>
                        </a:rPr>
                        <a:t>好</a:t>
                      </a:r>
                      <a:endParaRPr lang="zh-CN" altLang="en-US" sz="2400" b="1" dirty="0">
                        <a:solidFill>
                          <a:schemeClr val="tx1"/>
                        </a:solidFill>
                      </a:endParaRPr>
                    </a:p>
                  </a:txBody>
                  <a:tcPr/>
                </a:tc>
                <a:tc>
                  <a:txBody>
                    <a:bodyPr/>
                    <a:lstStyle/>
                    <a:p>
                      <a:pPr algn="ctr"/>
                      <a:r>
                        <a:rPr lang="zh-CN" altLang="en-US" sz="2400" b="1" dirty="0" smtClean="0">
                          <a:solidFill>
                            <a:schemeClr val="tx1"/>
                          </a:solidFill>
                        </a:rPr>
                        <a:t>很大</a:t>
                      </a:r>
                      <a:endParaRPr lang="zh-CN" altLang="en-US" sz="2400" b="1" dirty="0">
                        <a:solidFill>
                          <a:schemeClr val="tx1"/>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1" dirty="0" smtClean="0">
                          <a:solidFill>
                            <a:schemeClr val="tx1"/>
                          </a:solidFill>
                        </a:rPr>
                        <a:t>较容易</a:t>
                      </a:r>
                      <a:endParaRPr lang="zh-CN" altLang="en-US" sz="2400" b="1" dirty="0">
                        <a:solidFill>
                          <a:schemeClr val="tx1"/>
                        </a:solidFill>
                      </a:endParaRPr>
                    </a:p>
                  </a:txBody>
                  <a:tcPr/>
                </a:tc>
                <a:tc>
                  <a:txBody>
                    <a:bodyPr/>
                    <a:lstStyle/>
                    <a:p>
                      <a:pPr algn="ctr"/>
                      <a:r>
                        <a:rPr lang="zh-CN" altLang="en-US" sz="2400" b="1" dirty="0" smtClean="0">
                          <a:solidFill>
                            <a:schemeClr val="tx1"/>
                          </a:solidFill>
                        </a:rPr>
                        <a:t>大位移</a:t>
                      </a:r>
                      <a:endParaRPr lang="zh-CN" altLang="en-US" sz="2400" b="1" dirty="0">
                        <a:solidFill>
                          <a:schemeClr val="tx1"/>
                        </a:solidFill>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9" name="Rectangle 7"/>
          <p:cNvSpPr txBox="1">
            <a:spLocks noChangeArrowheads="1"/>
          </p:cNvSpPr>
          <p:nvPr/>
        </p:nvSpPr>
        <p:spPr bwMode="auto">
          <a:xfrm>
            <a:off x="642938" y="1571625"/>
            <a:ext cx="7726362" cy="576263"/>
          </a:xfrm>
          <a:prstGeom prst="rect">
            <a:avLst/>
          </a:prstGeom>
          <a:noFill/>
          <a:ln w="9525">
            <a:noFill/>
            <a:miter lim="800000"/>
            <a:headEnd/>
            <a:tailEnd/>
          </a:ln>
        </p:spPr>
        <p:txBody>
          <a:bodyPr/>
          <a:lstStyle/>
          <a:p>
            <a:pPr>
              <a:defRPr/>
            </a:pPr>
            <a:r>
              <a:rPr kumimoji="0" lang="zh-CN" altLang="en-US" sz="2800" b="1" dirty="0">
                <a:solidFill>
                  <a:srgbClr val="FF6600"/>
                </a:solidFill>
                <a:latin typeface="黑体" pitchFamily="49" charset="-122"/>
                <a:ea typeface="黑体" pitchFamily="49" charset="-122"/>
                <a:cs typeface="+mj-cs"/>
              </a:rPr>
              <a:t>自感线圈的等效电路</a:t>
            </a:r>
          </a:p>
        </p:txBody>
      </p:sp>
      <p:sp>
        <p:nvSpPr>
          <p:cNvPr id="8199" name="Text Box 18"/>
          <p:cNvSpPr txBox="1">
            <a:spLocks noChangeArrowheads="1"/>
          </p:cNvSpPr>
          <p:nvPr/>
        </p:nvSpPr>
        <p:spPr bwMode="auto">
          <a:xfrm>
            <a:off x="571500" y="2214563"/>
            <a:ext cx="5256213" cy="1816100"/>
          </a:xfrm>
          <a:prstGeom prst="rect">
            <a:avLst/>
          </a:prstGeom>
          <a:noFill/>
          <a:ln w="9525" algn="ctr">
            <a:noFill/>
            <a:miter lim="800000"/>
            <a:headEnd/>
            <a:tailEnd/>
          </a:ln>
        </p:spPr>
        <p:txBody>
          <a:bodyPr>
            <a:spAutoFit/>
          </a:bodyPr>
          <a:lstStyle/>
          <a:p>
            <a:pPr indent="352425">
              <a:spcBef>
                <a:spcPct val="20000"/>
              </a:spcBef>
              <a:buClr>
                <a:schemeClr val="folHlink"/>
              </a:buClr>
              <a:buSzPct val="60000"/>
              <a:buFont typeface="Wingdings" pitchFamily="2" charset="2"/>
              <a:buNone/>
            </a:pPr>
            <a:r>
              <a:rPr lang="zh-CN" altLang="en-US" sz="2800" b="1">
                <a:latin typeface="宋体" pitchFamily="2" charset="-122"/>
              </a:rPr>
              <a:t>自感式传感器非纯电感，既有线圈的</a:t>
            </a:r>
            <a:r>
              <a:rPr lang="zh-CN" altLang="en-US" sz="2800" b="1">
                <a:solidFill>
                  <a:srgbClr val="C00000"/>
                </a:solidFill>
                <a:latin typeface="宋体" pitchFamily="2" charset="-122"/>
              </a:rPr>
              <a:t>铜耗</a:t>
            </a:r>
            <a:r>
              <a:rPr lang="zh-CN" altLang="en-US" sz="2800" b="1">
                <a:latin typeface="宋体" pitchFamily="2" charset="-122"/>
              </a:rPr>
              <a:t>，又有铁芯的</a:t>
            </a:r>
            <a:r>
              <a:rPr lang="zh-CN" altLang="en-US" sz="2800" b="1">
                <a:solidFill>
                  <a:srgbClr val="C00000"/>
                </a:solidFill>
                <a:latin typeface="宋体" pitchFamily="2" charset="-122"/>
              </a:rPr>
              <a:t>涡流</a:t>
            </a:r>
            <a:r>
              <a:rPr lang="zh-CN" altLang="en-US" sz="2800" b="1">
                <a:latin typeface="宋体" pitchFamily="2" charset="-122"/>
              </a:rPr>
              <a:t>及</a:t>
            </a:r>
            <a:r>
              <a:rPr lang="zh-CN" altLang="en-US" sz="2800" b="1">
                <a:solidFill>
                  <a:srgbClr val="C00000"/>
                </a:solidFill>
                <a:latin typeface="宋体" pitchFamily="2" charset="-122"/>
              </a:rPr>
              <a:t>磁滞</a:t>
            </a:r>
            <a:r>
              <a:rPr lang="zh-CN" altLang="en-US" sz="2800" b="1">
                <a:latin typeface="宋体" pitchFamily="2" charset="-122"/>
              </a:rPr>
              <a:t>损耗，可用折合的</a:t>
            </a:r>
            <a:r>
              <a:rPr lang="zh-CN" altLang="en-US" sz="2800" b="1">
                <a:solidFill>
                  <a:srgbClr val="FF0000"/>
                </a:solidFill>
                <a:latin typeface="宋体" pitchFamily="2" charset="-122"/>
              </a:rPr>
              <a:t>有功电阻抗 </a:t>
            </a:r>
            <a:r>
              <a:rPr lang="en-US" altLang="zh-CN" sz="2800" b="1" i="1">
                <a:solidFill>
                  <a:srgbClr val="FF0000"/>
                </a:solidFill>
                <a:latin typeface="Times New Roman" pitchFamily="18" charset="0"/>
                <a:cs typeface="Times New Roman" pitchFamily="18" charset="0"/>
              </a:rPr>
              <a:t>Rq</a:t>
            </a:r>
            <a:r>
              <a:rPr lang="zh-CN" altLang="en-US" sz="2800" b="1">
                <a:latin typeface="宋体" pitchFamily="2" charset="-122"/>
              </a:rPr>
              <a:t>表示。</a:t>
            </a:r>
            <a:endParaRPr lang="en-US" altLang="zh-CN" sz="2800" b="1">
              <a:latin typeface="宋体" pitchFamily="2" charset="-122"/>
            </a:endParaRPr>
          </a:p>
        </p:txBody>
      </p:sp>
      <p:sp>
        <p:nvSpPr>
          <p:cNvPr id="8200" name="矩形 9"/>
          <p:cNvSpPr>
            <a:spLocks noChangeArrowheads="1"/>
          </p:cNvSpPr>
          <p:nvPr/>
        </p:nvSpPr>
        <p:spPr bwMode="auto">
          <a:xfrm>
            <a:off x="571500" y="4286250"/>
            <a:ext cx="4572000" cy="1384300"/>
          </a:xfrm>
          <a:prstGeom prst="rect">
            <a:avLst/>
          </a:prstGeom>
          <a:noFill/>
          <a:ln w="9525">
            <a:noFill/>
            <a:miter lim="800000"/>
            <a:headEnd/>
            <a:tailEnd/>
          </a:ln>
        </p:spPr>
        <p:txBody>
          <a:bodyPr>
            <a:spAutoFit/>
          </a:bodyPr>
          <a:lstStyle/>
          <a:p>
            <a:pPr indent="352425">
              <a:spcBef>
                <a:spcPct val="20000"/>
              </a:spcBef>
              <a:buClr>
                <a:schemeClr val="folHlink"/>
              </a:buClr>
              <a:buSzPct val="60000"/>
              <a:buFont typeface="Wingdings" pitchFamily="2" charset="2"/>
              <a:buNone/>
            </a:pPr>
            <a:r>
              <a:rPr lang="zh-CN" altLang="en-US" sz="2800" b="1" dirty="0">
                <a:solidFill>
                  <a:srgbClr val="FF0000"/>
                </a:solidFill>
                <a:latin typeface="宋体" pitchFamily="2" charset="-122"/>
              </a:rPr>
              <a:t>无功阻抗 </a:t>
            </a:r>
            <a:r>
              <a:rPr lang="zh-CN" altLang="en-US" sz="2800" b="1" dirty="0">
                <a:latin typeface="宋体" pitchFamily="2" charset="-122"/>
              </a:rPr>
              <a:t>除电感之外还包括绕组间分布电容。这部分电容用集总参数</a:t>
            </a:r>
            <a:r>
              <a:rPr lang="en-US" altLang="zh-CN" sz="2800" b="1" i="1" dirty="0">
                <a:solidFill>
                  <a:srgbClr val="FF0000"/>
                </a:solidFill>
                <a:latin typeface="宋体" pitchFamily="2" charset="-122"/>
              </a:rPr>
              <a:t>C</a:t>
            </a:r>
            <a:r>
              <a:rPr lang="zh-CN" altLang="en-US" sz="2800" b="1" i="1" dirty="0">
                <a:solidFill>
                  <a:srgbClr val="CC3300"/>
                </a:solidFill>
                <a:latin typeface="宋体" pitchFamily="2" charset="-122"/>
              </a:rPr>
              <a:t> </a:t>
            </a:r>
            <a:r>
              <a:rPr lang="zh-CN" altLang="en-US" sz="2800" b="1" dirty="0">
                <a:latin typeface="宋体" pitchFamily="2" charset="-122"/>
              </a:rPr>
              <a:t>表示。</a:t>
            </a:r>
            <a:endParaRPr lang="en-US" altLang="zh-CN" sz="2800" dirty="0"/>
          </a:p>
        </p:txBody>
      </p:sp>
      <p:graphicFrame>
        <p:nvGraphicFramePr>
          <p:cNvPr id="8194" name="Object 15"/>
          <p:cNvGraphicFramePr>
            <a:graphicFrameLocks noGrp="1" noChangeAspect="1"/>
          </p:cNvGraphicFramePr>
          <p:nvPr/>
        </p:nvGraphicFramePr>
        <p:xfrm>
          <a:off x="5786438" y="2143125"/>
          <a:ext cx="2906712" cy="3444875"/>
        </p:xfrm>
        <a:graphic>
          <a:graphicData uri="http://schemas.openxmlformats.org/presentationml/2006/ole">
            <p:oleObj spid="_x0000_s8194" name="Flash Movie" r:id="rId3" imgW="4101480" imgH="4861080" progId="">
              <p:embed/>
            </p:oleObj>
          </a:graphicData>
        </a:graphic>
      </p:graphicFrame>
      <p:sp>
        <p:nvSpPr>
          <p:cNvPr id="11" name="椭圆 10"/>
          <p:cNvSpPr/>
          <p:nvPr/>
        </p:nvSpPr>
        <p:spPr>
          <a:xfrm>
            <a:off x="6858000" y="2571750"/>
            <a:ext cx="857250" cy="8572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椭圆 11"/>
          <p:cNvSpPr/>
          <p:nvPr/>
        </p:nvSpPr>
        <p:spPr>
          <a:xfrm rot="2148055">
            <a:off x="7031038" y="3189288"/>
            <a:ext cx="989012" cy="17684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圆角矩形标注 12"/>
          <p:cNvSpPr/>
          <p:nvPr/>
        </p:nvSpPr>
        <p:spPr>
          <a:xfrm>
            <a:off x="7143750" y="1643063"/>
            <a:ext cx="1714500" cy="500062"/>
          </a:xfrm>
          <a:prstGeom prst="wedgeRoundRectCallout">
            <a:avLst>
              <a:gd name="adj1" fmla="val -35808"/>
              <a:gd name="adj2" fmla="val 10743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2800" b="1" dirty="0">
                <a:solidFill>
                  <a:schemeClr val="tx1"/>
                </a:solidFill>
              </a:rPr>
              <a:t>有功阻抗</a:t>
            </a:r>
          </a:p>
        </p:txBody>
      </p:sp>
      <p:sp>
        <p:nvSpPr>
          <p:cNvPr id="14" name="圆角矩形标注 13"/>
          <p:cNvSpPr/>
          <p:nvPr/>
        </p:nvSpPr>
        <p:spPr>
          <a:xfrm>
            <a:off x="7215188" y="5500688"/>
            <a:ext cx="1714500" cy="500062"/>
          </a:xfrm>
          <a:prstGeom prst="wedgeRoundRectCallout">
            <a:avLst>
              <a:gd name="adj1" fmla="val -28452"/>
              <a:gd name="adj2" fmla="val -20783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2800" b="1" dirty="0">
                <a:solidFill>
                  <a:schemeClr val="tx1"/>
                </a:solidFill>
              </a:rPr>
              <a:t>无功阻抗</a:t>
            </a:r>
          </a:p>
        </p:txBody>
      </p:sp>
      <p:graphicFrame>
        <p:nvGraphicFramePr>
          <p:cNvPr id="8195" name="Object 20"/>
          <p:cNvGraphicFramePr>
            <a:graphicFrameLocks noGrp="1" noChangeAspect="1"/>
          </p:cNvGraphicFramePr>
          <p:nvPr/>
        </p:nvGraphicFramePr>
        <p:xfrm>
          <a:off x="500063" y="5745163"/>
          <a:ext cx="2663825" cy="1112837"/>
        </p:xfrm>
        <a:graphic>
          <a:graphicData uri="http://schemas.openxmlformats.org/presentationml/2006/ole">
            <p:oleObj spid="_x0000_s8195" name="Flash Movie" r:id="rId4" imgW="2255040" imgH="661680" progId="">
              <p:embed/>
            </p:oleObj>
          </a:graphicData>
        </a:graphic>
      </p:graphicFrame>
      <p:sp>
        <p:nvSpPr>
          <p:cNvPr id="8205" name="Text Box 22"/>
          <p:cNvSpPr txBox="1">
            <a:spLocks noChangeArrowheads="1"/>
          </p:cNvSpPr>
          <p:nvPr/>
        </p:nvSpPr>
        <p:spPr bwMode="auto">
          <a:xfrm>
            <a:off x="3714750" y="5842000"/>
            <a:ext cx="3357580" cy="1016000"/>
          </a:xfrm>
          <a:prstGeom prst="rect">
            <a:avLst/>
          </a:prstGeom>
          <a:noFill/>
          <a:ln w="9525" algn="ctr">
            <a:noFill/>
            <a:miter lim="800000"/>
            <a:headEnd/>
            <a:tailEnd/>
          </a:ln>
        </p:spPr>
        <p:txBody>
          <a:bodyPr wrap="square">
            <a:spAutoFit/>
          </a:bodyPr>
          <a:lstStyle/>
          <a:p>
            <a:r>
              <a:rPr kumimoji="0" lang="en-US" altLang="zh-CN" b="1" i="1" dirty="0" err="1">
                <a:solidFill>
                  <a:srgbClr val="CC3300"/>
                </a:solidFill>
                <a:latin typeface="宋体" pitchFamily="2" charset="-122"/>
              </a:rPr>
              <a:t>R</a:t>
            </a:r>
            <a:r>
              <a:rPr kumimoji="0" lang="en-US" altLang="zh-CN" b="1" baseline="-25000" dirty="0" err="1">
                <a:solidFill>
                  <a:srgbClr val="CC3300"/>
                </a:solidFill>
                <a:latin typeface="宋体" pitchFamily="2" charset="-122"/>
              </a:rPr>
              <a:t>m</a:t>
            </a:r>
            <a:r>
              <a:rPr kumimoji="0" lang="en-US" altLang="zh-CN" b="1" dirty="0">
                <a:solidFill>
                  <a:srgbClr val="CC3300"/>
                </a:solidFill>
                <a:latin typeface="宋体" pitchFamily="2" charset="-122"/>
              </a:rPr>
              <a:t>---</a:t>
            </a:r>
            <a:r>
              <a:rPr kumimoji="0" lang="zh-CN" altLang="en-US" b="1" dirty="0">
                <a:solidFill>
                  <a:srgbClr val="CC3300"/>
                </a:solidFill>
                <a:latin typeface="宋体" pitchFamily="2" charset="-122"/>
              </a:rPr>
              <a:t>磁路总磁阻；</a:t>
            </a:r>
          </a:p>
          <a:p>
            <a:r>
              <a:rPr kumimoji="0" lang="en-US" altLang="zh-CN" b="1" i="1" dirty="0" err="1">
                <a:solidFill>
                  <a:srgbClr val="CC3300"/>
                </a:solidFill>
                <a:latin typeface="宋体" pitchFamily="2" charset="-122"/>
              </a:rPr>
              <a:t>Z</a:t>
            </a:r>
            <a:r>
              <a:rPr kumimoji="0" lang="en-US" altLang="zh-CN" b="1" baseline="-25000" dirty="0" err="1">
                <a:solidFill>
                  <a:srgbClr val="CC3300"/>
                </a:solidFill>
                <a:latin typeface="宋体" pitchFamily="2" charset="-122"/>
              </a:rPr>
              <a:t>m</a:t>
            </a:r>
            <a:r>
              <a:rPr kumimoji="0" lang="en-US" altLang="zh-CN" b="1" dirty="0">
                <a:solidFill>
                  <a:srgbClr val="CC3300"/>
                </a:solidFill>
                <a:latin typeface="宋体" pitchFamily="2" charset="-122"/>
              </a:rPr>
              <a:t>---</a:t>
            </a:r>
            <a:r>
              <a:rPr kumimoji="0" lang="zh-CN" altLang="en-US" b="1" dirty="0">
                <a:solidFill>
                  <a:srgbClr val="CC3300"/>
                </a:solidFill>
                <a:latin typeface="宋体" pitchFamily="2" charset="-122"/>
              </a:rPr>
              <a:t>铁芯部分的磁阻抗；</a:t>
            </a:r>
          </a:p>
          <a:p>
            <a:r>
              <a:rPr kumimoji="0" lang="en-US" altLang="zh-CN" b="1" i="1" dirty="0">
                <a:solidFill>
                  <a:srgbClr val="CC3300"/>
                </a:solidFill>
                <a:latin typeface="宋体" pitchFamily="2" charset="-122"/>
              </a:rPr>
              <a:t>Z</a:t>
            </a:r>
            <a:r>
              <a:rPr kumimoji="0" lang="en-US" altLang="zh-CN" b="1" baseline="-25000" dirty="0">
                <a:solidFill>
                  <a:srgbClr val="CC3300"/>
                </a:solidFill>
                <a:latin typeface="宋体" pitchFamily="2" charset="-122"/>
              </a:rPr>
              <a:t>0</a:t>
            </a:r>
            <a:r>
              <a:rPr kumimoji="0" lang="en-US" altLang="zh-CN" b="1" dirty="0">
                <a:solidFill>
                  <a:srgbClr val="CC3300"/>
                </a:solidFill>
                <a:latin typeface="宋体" pitchFamily="2" charset="-122"/>
              </a:rPr>
              <a:t>--</a:t>
            </a:r>
            <a:r>
              <a:rPr kumimoji="0" lang="zh-CN" altLang="en-US" b="1" dirty="0">
                <a:solidFill>
                  <a:srgbClr val="CC3300"/>
                </a:solidFill>
                <a:latin typeface="宋体" pitchFamily="2" charset="-122"/>
              </a:rPr>
              <a:t>空气隙的磁阻抗。</a:t>
            </a:r>
            <a:endParaRPr lang="zh-CN" altLang="en-US" dirty="0">
              <a:solidFill>
                <a:srgbClr val="CC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00"/>
                                        </p:tgtEl>
                                        <p:attrNameLst>
                                          <p:attrName>style.visibility</p:attrName>
                                        </p:attrNameLst>
                                      </p:cBhvr>
                                      <p:to>
                                        <p:strVal val="visible"/>
                                      </p:to>
                                    </p:set>
                                    <p:animEffect transition="in" filter="blinds(horizontal)">
                                      <p:cBhvr>
                                        <p:cTn id="7" dur="500"/>
                                        <p:tgtEl>
                                          <p:spTgt spid="8200"/>
                                        </p:tgtEl>
                                      </p:cBhvr>
                                    </p:animEffect>
                                  </p:childTnLst>
                                </p:cTn>
                              </p:par>
                              <p:par>
                                <p:cTn id="8" presetID="3" presetClass="entr" presetSubtype="10" fill="hold" nodeType="withEffect">
                                  <p:stCondLst>
                                    <p:cond delay="0"/>
                                  </p:stCondLst>
                                  <p:childTnLst>
                                    <p:set>
                                      <p:cBhvr>
                                        <p:cTn id="9" dur="1" fill="hold">
                                          <p:stCondLst>
                                            <p:cond delay="0"/>
                                          </p:stCondLst>
                                        </p:cTn>
                                        <p:tgtEl>
                                          <p:spTgt spid="8195"/>
                                        </p:tgtEl>
                                        <p:attrNameLst>
                                          <p:attrName>style.visibility</p:attrName>
                                        </p:attrNameLst>
                                      </p:cBhvr>
                                      <p:to>
                                        <p:strVal val="visible"/>
                                      </p:to>
                                    </p:set>
                                    <p:animEffect transition="in" filter="blinds(horizontal)">
                                      <p:cBhvr>
                                        <p:cTn id="10" dur="500"/>
                                        <p:tgtEl>
                                          <p:spTgt spid="819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205"/>
                                        </p:tgtEl>
                                        <p:attrNameLst>
                                          <p:attrName>style.visibility</p:attrName>
                                        </p:attrNameLst>
                                      </p:cBhvr>
                                      <p:to>
                                        <p:strVal val="visible"/>
                                      </p:to>
                                    </p:set>
                                    <p:animEffect transition="in" filter="blinds(horizontal)">
                                      <p:cBhvr>
                                        <p:cTn id="13" dur="500"/>
                                        <p:tgtEl>
                                          <p:spTgt spid="8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0" grpId="0"/>
      <p:bldP spid="820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580" name="矩形 14"/>
          <p:cNvSpPr>
            <a:spLocks noChangeArrowheads="1"/>
          </p:cNvSpPr>
          <p:nvPr/>
        </p:nvSpPr>
        <p:spPr bwMode="auto">
          <a:xfrm>
            <a:off x="642938" y="1643063"/>
            <a:ext cx="1627187" cy="523875"/>
          </a:xfrm>
          <a:prstGeom prst="rect">
            <a:avLst/>
          </a:prstGeom>
          <a:noFill/>
          <a:ln w="9525">
            <a:noFill/>
            <a:miter lim="800000"/>
            <a:headEnd/>
            <a:tailEnd/>
          </a:ln>
        </p:spPr>
        <p:txBody>
          <a:bodyPr wrap="none">
            <a:spAutoFit/>
          </a:bodyPr>
          <a:lstStyle/>
          <a:p>
            <a:r>
              <a:rPr lang="zh-CN" altLang="en-US" sz="2800" b="1">
                <a:solidFill>
                  <a:srgbClr val="FF6600"/>
                </a:solidFill>
                <a:latin typeface="黑体" pitchFamily="2" charset="-122"/>
                <a:ea typeface="黑体" pitchFamily="2" charset="-122"/>
              </a:rPr>
              <a:t>损耗电阻</a:t>
            </a:r>
            <a:endParaRPr lang="zh-CN" altLang="en-US" sz="2800">
              <a:solidFill>
                <a:srgbClr val="FF6600"/>
              </a:solidFill>
              <a:latin typeface="黑体" pitchFamily="2" charset="-122"/>
              <a:ea typeface="黑体" pitchFamily="2" charset="-122"/>
            </a:endParaRPr>
          </a:p>
        </p:txBody>
      </p:sp>
      <p:sp>
        <p:nvSpPr>
          <p:cNvPr id="9222" name="Text Box 10"/>
          <p:cNvSpPr txBox="1">
            <a:spLocks noChangeArrowheads="1"/>
          </p:cNvSpPr>
          <p:nvPr/>
        </p:nvSpPr>
        <p:spPr bwMode="auto">
          <a:xfrm>
            <a:off x="214313" y="2357438"/>
            <a:ext cx="8643937" cy="1384300"/>
          </a:xfrm>
          <a:prstGeom prst="rect">
            <a:avLst/>
          </a:prstGeom>
          <a:noFill/>
          <a:ln w="9525">
            <a:noFill/>
            <a:miter lim="800000"/>
            <a:headEnd/>
            <a:tailEnd/>
          </a:ln>
        </p:spPr>
        <p:txBody>
          <a:bodyPr>
            <a:spAutoFit/>
          </a:bodyPr>
          <a:lstStyle/>
          <a:p>
            <a:pPr>
              <a:buClr>
                <a:schemeClr val="tx1"/>
              </a:buClr>
              <a:buFont typeface="Wingdings" pitchFamily="2" charset="2"/>
              <a:buChar char="u"/>
              <a:defRPr/>
            </a:pPr>
            <a:r>
              <a:rPr lang="zh-CN" altLang="en-US" sz="2800" b="1" dirty="0">
                <a:latin typeface="Verdana" pitchFamily="34" charset="0"/>
              </a:rPr>
              <a:t> 铜损电阻</a:t>
            </a:r>
          </a:p>
          <a:p>
            <a:pPr indent="441325">
              <a:defRPr/>
            </a:pPr>
            <a:r>
              <a:rPr lang="zh-CN" altLang="en-US" sz="2800" b="1" dirty="0">
                <a:latin typeface="Lucida Sans" pitchFamily="34" charset="0"/>
              </a:rPr>
              <a:t>仅与导线的材料和线圈的几何尺寸有关。在信号频率较低，可以不考虑 </a:t>
            </a:r>
            <a:r>
              <a:rPr lang="zh-CN" altLang="en-US" sz="2800" b="1" dirty="0">
                <a:solidFill>
                  <a:srgbClr val="C00000"/>
                </a:solidFill>
                <a:latin typeface="Lucida Sans" pitchFamily="34" charset="0"/>
              </a:rPr>
              <a:t>集肤效应</a:t>
            </a:r>
            <a:r>
              <a:rPr lang="zh-CN" altLang="en-US" sz="2800" b="1" dirty="0">
                <a:latin typeface="Lucida Sans" pitchFamily="34" charset="0"/>
              </a:rPr>
              <a:t>，电阻与频率也无关。</a:t>
            </a:r>
          </a:p>
        </p:txBody>
      </p:sp>
      <p:sp>
        <p:nvSpPr>
          <p:cNvPr id="24582" name="矩形 12"/>
          <p:cNvSpPr>
            <a:spLocks noChangeArrowheads="1"/>
          </p:cNvSpPr>
          <p:nvPr/>
        </p:nvSpPr>
        <p:spPr bwMode="auto">
          <a:xfrm>
            <a:off x="2643188" y="2286000"/>
            <a:ext cx="2573337" cy="523875"/>
          </a:xfrm>
          <a:prstGeom prst="rect">
            <a:avLst/>
          </a:prstGeom>
          <a:solidFill>
            <a:srgbClr val="92D050"/>
          </a:solidFill>
          <a:ln w="9525">
            <a:noFill/>
            <a:miter lim="800000"/>
            <a:headEnd/>
            <a:tailEnd/>
          </a:ln>
        </p:spPr>
        <p:txBody>
          <a:bodyPr wrap="none">
            <a:spAutoFit/>
          </a:bodyPr>
          <a:lstStyle/>
          <a:p>
            <a:pPr algn="ctr"/>
            <a:r>
              <a:rPr lang="en-US" altLang="zh-CN" sz="2800" b="1" i="1">
                <a:solidFill>
                  <a:srgbClr val="FF0000"/>
                </a:solidFill>
                <a:latin typeface="Times New Roman" pitchFamily="18" charset="0"/>
              </a:rPr>
              <a:t>R</a:t>
            </a:r>
            <a:r>
              <a:rPr lang="en-US" altLang="zh-CN" sz="2800" b="1" i="1" baseline="-25000">
                <a:solidFill>
                  <a:srgbClr val="FF0000"/>
                </a:solidFill>
                <a:latin typeface="Times New Roman" pitchFamily="18" charset="0"/>
              </a:rPr>
              <a:t>c</a:t>
            </a:r>
            <a:r>
              <a:rPr lang="en-US" altLang="zh-CN" sz="2800" b="1" i="1">
                <a:solidFill>
                  <a:srgbClr val="FF0000"/>
                </a:solidFill>
                <a:latin typeface="Times New Roman" pitchFamily="18" charset="0"/>
              </a:rPr>
              <a:t>  = 4</a:t>
            </a:r>
            <a:r>
              <a:rPr lang="en-US" altLang="zh-CN" sz="2800" b="1" i="1">
                <a:solidFill>
                  <a:srgbClr val="FF0000"/>
                </a:solidFill>
                <a:latin typeface="Times New Roman" pitchFamily="18" charset="0"/>
                <a:sym typeface="Symbol" pitchFamily="18" charset="2"/>
              </a:rPr>
              <a:t>Nl/(d)</a:t>
            </a:r>
            <a:r>
              <a:rPr lang="en-US" altLang="zh-CN" sz="2800" b="1" i="1" baseline="30000">
                <a:solidFill>
                  <a:srgbClr val="FF0000"/>
                </a:solidFill>
                <a:latin typeface="Times New Roman" pitchFamily="18" charset="0"/>
                <a:sym typeface="Symbol" pitchFamily="18" charset="2"/>
              </a:rPr>
              <a:t>2</a:t>
            </a:r>
          </a:p>
        </p:txBody>
      </p:sp>
      <p:sp>
        <p:nvSpPr>
          <p:cNvPr id="16" name="Text Box 10"/>
          <p:cNvSpPr txBox="1">
            <a:spLocks noChangeArrowheads="1"/>
          </p:cNvSpPr>
          <p:nvPr/>
        </p:nvSpPr>
        <p:spPr bwMode="auto">
          <a:xfrm>
            <a:off x="285720" y="4786322"/>
            <a:ext cx="8429625" cy="1384300"/>
          </a:xfrm>
          <a:prstGeom prst="rect">
            <a:avLst/>
          </a:prstGeom>
          <a:noFill/>
          <a:ln w="9525">
            <a:noFill/>
            <a:miter lim="800000"/>
            <a:headEnd/>
            <a:tailEnd/>
          </a:ln>
        </p:spPr>
        <p:txBody>
          <a:bodyPr>
            <a:spAutoFit/>
          </a:bodyPr>
          <a:lstStyle/>
          <a:p>
            <a:pPr>
              <a:buFont typeface="Wingdings" pitchFamily="2" charset="2"/>
              <a:buChar char="u"/>
              <a:defRPr/>
            </a:pPr>
            <a:r>
              <a:rPr lang="zh-CN" altLang="en-US" sz="2800" b="1" dirty="0">
                <a:latin typeface="Verdana" pitchFamily="34" charset="0"/>
              </a:rPr>
              <a:t> 涡流损耗电阻 </a:t>
            </a:r>
          </a:p>
          <a:p>
            <a:pPr indent="536575">
              <a:defRPr/>
            </a:pPr>
            <a:r>
              <a:rPr lang="zh-CN" altLang="en-US" sz="2800" b="1" dirty="0">
                <a:latin typeface="宋体" pitchFamily="2" charset="-122"/>
              </a:rPr>
              <a:t>交变磁场的存在，使铁心中产生涡流，造成涡流损耗，大小与铁心材料、几何形状和厚度有关。</a:t>
            </a:r>
            <a:endParaRPr lang="zh-CN" altLang="en-US" sz="2800" b="1" dirty="0">
              <a:latin typeface="Verdana" pitchFamily="34" charset="0"/>
            </a:endParaRPr>
          </a:p>
        </p:txBody>
      </p:sp>
      <p:sp>
        <p:nvSpPr>
          <p:cNvPr id="9" name="Text Box 10"/>
          <p:cNvSpPr txBox="1">
            <a:spLocks noChangeArrowheads="1"/>
          </p:cNvSpPr>
          <p:nvPr/>
        </p:nvSpPr>
        <p:spPr bwMode="auto">
          <a:xfrm>
            <a:off x="285720" y="3714752"/>
            <a:ext cx="8429625" cy="954107"/>
          </a:xfrm>
          <a:prstGeom prst="rect">
            <a:avLst/>
          </a:prstGeom>
          <a:noFill/>
          <a:ln w="9525">
            <a:noFill/>
            <a:miter lim="800000"/>
            <a:headEnd/>
            <a:tailEnd/>
          </a:ln>
        </p:spPr>
        <p:txBody>
          <a:bodyPr>
            <a:spAutoFit/>
          </a:bodyPr>
          <a:lstStyle/>
          <a:p>
            <a:pPr>
              <a:defRPr/>
            </a:pPr>
            <a:r>
              <a:rPr lang="zh-CN" altLang="en-US" sz="2800" b="1" dirty="0" smtClean="0">
                <a:solidFill>
                  <a:srgbClr val="C00000"/>
                </a:solidFill>
                <a:latin typeface="华文楷体" pitchFamily="2" charset="-122"/>
                <a:ea typeface="华文楷体" pitchFamily="2" charset="-122"/>
              </a:rPr>
              <a:t>  集</a:t>
            </a:r>
            <a:r>
              <a:rPr lang="zh-CN" altLang="en-US" sz="2800" b="1" dirty="0" smtClean="0">
                <a:solidFill>
                  <a:srgbClr val="C00000"/>
                </a:solidFill>
                <a:latin typeface="华文楷体" pitchFamily="2" charset="-122"/>
                <a:ea typeface="华文楷体" pitchFamily="2" charset="-122"/>
              </a:rPr>
              <a:t>肤</a:t>
            </a:r>
            <a:r>
              <a:rPr lang="zh-CN" altLang="en-US" sz="2800" b="1" dirty="0" smtClean="0">
                <a:solidFill>
                  <a:srgbClr val="C00000"/>
                </a:solidFill>
                <a:latin typeface="华文楷体" pitchFamily="2" charset="-122"/>
                <a:ea typeface="华文楷体" pitchFamily="2" charset="-122"/>
              </a:rPr>
              <a:t>效应：</a:t>
            </a:r>
            <a:r>
              <a:rPr lang="zh-CN" altLang="en-US" sz="2800" b="1" dirty="0" smtClean="0">
                <a:latin typeface="华文楷体" pitchFamily="2" charset="-122"/>
                <a:ea typeface="华文楷体" pitchFamily="2" charset="-122"/>
              </a:rPr>
              <a:t>原理</a:t>
            </a:r>
            <a:r>
              <a:rPr lang="en-US" altLang="zh-CN" sz="2800" b="1" dirty="0" smtClean="0">
                <a:latin typeface="华文楷体" pitchFamily="2" charset="-122"/>
                <a:ea typeface="华文楷体" pitchFamily="2" charset="-122"/>
              </a:rPr>
              <a:t>-</a:t>
            </a:r>
            <a:r>
              <a:rPr lang="zh-CN" altLang="en-US" sz="2800" b="1" dirty="0" smtClean="0">
                <a:latin typeface="华文楷体" pitchFamily="2" charset="-122"/>
                <a:ea typeface="华文楷体" pitchFamily="2" charset="-122"/>
              </a:rPr>
              <a:t>电磁感应；应用</a:t>
            </a:r>
            <a:r>
              <a:rPr lang="en-US" altLang="zh-CN" sz="2800" b="1" dirty="0" smtClean="0">
                <a:latin typeface="华文楷体" pitchFamily="2" charset="-122"/>
                <a:ea typeface="华文楷体" pitchFamily="2" charset="-122"/>
              </a:rPr>
              <a:t>-</a:t>
            </a:r>
            <a:r>
              <a:rPr lang="zh-CN" altLang="en-US" sz="2800" b="1" dirty="0" smtClean="0">
                <a:latin typeface="华文楷体" pitchFamily="2" charset="-122"/>
                <a:ea typeface="华文楷体" pitchFamily="2" charset="-122"/>
              </a:rPr>
              <a:t>高频输电线，</a:t>
            </a:r>
            <a:r>
              <a:rPr lang="zh-CN" altLang="en-US" sz="2800" b="1" dirty="0" smtClean="0">
                <a:latin typeface="华文楷体" pitchFamily="2" charset="-122"/>
                <a:ea typeface="华文楷体" pitchFamily="2" charset="-122"/>
              </a:rPr>
              <a:t>金属表面</a:t>
            </a:r>
            <a:r>
              <a:rPr lang="zh-CN" altLang="en-US" sz="2800" b="1" dirty="0" smtClean="0">
                <a:latin typeface="华文楷体" pitchFamily="2" charset="-122"/>
                <a:ea typeface="华文楷体" pitchFamily="2" charset="-122"/>
              </a:rPr>
              <a:t>淬火</a:t>
            </a:r>
            <a:r>
              <a:rPr lang="en-US" altLang="zh-CN" sz="2800" b="1" dirty="0" smtClean="0">
                <a:latin typeface="华文楷体" pitchFamily="2" charset="-122"/>
                <a:ea typeface="华文楷体" pitchFamily="2" charset="-122"/>
              </a:rPr>
              <a:t>…</a:t>
            </a:r>
            <a:endParaRPr lang="zh-CN" altLang="en-US" sz="2800" b="1" dirty="0">
              <a:latin typeface="华文楷体" pitchFamily="2" charset="-122"/>
              <a:ea typeface="华文楷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5604" name="Text Box 10"/>
          <p:cNvSpPr txBox="1">
            <a:spLocks noChangeArrowheads="1"/>
          </p:cNvSpPr>
          <p:nvPr/>
        </p:nvSpPr>
        <p:spPr bwMode="auto">
          <a:xfrm>
            <a:off x="285750" y="1643063"/>
            <a:ext cx="8429625" cy="1384300"/>
          </a:xfrm>
          <a:prstGeom prst="rect">
            <a:avLst/>
          </a:prstGeom>
          <a:noFill/>
          <a:ln w="9525">
            <a:noFill/>
            <a:miter lim="800000"/>
            <a:headEnd/>
            <a:tailEnd/>
          </a:ln>
        </p:spPr>
        <p:txBody>
          <a:bodyPr>
            <a:spAutoFit/>
          </a:bodyPr>
          <a:lstStyle/>
          <a:p>
            <a:pPr>
              <a:buFont typeface="Wingdings" pitchFamily="2" charset="2"/>
              <a:buChar char="u"/>
            </a:pPr>
            <a:r>
              <a:rPr lang="zh-CN" altLang="en-US" sz="2800" b="1">
                <a:latin typeface="Verdana" pitchFamily="34" charset="0"/>
              </a:rPr>
              <a:t> 磁滞损耗电阻</a:t>
            </a:r>
            <a:endParaRPr lang="en-US" altLang="zh-CN" sz="2800" b="1">
              <a:latin typeface="Verdana" pitchFamily="34" charset="0"/>
            </a:endParaRPr>
          </a:p>
          <a:p>
            <a:r>
              <a:rPr lang="zh-CN" altLang="en-US" sz="2800" b="1">
                <a:solidFill>
                  <a:srgbClr val="0000FF"/>
                </a:solidFill>
                <a:latin typeface="宋体" pitchFamily="2" charset="-122"/>
              </a:rPr>
              <a:t>   </a:t>
            </a:r>
            <a:r>
              <a:rPr lang="zh-CN" altLang="en-US" sz="2800" b="1">
                <a:latin typeface="宋体" pitchFamily="2" charset="-122"/>
              </a:rPr>
              <a:t>一般由经验公式近似求出，是一个与频率无关的常数，在弱磁场情况下，可以忽略。</a:t>
            </a:r>
            <a:endParaRPr lang="zh-CN" altLang="en-US" sz="2800" b="1">
              <a:latin typeface="Verdana" pitchFamily="34" charset="0"/>
            </a:endParaRPr>
          </a:p>
        </p:txBody>
      </p:sp>
      <p:sp>
        <p:nvSpPr>
          <p:cNvPr id="23" name="Text Box 5"/>
          <p:cNvSpPr txBox="1">
            <a:spLocks noChangeArrowheads="1"/>
          </p:cNvSpPr>
          <p:nvPr/>
        </p:nvSpPr>
        <p:spPr bwMode="auto">
          <a:xfrm>
            <a:off x="285750" y="3143250"/>
            <a:ext cx="8572500" cy="1816100"/>
          </a:xfrm>
          <a:prstGeom prst="rect">
            <a:avLst/>
          </a:prstGeom>
          <a:noFill/>
          <a:ln w="9525">
            <a:noFill/>
            <a:miter lim="800000"/>
            <a:headEnd/>
            <a:tailEnd/>
          </a:ln>
        </p:spPr>
        <p:txBody>
          <a:bodyPr>
            <a:spAutoFit/>
          </a:bodyPr>
          <a:lstStyle/>
          <a:p>
            <a:pPr indent="546100">
              <a:buFont typeface="Wingdings" pitchFamily="2" charset="2"/>
              <a:buChar char="u"/>
            </a:pPr>
            <a:r>
              <a:rPr lang="zh-CN" altLang="en-US" sz="2800" b="1" dirty="0">
                <a:latin typeface="Verdana" pitchFamily="34" charset="0"/>
              </a:rPr>
              <a:t>并联寄生电容 </a:t>
            </a:r>
            <a:r>
              <a:rPr lang="en-US" altLang="zh-CN" sz="2800" b="1" i="1" dirty="0">
                <a:latin typeface="Times New Roman" pitchFamily="18" charset="0"/>
                <a:cs typeface="Times New Roman" pitchFamily="18" charset="0"/>
              </a:rPr>
              <a:t>C</a:t>
            </a:r>
            <a:endParaRPr lang="zh-CN" altLang="en-US" sz="2800" b="1" i="1" dirty="0">
              <a:latin typeface="Times New Roman" pitchFamily="18" charset="0"/>
              <a:cs typeface="Times New Roman" pitchFamily="18" charset="0"/>
            </a:endParaRPr>
          </a:p>
          <a:p>
            <a:pPr indent="546100"/>
            <a:r>
              <a:rPr lang="zh-CN" altLang="en-US" sz="2800" b="1" dirty="0">
                <a:latin typeface="Verdana" pitchFamily="34" charset="0"/>
              </a:rPr>
              <a:t>主要由线圈绕组的固有电容及电缆分布电容组成。因此，在测量中若更换了连接电缆长度，在激励频率较高时，应对传感器的灵敏度重新校正。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1"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linds(horizontal)">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3" name="Rectangle 7"/>
          <p:cNvSpPr txBox="1">
            <a:spLocks noChangeArrowheads="1"/>
          </p:cNvSpPr>
          <p:nvPr/>
        </p:nvSpPr>
        <p:spPr bwMode="auto">
          <a:xfrm>
            <a:off x="642938" y="1571625"/>
            <a:ext cx="1785937" cy="576263"/>
          </a:xfrm>
          <a:prstGeom prst="rect">
            <a:avLst/>
          </a:prstGeom>
          <a:noFill/>
          <a:ln w="9525">
            <a:noFill/>
            <a:miter lim="800000"/>
            <a:headEnd/>
            <a:tailEnd/>
          </a:ln>
        </p:spPr>
        <p:txBody>
          <a:bodyPr/>
          <a:lstStyle/>
          <a:p>
            <a:pPr>
              <a:defRPr/>
            </a:pPr>
            <a:r>
              <a:rPr kumimoji="0" lang="zh-CN" altLang="en-US" sz="2800" b="1" dirty="0">
                <a:solidFill>
                  <a:srgbClr val="FF6600"/>
                </a:solidFill>
                <a:latin typeface="黑体" pitchFamily="49" charset="-122"/>
                <a:ea typeface="黑体" pitchFamily="49" charset="-122"/>
                <a:cs typeface="+mj-cs"/>
              </a:rPr>
              <a:t>转换电路</a:t>
            </a:r>
          </a:p>
        </p:txBody>
      </p:sp>
      <p:sp>
        <p:nvSpPr>
          <p:cNvPr id="26629" name="Text Box 8"/>
          <p:cNvSpPr txBox="1">
            <a:spLocks noChangeArrowheads="1"/>
          </p:cNvSpPr>
          <p:nvPr/>
        </p:nvSpPr>
        <p:spPr bwMode="auto">
          <a:xfrm>
            <a:off x="285750" y="2143125"/>
            <a:ext cx="8572500" cy="1643063"/>
          </a:xfrm>
          <a:prstGeom prst="rect">
            <a:avLst/>
          </a:prstGeom>
          <a:noFill/>
          <a:ln w="9525" algn="ctr">
            <a:noFill/>
            <a:miter lim="800000"/>
            <a:headEnd/>
            <a:tailEnd/>
          </a:ln>
        </p:spPr>
        <p:txBody>
          <a:bodyPr>
            <a:spAutoFit/>
          </a:bodyPr>
          <a:lstStyle/>
          <a:p>
            <a:pPr indent="625475">
              <a:lnSpc>
                <a:spcPct val="120000"/>
              </a:lnSpc>
            </a:pPr>
            <a:r>
              <a:rPr lang="zh-CN" altLang="en-US" sz="2800" b="1">
                <a:latin typeface="宋体" pitchFamily="2" charset="-122"/>
              </a:rPr>
              <a:t>为了测出电感量的变化，同时也为了送入下级电路进行放大和处理，要用转换电路把电感变化转换成电压</a:t>
            </a:r>
            <a:r>
              <a:rPr lang="en-US" altLang="zh-CN" sz="2800" b="1">
                <a:latin typeface="宋体" pitchFamily="2" charset="-122"/>
              </a:rPr>
              <a:t>(</a:t>
            </a:r>
            <a:r>
              <a:rPr lang="zh-CN" altLang="en-US" sz="2800" b="1">
                <a:latin typeface="宋体" pitchFamily="2" charset="-122"/>
              </a:rPr>
              <a:t>或电流</a:t>
            </a:r>
            <a:r>
              <a:rPr lang="en-US" altLang="zh-CN" sz="2800" b="1">
                <a:latin typeface="宋体" pitchFamily="2" charset="-122"/>
              </a:rPr>
              <a:t>)</a:t>
            </a:r>
            <a:r>
              <a:rPr lang="zh-CN" altLang="en-US" sz="2800" b="1">
                <a:latin typeface="宋体" pitchFamily="2" charset="-122"/>
              </a:rPr>
              <a:t>变化。</a:t>
            </a:r>
          </a:p>
        </p:txBody>
      </p:sp>
      <p:sp>
        <p:nvSpPr>
          <p:cNvPr id="25" name="矩形 24"/>
          <p:cNvSpPr>
            <a:spLocks noChangeArrowheads="1"/>
          </p:cNvSpPr>
          <p:nvPr/>
        </p:nvSpPr>
        <p:spPr bwMode="auto">
          <a:xfrm>
            <a:off x="285750" y="3857625"/>
            <a:ext cx="8572500" cy="1643063"/>
          </a:xfrm>
          <a:prstGeom prst="rect">
            <a:avLst/>
          </a:prstGeom>
          <a:noFill/>
          <a:ln w="9525">
            <a:noFill/>
            <a:miter lim="800000"/>
            <a:headEnd/>
            <a:tailEnd/>
          </a:ln>
        </p:spPr>
        <p:txBody>
          <a:bodyPr>
            <a:spAutoFit/>
          </a:bodyPr>
          <a:lstStyle/>
          <a:p>
            <a:pPr indent="625475">
              <a:lnSpc>
                <a:spcPct val="120000"/>
              </a:lnSpc>
            </a:pPr>
            <a:r>
              <a:rPr lang="zh-CN" altLang="en-US" sz="2800" b="1" dirty="0">
                <a:latin typeface="宋体" pitchFamily="2" charset="-122"/>
              </a:rPr>
              <a:t>原则上可将电感变化转换成电压</a:t>
            </a:r>
            <a:r>
              <a:rPr lang="en-US" altLang="zh-CN" sz="2800" b="1" dirty="0">
                <a:latin typeface="宋体" pitchFamily="2" charset="-122"/>
              </a:rPr>
              <a:t>(</a:t>
            </a:r>
            <a:r>
              <a:rPr lang="zh-CN" altLang="en-US" sz="2800" b="1" dirty="0">
                <a:latin typeface="宋体" pitchFamily="2" charset="-122"/>
              </a:rPr>
              <a:t>或电流</a:t>
            </a:r>
            <a:r>
              <a:rPr lang="en-US" altLang="zh-CN" sz="2800" b="1" dirty="0">
                <a:latin typeface="宋体" pitchFamily="2" charset="-122"/>
              </a:rPr>
              <a:t>)</a:t>
            </a:r>
            <a:r>
              <a:rPr lang="zh-CN" altLang="en-US" sz="2800" b="1" dirty="0">
                <a:latin typeface="宋体" pitchFamily="2" charset="-122"/>
              </a:rPr>
              <a:t>的幅值、频率、相位的变化，它们分别称为调幅、调频、调相电路。</a:t>
            </a:r>
          </a:p>
        </p:txBody>
      </p:sp>
      <p:sp>
        <p:nvSpPr>
          <p:cNvPr id="26631" name="矩形 25"/>
          <p:cNvSpPr>
            <a:spLocks noChangeArrowheads="1"/>
          </p:cNvSpPr>
          <p:nvPr/>
        </p:nvSpPr>
        <p:spPr bwMode="auto">
          <a:xfrm>
            <a:off x="214313" y="5572125"/>
            <a:ext cx="7858125" cy="541338"/>
          </a:xfrm>
          <a:prstGeom prst="rect">
            <a:avLst/>
          </a:prstGeom>
          <a:noFill/>
          <a:ln w="9525">
            <a:noFill/>
            <a:miter lim="800000"/>
            <a:headEnd/>
            <a:tailEnd/>
          </a:ln>
        </p:spPr>
        <p:txBody>
          <a:bodyPr>
            <a:spAutoFit/>
          </a:bodyPr>
          <a:lstStyle/>
          <a:p>
            <a:pPr indent="625475">
              <a:lnSpc>
                <a:spcPct val="120000"/>
              </a:lnSpc>
            </a:pPr>
            <a:r>
              <a:rPr lang="zh-CN" altLang="en-US" sz="2800" b="1" dirty="0">
                <a:latin typeface="宋体" pitchFamily="2" charset="-122"/>
              </a:rPr>
              <a:t>在自感式传感器中，调幅电路用得较多。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31"/>
                                        </p:tgtEl>
                                        <p:attrNameLst>
                                          <p:attrName>style.visibility</p:attrName>
                                        </p:attrNameLst>
                                      </p:cBhvr>
                                      <p:to>
                                        <p:strVal val="visible"/>
                                      </p:to>
                                    </p:set>
                                    <p:animEffect transition="in" filter="blinds(horizontal)">
                                      <p:cBhvr>
                                        <p:cTn id="12" dur="500"/>
                                        <p:tgtEl>
                                          <p:spTgt spid="26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63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p:cNvSpPr/>
          <p:nvPr/>
        </p:nvSpPr>
        <p:spPr>
          <a:xfrm>
            <a:off x="1643063" y="5786438"/>
            <a:ext cx="6357937" cy="857250"/>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220"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3" name="Rectangle 7"/>
          <p:cNvSpPr txBox="1">
            <a:spLocks noChangeArrowheads="1"/>
          </p:cNvSpPr>
          <p:nvPr/>
        </p:nvSpPr>
        <p:spPr bwMode="auto">
          <a:xfrm>
            <a:off x="642938" y="1571625"/>
            <a:ext cx="3071812" cy="576263"/>
          </a:xfrm>
          <a:prstGeom prst="rect">
            <a:avLst/>
          </a:prstGeom>
          <a:noFill/>
          <a:ln w="9525">
            <a:noFill/>
            <a:miter lim="800000"/>
            <a:headEnd/>
            <a:tailEnd/>
          </a:ln>
        </p:spPr>
        <p:txBody>
          <a:bodyPr/>
          <a:lstStyle/>
          <a:p>
            <a:pPr>
              <a:buFont typeface="Wingdings" pitchFamily="2" charset="2"/>
              <a:buChar char="u"/>
              <a:defRPr/>
            </a:pPr>
            <a:r>
              <a:rPr kumimoji="0" lang="zh-CN" altLang="en-US" sz="2800" b="1" dirty="0">
                <a:solidFill>
                  <a:srgbClr val="C00000"/>
                </a:solidFill>
                <a:latin typeface="宋体" pitchFamily="2" charset="-122"/>
              </a:rPr>
              <a:t> 调幅电路</a:t>
            </a:r>
            <a:endParaRPr kumimoji="0" lang="zh-CN" altLang="en-US" sz="2800" b="1" dirty="0">
              <a:solidFill>
                <a:srgbClr val="C00000"/>
              </a:solidFill>
              <a:latin typeface="黑体" pitchFamily="49" charset="-122"/>
              <a:ea typeface="黑体" pitchFamily="49" charset="-122"/>
              <a:cs typeface="+mj-cs"/>
            </a:endParaRPr>
          </a:p>
        </p:txBody>
      </p:sp>
      <p:sp>
        <p:nvSpPr>
          <p:cNvPr id="9223" name="Text Box 3"/>
          <p:cNvSpPr txBox="1">
            <a:spLocks noChangeArrowheads="1"/>
          </p:cNvSpPr>
          <p:nvPr/>
        </p:nvSpPr>
        <p:spPr bwMode="auto">
          <a:xfrm>
            <a:off x="285750" y="2071688"/>
            <a:ext cx="8572500" cy="1384300"/>
          </a:xfrm>
          <a:prstGeom prst="rect">
            <a:avLst/>
          </a:prstGeom>
          <a:noFill/>
          <a:ln w="9525">
            <a:noFill/>
            <a:miter lim="800000"/>
            <a:headEnd/>
            <a:tailEnd/>
          </a:ln>
        </p:spPr>
        <p:txBody>
          <a:bodyPr>
            <a:spAutoFit/>
          </a:bodyPr>
          <a:lstStyle/>
          <a:p>
            <a:pPr indent="546100"/>
            <a:r>
              <a:rPr kumimoji="0" lang="zh-CN" altLang="en-US" sz="2800" b="1">
                <a:solidFill>
                  <a:srgbClr val="C00000"/>
                </a:solidFill>
                <a:latin typeface="宋体" pitchFamily="2" charset="-122"/>
              </a:rPr>
              <a:t>交流电桥</a:t>
            </a:r>
            <a:r>
              <a:rPr kumimoji="0" lang="zh-CN" altLang="en-US" sz="2800" b="1">
                <a:latin typeface="宋体" pitchFamily="2" charset="-122"/>
              </a:rPr>
              <a:t>是调幅电路的一种主要形式。</a:t>
            </a:r>
            <a:r>
              <a:rPr lang="zh-CN" altLang="en-US" sz="2800" b="1">
                <a:latin typeface="Verdana" pitchFamily="34" charset="0"/>
              </a:rPr>
              <a:t>在电感传感器中经常使用变压器电桥，特点是使用元件少，输出阻抗小，应用较广泛。</a:t>
            </a:r>
          </a:p>
        </p:txBody>
      </p:sp>
      <p:graphicFrame>
        <p:nvGraphicFramePr>
          <p:cNvPr id="11" name="Object 9"/>
          <p:cNvGraphicFramePr>
            <a:graphicFrameLocks noGrp="1" noChangeAspect="1"/>
          </p:cNvGraphicFramePr>
          <p:nvPr/>
        </p:nvGraphicFramePr>
        <p:xfrm>
          <a:off x="1882775" y="5805488"/>
          <a:ext cx="5737225" cy="801687"/>
        </p:xfrm>
        <a:graphic>
          <a:graphicData uri="http://schemas.openxmlformats.org/presentationml/2006/ole">
            <p:oleObj spid="_x0000_s9218" name="Equation" r:id="rId3" imgW="3085920" imgH="431640" progId="Equation.3">
              <p:embed/>
            </p:oleObj>
          </a:graphicData>
        </a:graphic>
      </p:graphicFrame>
      <p:pic>
        <p:nvPicPr>
          <p:cNvPr id="9226" name="Picture 5"/>
          <p:cNvPicPr>
            <a:picLocks noChangeAspect="1" noChangeArrowheads="1"/>
          </p:cNvPicPr>
          <p:nvPr/>
        </p:nvPicPr>
        <p:blipFill>
          <a:blip r:embed="rId4"/>
          <a:srcRect/>
          <a:stretch>
            <a:fillRect/>
          </a:stretch>
        </p:blipFill>
        <p:spPr bwMode="auto">
          <a:xfrm>
            <a:off x="5286375" y="3500438"/>
            <a:ext cx="2963863" cy="2000250"/>
          </a:xfrm>
          <a:prstGeom prst="rect">
            <a:avLst/>
          </a:prstGeom>
          <a:noFill/>
          <a:ln w="9525">
            <a:noFill/>
            <a:miter lim="800000"/>
            <a:headEnd/>
            <a:tailEnd/>
          </a:ln>
        </p:spPr>
      </p:pic>
      <p:grpSp>
        <p:nvGrpSpPr>
          <p:cNvPr id="21" name="组合 20"/>
          <p:cNvGrpSpPr/>
          <p:nvPr/>
        </p:nvGrpSpPr>
        <p:grpSpPr>
          <a:xfrm>
            <a:off x="1071563" y="3571875"/>
            <a:ext cx="4143375" cy="2000250"/>
            <a:chOff x="1071563" y="3571875"/>
            <a:chExt cx="4143375" cy="2000250"/>
          </a:xfrm>
        </p:grpSpPr>
        <p:pic>
          <p:nvPicPr>
            <p:cNvPr id="9224" name="Picture 4"/>
            <p:cNvPicPr>
              <a:picLocks noChangeAspect="1" noChangeArrowheads="1"/>
            </p:cNvPicPr>
            <p:nvPr/>
          </p:nvPicPr>
          <p:blipFill>
            <a:blip r:embed="rId5"/>
            <a:srcRect/>
            <a:stretch>
              <a:fillRect/>
            </a:stretch>
          </p:blipFill>
          <p:spPr bwMode="auto">
            <a:xfrm>
              <a:off x="1071563" y="3571875"/>
              <a:ext cx="2282825" cy="2000250"/>
            </a:xfrm>
            <a:prstGeom prst="rect">
              <a:avLst/>
            </a:prstGeom>
            <a:noFill/>
            <a:ln w="9525">
              <a:noFill/>
              <a:miter lim="800000"/>
              <a:headEnd/>
              <a:tailEnd/>
            </a:ln>
          </p:spPr>
        </p:pic>
        <p:sp>
          <p:nvSpPr>
            <p:cNvPr id="13" name="右箭头 12"/>
            <p:cNvSpPr/>
            <p:nvPr/>
          </p:nvSpPr>
          <p:spPr>
            <a:xfrm>
              <a:off x="3929063" y="4143375"/>
              <a:ext cx="857250" cy="3571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9227" name="TextBox 14"/>
            <p:cNvSpPr txBox="1">
              <a:spLocks noChangeArrowheads="1"/>
            </p:cNvSpPr>
            <p:nvPr/>
          </p:nvSpPr>
          <p:spPr bwMode="auto">
            <a:xfrm>
              <a:off x="3643313" y="4572000"/>
              <a:ext cx="1571625" cy="400050"/>
            </a:xfrm>
            <a:prstGeom prst="rect">
              <a:avLst/>
            </a:prstGeom>
            <a:noFill/>
            <a:ln w="9525">
              <a:noFill/>
              <a:miter lim="800000"/>
              <a:headEnd/>
              <a:tailEnd/>
            </a:ln>
          </p:spPr>
          <p:txBody>
            <a:bodyPr>
              <a:spAutoFit/>
            </a:bodyPr>
            <a:lstStyle/>
            <a:p>
              <a:r>
                <a:rPr lang="zh-CN" altLang="en-US" b="1">
                  <a:solidFill>
                    <a:srgbClr val="C00000"/>
                  </a:solidFill>
                  <a:latin typeface="华文楷体" pitchFamily="2" charset="-122"/>
                  <a:ea typeface="华文楷体" pitchFamily="2" charset="-122"/>
                </a:rPr>
                <a:t>等效电路</a:t>
              </a:r>
            </a:p>
          </p:txBody>
        </p:sp>
      </p:grpSp>
      <p:sp>
        <p:nvSpPr>
          <p:cNvPr id="17" name="矩形标注 16"/>
          <p:cNvSpPr/>
          <p:nvPr/>
        </p:nvSpPr>
        <p:spPr>
          <a:xfrm>
            <a:off x="3929063" y="3429000"/>
            <a:ext cx="1143000" cy="428625"/>
          </a:xfrm>
          <a:prstGeom prst="wedgeRectCallout">
            <a:avLst>
              <a:gd name="adj1" fmla="val 66063"/>
              <a:gd name="adj2" fmla="val 21330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chemeClr val="tx1"/>
                </a:solidFill>
              </a:rPr>
              <a:t>电压源</a:t>
            </a:r>
          </a:p>
        </p:txBody>
      </p:sp>
      <p:sp>
        <p:nvSpPr>
          <p:cNvPr id="18" name="矩形标注 17"/>
          <p:cNvSpPr/>
          <p:nvPr/>
        </p:nvSpPr>
        <p:spPr>
          <a:xfrm>
            <a:off x="7643813" y="3000375"/>
            <a:ext cx="1143000" cy="428625"/>
          </a:xfrm>
          <a:prstGeom prst="wedgeRectCallout">
            <a:avLst>
              <a:gd name="adj1" fmla="val -53936"/>
              <a:gd name="adj2" fmla="val 136062"/>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chemeClr val="tx1"/>
                </a:solidFill>
              </a:rPr>
              <a:t>内阻</a:t>
            </a:r>
          </a:p>
        </p:txBody>
      </p:sp>
      <p:sp>
        <p:nvSpPr>
          <p:cNvPr id="19" name="椭圆 18"/>
          <p:cNvSpPr/>
          <p:nvPr/>
        </p:nvSpPr>
        <p:spPr>
          <a:xfrm>
            <a:off x="5572125" y="3429000"/>
            <a:ext cx="2071688" cy="12144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椭圆 19"/>
          <p:cNvSpPr/>
          <p:nvPr/>
        </p:nvSpPr>
        <p:spPr>
          <a:xfrm>
            <a:off x="5214938" y="4357688"/>
            <a:ext cx="714375" cy="7143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10242" name="Object 6"/>
          <p:cNvGraphicFramePr>
            <a:graphicFrameLocks noChangeAspect="1"/>
          </p:cNvGraphicFramePr>
          <p:nvPr/>
        </p:nvGraphicFramePr>
        <p:xfrm>
          <a:off x="1071563" y="2214563"/>
          <a:ext cx="7451725" cy="855662"/>
        </p:xfrm>
        <a:graphic>
          <a:graphicData uri="http://schemas.openxmlformats.org/presentationml/2006/ole">
            <p:oleObj spid="_x0000_s10242" name="图像文档" r:id="rId3" imgW="6219720" imgH="714240" progId="">
              <p:embed/>
            </p:oleObj>
          </a:graphicData>
        </a:graphic>
      </p:graphicFrame>
      <p:sp>
        <p:nvSpPr>
          <p:cNvPr id="10246" name="Text Box 7"/>
          <p:cNvSpPr txBox="1">
            <a:spLocks noChangeArrowheads="1"/>
          </p:cNvSpPr>
          <p:nvPr/>
        </p:nvSpPr>
        <p:spPr bwMode="auto">
          <a:xfrm>
            <a:off x="285750" y="3141663"/>
            <a:ext cx="8597900" cy="523875"/>
          </a:xfrm>
          <a:prstGeom prst="rect">
            <a:avLst/>
          </a:prstGeom>
          <a:noFill/>
          <a:ln w="9525">
            <a:noFill/>
            <a:miter lim="800000"/>
            <a:headEnd/>
            <a:tailEnd/>
          </a:ln>
        </p:spPr>
        <p:txBody>
          <a:bodyPr>
            <a:spAutoFit/>
          </a:bodyPr>
          <a:lstStyle/>
          <a:p>
            <a:pPr>
              <a:spcBef>
                <a:spcPct val="50000"/>
              </a:spcBef>
            </a:pPr>
            <a:r>
              <a:rPr lang="zh-CN" altLang="en-US" sz="2800" b="1">
                <a:latin typeface="Verdana" pitchFamily="34" charset="0"/>
              </a:rPr>
              <a:t>当电桥平衡时，</a:t>
            </a:r>
            <a:r>
              <a:rPr lang="en-US" altLang="zh-CN" sz="2800" b="1" i="1">
                <a:solidFill>
                  <a:srgbClr val="FF0000"/>
                </a:solidFill>
                <a:latin typeface="Times New Roman" pitchFamily="18" charset="0"/>
              </a:rPr>
              <a:t>Z</a:t>
            </a:r>
            <a:r>
              <a:rPr lang="en-US" altLang="zh-CN" sz="2800" b="1" i="1" baseline="-25000">
                <a:solidFill>
                  <a:srgbClr val="FF0000"/>
                </a:solidFill>
                <a:latin typeface="Times New Roman" pitchFamily="18" charset="0"/>
              </a:rPr>
              <a:t>1</a:t>
            </a:r>
            <a:r>
              <a:rPr lang="en-US" altLang="zh-CN" sz="2800" b="1" i="1">
                <a:solidFill>
                  <a:srgbClr val="FF0000"/>
                </a:solidFill>
                <a:latin typeface="Times New Roman" pitchFamily="18" charset="0"/>
              </a:rPr>
              <a:t>Z</a:t>
            </a:r>
            <a:r>
              <a:rPr lang="en-US" altLang="zh-CN" sz="2800" b="1" i="1" baseline="-25000">
                <a:solidFill>
                  <a:srgbClr val="FF0000"/>
                </a:solidFill>
                <a:latin typeface="Times New Roman" pitchFamily="18" charset="0"/>
              </a:rPr>
              <a:t>4</a:t>
            </a:r>
            <a:r>
              <a:rPr lang="zh-CN" altLang="en-US" sz="2800" b="1" i="1">
                <a:solidFill>
                  <a:srgbClr val="FF0000"/>
                </a:solidFill>
                <a:latin typeface="Times New Roman" pitchFamily="18" charset="0"/>
              </a:rPr>
              <a:t>＝ </a:t>
            </a:r>
            <a:r>
              <a:rPr lang="en-US" altLang="zh-CN" sz="2800" b="1" i="1">
                <a:solidFill>
                  <a:srgbClr val="FF0000"/>
                </a:solidFill>
                <a:latin typeface="Times New Roman" pitchFamily="18" charset="0"/>
              </a:rPr>
              <a:t>Z</a:t>
            </a:r>
            <a:r>
              <a:rPr lang="en-US" altLang="zh-CN" sz="2800" b="1" i="1" baseline="-25000">
                <a:solidFill>
                  <a:srgbClr val="FF0000"/>
                </a:solidFill>
                <a:latin typeface="Times New Roman" pitchFamily="18" charset="0"/>
              </a:rPr>
              <a:t>2</a:t>
            </a:r>
            <a:r>
              <a:rPr lang="en-US" altLang="zh-CN" sz="2800" b="1" i="1">
                <a:solidFill>
                  <a:srgbClr val="FF0000"/>
                </a:solidFill>
                <a:latin typeface="Times New Roman" pitchFamily="18" charset="0"/>
              </a:rPr>
              <a:t>Z</a:t>
            </a:r>
            <a:r>
              <a:rPr lang="en-US" altLang="zh-CN" sz="2800" b="1" i="1" baseline="-25000">
                <a:solidFill>
                  <a:srgbClr val="FF0000"/>
                </a:solidFill>
                <a:latin typeface="Times New Roman" pitchFamily="18" charset="0"/>
              </a:rPr>
              <a:t>3</a:t>
            </a:r>
            <a:r>
              <a:rPr lang="en-US" altLang="zh-CN" sz="2800" b="1">
                <a:solidFill>
                  <a:srgbClr val="FF0000"/>
                </a:solidFill>
                <a:latin typeface="Verdana" pitchFamily="34" charset="0"/>
              </a:rPr>
              <a:t> </a:t>
            </a:r>
            <a:r>
              <a:rPr lang="zh-CN" altLang="en-US" sz="2800" b="1">
                <a:latin typeface="Verdana" pitchFamily="34" charset="0"/>
              </a:rPr>
              <a:t>，电桥的输出电压为零。</a:t>
            </a:r>
          </a:p>
        </p:txBody>
      </p:sp>
      <p:sp>
        <p:nvSpPr>
          <p:cNvPr id="17" name="Rectangle 14"/>
          <p:cNvSpPr txBox="1">
            <a:spLocks noChangeArrowheads="1"/>
          </p:cNvSpPr>
          <p:nvPr/>
        </p:nvSpPr>
        <p:spPr bwMode="auto">
          <a:xfrm>
            <a:off x="285750" y="1571625"/>
            <a:ext cx="8858250" cy="571500"/>
          </a:xfrm>
          <a:prstGeom prst="rect">
            <a:avLst/>
          </a:prstGeom>
          <a:noFill/>
          <a:ln w="9525">
            <a:noFill/>
            <a:miter lim="800000"/>
            <a:headEnd/>
            <a:tailEnd/>
          </a:ln>
        </p:spPr>
        <p:txBody>
          <a:bodyPr/>
          <a:lstStyle/>
          <a:p>
            <a:pPr>
              <a:defRPr/>
            </a:pPr>
            <a:r>
              <a:rPr kumimoji="0" lang="zh-CN" altLang="en-US" sz="2800" b="1" dirty="0">
                <a:latin typeface="+mj-lt"/>
                <a:ea typeface="+mj-ea"/>
                <a:cs typeface="+mj-cs"/>
              </a:rPr>
              <a:t>有负载时的输出</a:t>
            </a:r>
            <a:r>
              <a:rPr kumimoji="0" lang="en-US" altLang="zh-CN" sz="2800" b="1" dirty="0">
                <a:latin typeface="+mj-lt"/>
                <a:ea typeface="+mj-ea"/>
                <a:cs typeface="+mj-cs"/>
              </a:rPr>
              <a:t>: </a:t>
            </a:r>
            <a:endParaRPr kumimoji="0" lang="zh-CN" altLang="en-US" sz="2800" b="1" dirty="0">
              <a:latin typeface="+mj-lt"/>
              <a:ea typeface="+mj-ea"/>
              <a:cs typeface="+mj-cs"/>
            </a:endParaRPr>
          </a:p>
        </p:txBody>
      </p:sp>
      <p:sp>
        <p:nvSpPr>
          <p:cNvPr id="10248" name="Text Box 17"/>
          <p:cNvSpPr txBox="1">
            <a:spLocks noChangeArrowheads="1"/>
          </p:cNvSpPr>
          <p:nvPr/>
        </p:nvSpPr>
        <p:spPr bwMode="auto">
          <a:xfrm>
            <a:off x="714375" y="3786188"/>
            <a:ext cx="6777038" cy="523875"/>
          </a:xfrm>
          <a:prstGeom prst="rect">
            <a:avLst/>
          </a:prstGeom>
          <a:noFill/>
          <a:ln w="9525">
            <a:noFill/>
            <a:miter lim="800000"/>
            <a:headEnd/>
            <a:tailEnd/>
          </a:ln>
        </p:spPr>
        <p:txBody>
          <a:bodyPr>
            <a:spAutoFit/>
          </a:bodyPr>
          <a:lstStyle/>
          <a:p>
            <a:pPr>
              <a:spcBef>
                <a:spcPct val="50000"/>
              </a:spcBef>
            </a:pPr>
            <a:r>
              <a:rPr lang="zh-CN" altLang="en-US" sz="2800" b="1" dirty="0">
                <a:latin typeface="Verdana" pitchFamily="34" charset="0"/>
              </a:rPr>
              <a:t>当电桥桥臂阻抗发生变化时</a:t>
            </a:r>
            <a:r>
              <a:rPr lang="en-US" altLang="zh-CN" sz="2800" b="1" dirty="0">
                <a:latin typeface="Verdana" pitchFamily="34" charset="0"/>
              </a:rPr>
              <a:t>:</a:t>
            </a:r>
          </a:p>
        </p:txBody>
      </p:sp>
      <p:graphicFrame>
        <p:nvGraphicFramePr>
          <p:cNvPr id="10243" name="Object 18"/>
          <p:cNvGraphicFramePr>
            <a:graphicFrameLocks noGrp="1" noChangeAspect="1"/>
          </p:cNvGraphicFramePr>
          <p:nvPr>
            <p:ph idx="1"/>
          </p:nvPr>
        </p:nvGraphicFramePr>
        <p:xfrm>
          <a:off x="1143000" y="4357688"/>
          <a:ext cx="7451725" cy="1731962"/>
        </p:xfrm>
        <a:graphic>
          <a:graphicData uri="http://schemas.openxmlformats.org/presentationml/2006/ole">
            <p:oleObj spid="_x0000_s10243" name="图像文档" r:id="rId4" imgW="5819760" imgH="1352520" progId="">
              <p:embed/>
            </p:oleObj>
          </a:graphicData>
        </a:graphic>
      </p:graphicFrame>
      <p:sp>
        <p:nvSpPr>
          <p:cNvPr id="10249" name="Text Box 20"/>
          <p:cNvSpPr txBox="1">
            <a:spLocks noChangeArrowheads="1"/>
          </p:cNvSpPr>
          <p:nvPr/>
        </p:nvSpPr>
        <p:spPr bwMode="auto">
          <a:xfrm>
            <a:off x="928688" y="6143625"/>
            <a:ext cx="7704137" cy="523875"/>
          </a:xfrm>
          <a:prstGeom prst="rect">
            <a:avLst/>
          </a:prstGeom>
          <a:noFill/>
          <a:ln w="9525" algn="ctr">
            <a:noFill/>
            <a:miter lim="800000"/>
            <a:headEnd/>
            <a:tailEnd/>
          </a:ln>
        </p:spPr>
        <p:txBody>
          <a:bodyPr>
            <a:spAutoFit/>
          </a:bodyPr>
          <a:lstStyle/>
          <a:p>
            <a:pPr marL="838200" indent="-838200">
              <a:spcBef>
                <a:spcPct val="50000"/>
              </a:spcBef>
            </a:pPr>
            <a:r>
              <a:rPr lang="en-US" altLang="zh-CN" sz="2800" b="1" dirty="0">
                <a:latin typeface="Times New Roman" pitchFamily="18" charset="0"/>
                <a:ea typeface="楷体_GB2312" pitchFamily="49" charset="-122"/>
              </a:rPr>
              <a:t>*</a:t>
            </a:r>
            <a:r>
              <a:rPr lang="zh-CN" altLang="en-US" sz="2800" b="1" dirty="0">
                <a:latin typeface="Times New Roman" pitchFamily="18" charset="0"/>
                <a:ea typeface="楷体_GB2312" pitchFamily="49" charset="-122"/>
              </a:rPr>
              <a:t>忽略了</a:t>
            </a:r>
            <a:r>
              <a:rPr lang="el-GR" altLang="zh-CN" sz="2800" b="1" i="1" dirty="0">
                <a:solidFill>
                  <a:srgbClr val="CC0066"/>
                </a:solidFill>
                <a:latin typeface="Times New Roman" pitchFamily="18" charset="0"/>
                <a:ea typeface="楷体_GB2312" pitchFamily="49" charset="-122"/>
              </a:rPr>
              <a:t>ΔZ/Z</a:t>
            </a:r>
            <a:r>
              <a:rPr lang="en-US" altLang="zh-CN" sz="2800" b="1" dirty="0">
                <a:latin typeface="Times New Roman" pitchFamily="18" charset="0"/>
                <a:ea typeface="楷体_GB2312" pitchFamily="49" charset="-122"/>
              </a:rPr>
              <a:t> </a:t>
            </a:r>
            <a:r>
              <a:rPr lang="zh-CN" altLang="en-US" sz="2800" b="1" dirty="0">
                <a:latin typeface="Times New Roman" pitchFamily="18" charset="0"/>
                <a:ea typeface="楷体_GB2312" pitchFamily="49" charset="-122"/>
              </a:rPr>
              <a:t>二次项</a:t>
            </a:r>
            <a:endParaRPr lang="el-GR" altLang="zh-CN" sz="2800" b="1" dirty="0">
              <a:latin typeface="Times New Roman"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8"/>
                                        </p:tgtEl>
                                        <p:attrNameLst>
                                          <p:attrName>style.visibility</p:attrName>
                                        </p:attrNameLst>
                                      </p:cBhvr>
                                      <p:to>
                                        <p:strVal val="visible"/>
                                      </p:to>
                                    </p:set>
                                    <p:animEffect transition="in" filter="blinds(horizontal)">
                                      <p:cBhvr>
                                        <p:cTn id="7" dur="500"/>
                                        <p:tgtEl>
                                          <p:spTgt spid="102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gtEl>
                                        <p:attrNameLst>
                                          <p:attrName>style.visibility</p:attrName>
                                        </p:attrNameLst>
                                      </p:cBhvr>
                                      <p:to>
                                        <p:strVal val="visible"/>
                                      </p:to>
                                    </p:set>
                                    <p:animEffect transition="in" filter="blinds(horizontal)">
                                      <p:cBhvr>
                                        <p:cTn id="12" dur="500"/>
                                        <p:tgtEl>
                                          <p:spTgt spid="1024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249"/>
                                        </p:tgtEl>
                                        <p:attrNameLst>
                                          <p:attrName>style.visibility</p:attrName>
                                        </p:attrNameLst>
                                      </p:cBhvr>
                                      <p:to>
                                        <p:strVal val="visible"/>
                                      </p:to>
                                    </p:set>
                                    <p:animEffect transition="in" filter="blinds(horizontal)">
                                      <p:cBhvr>
                                        <p:cTn id="17" dur="500"/>
                                        <p:tgtEl>
                                          <p:spTgt spid="10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8" grpId="0"/>
      <p:bldP spid="1024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5143500" y="5643563"/>
            <a:ext cx="2286000" cy="1214437"/>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9" name="圆角矩形 28"/>
          <p:cNvSpPr/>
          <p:nvPr/>
        </p:nvSpPr>
        <p:spPr>
          <a:xfrm>
            <a:off x="3571875" y="4572000"/>
            <a:ext cx="4357688" cy="1000125"/>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5" name="圆角矩形 24"/>
          <p:cNvSpPr/>
          <p:nvPr/>
        </p:nvSpPr>
        <p:spPr>
          <a:xfrm>
            <a:off x="6286500" y="1857375"/>
            <a:ext cx="1643063" cy="857250"/>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277"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1" name="Rectangle 14"/>
          <p:cNvSpPr txBox="1">
            <a:spLocks noChangeArrowheads="1"/>
          </p:cNvSpPr>
          <p:nvPr/>
        </p:nvSpPr>
        <p:spPr bwMode="auto">
          <a:xfrm>
            <a:off x="285750" y="1571625"/>
            <a:ext cx="8858250" cy="571500"/>
          </a:xfrm>
          <a:prstGeom prst="rect">
            <a:avLst/>
          </a:prstGeom>
          <a:noFill/>
          <a:ln w="9525">
            <a:noFill/>
            <a:miter lim="800000"/>
            <a:headEnd/>
            <a:tailEnd/>
          </a:ln>
        </p:spPr>
        <p:txBody>
          <a:bodyPr/>
          <a:lstStyle/>
          <a:p>
            <a:pPr>
              <a:defRPr/>
            </a:pPr>
            <a:r>
              <a:rPr kumimoji="0" lang="zh-CN" altLang="en-US" sz="2800" b="1" dirty="0">
                <a:latin typeface="+mj-lt"/>
                <a:ea typeface="+mj-ea"/>
                <a:cs typeface="+mj-cs"/>
              </a:rPr>
              <a:t>调幅电路举例 </a:t>
            </a:r>
            <a:r>
              <a:rPr kumimoji="0" lang="en-US" altLang="zh-CN" sz="2800" b="1" dirty="0">
                <a:latin typeface="+mj-lt"/>
                <a:ea typeface="+mj-ea"/>
                <a:cs typeface="+mj-cs"/>
              </a:rPr>
              <a:t>– </a:t>
            </a:r>
            <a:r>
              <a:rPr kumimoji="0" lang="zh-CN" altLang="en-US" sz="2800" b="1" dirty="0">
                <a:latin typeface="+mj-lt"/>
                <a:ea typeface="+mj-ea"/>
                <a:cs typeface="+mj-cs"/>
              </a:rPr>
              <a:t>电阻平衡臂电桥</a:t>
            </a:r>
          </a:p>
        </p:txBody>
      </p:sp>
      <p:pic>
        <p:nvPicPr>
          <p:cNvPr id="11280" name="Picture 5"/>
          <p:cNvPicPr>
            <a:picLocks noChangeAspect="1" noChangeArrowheads="1"/>
          </p:cNvPicPr>
          <p:nvPr/>
        </p:nvPicPr>
        <p:blipFill>
          <a:blip r:embed="rId3"/>
          <a:srcRect/>
          <a:stretch>
            <a:fillRect/>
          </a:stretch>
        </p:blipFill>
        <p:spPr bwMode="auto">
          <a:xfrm>
            <a:off x="714375" y="2428875"/>
            <a:ext cx="2716213" cy="2224088"/>
          </a:xfrm>
          <a:prstGeom prst="rect">
            <a:avLst/>
          </a:prstGeom>
          <a:noFill/>
          <a:ln w="9525">
            <a:noFill/>
            <a:miter lim="800000"/>
            <a:headEnd/>
            <a:tailEnd/>
          </a:ln>
        </p:spPr>
      </p:pic>
      <p:sp>
        <p:nvSpPr>
          <p:cNvPr id="16" name="椭圆 15"/>
          <p:cNvSpPr/>
          <p:nvPr/>
        </p:nvSpPr>
        <p:spPr>
          <a:xfrm>
            <a:off x="2857500" y="2500313"/>
            <a:ext cx="642938" cy="207168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矩形标注 20"/>
          <p:cNvSpPr/>
          <p:nvPr/>
        </p:nvSpPr>
        <p:spPr>
          <a:xfrm>
            <a:off x="3571875" y="2357438"/>
            <a:ext cx="1357313" cy="428625"/>
          </a:xfrm>
          <a:prstGeom prst="wedgeRectCallout">
            <a:avLst>
              <a:gd name="adj1" fmla="val -53936"/>
              <a:gd name="adj2" fmla="val 136062"/>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chemeClr val="tx1"/>
                </a:solidFill>
              </a:rPr>
              <a:t>平衡电阻</a:t>
            </a:r>
          </a:p>
        </p:txBody>
      </p:sp>
      <p:sp>
        <p:nvSpPr>
          <p:cNvPr id="22" name="椭圆 21"/>
          <p:cNvSpPr/>
          <p:nvPr/>
        </p:nvSpPr>
        <p:spPr>
          <a:xfrm>
            <a:off x="1428750" y="2500313"/>
            <a:ext cx="785813" cy="207168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矩形标注 22"/>
          <p:cNvSpPr/>
          <p:nvPr/>
        </p:nvSpPr>
        <p:spPr>
          <a:xfrm>
            <a:off x="214313" y="4786313"/>
            <a:ext cx="1357312" cy="714375"/>
          </a:xfrm>
          <a:prstGeom prst="wedgeRectCallout">
            <a:avLst>
              <a:gd name="adj1" fmla="val 50601"/>
              <a:gd name="adj2" fmla="val -12600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chemeClr val="tx1"/>
                </a:solidFill>
              </a:rPr>
              <a:t>差分式传感器</a:t>
            </a:r>
          </a:p>
        </p:txBody>
      </p:sp>
      <p:sp>
        <p:nvSpPr>
          <p:cNvPr id="24" name="Rectangle 14"/>
          <p:cNvSpPr txBox="1">
            <a:spLocks noChangeArrowheads="1"/>
          </p:cNvSpPr>
          <p:nvPr/>
        </p:nvSpPr>
        <p:spPr bwMode="auto">
          <a:xfrm>
            <a:off x="5072063" y="2000250"/>
            <a:ext cx="1285875" cy="571500"/>
          </a:xfrm>
          <a:prstGeom prst="rect">
            <a:avLst/>
          </a:prstGeom>
          <a:noFill/>
          <a:ln w="9525">
            <a:noFill/>
            <a:miter lim="800000"/>
            <a:headEnd/>
            <a:tailEnd/>
          </a:ln>
        </p:spPr>
        <p:txBody>
          <a:bodyPr/>
          <a:lstStyle/>
          <a:p>
            <a:pPr>
              <a:defRPr/>
            </a:pPr>
            <a:r>
              <a:rPr kumimoji="0" lang="zh-CN" altLang="en-US" sz="2800" b="1" dirty="0">
                <a:latin typeface="+mj-lt"/>
                <a:ea typeface="+mj-ea"/>
                <a:cs typeface="+mj-cs"/>
              </a:rPr>
              <a:t>平衡时</a:t>
            </a:r>
          </a:p>
        </p:txBody>
      </p:sp>
      <p:graphicFrame>
        <p:nvGraphicFramePr>
          <p:cNvPr id="390153" name="Object 9"/>
          <p:cNvGraphicFramePr>
            <a:graphicFrameLocks noGrp="1" noChangeAspect="1"/>
          </p:cNvGraphicFramePr>
          <p:nvPr/>
        </p:nvGraphicFramePr>
        <p:xfrm>
          <a:off x="6357938" y="1857375"/>
          <a:ext cx="1416050" cy="849313"/>
        </p:xfrm>
        <a:graphic>
          <a:graphicData uri="http://schemas.openxmlformats.org/presentationml/2006/ole">
            <p:oleObj spid="_x0000_s11266" name="Equation" r:id="rId4" imgW="761760" imgH="457200" progId="Equation.3">
              <p:embed/>
            </p:oleObj>
          </a:graphicData>
        </a:graphic>
      </p:graphicFrame>
      <p:sp>
        <p:nvSpPr>
          <p:cNvPr id="26" name="Rectangle 14"/>
          <p:cNvSpPr txBox="1">
            <a:spLocks noChangeArrowheads="1"/>
          </p:cNvSpPr>
          <p:nvPr/>
        </p:nvSpPr>
        <p:spPr bwMode="auto">
          <a:xfrm>
            <a:off x="4000500" y="2857500"/>
            <a:ext cx="2143125" cy="571500"/>
          </a:xfrm>
          <a:prstGeom prst="rect">
            <a:avLst/>
          </a:prstGeom>
          <a:noFill/>
          <a:ln w="9525">
            <a:noFill/>
            <a:miter lim="800000"/>
            <a:headEnd/>
            <a:tailEnd/>
          </a:ln>
        </p:spPr>
        <p:txBody>
          <a:bodyPr/>
          <a:lstStyle/>
          <a:p>
            <a:pPr>
              <a:defRPr/>
            </a:pPr>
            <a:r>
              <a:rPr kumimoji="0" lang="zh-CN" altLang="en-US" sz="2800" b="1" dirty="0">
                <a:latin typeface="+mj-lt"/>
                <a:ea typeface="+mj-ea"/>
                <a:cs typeface="+mj-cs"/>
              </a:rPr>
              <a:t>偏离平衡时</a:t>
            </a:r>
          </a:p>
        </p:txBody>
      </p:sp>
      <p:sp>
        <p:nvSpPr>
          <p:cNvPr id="27" name="圆角矩形 26"/>
          <p:cNvSpPr/>
          <p:nvPr/>
        </p:nvSpPr>
        <p:spPr>
          <a:xfrm>
            <a:off x="6308725" y="2786063"/>
            <a:ext cx="1643063" cy="857250"/>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28" name="Object 7"/>
          <p:cNvGraphicFramePr>
            <a:graphicFrameLocks noGrp="1" noChangeAspect="1"/>
          </p:cNvGraphicFramePr>
          <p:nvPr/>
        </p:nvGraphicFramePr>
        <p:xfrm>
          <a:off x="6429375" y="2786063"/>
          <a:ext cx="1462088" cy="849312"/>
        </p:xfrm>
        <a:graphic>
          <a:graphicData uri="http://schemas.openxmlformats.org/presentationml/2006/ole">
            <p:oleObj spid="_x0000_s11267" name="Equation" r:id="rId5" imgW="787320" imgH="457200" progId="Equation.3">
              <p:embed/>
            </p:oleObj>
          </a:graphicData>
        </a:graphic>
      </p:graphicFrame>
      <p:graphicFrame>
        <p:nvGraphicFramePr>
          <p:cNvPr id="2" name="Object 8"/>
          <p:cNvGraphicFramePr>
            <a:graphicFrameLocks noGrp="1" noChangeAspect="1"/>
          </p:cNvGraphicFramePr>
          <p:nvPr/>
        </p:nvGraphicFramePr>
        <p:xfrm>
          <a:off x="1928813" y="4857750"/>
          <a:ext cx="1438275" cy="500063"/>
        </p:xfrm>
        <a:graphic>
          <a:graphicData uri="http://schemas.openxmlformats.org/presentationml/2006/ole">
            <p:oleObj spid="_x0000_s11268" name="Equation" r:id="rId6" imgW="622080" imgH="215640" progId="Equation.3">
              <p:embed/>
            </p:oleObj>
          </a:graphicData>
        </a:graphic>
      </p:graphicFrame>
      <p:graphicFrame>
        <p:nvGraphicFramePr>
          <p:cNvPr id="3" name="Object 9"/>
          <p:cNvGraphicFramePr>
            <a:graphicFrameLocks noGrp="1" noChangeAspect="1"/>
          </p:cNvGraphicFramePr>
          <p:nvPr/>
        </p:nvGraphicFramePr>
        <p:xfrm>
          <a:off x="3714750" y="4572000"/>
          <a:ext cx="4075113" cy="885825"/>
        </p:xfrm>
        <a:graphic>
          <a:graphicData uri="http://schemas.openxmlformats.org/presentationml/2006/ole">
            <p:oleObj spid="_x0000_s11269" name="Equation" r:id="rId7" imgW="2108160" imgH="457200" progId="Equation.3">
              <p:embed/>
            </p:oleObj>
          </a:graphicData>
        </a:graphic>
      </p:graphicFrame>
      <p:graphicFrame>
        <p:nvGraphicFramePr>
          <p:cNvPr id="4" name="Object 10"/>
          <p:cNvGraphicFramePr>
            <a:graphicFrameLocks noGrp="1" noChangeAspect="1"/>
          </p:cNvGraphicFramePr>
          <p:nvPr/>
        </p:nvGraphicFramePr>
        <p:xfrm>
          <a:off x="363538" y="5962650"/>
          <a:ext cx="1444625" cy="492125"/>
        </p:xfrm>
        <a:graphic>
          <a:graphicData uri="http://schemas.openxmlformats.org/presentationml/2006/ole">
            <p:oleObj spid="_x0000_s11270" name="Equation" r:id="rId8" imgW="711000" imgH="241200" progId="Equation.3">
              <p:embed/>
            </p:oleObj>
          </a:graphicData>
        </a:graphic>
      </p:graphicFrame>
      <p:sp>
        <p:nvSpPr>
          <p:cNvPr id="30" name="Rectangle 14"/>
          <p:cNvSpPr txBox="1">
            <a:spLocks noChangeArrowheads="1"/>
          </p:cNvSpPr>
          <p:nvPr/>
        </p:nvSpPr>
        <p:spPr bwMode="auto">
          <a:xfrm>
            <a:off x="1928813" y="5929313"/>
            <a:ext cx="1214437" cy="571500"/>
          </a:xfrm>
          <a:prstGeom prst="rect">
            <a:avLst/>
          </a:prstGeom>
          <a:noFill/>
          <a:ln w="9525">
            <a:noFill/>
            <a:miter lim="800000"/>
            <a:headEnd/>
            <a:tailEnd/>
          </a:ln>
        </p:spPr>
        <p:txBody>
          <a:bodyPr/>
          <a:lstStyle/>
          <a:p>
            <a:pPr>
              <a:defRPr/>
            </a:pPr>
            <a:r>
              <a:rPr kumimoji="0" lang="zh-CN" altLang="en-US" sz="2800" b="1" dirty="0">
                <a:latin typeface="+mj-lt"/>
                <a:ea typeface="+mj-ea"/>
                <a:cs typeface="+mj-cs"/>
              </a:rPr>
              <a:t>较大</a:t>
            </a:r>
          </a:p>
        </p:txBody>
      </p:sp>
      <p:graphicFrame>
        <p:nvGraphicFramePr>
          <p:cNvPr id="5" name="Object 11"/>
          <p:cNvGraphicFramePr>
            <a:graphicFrameLocks noGrp="1" noChangeAspect="1"/>
          </p:cNvGraphicFramePr>
          <p:nvPr/>
        </p:nvGraphicFramePr>
        <p:xfrm>
          <a:off x="2857500" y="6000750"/>
          <a:ext cx="749300" cy="363538"/>
        </p:xfrm>
        <a:graphic>
          <a:graphicData uri="http://schemas.openxmlformats.org/presentationml/2006/ole">
            <p:oleObj spid="_x0000_s11271" name="Equation" r:id="rId9" imgW="368280" imgH="177480" progId="Equation.3">
              <p:embed/>
            </p:oleObj>
          </a:graphicData>
        </a:graphic>
      </p:graphicFrame>
      <p:sp>
        <p:nvSpPr>
          <p:cNvPr id="31" name="Rectangle 14"/>
          <p:cNvSpPr txBox="1">
            <a:spLocks noChangeArrowheads="1"/>
          </p:cNvSpPr>
          <p:nvPr/>
        </p:nvSpPr>
        <p:spPr bwMode="auto">
          <a:xfrm>
            <a:off x="3714750" y="5929313"/>
            <a:ext cx="1500188" cy="571500"/>
          </a:xfrm>
          <a:prstGeom prst="rect">
            <a:avLst/>
          </a:prstGeom>
          <a:noFill/>
          <a:ln w="9525">
            <a:noFill/>
            <a:miter lim="800000"/>
            <a:headEnd/>
            <a:tailEnd/>
          </a:ln>
        </p:spPr>
        <p:txBody>
          <a:bodyPr/>
          <a:lstStyle/>
          <a:p>
            <a:pPr>
              <a:defRPr/>
            </a:pPr>
            <a:r>
              <a:rPr kumimoji="0" lang="zh-CN" altLang="en-US" sz="2800" b="1" dirty="0">
                <a:latin typeface="+mj-lt"/>
                <a:ea typeface="+mj-ea"/>
                <a:cs typeface="+mj-cs"/>
              </a:rPr>
              <a:t>较小时</a:t>
            </a:r>
          </a:p>
        </p:txBody>
      </p:sp>
      <p:graphicFrame>
        <p:nvGraphicFramePr>
          <p:cNvPr id="6" name="Object 12"/>
          <p:cNvGraphicFramePr>
            <a:graphicFrameLocks noGrp="1" noChangeAspect="1"/>
          </p:cNvGraphicFramePr>
          <p:nvPr/>
        </p:nvGraphicFramePr>
        <p:xfrm>
          <a:off x="5357813" y="5695950"/>
          <a:ext cx="1731962" cy="987425"/>
        </p:xfrm>
        <a:graphic>
          <a:graphicData uri="http://schemas.openxmlformats.org/presentationml/2006/ole">
            <p:oleObj spid="_x0000_s11272" name="Equation" r:id="rId10" imgW="850680" imgH="482400" progId="Equation.3">
              <p:embed/>
            </p:oleObj>
          </a:graphicData>
        </a:graphic>
      </p:graphicFrame>
      <p:sp>
        <p:nvSpPr>
          <p:cNvPr id="34" name="圆角矩形 33"/>
          <p:cNvSpPr/>
          <p:nvPr/>
        </p:nvSpPr>
        <p:spPr>
          <a:xfrm>
            <a:off x="4000500" y="3500438"/>
            <a:ext cx="2286000" cy="10001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7" name="Object 13"/>
          <p:cNvGraphicFramePr>
            <a:graphicFrameLocks noGrp="1" noChangeAspect="1"/>
          </p:cNvGraphicFramePr>
          <p:nvPr/>
        </p:nvGraphicFramePr>
        <p:xfrm>
          <a:off x="4273550" y="3481388"/>
          <a:ext cx="1758950" cy="987425"/>
        </p:xfrm>
        <a:graphic>
          <a:graphicData uri="http://schemas.openxmlformats.org/presentationml/2006/ole">
            <p:oleObj spid="_x0000_s11273" name="Equation" r:id="rId11" imgW="863280" imgH="482400" progId="Equation.3">
              <p:embed/>
            </p:oleObj>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214313" y="1571625"/>
            <a:ext cx="3571875" cy="5286375"/>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12293" name="Picture 9"/>
          <p:cNvPicPr>
            <a:picLocks noChangeAspect="1" noChangeArrowheads="1"/>
          </p:cNvPicPr>
          <p:nvPr/>
        </p:nvPicPr>
        <p:blipFill>
          <a:blip r:embed="rId3"/>
          <a:srcRect/>
          <a:stretch>
            <a:fillRect/>
          </a:stretch>
        </p:blipFill>
        <p:spPr bwMode="auto">
          <a:xfrm>
            <a:off x="428625" y="2214563"/>
            <a:ext cx="3143250" cy="2312987"/>
          </a:xfrm>
          <a:prstGeom prst="rect">
            <a:avLst/>
          </a:prstGeom>
          <a:noFill/>
          <a:ln w="9525">
            <a:noFill/>
            <a:miter lim="800000"/>
            <a:headEnd/>
            <a:tailEnd/>
          </a:ln>
        </p:spPr>
      </p:pic>
      <p:sp>
        <p:nvSpPr>
          <p:cNvPr id="12294"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1" name="Rectangle 14"/>
          <p:cNvSpPr txBox="1">
            <a:spLocks noChangeArrowheads="1"/>
          </p:cNvSpPr>
          <p:nvPr/>
        </p:nvSpPr>
        <p:spPr bwMode="auto">
          <a:xfrm>
            <a:off x="214313" y="1571625"/>
            <a:ext cx="3571875" cy="571500"/>
          </a:xfrm>
          <a:prstGeom prst="rect">
            <a:avLst/>
          </a:prstGeom>
          <a:noFill/>
          <a:ln w="9525">
            <a:noFill/>
            <a:miter lim="800000"/>
            <a:headEnd/>
            <a:tailEnd/>
          </a:ln>
        </p:spPr>
        <p:txBody>
          <a:bodyPr/>
          <a:lstStyle/>
          <a:p>
            <a:pPr algn="ctr">
              <a:defRPr/>
            </a:pPr>
            <a:r>
              <a:rPr kumimoji="0" lang="zh-CN" altLang="en-US" sz="2800" b="1" dirty="0">
                <a:latin typeface="+mj-lt"/>
                <a:ea typeface="+mj-ea"/>
                <a:cs typeface="+mj-cs"/>
              </a:rPr>
              <a:t>变压器电桥</a:t>
            </a:r>
          </a:p>
        </p:txBody>
      </p:sp>
      <p:sp>
        <p:nvSpPr>
          <p:cNvPr id="16" name="椭圆 15"/>
          <p:cNvSpPr/>
          <p:nvPr/>
        </p:nvSpPr>
        <p:spPr>
          <a:xfrm>
            <a:off x="2428875" y="2286000"/>
            <a:ext cx="642938" cy="20716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矩形标注 20"/>
          <p:cNvSpPr/>
          <p:nvPr/>
        </p:nvSpPr>
        <p:spPr>
          <a:xfrm>
            <a:off x="285750" y="5000625"/>
            <a:ext cx="1357313" cy="428625"/>
          </a:xfrm>
          <a:prstGeom prst="wedgeRectCallout">
            <a:avLst>
              <a:gd name="adj1" fmla="val 47116"/>
              <a:gd name="adj2" fmla="val -228074"/>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chemeClr val="tx1"/>
                </a:solidFill>
              </a:rPr>
              <a:t>变压器</a:t>
            </a:r>
          </a:p>
        </p:txBody>
      </p:sp>
      <p:sp>
        <p:nvSpPr>
          <p:cNvPr id="22" name="椭圆 21"/>
          <p:cNvSpPr/>
          <p:nvPr/>
        </p:nvSpPr>
        <p:spPr>
          <a:xfrm>
            <a:off x="1000125" y="2214563"/>
            <a:ext cx="1143000" cy="207168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矩形标注 22"/>
          <p:cNvSpPr/>
          <p:nvPr/>
        </p:nvSpPr>
        <p:spPr>
          <a:xfrm>
            <a:off x="1857375" y="4857750"/>
            <a:ext cx="1357313" cy="714375"/>
          </a:xfrm>
          <a:prstGeom prst="wedgeRectCallout">
            <a:avLst>
              <a:gd name="adj1" fmla="val 14594"/>
              <a:gd name="adj2" fmla="val -11717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chemeClr val="tx1"/>
                </a:solidFill>
              </a:rPr>
              <a:t>差分式传感器</a:t>
            </a:r>
          </a:p>
        </p:txBody>
      </p:sp>
      <p:sp>
        <p:nvSpPr>
          <p:cNvPr id="32" name="圆角矩形 31"/>
          <p:cNvSpPr/>
          <p:nvPr/>
        </p:nvSpPr>
        <p:spPr>
          <a:xfrm>
            <a:off x="928688" y="5643563"/>
            <a:ext cx="2286000" cy="10001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34" name="Object 10"/>
          <p:cNvGraphicFramePr>
            <a:graphicFrameLocks noGrp="1" noChangeAspect="1"/>
          </p:cNvGraphicFramePr>
          <p:nvPr/>
        </p:nvGraphicFramePr>
        <p:xfrm>
          <a:off x="1201738" y="5624513"/>
          <a:ext cx="1758950" cy="987425"/>
        </p:xfrm>
        <a:graphic>
          <a:graphicData uri="http://schemas.openxmlformats.org/presentationml/2006/ole">
            <p:oleObj spid="_x0000_s12290" name="Equation" r:id="rId4" imgW="863280" imgH="482400" progId="Equation.3">
              <p:embed/>
            </p:oleObj>
          </a:graphicData>
        </a:graphic>
      </p:graphicFrame>
      <p:grpSp>
        <p:nvGrpSpPr>
          <p:cNvPr id="18" name="组合 17"/>
          <p:cNvGrpSpPr/>
          <p:nvPr/>
        </p:nvGrpSpPr>
        <p:grpSpPr>
          <a:xfrm>
            <a:off x="4143375" y="1785938"/>
            <a:ext cx="4429125" cy="4429125"/>
            <a:chOff x="4143375" y="1785938"/>
            <a:chExt cx="4429125" cy="4429125"/>
          </a:xfrm>
        </p:grpSpPr>
        <p:sp>
          <p:nvSpPr>
            <p:cNvPr id="36" name="矩形 35"/>
            <p:cNvSpPr/>
            <p:nvPr/>
          </p:nvSpPr>
          <p:spPr>
            <a:xfrm>
              <a:off x="4143375" y="1785938"/>
              <a:ext cx="4429125" cy="442912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12302" name="Picture 11"/>
            <p:cNvPicPr>
              <a:picLocks noChangeAspect="1" noChangeArrowheads="1"/>
            </p:cNvPicPr>
            <p:nvPr/>
          </p:nvPicPr>
          <p:blipFill>
            <a:blip r:embed="rId5"/>
            <a:srcRect/>
            <a:stretch>
              <a:fillRect/>
            </a:stretch>
          </p:blipFill>
          <p:spPr bwMode="auto">
            <a:xfrm>
              <a:off x="4357688" y="2428875"/>
              <a:ext cx="3925887" cy="2214563"/>
            </a:xfrm>
            <a:prstGeom prst="rect">
              <a:avLst/>
            </a:prstGeom>
            <a:noFill/>
            <a:ln w="9525">
              <a:noFill/>
              <a:miter lim="800000"/>
              <a:headEnd/>
              <a:tailEnd/>
            </a:ln>
          </p:spPr>
        </p:pic>
        <p:sp>
          <p:nvSpPr>
            <p:cNvPr id="37" name="Rectangle 14"/>
            <p:cNvSpPr txBox="1">
              <a:spLocks noChangeArrowheads="1"/>
            </p:cNvSpPr>
            <p:nvPr/>
          </p:nvSpPr>
          <p:spPr bwMode="auto">
            <a:xfrm>
              <a:off x="4143375" y="1785938"/>
              <a:ext cx="4429125" cy="571500"/>
            </a:xfrm>
            <a:prstGeom prst="rect">
              <a:avLst/>
            </a:prstGeom>
            <a:noFill/>
            <a:ln w="9525">
              <a:noFill/>
              <a:miter lim="800000"/>
              <a:headEnd/>
              <a:tailEnd/>
            </a:ln>
          </p:spPr>
          <p:txBody>
            <a:bodyPr/>
            <a:lstStyle/>
            <a:p>
              <a:pPr algn="ctr">
                <a:defRPr/>
              </a:pPr>
              <a:r>
                <a:rPr kumimoji="0" lang="zh-CN" altLang="en-US" sz="2800" b="1" dirty="0">
                  <a:latin typeface="+mj-lt"/>
                  <a:ea typeface="+mj-ea"/>
                  <a:cs typeface="+mj-cs"/>
                </a:rPr>
                <a:t>谐振式调幅电路</a:t>
              </a:r>
            </a:p>
          </p:txBody>
        </p:sp>
        <p:sp>
          <p:nvSpPr>
            <p:cNvPr id="38" name="矩形标注 37"/>
            <p:cNvSpPr/>
            <p:nvPr/>
          </p:nvSpPr>
          <p:spPr>
            <a:xfrm>
              <a:off x="4572000" y="4857750"/>
              <a:ext cx="1357313" cy="428625"/>
            </a:xfrm>
            <a:prstGeom prst="wedgeRectCallout">
              <a:avLst>
                <a:gd name="adj1" fmla="val 23886"/>
                <a:gd name="adj2" fmla="val -23910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chemeClr val="tx1"/>
                  </a:solidFill>
                </a:rPr>
                <a:t>变压器</a:t>
              </a:r>
            </a:p>
          </p:txBody>
        </p:sp>
        <p:sp>
          <p:nvSpPr>
            <p:cNvPr id="12305" name="Text Box 15"/>
            <p:cNvSpPr txBox="1">
              <a:spLocks noChangeArrowheads="1"/>
            </p:cNvSpPr>
            <p:nvPr/>
          </p:nvSpPr>
          <p:spPr bwMode="auto">
            <a:xfrm>
              <a:off x="4857750" y="5500688"/>
              <a:ext cx="3357563" cy="523875"/>
            </a:xfrm>
            <a:prstGeom prst="rect">
              <a:avLst/>
            </a:prstGeom>
            <a:noFill/>
            <a:ln w="9525" algn="ctr">
              <a:noFill/>
              <a:miter lim="800000"/>
              <a:headEnd/>
              <a:tailEnd/>
            </a:ln>
          </p:spPr>
          <p:txBody>
            <a:bodyPr>
              <a:spAutoFit/>
            </a:bodyPr>
            <a:lstStyle/>
            <a:p>
              <a:pPr marL="96838" indent="-96838">
                <a:spcBef>
                  <a:spcPct val="50000"/>
                </a:spcBef>
              </a:pPr>
              <a:r>
                <a:rPr lang="zh-CN" altLang="en-US" sz="2800" b="1">
                  <a:latin typeface="楷体_GB2312" pitchFamily="49" charset="-122"/>
                  <a:ea typeface="楷体_GB2312" pitchFamily="49" charset="-122"/>
                </a:rPr>
                <a:t>灵敏度高，线性差</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ppt_w</p:attrName>
                                        </p:attrNameLst>
                                      </p:cBhvr>
                                      <p:tavLst>
                                        <p:tav tm="0">
                                          <p:val>
                                            <p:fltVal val="0"/>
                                          </p:val>
                                        </p:tav>
                                        <p:tav tm="100000">
                                          <p:val>
                                            <p:strVal val="#ppt_w"/>
                                          </p:val>
                                        </p:tav>
                                      </p:tavLst>
                                    </p:anim>
                                    <p:anim calcmode="lin" valueType="num">
                                      <p:cBhvr>
                                        <p:cTn id="8" dur="500" fill="hold"/>
                                        <p:tgtEl>
                                          <p:spTgt spid="3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linds(horizontal)">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圆角矩形 25"/>
          <p:cNvSpPr/>
          <p:nvPr/>
        </p:nvSpPr>
        <p:spPr>
          <a:xfrm>
            <a:off x="2000250" y="4357688"/>
            <a:ext cx="4929188" cy="10001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317"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3" name="Rectangle 7"/>
          <p:cNvSpPr txBox="1">
            <a:spLocks noChangeArrowheads="1"/>
          </p:cNvSpPr>
          <p:nvPr/>
        </p:nvSpPr>
        <p:spPr bwMode="auto">
          <a:xfrm>
            <a:off x="642938" y="1571625"/>
            <a:ext cx="3071812" cy="576263"/>
          </a:xfrm>
          <a:prstGeom prst="rect">
            <a:avLst/>
          </a:prstGeom>
          <a:noFill/>
          <a:ln w="9525">
            <a:noFill/>
            <a:miter lim="800000"/>
            <a:headEnd/>
            <a:tailEnd/>
          </a:ln>
        </p:spPr>
        <p:txBody>
          <a:bodyPr/>
          <a:lstStyle/>
          <a:p>
            <a:pPr>
              <a:buFont typeface="Wingdings" pitchFamily="2" charset="2"/>
              <a:buChar char="u"/>
              <a:defRPr/>
            </a:pPr>
            <a:r>
              <a:rPr kumimoji="0" lang="zh-CN" altLang="en-US" sz="2800" b="1" dirty="0">
                <a:solidFill>
                  <a:srgbClr val="C00000"/>
                </a:solidFill>
                <a:latin typeface="宋体" pitchFamily="2" charset="-122"/>
              </a:rPr>
              <a:t> 调频电路</a:t>
            </a:r>
            <a:endParaRPr kumimoji="0" lang="zh-CN" altLang="en-US" sz="2800" b="1" dirty="0">
              <a:solidFill>
                <a:srgbClr val="C00000"/>
              </a:solidFill>
              <a:latin typeface="黑体" pitchFamily="49" charset="-122"/>
              <a:ea typeface="黑体" pitchFamily="49" charset="-122"/>
              <a:cs typeface="+mj-cs"/>
            </a:endParaRPr>
          </a:p>
        </p:txBody>
      </p:sp>
      <p:pic>
        <p:nvPicPr>
          <p:cNvPr id="13320" name="Picture 16"/>
          <p:cNvPicPr>
            <a:picLocks noGrp="1" noChangeAspect="1" noChangeArrowheads="1"/>
          </p:cNvPicPr>
          <p:nvPr>
            <p:ph sz="quarter" idx="4294967295"/>
          </p:nvPr>
        </p:nvPicPr>
        <p:blipFill>
          <a:blip r:embed="rId3"/>
          <a:srcRect/>
          <a:stretch>
            <a:fillRect/>
          </a:stretch>
        </p:blipFill>
        <p:spPr>
          <a:xfrm>
            <a:off x="5003800" y="1628775"/>
            <a:ext cx="3889375" cy="2022475"/>
          </a:xfrm>
        </p:spPr>
      </p:pic>
      <p:sp>
        <p:nvSpPr>
          <p:cNvPr id="13321" name="Text Box 18"/>
          <p:cNvSpPr txBox="1">
            <a:spLocks noChangeArrowheads="1"/>
          </p:cNvSpPr>
          <p:nvPr/>
        </p:nvSpPr>
        <p:spPr bwMode="auto">
          <a:xfrm>
            <a:off x="214313" y="2247900"/>
            <a:ext cx="4645025" cy="954088"/>
          </a:xfrm>
          <a:prstGeom prst="rect">
            <a:avLst/>
          </a:prstGeom>
          <a:noFill/>
          <a:ln w="9525" algn="ctr">
            <a:noFill/>
            <a:miter lim="800000"/>
            <a:headEnd/>
            <a:tailEnd/>
          </a:ln>
        </p:spPr>
        <p:txBody>
          <a:bodyPr>
            <a:spAutoFit/>
          </a:bodyPr>
          <a:lstStyle/>
          <a:p>
            <a:pPr indent="273050">
              <a:spcBef>
                <a:spcPct val="20000"/>
              </a:spcBef>
              <a:buClr>
                <a:schemeClr val="folHlink"/>
              </a:buClr>
              <a:buSzPct val="60000"/>
              <a:buFont typeface="Wingdings" pitchFamily="2" charset="2"/>
              <a:buNone/>
            </a:pPr>
            <a:r>
              <a:rPr lang="zh-CN" altLang="en-US" sz="2800" b="1">
                <a:latin typeface="Times New Roman" pitchFamily="18" charset="0"/>
                <a:cs typeface="Times New Roman" pitchFamily="18" charset="0"/>
              </a:rPr>
              <a:t>电感 </a:t>
            </a:r>
            <a:r>
              <a:rPr lang="en-US" altLang="zh-CN" sz="2800" b="1" i="1">
                <a:solidFill>
                  <a:srgbClr val="FF0000"/>
                </a:solidFill>
                <a:latin typeface="Times New Roman" pitchFamily="18" charset="0"/>
                <a:cs typeface="Times New Roman" pitchFamily="18" charset="0"/>
              </a:rPr>
              <a:t>L</a:t>
            </a:r>
            <a:r>
              <a:rPr lang="zh-CN" altLang="en-US" sz="2800" b="1">
                <a:latin typeface="Times New Roman" pitchFamily="18" charset="0"/>
                <a:cs typeface="Times New Roman" pitchFamily="18" charset="0"/>
              </a:rPr>
              <a:t>变化引起输出信号频率 </a:t>
            </a:r>
            <a:r>
              <a:rPr lang="en-US" altLang="zh-CN" sz="2800" b="1" i="1">
                <a:solidFill>
                  <a:srgbClr val="FF0000"/>
                </a:solidFill>
                <a:latin typeface="Times New Roman" pitchFamily="18" charset="0"/>
                <a:cs typeface="Times New Roman" pitchFamily="18" charset="0"/>
              </a:rPr>
              <a:t>f </a:t>
            </a:r>
            <a:r>
              <a:rPr lang="zh-CN" altLang="en-US" sz="2800" b="1" i="1">
                <a:solidFill>
                  <a:srgbClr val="FF0000"/>
                </a:solidFill>
                <a:latin typeface="Times New Roman" pitchFamily="18" charset="0"/>
                <a:cs typeface="Times New Roman" pitchFamily="18" charset="0"/>
              </a:rPr>
              <a:t> </a:t>
            </a:r>
            <a:r>
              <a:rPr lang="zh-CN" altLang="en-US" sz="2800" b="1">
                <a:latin typeface="Times New Roman" pitchFamily="18" charset="0"/>
                <a:cs typeface="Times New Roman" pitchFamily="18" charset="0"/>
              </a:rPr>
              <a:t>的变化。</a:t>
            </a:r>
            <a:endParaRPr lang="en-US" altLang="zh-CN" sz="2800" b="1">
              <a:latin typeface="Times New Roman" pitchFamily="18" charset="0"/>
              <a:cs typeface="Times New Roman" pitchFamily="18" charset="0"/>
            </a:endParaRPr>
          </a:p>
        </p:txBody>
      </p:sp>
      <p:sp>
        <p:nvSpPr>
          <p:cNvPr id="13322" name="Text Box 18"/>
          <p:cNvSpPr txBox="1">
            <a:spLocks noChangeArrowheads="1"/>
          </p:cNvSpPr>
          <p:nvPr/>
        </p:nvSpPr>
        <p:spPr bwMode="auto">
          <a:xfrm>
            <a:off x="428625" y="3786188"/>
            <a:ext cx="8715375" cy="523875"/>
          </a:xfrm>
          <a:prstGeom prst="rect">
            <a:avLst/>
          </a:prstGeom>
          <a:noFill/>
          <a:ln w="9525" algn="ctr">
            <a:noFill/>
            <a:miter lim="800000"/>
            <a:headEnd/>
            <a:tailEnd/>
          </a:ln>
        </p:spPr>
        <p:txBody>
          <a:bodyPr>
            <a:spAutoFit/>
          </a:bodyPr>
          <a:lstStyle/>
          <a:p>
            <a:pPr indent="273050">
              <a:spcBef>
                <a:spcPct val="20000"/>
              </a:spcBef>
              <a:buClr>
                <a:schemeClr val="folHlink"/>
              </a:buClr>
              <a:buSzPct val="60000"/>
              <a:buFont typeface="Wingdings" pitchFamily="2" charset="2"/>
              <a:buNone/>
            </a:pPr>
            <a:r>
              <a:rPr lang="zh-CN" altLang="en-US" sz="2800" b="1">
                <a:latin typeface="Times New Roman" pitchFamily="18" charset="0"/>
                <a:cs typeface="Times New Roman" pitchFamily="18" charset="0"/>
              </a:rPr>
              <a:t>当 </a:t>
            </a:r>
            <a:r>
              <a:rPr lang="en-US" altLang="zh-CN" sz="2800" b="1" i="1">
                <a:solidFill>
                  <a:srgbClr val="FF0000"/>
                </a:solidFill>
                <a:latin typeface="Times New Roman" pitchFamily="18" charset="0"/>
                <a:cs typeface="Times New Roman" pitchFamily="18" charset="0"/>
              </a:rPr>
              <a:t>L</a:t>
            </a:r>
            <a:r>
              <a:rPr lang="zh-CN" altLang="en-US" sz="2800" b="1">
                <a:latin typeface="Times New Roman" pitchFamily="18" charset="0"/>
                <a:cs typeface="Times New Roman" pitchFamily="18" charset="0"/>
              </a:rPr>
              <a:t>有了微小变化</a:t>
            </a:r>
            <a:r>
              <a:rPr lang="zh-CN" altLang="en-US" sz="2800" b="1">
                <a:solidFill>
                  <a:srgbClr val="FF0000"/>
                </a:solidFill>
                <a:latin typeface="Times New Roman" pitchFamily="18" charset="0"/>
                <a:cs typeface="Times New Roman" pitchFamily="18" charset="0"/>
              </a:rPr>
              <a:t> </a:t>
            </a:r>
            <a:r>
              <a:rPr lang="en-US" altLang="zh-CN" sz="2800" b="1" i="1">
                <a:solidFill>
                  <a:srgbClr val="FF0000"/>
                </a:solidFill>
                <a:latin typeface="Times New Roman" pitchFamily="18" charset="0"/>
                <a:cs typeface="Times New Roman" pitchFamily="18" charset="0"/>
              </a:rPr>
              <a:t>ΔL</a:t>
            </a:r>
            <a:r>
              <a:rPr lang="zh-CN" altLang="en-US" sz="2800" b="1">
                <a:latin typeface="Times New Roman" pitchFamily="18" charset="0"/>
                <a:cs typeface="Times New Roman" pitchFamily="18" charset="0"/>
              </a:rPr>
              <a:t>后，频率变化 </a:t>
            </a:r>
            <a:r>
              <a:rPr lang="en-US" altLang="zh-CN" sz="2800" b="1" i="1">
                <a:solidFill>
                  <a:srgbClr val="FF0000"/>
                </a:solidFill>
                <a:latin typeface="Times New Roman" pitchFamily="18" charset="0"/>
                <a:cs typeface="Times New Roman" pitchFamily="18" charset="0"/>
              </a:rPr>
              <a:t>Δf</a:t>
            </a:r>
            <a:r>
              <a:rPr lang="zh-CN" altLang="en-US" sz="2800" b="1" i="1">
                <a:solidFill>
                  <a:srgbClr val="FF0000"/>
                </a:solidFill>
                <a:latin typeface="Times New Roman" pitchFamily="18" charset="0"/>
                <a:cs typeface="Times New Roman" pitchFamily="18" charset="0"/>
              </a:rPr>
              <a:t> </a:t>
            </a:r>
            <a:r>
              <a:rPr lang="zh-CN" altLang="en-US" sz="2800" b="1">
                <a:latin typeface="Times New Roman" pitchFamily="18" charset="0"/>
                <a:cs typeface="Times New Roman" pitchFamily="18" charset="0"/>
              </a:rPr>
              <a:t>为</a:t>
            </a:r>
            <a:endParaRPr lang="en-US" altLang="zh-CN" sz="2400">
              <a:latin typeface="宋体" pitchFamily="2" charset="-122"/>
            </a:endParaRPr>
          </a:p>
        </p:txBody>
      </p:sp>
      <p:graphicFrame>
        <p:nvGraphicFramePr>
          <p:cNvPr id="13314" name="Object 6"/>
          <p:cNvGraphicFramePr>
            <a:graphicFrameLocks noChangeAspect="1"/>
          </p:cNvGraphicFramePr>
          <p:nvPr/>
        </p:nvGraphicFramePr>
        <p:xfrm>
          <a:off x="1714500" y="3214688"/>
          <a:ext cx="2057400" cy="490537"/>
        </p:xfrm>
        <a:graphic>
          <a:graphicData uri="http://schemas.openxmlformats.org/presentationml/2006/ole">
            <p:oleObj spid="_x0000_s13314" name="图像文档" r:id="rId4" imgW="1476360" imgH="352440" progId="">
              <p:embed/>
            </p:oleObj>
          </a:graphicData>
        </a:graphic>
      </p:graphicFrame>
      <p:graphicFrame>
        <p:nvGraphicFramePr>
          <p:cNvPr id="390153" name="Object 5"/>
          <p:cNvGraphicFramePr>
            <a:graphicFrameLocks noGrp="1" noChangeAspect="1"/>
          </p:cNvGraphicFramePr>
          <p:nvPr/>
        </p:nvGraphicFramePr>
        <p:xfrm>
          <a:off x="2071688" y="4500563"/>
          <a:ext cx="4786312" cy="817562"/>
        </p:xfrm>
        <a:graphic>
          <a:graphicData uri="http://schemas.openxmlformats.org/presentationml/2006/ole">
            <p:oleObj spid="_x0000_s13315" name="Equation" r:id="rId5" imgW="2311200" imgH="393480" progId="Equation.3">
              <p:embed/>
            </p:oleObj>
          </a:graphicData>
        </a:graphic>
      </p:graphicFrame>
      <p:sp>
        <p:nvSpPr>
          <p:cNvPr id="27" name="Text Box 4"/>
          <p:cNvSpPr txBox="1">
            <a:spLocks noChangeArrowheads="1"/>
          </p:cNvSpPr>
          <p:nvPr/>
        </p:nvSpPr>
        <p:spPr bwMode="auto">
          <a:xfrm>
            <a:off x="285750" y="5657850"/>
            <a:ext cx="8572500" cy="830263"/>
          </a:xfrm>
          <a:prstGeom prst="rect">
            <a:avLst/>
          </a:prstGeom>
          <a:solidFill>
            <a:srgbClr val="92D050"/>
          </a:solidFill>
          <a:ln w="9525">
            <a:noFill/>
            <a:miter lim="800000"/>
            <a:headEnd/>
            <a:tailEnd/>
          </a:ln>
        </p:spPr>
        <p:txBody>
          <a:bodyPr>
            <a:spAutoFit/>
          </a:bodyPr>
          <a:lstStyle/>
          <a:p>
            <a:pPr indent="352425"/>
            <a:r>
              <a:rPr lang="zh-CN" altLang="en-US" sz="2400" b="1">
                <a:solidFill>
                  <a:srgbClr val="CC0066"/>
                </a:solidFill>
                <a:latin typeface="Times New Roman" pitchFamily="18" charset="0"/>
                <a:ea typeface="楷体" pitchFamily="49" charset="-122"/>
                <a:cs typeface="Times New Roman" pitchFamily="18" charset="0"/>
                <a:sym typeface="Symbol" pitchFamily="18" charset="2"/>
              </a:rPr>
              <a:t>频率</a:t>
            </a:r>
            <a:r>
              <a:rPr lang="en-US" altLang="zh-CN" sz="2400" b="1" i="1">
                <a:solidFill>
                  <a:srgbClr val="CC0066"/>
                </a:solidFill>
                <a:latin typeface="Times New Roman" pitchFamily="18" charset="0"/>
                <a:ea typeface="楷体" pitchFamily="49" charset="-122"/>
                <a:cs typeface="Times New Roman" pitchFamily="18" charset="0"/>
                <a:sym typeface="Symbol" pitchFamily="18" charset="2"/>
              </a:rPr>
              <a:t>f</a:t>
            </a:r>
            <a:r>
              <a:rPr lang="zh-CN" altLang="en-US" sz="2400" b="1">
                <a:solidFill>
                  <a:srgbClr val="CC0066"/>
                </a:solidFill>
                <a:latin typeface="Times New Roman" pitchFamily="18" charset="0"/>
                <a:ea typeface="楷体" pitchFamily="49" charset="-122"/>
                <a:cs typeface="Times New Roman" pitchFamily="18" charset="0"/>
                <a:sym typeface="Symbol" pitchFamily="18" charset="2"/>
              </a:rPr>
              <a:t>与电感</a:t>
            </a:r>
            <a:r>
              <a:rPr lang="en-US" altLang="zh-CN" sz="2400" b="1" i="1">
                <a:solidFill>
                  <a:srgbClr val="CC0066"/>
                </a:solidFill>
                <a:latin typeface="Times New Roman" pitchFamily="18" charset="0"/>
                <a:ea typeface="楷体" pitchFamily="49" charset="-122"/>
                <a:cs typeface="Times New Roman" pitchFamily="18" charset="0"/>
                <a:sym typeface="Symbol" pitchFamily="18" charset="2"/>
              </a:rPr>
              <a:t>L </a:t>
            </a:r>
            <a:r>
              <a:rPr lang="zh-CN" altLang="en-US" sz="2400" b="1">
                <a:solidFill>
                  <a:srgbClr val="CC0066"/>
                </a:solidFill>
                <a:latin typeface="Times New Roman" pitchFamily="18" charset="0"/>
                <a:ea typeface="楷体" pitchFamily="49" charset="-122"/>
                <a:cs typeface="Times New Roman" pitchFamily="18" charset="0"/>
                <a:sym typeface="Symbol" pitchFamily="18" charset="2"/>
              </a:rPr>
              <a:t>之间具有非线性关系，需要后续电路处理。调频电路只有在</a:t>
            </a:r>
            <a:r>
              <a:rPr lang="en-US" altLang="zh-CN" sz="2400" b="1" i="1">
                <a:solidFill>
                  <a:srgbClr val="CC0066"/>
                </a:solidFill>
                <a:latin typeface="Times New Roman" pitchFamily="18" charset="0"/>
                <a:ea typeface="楷体" pitchFamily="49" charset="-122"/>
                <a:cs typeface="Times New Roman" pitchFamily="18" charset="0"/>
                <a:sym typeface="Symbol" pitchFamily="18" charset="2"/>
              </a:rPr>
              <a:t>f</a:t>
            </a:r>
            <a:r>
              <a:rPr lang="zh-CN" altLang="en-US" sz="2400" b="1" i="1">
                <a:solidFill>
                  <a:srgbClr val="CC0066"/>
                </a:solidFill>
                <a:latin typeface="Times New Roman" pitchFamily="18" charset="0"/>
                <a:ea typeface="楷体" pitchFamily="49" charset="-122"/>
                <a:cs typeface="Times New Roman" pitchFamily="18" charset="0"/>
                <a:sym typeface="Symbol" pitchFamily="18" charset="2"/>
              </a:rPr>
              <a:t> </a:t>
            </a:r>
            <a:r>
              <a:rPr lang="zh-CN" altLang="en-US" sz="2400" b="1">
                <a:solidFill>
                  <a:srgbClr val="CC0066"/>
                </a:solidFill>
                <a:latin typeface="Times New Roman" pitchFamily="18" charset="0"/>
                <a:ea typeface="楷体" pitchFamily="49" charset="-122"/>
                <a:cs typeface="Times New Roman" pitchFamily="18" charset="0"/>
                <a:sym typeface="Symbol" pitchFamily="18" charset="2"/>
              </a:rPr>
              <a:t>较大情况下才能够达到较高的精度。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90153"/>
                                        </p:tgtEl>
                                        <p:attrNameLst>
                                          <p:attrName>style.visibility</p:attrName>
                                        </p:attrNameLst>
                                      </p:cBhvr>
                                      <p:to>
                                        <p:strVal val="visible"/>
                                      </p:to>
                                    </p:set>
                                    <p:anim calcmode="lin" valueType="num">
                                      <p:cBhvr>
                                        <p:cTn id="7" dur="500" fill="hold"/>
                                        <p:tgtEl>
                                          <p:spTgt spid="390153"/>
                                        </p:tgtEl>
                                        <p:attrNameLst>
                                          <p:attrName>ppt_w</p:attrName>
                                        </p:attrNameLst>
                                      </p:cBhvr>
                                      <p:tavLst>
                                        <p:tav tm="0">
                                          <p:val>
                                            <p:fltVal val="0"/>
                                          </p:val>
                                        </p:tav>
                                        <p:tav tm="100000">
                                          <p:val>
                                            <p:strVal val="#ppt_w"/>
                                          </p:val>
                                        </p:tav>
                                      </p:tavLst>
                                    </p:anim>
                                    <p:anim calcmode="lin" valueType="num">
                                      <p:cBhvr>
                                        <p:cTn id="8" dur="500" fill="hold"/>
                                        <p:tgtEl>
                                          <p:spTgt spid="39015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blinds(horizontal)">
                                      <p:cBhvr>
                                        <p:cTn id="1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圆角矩形 27"/>
          <p:cNvSpPr/>
          <p:nvPr/>
        </p:nvSpPr>
        <p:spPr>
          <a:xfrm>
            <a:off x="3143250" y="5643563"/>
            <a:ext cx="3214688" cy="10001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圆角矩形 21"/>
          <p:cNvSpPr/>
          <p:nvPr/>
        </p:nvSpPr>
        <p:spPr>
          <a:xfrm>
            <a:off x="214313" y="5643563"/>
            <a:ext cx="2714625" cy="10001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343"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3" name="Rectangle 7"/>
          <p:cNvSpPr txBox="1">
            <a:spLocks noChangeArrowheads="1"/>
          </p:cNvSpPr>
          <p:nvPr/>
        </p:nvSpPr>
        <p:spPr bwMode="auto">
          <a:xfrm>
            <a:off x="642938" y="1571625"/>
            <a:ext cx="3071812" cy="576263"/>
          </a:xfrm>
          <a:prstGeom prst="rect">
            <a:avLst/>
          </a:prstGeom>
          <a:noFill/>
          <a:ln w="9525">
            <a:noFill/>
            <a:miter lim="800000"/>
            <a:headEnd/>
            <a:tailEnd/>
          </a:ln>
        </p:spPr>
        <p:txBody>
          <a:bodyPr/>
          <a:lstStyle/>
          <a:p>
            <a:pPr>
              <a:buFont typeface="Wingdings" pitchFamily="2" charset="2"/>
              <a:buChar char="u"/>
              <a:defRPr/>
            </a:pPr>
            <a:r>
              <a:rPr kumimoji="0" lang="zh-CN" altLang="en-US" sz="2800" b="1" dirty="0">
                <a:solidFill>
                  <a:srgbClr val="C00000"/>
                </a:solidFill>
                <a:latin typeface="宋体" pitchFamily="2" charset="-122"/>
              </a:rPr>
              <a:t> 调相电路</a:t>
            </a:r>
            <a:endParaRPr kumimoji="0" lang="zh-CN" altLang="en-US" sz="2800" b="1" dirty="0">
              <a:solidFill>
                <a:srgbClr val="C00000"/>
              </a:solidFill>
              <a:latin typeface="黑体" pitchFamily="49" charset="-122"/>
              <a:ea typeface="黑体" pitchFamily="49" charset="-122"/>
              <a:cs typeface="+mj-cs"/>
            </a:endParaRPr>
          </a:p>
        </p:txBody>
      </p:sp>
      <p:sp>
        <p:nvSpPr>
          <p:cNvPr id="14346" name="Rectangle 10"/>
          <p:cNvSpPr>
            <a:spLocks noRot="1" noChangeArrowheads="1"/>
          </p:cNvSpPr>
          <p:nvPr/>
        </p:nvSpPr>
        <p:spPr bwMode="auto">
          <a:xfrm>
            <a:off x="214313" y="2071688"/>
            <a:ext cx="3929062" cy="1082675"/>
          </a:xfrm>
          <a:prstGeom prst="rect">
            <a:avLst/>
          </a:prstGeom>
          <a:noFill/>
          <a:ln w="9525">
            <a:noFill/>
            <a:miter lim="800000"/>
            <a:headEnd/>
            <a:tailEnd/>
          </a:ln>
        </p:spPr>
        <p:txBody>
          <a:bodyPr/>
          <a:lstStyle/>
          <a:p>
            <a:pPr indent="722313">
              <a:spcBef>
                <a:spcPct val="20000"/>
              </a:spcBef>
              <a:buClr>
                <a:schemeClr val="folHlink"/>
              </a:buClr>
              <a:buSzPct val="60000"/>
              <a:buFont typeface="Wingdings" pitchFamily="2" charset="2"/>
              <a:buNone/>
            </a:pPr>
            <a:r>
              <a:rPr lang="zh-CN" altLang="en-US" sz="2800" b="1">
                <a:latin typeface="宋体" pitchFamily="2" charset="-122"/>
              </a:rPr>
              <a:t>电感 </a:t>
            </a:r>
            <a:r>
              <a:rPr lang="en-US" altLang="zh-CN" sz="2800" i="1">
                <a:solidFill>
                  <a:srgbClr val="FF0000"/>
                </a:solidFill>
                <a:latin typeface="Times New Roman" pitchFamily="18" charset="0"/>
              </a:rPr>
              <a:t>L</a:t>
            </a:r>
            <a:r>
              <a:rPr lang="zh-CN" altLang="en-US" sz="2800" b="1">
                <a:latin typeface="宋体" pitchFamily="2" charset="-122"/>
              </a:rPr>
              <a:t>变化将引起输出电压相位 </a:t>
            </a:r>
            <a:r>
              <a:rPr lang="en-US" altLang="zh-CN" sz="2800" i="1">
                <a:solidFill>
                  <a:srgbClr val="FF0000"/>
                </a:solidFill>
                <a:latin typeface="Times New Roman" pitchFamily="18" charset="0"/>
              </a:rPr>
              <a:t>φ</a:t>
            </a:r>
            <a:r>
              <a:rPr lang="zh-CN" altLang="en-US" sz="2800" i="1">
                <a:solidFill>
                  <a:srgbClr val="FF0000"/>
                </a:solidFill>
                <a:latin typeface="Times New Roman" pitchFamily="18" charset="0"/>
              </a:rPr>
              <a:t> </a:t>
            </a:r>
            <a:r>
              <a:rPr lang="zh-CN" altLang="en-US" sz="2800" b="1">
                <a:latin typeface="宋体" pitchFamily="2" charset="-122"/>
              </a:rPr>
              <a:t>的变化。</a:t>
            </a:r>
          </a:p>
        </p:txBody>
      </p:sp>
      <p:graphicFrame>
        <p:nvGraphicFramePr>
          <p:cNvPr id="14338" name="Object 21"/>
          <p:cNvGraphicFramePr>
            <a:graphicFrameLocks noGrp="1" noChangeAspect="1"/>
          </p:cNvGraphicFramePr>
          <p:nvPr/>
        </p:nvGraphicFramePr>
        <p:xfrm>
          <a:off x="6500813" y="5000625"/>
          <a:ext cx="2428875" cy="1703388"/>
        </p:xfrm>
        <a:graphic>
          <a:graphicData uri="http://schemas.openxmlformats.org/presentationml/2006/ole">
            <p:oleObj spid="_x0000_s14338" name="Image" r:id="rId3" imgW="2425397" imgH="1701587" progId="">
              <p:embed/>
            </p:oleObj>
          </a:graphicData>
        </a:graphic>
      </p:graphicFrame>
      <p:sp>
        <p:nvSpPr>
          <p:cNvPr id="14347" name="Rectangle 10"/>
          <p:cNvSpPr>
            <a:spLocks noRot="1" noChangeArrowheads="1"/>
          </p:cNvSpPr>
          <p:nvPr/>
        </p:nvSpPr>
        <p:spPr bwMode="auto">
          <a:xfrm>
            <a:off x="4286250" y="2143124"/>
            <a:ext cx="4643438" cy="2714635"/>
          </a:xfrm>
          <a:prstGeom prst="rect">
            <a:avLst/>
          </a:prstGeom>
          <a:noFill/>
          <a:ln w="9525">
            <a:noFill/>
            <a:miter lim="800000"/>
            <a:headEnd/>
            <a:tailEnd/>
          </a:ln>
        </p:spPr>
        <p:txBody>
          <a:bodyPr/>
          <a:lstStyle/>
          <a:p>
            <a:pPr indent="722313">
              <a:spcBef>
                <a:spcPct val="20000"/>
              </a:spcBef>
              <a:buClr>
                <a:schemeClr val="folHlink"/>
              </a:buClr>
              <a:buSzPct val="60000"/>
              <a:buFont typeface="Wingdings" pitchFamily="2" charset="2"/>
              <a:buNone/>
            </a:pPr>
            <a:r>
              <a:rPr lang="zh-CN" altLang="en-US" sz="2800" b="1" dirty="0">
                <a:latin typeface="宋体" pitchFamily="2" charset="-122"/>
              </a:rPr>
              <a:t>设计时使电感线圈具有高品质因数。忽略损耗电阻，电感线圈与固定电阻上压降</a:t>
            </a:r>
            <a:r>
              <a:rPr lang="en-US" altLang="zh-CN" sz="2800" b="1" i="1" dirty="0">
                <a:solidFill>
                  <a:srgbClr val="CC0066"/>
                </a:solidFill>
                <a:latin typeface="Times New Roman" pitchFamily="18" charset="0"/>
              </a:rPr>
              <a:t>U</a:t>
            </a:r>
            <a:r>
              <a:rPr lang="en-US" altLang="zh-CN" sz="2800" b="1" i="1" baseline="-25000" dirty="0">
                <a:solidFill>
                  <a:srgbClr val="CC0066"/>
                </a:solidFill>
                <a:latin typeface="Times New Roman" pitchFamily="18" charset="0"/>
              </a:rPr>
              <a:t>L</a:t>
            </a:r>
            <a:r>
              <a:rPr lang="zh-CN" altLang="en-US" sz="2800" b="1" dirty="0">
                <a:latin typeface="宋体" pitchFamily="2" charset="-122"/>
              </a:rPr>
              <a:t>与</a:t>
            </a:r>
            <a:r>
              <a:rPr lang="en-US" altLang="zh-CN" sz="2800" b="1" i="1" dirty="0">
                <a:solidFill>
                  <a:srgbClr val="CC0066"/>
                </a:solidFill>
                <a:latin typeface="Times New Roman" pitchFamily="18" charset="0"/>
              </a:rPr>
              <a:t>U</a:t>
            </a:r>
            <a:r>
              <a:rPr lang="en-US" altLang="zh-CN" sz="2800" b="1" i="1" baseline="-25000" dirty="0">
                <a:solidFill>
                  <a:srgbClr val="CC0066"/>
                </a:solidFill>
                <a:latin typeface="Times New Roman" pitchFamily="18" charset="0"/>
              </a:rPr>
              <a:t>R</a:t>
            </a:r>
            <a:r>
              <a:rPr lang="zh-CN" altLang="en-US" sz="2800" b="1" dirty="0">
                <a:latin typeface="宋体" pitchFamily="2" charset="-122"/>
              </a:rPr>
              <a:t>互相垂直，当电感</a:t>
            </a:r>
            <a:r>
              <a:rPr lang="en-US" altLang="zh-CN" sz="2800" i="1" dirty="0">
                <a:solidFill>
                  <a:srgbClr val="CC0066"/>
                </a:solidFill>
                <a:latin typeface="Times New Roman" pitchFamily="18" charset="0"/>
              </a:rPr>
              <a:t>L</a:t>
            </a:r>
            <a:r>
              <a:rPr lang="zh-CN" altLang="en-US" sz="2800" b="1" dirty="0">
                <a:latin typeface="宋体" pitchFamily="2" charset="-122"/>
              </a:rPr>
              <a:t>变化时，输出电压</a:t>
            </a:r>
            <a:r>
              <a:rPr lang="en-US" altLang="zh-CN" sz="2800" i="1" dirty="0">
                <a:solidFill>
                  <a:srgbClr val="CC0066"/>
                </a:solidFill>
                <a:latin typeface="Times New Roman" pitchFamily="18" charset="0"/>
              </a:rPr>
              <a:t>U</a:t>
            </a:r>
            <a:r>
              <a:rPr lang="en-US" altLang="zh-CN" sz="2800" b="1" i="1" baseline="-25000" dirty="0">
                <a:solidFill>
                  <a:srgbClr val="CC0066"/>
                </a:solidFill>
                <a:latin typeface="Times New Roman" pitchFamily="18" charset="0"/>
              </a:rPr>
              <a:t>0</a:t>
            </a:r>
            <a:r>
              <a:rPr lang="zh-CN" altLang="en-US" sz="2800" b="1" dirty="0">
                <a:latin typeface="宋体" pitchFamily="2" charset="-122"/>
              </a:rPr>
              <a:t>的幅值不变，相位角</a:t>
            </a:r>
            <a:r>
              <a:rPr lang="en-US" altLang="zh-CN" sz="2800" i="1" dirty="0">
                <a:solidFill>
                  <a:srgbClr val="CC0066"/>
                </a:solidFill>
                <a:latin typeface="Times New Roman" pitchFamily="18" charset="0"/>
              </a:rPr>
              <a:t>φ</a:t>
            </a:r>
            <a:r>
              <a:rPr lang="zh-CN" altLang="en-US" sz="2800" b="1" dirty="0">
                <a:latin typeface="宋体" pitchFamily="2" charset="-122"/>
              </a:rPr>
              <a:t>随之变化。</a:t>
            </a:r>
          </a:p>
        </p:txBody>
      </p:sp>
      <p:pic>
        <p:nvPicPr>
          <p:cNvPr id="14348" name="Picture 7"/>
          <p:cNvPicPr>
            <a:picLocks noGrp="1" noChangeAspect="1" noChangeArrowheads="1"/>
          </p:cNvPicPr>
          <p:nvPr>
            <p:ph idx="1"/>
          </p:nvPr>
        </p:nvPicPr>
        <p:blipFill>
          <a:blip r:embed="rId4"/>
          <a:srcRect/>
          <a:stretch>
            <a:fillRect/>
          </a:stretch>
        </p:blipFill>
        <p:spPr>
          <a:xfrm>
            <a:off x="214313" y="3143250"/>
            <a:ext cx="1847850" cy="2152650"/>
          </a:xfrm>
          <a:noFill/>
        </p:spPr>
      </p:pic>
      <p:pic>
        <p:nvPicPr>
          <p:cNvPr id="14349" name="Picture 8"/>
          <p:cNvPicPr>
            <a:picLocks noChangeAspect="1" noChangeArrowheads="1"/>
          </p:cNvPicPr>
          <p:nvPr/>
        </p:nvPicPr>
        <p:blipFill>
          <a:blip r:embed="rId5"/>
          <a:srcRect/>
          <a:stretch>
            <a:fillRect/>
          </a:stretch>
        </p:blipFill>
        <p:spPr bwMode="auto">
          <a:xfrm>
            <a:off x="2000250" y="3143250"/>
            <a:ext cx="1997075" cy="2143125"/>
          </a:xfrm>
          <a:prstGeom prst="rect">
            <a:avLst/>
          </a:prstGeom>
          <a:noFill/>
          <a:ln w="9525">
            <a:noFill/>
            <a:miter lim="800000"/>
            <a:headEnd/>
            <a:tailEnd/>
          </a:ln>
        </p:spPr>
      </p:pic>
      <p:graphicFrame>
        <p:nvGraphicFramePr>
          <p:cNvPr id="2" name="Object 9"/>
          <p:cNvGraphicFramePr>
            <a:graphicFrameLocks noGrp="1" noChangeAspect="1"/>
          </p:cNvGraphicFramePr>
          <p:nvPr/>
        </p:nvGraphicFramePr>
        <p:xfrm>
          <a:off x="285750" y="5715000"/>
          <a:ext cx="2424113" cy="879475"/>
        </p:xfrm>
        <a:graphic>
          <a:graphicData uri="http://schemas.openxmlformats.org/presentationml/2006/ole">
            <p:oleObj spid="_x0000_s14339" name="Equation" r:id="rId6" imgW="1193760" imgH="431640" progId="Equation.3">
              <p:embed/>
            </p:oleObj>
          </a:graphicData>
        </a:graphic>
      </p:graphicFrame>
      <p:graphicFrame>
        <p:nvGraphicFramePr>
          <p:cNvPr id="3" name="Object 10"/>
          <p:cNvGraphicFramePr>
            <a:graphicFrameLocks noGrp="1" noChangeAspect="1"/>
          </p:cNvGraphicFramePr>
          <p:nvPr/>
        </p:nvGraphicFramePr>
        <p:xfrm>
          <a:off x="3143250" y="5715000"/>
          <a:ext cx="3171825" cy="879475"/>
        </p:xfrm>
        <a:graphic>
          <a:graphicData uri="http://schemas.openxmlformats.org/presentationml/2006/ole">
            <p:oleObj spid="_x0000_s14340" name="Equation" r:id="rId7" imgW="1562040" imgH="4316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4347"/>
                                        </p:tgtEl>
                                        <p:attrNameLst>
                                          <p:attrName>style.visibility</p:attrName>
                                        </p:attrNameLst>
                                      </p:cBhvr>
                                      <p:to>
                                        <p:strVal val="visible"/>
                                      </p:to>
                                    </p:set>
                                    <p:animEffect transition="in" filter="blinds(horizontal)">
                                      <p:cBhvr>
                                        <p:cTn id="18" dur="500"/>
                                        <p:tgtEl>
                                          <p:spTgt spid="14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7" name="内容占位符 16"/>
          <p:cNvSpPr>
            <a:spLocks noGrp="1"/>
          </p:cNvSpPr>
          <p:nvPr>
            <p:ph idx="1"/>
          </p:nvPr>
        </p:nvSpPr>
        <p:spPr>
          <a:xfrm>
            <a:off x="571500" y="1643063"/>
            <a:ext cx="7943850" cy="642937"/>
          </a:xfrm>
        </p:spPr>
        <p:txBody>
          <a:bodyPr/>
          <a:lstStyle/>
          <a:p>
            <a:pPr marL="0" indent="0" eaLnBrk="1" hangingPunct="1">
              <a:spcBef>
                <a:spcPct val="0"/>
              </a:spcBef>
              <a:buFont typeface="Arial" charset="0"/>
              <a:buNone/>
              <a:defRPr/>
            </a:pPr>
            <a:r>
              <a:rPr lang="zh-CN" altLang="en-US" sz="2800" b="1" dirty="0" smtClean="0">
                <a:solidFill>
                  <a:srgbClr val="FF6600"/>
                </a:solidFill>
                <a:latin typeface="黑体" pitchFamily="49" charset="-122"/>
                <a:ea typeface="黑体" pitchFamily="49" charset="-122"/>
                <a:cs typeface="+mj-cs"/>
              </a:rPr>
              <a:t>灵敏度</a:t>
            </a:r>
          </a:p>
        </p:txBody>
      </p:sp>
      <p:sp>
        <p:nvSpPr>
          <p:cNvPr id="27653" name="Text Box 9"/>
          <p:cNvSpPr txBox="1">
            <a:spLocks noChangeArrowheads="1"/>
          </p:cNvSpPr>
          <p:nvPr/>
        </p:nvSpPr>
        <p:spPr bwMode="auto">
          <a:xfrm>
            <a:off x="285750" y="2143125"/>
            <a:ext cx="8572500" cy="868363"/>
          </a:xfrm>
          <a:prstGeom prst="rect">
            <a:avLst/>
          </a:prstGeom>
          <a:noFill/>
          <a:ln w="9525" algn="ctr">
            <a:noFill/>
            <a:miter lim="800000"/>
            <a:headEnd/>
            <a:tailEnd/>
          </a:ln>
        </p:spPr>
        <p:txBody>
          <a:bodyPr>
            <a:spAutoFit/>
          </a:bodyPr>
          <a:lstStyle/>
          <a:p>
            <a:pPr indent="449263">
              <a:lnSpc>
                <a:spcPct val="90000"/>
              </a:lnSpc>
              <a:buFont typeface="Wingdings" pitchFamily="2" charset="2"/>
              <a:buChar char="u"/>
            </a:pPr>
            <a:r>
              <a:rPr lang="zh-CN" altLang="en-US" sz="2800" b="1" dirty="0">
                <a:latin typeface="宋体" pitchFamily="2" charset="-122"/>
              </a:rPr>
              <a:t>敏感器件灵敏度：输出量（电感值）的变化与输入量（衔铁位移）之比。</a:t>
            </a:r>
            <a:endParaRPr lang="en-US" altLang="zh-CN" sz="2800" dirty="0"/>
          </a:p>
        </p:txBody>
      </p:sp>
      <p:sp>
        <p:nvSpPr>
          <p:cNvPr id="27654" name="Text Box 9"/>
          <p:cNvSpPr txBox="1">
            <a:spLocks noChangeArrowheads="1"/>
          </p:cNvSpPr>
          <p:nvPr/>
        </p:nvSpPr>
        <p:spPr bwMode="auto">
          <a:xfrm>
            <a:off x="285750" y="3071813"/>
            <a:ext cx="8572500" cy="479425"/>
          </a:xfrm>
          <a:prstGeom prst="rect">
            <a:avLst/>
          </a:prstGeom>
          <a:noFill/>
          <a:ln w="9525" algn="ctr">
            <a:noFill/>
            <a:miter lim="800000"/>
            <a:headEnd/>
            <a:tailEnd/>
          </a:ln>
        </p:spPr>
        <p:txBody>
          <a:bodyPr>
            <a:spAutoFit/>
          </a:bodyPr>
          <a:lstStyle/>
          <a:p>
            <a:pPr indent="449263">
              <a:lnSpc>
                <a:spcPct val="90000"/>
              </a:lnSpc>
              <a:buFont typeface="Wingdings" pitchFamily="2" charset="2"/>
              <a:buChar char="u"/>
            </a:pPr>
            <a:r>
              <a:rPr lang="zh-CN" altLang="en-US" sz="2800" b="1" dirty="0">
                <a:latin typeface="宋体" pitchFamily="2" charset="-122"/>
              </a:rPr>
              <a:t>转换电路灵敏度：输出电压与电感相对变化之比。</a:t>
            </a:r>
            <a:endParaRPr lang="en-US" altLang="zh-CN" sz="2800" dirty="0"/>
          </a:p>
        </p:txBody>
      </p:sp>
      <p:sp>
        <p:nvSpPr>
          <p:cNvPr id="27655" name="Text Box 9"/>
          <p:cNvSpPr txBox="1">
            <a:spLocks noChangeArrowheads="1"/>
          </p:cNvSpPr>
          <p:nvPr/>
        </p:nvSpPr>
        <p:spPr bwMode="auto">
          <a:xfrm>
            <a:off x="285750" y="3643313"/>
            <a:ext cx="8643938" cy="479425"/>
          </a:xfrm>
          <a:prstGeom prst="rect">
            <a:avLst/>
          </a:prstGeom>
          <a:noFill/>
          <a:ln w="9525" algn="ctr">
            <a:noFill/>
            <a:miter lim="800000"/>
            <a:headEnd/>
            <a:tailEnd/>
          </a:ln>
        </p:spPr>
        <p:txBody>
          <a:bodyPr>
            <a:spAutoFit/>
          </a:bodyPr>
          <a:lstStyle/>
          <a:p>
            <a:pPr indent="449263">
              <a:lnSpc>
                <a:spcPct val="90000"/>
              </a:lnSpc>
            </a:pPr>
            <a:r>
              <a:rPr lang="zh-CN" altLang="en-US" sz="2800" b="1" dirty="0">
                <a:latin typeface="宋体" pitchFamily="2" charset="-122"/>
              </a:rPr>
              <a:t>总灵敏度为两者的乘积，是综合灵敏度。</a:t>
            </a:r>
            <a:endParaRPr lang="en-US" altLang="zh-CN" sz="2800" dirty="0"/>
          </a:p>
        </p:txBody>
      </p:sp>
      <p:sp>
        <p:nvSpPr>
          <p:cNvPr id="21" name="Text Box 10"/>
          <p:cNvSpPr txBox="1">
            <a:spLocks noChangeArrowheads="1"/>
          </p:cNvSpPr>
          <p:nvPr/>
        </p:nvSpPr>
        <p:spPr bwMode="auto">
          <a:xfrm>
            <a:off x="214313" y="4286250"/>
            <a:ext cx="8643937" cy="2246313"/>
          </a:xfrm>
          <a:prstGeom prst="rect">
            <a:avLst/>
          </a:prstGeom>
          <a:solidFill>
            <a:srgbClr val="92D050"/>
          </a:solidFill>
          <a:ln w="9525" algn="ctr">
            <a:noFill/>
            <a:miter lim="800000"/>
            <a:headEnd/>
            <a:tailEnd/>
          </a:ln>
        </p:spPr>
        <p:txBody>
          <a:bodyPr>
            <a:spAutoFit/>
          </a:bodyPr>
          <a:lstStyle/>
          <a:p>
            <a:pPr indent="546100"/>
            <a:r>
              <a:rPr lang="zh-CN" altLang="en-US" sz="2800" b="1" dirty="0">
                <a:solidFill>
                  <a:srgbClr val="CC3300"/>
                </a:solidFill>
                <a:latin typeface="楷体" pitchFamily="49" charset="-122"/>
                <a:ea typeface="楷体" pitchFamily="49" charset="-122"/>
              </a:rPr>
              <a:t>传感器总灵敏度取决于传感器类型、转换电路和供电电压。</a:t>
            </a:r>
            <a:endParaRPr lang="en-US" altLang="zh-CN" sz="2800" b="1" dirty="0">
              <a:solidFill>
                <a:srgbClr val="CC3300"/>
              </a:solidFill>
              <a:latin typeface="楷体" pitchFamily="49" charset="-122"/>
              <a:ea typeface="楷体" pitchFamily="49" charset="-122"/>
            </a:endParaRPr>
          </a:p>
          <a:p>
            <a:pPr indent="546100"/>
            <a:r>
              <a:rPr lang="zh-CN" altLang="en-US" sz="2800" b="1" dirty="0">
                <a:solidFill>
                  <a:srgbClr val="CC3300"/>
                </a:solidFill>
                <a:latin typeface="楷体" pitchFamily="49" charset="-122"/>
                <a:ea typeface="楷体" pitchFamily="49" charset="-122"/>
              </a:rPr>
              <a:t>转换电路类型不同，灵敏度表达式也不同。在设计传感器时，应从总灵敏度出发同时综合考虑选择传感器结构和转换电路形式。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7" name="内容占位符 16"/>
          <p:cNvSpPr>
            <a:spLocks noGrp="1"/>
          </p:cNvSpPr>
          <p:nvPr>
            <p:ph idx="1"/>
          </p:nvPr>
        </p:nvSpPr>
        <p:spPr>
          <a:xfrm>
            <a:off x="571500" y="1643063"/>
            <a:ext cx="7943850" cy="642937"/>
          </a:xfrm>
        </p:spPr>
        <p:txBody>
          <a:bodyPr/>
          <a:lstStyle/>
          <a:p>
            <a:pPr marL="0" indent="0" eaLnBrk="1" hangingPunct="1">
              <a:spcBef>
                <a:spcPct val="0"/>
              </a:spcBef>
              <a:buNone/>
              <a:defRPr/>
            </a:pPr>
            <a:r>
              <a:rPr lang="zh-CN" altLang="en-US" sz="2800" b="1" dirty="0" smtClean="0">
                <a:solidFill>
                  <a:srgbClr val="FF6600"/>
                </a:solidFill>
                <a:latin typeface="黑体" pitchFamily="49" charset="-122"/>
                <a:ea typeface="黑体" pitchFamily="49" charset="-122"/>
                <a:cs typeface="+mj-cs"/>
              </a:rPr>
              <a:t>零点残余电压</a:t>
            </a:r>
          </a:p>
        </p:txBody>
      </p:sp>
      <p:sp>
        <p:nvSpPr>
          <p:cNvPr id="11" name="Text Box 18"/>
          <p:cNvSpPr txBox="1">
            <a:spLocks noChangeArrowheads="1"/>
          </p:cNvSpPr>
          <p:nvPr/>
        </p:nvSpPr>
        <p:spPr bwMode="auto">
          <a:xfrm>
            <a:off x="214283" y="2214554"/>
            <a:ext cx="5857916" cy="1815882"/>
          </a:xfrm>
          <a:prstGeom prst="rect">
            <a:avLst/>
          </a:prstGeom>
          <a:noFill/>
          <a:ln w="9525" algn="ctr">
            <a:noFill/>
            <a:miter lim="800000"/>
            <a:headEnd/>
            <a:tailEnd/>
          </a:ln>
        </p:spPr>
        <p:txBody>
          <a:bodyPr wrap="square">
            <a:spAutoFit/>
          </a:bodyPr>
          <a:lstStyle/>
          <a:p>
            <a:pPr indent="449263">
              <a:spcBef>
                <a:spcPct val="50000"/>
              </a:spcBef>
            </a:pPr>
            <a:r>
              <a:rPr kumimoji="0" lang="zh-CN" altLang="en-US" sz="2800" b="1" dirty="0">
                <a:latin typeface="宋体" pitchFamily="2" charset="-122"/>
              </a:rPr>
              <a:t>在电桥预平衡时，无法实现平衡</a:t>
            </a:r>
            <a:r>
              <a:rPr kumimoji="0" lang="zh-CN" altLang="en-US" sz="2800" b="1" dirty="0" smtClean="0">
                <a:latin typeface="宋体" pitchFamily="2" charset="-122"/>
              </a:rPr>
              <a:t>，</a:t>
            </a:r>
            <a:r>
              <a:rPr lang="zh-CN" altLang="en-US" sz="2800" b="1" dirty="0">
                <a:latin typeface="宋体" pitchFamily="2" charset="-122"/>
              </a:rPr>
              <a:t>在自感线圈衔铁过零点时，电压输出不为零，</a:t>
            </a:r>
            <a:r>
              <a:rPr kumimoji="0" lang="zh-CN" altLang="en-US" sz="2800" b="1" dirty="0" smtClean="0">
                <a:latin typeface="宋体" pitchFamily="2" charset="-122"/>
              </a:rPr>
              <a:t>最后</a:t>
            </a:r>
            <a:r>
              <a:rPr kumimoji="0" lang="zh-CN" altLang="en-US" sz="2800" b="1" dirty="0">
                <a:latin typeface="宋体" pitchFamily="2" charset="-122"/>
              </a:rPr>
              <a:t>总要存在着某个输出</a:t>
            </a:r>
            <a:r>
              <a:rPr kumimoji="0" lang="zh-CN" altLang="en-US" sz="2800" b="1" dirty="0" smtClean="0">
                <a:latin typeface="宋体" pitchFamily="2" charset="-122"/>
              </a:rPr>
              <a:t>值 </a:t>
            </a:r>
            <a:r>
              <a:rPr kumimoji="0" lang="en-US" altLang="zh-CN" sz="2800" b="1" i="1" dirty="0" smtClean="0">
                <a:solidFill>
                  <a:srgbClr val="CC3300"/>
                </a:solidFill>
                <a:latin typeface="Times New Roman" pitchFamily="18" charset="0"/>
              </a:rPr>
              <a:t>ΔU</a:t>
            </a:r>
            <a:r>
              <a:rPr kumimoji="0" lang="en-US" altLang="zh-CN" sz="2800" b="1" i="1" baseline="-25000" dirty="0" smtClean="0">
                <a:solidFill>
                  <a:srgbClr val="CC3300"/>
                </a:solidFill>
                <a:latin typeface="Times New Roman" pitchFamily="18" charset="0"/>
              </a:rPr>
              <a:t>0</a:t>
            </a:r>
            <a:r>
              <a:rPr kumimoji="0" lang="zh-CN" altLang="en-US" sz="2800" b="1" dirty="0">
                <a:latin typeface="宋体" pitchFamily="2" charset="-122"/>
              </a:rPr>
              <a:t>，这称为零点残余电压。</a:t>
            </a:r>
          </a:p>
        </p:txBody>
      </p:sp>
      <p:sp>
        <p:nvSpPr>
          <p:cNvPr id="12" name="Line 19"/>
          <p:cNvSpPr>
            <a:spLocks noChangeShapeType="1"/>
          </p:cNvSpPr>
          <p:nvPr/>
        </p:nvSpPr>
        <p:spPr bwMode="auto">
          <a:xfrm>
            <a:off x="6732588" y="3716338"/>
            <a:ext cx="1079500" cy="217487"/>
          </a:xfrm>
          <a:prstGeom prst="line">
            <a:avLst/>
          </a:prstGeom>
          <a:noFill/>
          <a:ln w="9525">
            <a:solidFill>
              <a:srgbClr val="F84D08"/>
            </a:solidFill>
            <a:round/>
            <a:headEnd/>
            <a:tailEnd type="triangle" w="med" len="med"/>
          </a:ln>
        </p:spPr>
        <p:txBody>
          <a:bodyPr/>
          <a:lstStyle/>
          <a:p>
            <a:endParaRPr lang="zh-CN" altLang="en-US"/>
          </a:p>
        </p:txBody>
      </p:sp>
      <p:graphicFrame>
        <p:nvGraphicFramePr>
          <p:cNvPr id="44034" name="Object 2"/>
          <p:cNvGraphicFramePr>
            <a:graphicFrameLocks noChangeAspect="1"/>
          </p:cNvGraphicFramePr>
          <p:nvPr/>
        </p:nvGraphicFramePr>
        <p:xfrm>
          <a:off x="6156325" y="1412875"/>
          <a:ext cx="2762250" cy="3248025"/>
        </p:xfrm>
        <a:graphic>
          <a:graphicData uri="http://schemas.openxmlformats.org/presentationml/2006/ole">
            <p:oleObj spid="_x0000_s44034" name="图像文档" r:id="rId3" imgW="2762280" imgH="3324240" progId="">
              <p:embed/>
            </p:oleObj>
          </a:graphicData>
        </a:graphic>
      </p:graphicFrame>
      <p:sp>
        <p:nvSpPr>
          <p:cNvPr id="14" name="Text Box 18"/>
          <p:cNvSpPr txBox="1">
            <a:spLocks noChangeArrowheads="1"/>
          </p:cNvSpPr>
          <p:nvPr/>
        </p:nvSpPr>
        <p:spPr bwMode="auto">
          <a:xfrm>
            <a:off x="285720" y="4180344"/>
            <a:ext cx="1285884" cy="523220"/>
          </a:xfrm>
          <a:prstGeom prst="rect">
            <a:avLst/>
          </a:prstGeom>
          <a:noFill/>
          <a:ln w="9525" algn="ctr">
            <a:noFill/>
            <a:miter lim="800000"/>
            <a:headEnd/>
            <a:tailEnd/>
          </a:ln>
        </p:spPr>
        <p:txBody>
          <a:bodyPr wrap="square">
            <a:spAutoFit/>
          </a:bodyPr>
          <a:lstStyle/>
          <a:p>
            <a:pPr>
              <a:spcBef>
                <a:spcPct val="50000"/>
              </a:spcBef>
            </a:pPr>
            <a:r>
              <a:rPr lang="zh-CN" altLang="en-US" sz="2800" b="1" dirty="0" smtClean="0">
                <a:solidFill>
                  <a:srgbClr val="FF0000"/>
                </a:solidFill>
                <a:latin typeface="黑体" pitchFamily="49" charset="-122"/>
                <a:ea typeface="黑体" pitchFamily="49" charset="-122"/>
              </a:rPr>
              <a:t>原因</a:t>
            </a:r>
            <a:r>
              <a:rPr lang="zh-CN" altLang="en-US" sz="2800" b="1" dirty="0" smtClean="0">
                <a:latin typeface="宋体" pitchFamily="2" charset="-122"/>
                <a:ea typeface="宋体" pitchFamily="2" charset="-122"/>
              </a:rPr>
              <a:t>：</a:t>
            </a:r>
            <a:endParaRPr lang="zh-CN" altLang="en-US" sz="2800" b="1" dirty="0">
              <a:latin typeface="宋体" pitchFamily="2" charset="-122"/>
              <a:ea typeface="宋体" pitchFamily="2" charset="-122"/>
            </a:endParaRPr>
          </a:p>
        </p:txBody>
      </p:sp>
      <p:sp>
        <p:nvSpPr>
          <p:cNvPr id="15" name="圆角矩形标注 14"/>
          <p:cNvSpPr/>
          <p:nvPr/>
        </p:nvSpPr>
        <p:spPr>
          <a:xfrm>
            <a:off x="6715140" y="5429264"/>
            <a:ext cx="2214578" cy="785818"/>
          </a:xfrm>
          <a:prstGeom prst="wedgeRoundRectCallout">
            <a:avLst>
              <a:gd name="adj1" fmla="val 15093"/>
              <a:gd name="adj2" fmla="val -219267"/>
              <a:gd name="adj3" fmla="val 16667"/>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rgbClr val="FFFF00"/>
                </a:solidFill>
                <a:latin typeface="Verdana" pitchFamily="34" charset="0"/>
                <a:ea typeface="宋体" pitchFamily="2" charset="-122"/>
              </a:rPr>
              <a:t>零点残余电压</a:t>
            </a:r>
          </a:p>
        </p:txBody>
      </p:sp>
      <p:sp>
        <p:nvSpPr>
          <p:cNvPr id="16" name="矩形 15"/>
          <p:cNvSpPr/>
          <p:nvPr/>
        </p:nvSpPr>
        <p:spPr>
          <a:xfrm>
            <a:off x="214282" y="4786322"/>
            <a:ext cx="6357982" cy="1815882"/>
          </a:xfrm>
          <a:prstGeom prst="rect">
            <a:avLst/>
          </a:prstGeom>
        </p:spPr>
        <p:txBody>
          <a:bodyPr wrap="square">
            <a:spAutoFit/>
          </a:bodyPr>
          <a:lstStyle/>
          <a:p>
            <a:pPr marL="536575" indent="-536575">
              <a:buClr>
                <a:srgbClr val="F84D08"/>
              </a:buClr>
              <a:buFont typeface="Wingdings" pitchFamily="2" charset="2"/>
              <a:buChar char="u"/>
            </a:pPr>
            <a:r>
              <a:rPr lang="zh-CN" altLang="en-US" sz="2800" b="1" dirty="0"/>
              <a:t>两个传感器不完全</a:t>
            </a:r>
            <a:r>
              <a:rPr lang="zh-CN" altLang="en-US" sz="2800" b="1" dirty="0" smtClean="0"/>
              <a:t>对称（如</a:t>
            </a:r>
            <a:r>
              <a:rPr lang="zh-CN" altLang="en-US" sz="2800" b="1" dirty="0"/>
              <a:t>几何</a:t>
            </a:r>
            <a:r>
              <a:rPr lang="zh-CN" altLang="en-US" sz="2800" b="1" dirty="0" smtClean="0"/>
              <a:t>尺寸、</a:t>
            </a:r>
            <a:r>
              <a:rPr lang="zh-CN" altLang="en-US" sz="2800" b="1" dirty="0"/>
              <a:t>电气参数</a:t>
            </a:r>
            <a:r>
              <a:rPr lang="zh-CN" altLang="en-US" sz="2800" b="1" dirty="0" smtClean="0"/>
              <a:t>不对称，磁路</a:t>
            </a:r>
            <a:r>
              <a:rPr lang="zh-CN" altLang="en-US" sz="2800" b="1" dirty="0"/>
              <a:t>参数</a:t>
            </a:r>
            <a:r>
              <a:rPr lang="zh-CN" altLang="en-US" sz="2800" b="1" dirty="0" smtClean="0"/>
              <a:t>不对称）；</a:t>
            </a:r>
            <a:endParaRPr lang="zh-CN" altLang="en-US" sz="2800" b="1" dirty="0"/>
          </a:p>
          <a:p>
            <a:pPr marL="536575" indent="-536575">
              <a:buClr>
                <a:srgbClr val="F84D08"/>
              </a:buClr>
              <a:buFont typeface="Wingdings" pitchFamily="2" charset="2"/>
              <a:buChar char="u"/>
            </a:pPr>
            <a:r>
              <a:rPr lang="zh-CN" altLang="en-US" sz="2800" b="1" dirty="0"/>
              <a:t>存在寄生参数</a:t>
            </a:r>
            <a:r>
              <a:rPr lang="zh-CN" altLang="en-US" sz="2800" b="1" dirty="0" smtClean="0"/>
              <a:t>；</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box(in)">
                                      <p:cBhvr>
                                        <p:cTn id="12" dur="500"/>
                                        <p:tgtEl>
                                          <p:spTgt spid="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6">
                                            <p:txEl>
                                              <p:pRg st="1" end="1"/>
                                            </p:txEl>
                                          </p:spTgt>
                                        </p:tgtEl>
                                        <p:attrNameLst>
                                          <p:attrName>style.visibility</p:attrName>
                                        </p:attrNameLst>
                                      </p:cBhvr>
                                      <p:to>
                                        <p:strVal val="visible"/>
                                      </p:to>
                                    </p:set>
                                    <p:animEffect transition="in" filter="box(in)">
                                      <p:cBhvr>
                                        <p:cTn id="17"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3" name="Text Box 6"/>
          <p:cNvSpPr txBox="1">
            <a:spLocks noChangeArrowheads="1"/>
          </p:cNvSpPr>
          <p:nvPr/>
        </p:nvSpPr>
        <p:spPr bwMode="auto">
          <a:xfrm>
            <a:off x="500034" y="1643050"/>
            <a:ext cx="8358246" cy="1815882"/>
          </a:xfrm>
          <a:prstGeom prst="rect">
            <a:avLst/>
          </a:prstGeom>
          <a:noFill/>
          <a:ln w="9525">
            <a:noFill/>
            <a:miter lim="800000"/>
            <a:headEnd/>
            <a:tailEnd/>
          </a:ln>
        </p:spPr>
        <p:txBody>
          <a:bodyPr wrap="square">
            <a:spAutoFit/>
          </a:bodyPr>
          <a:lstStyle/>
          <a:p>
            <a:pPr marL="536575" indent="-536575">
              <a:buClr>
                <a:srgbClr val="F84D08"/>
              </a:buClr>
              <a:buFont typeface="Wingdings" pitchFamily="2" charset="2"/>
              <a:buChar char="u"/>
            </a:pPr>
            <a:r>
              <a:rPr lang="zh-CN" altLang="en-US" sz="2800" b="1" dirty="0"/>
              <a:t>供电电源中有高次谐波，而电桥只能对基波较好的预平衡；</a:t>
            </a:r>
          </a:p>
          <a:p>
            <a:pPr marL="536575" indent="-536575">
              <a:buClr>
                <a:srgbClr val="F84D08"/>
              </a:buClr>
              <a:buFont typeface="Wingdings" pitchFamily="2" charset="2"/>
              <a:buChar char="u"/>
            </a:pPr>
            <a:r>
              <a:rPr lang="zh-CN" altLang="en-US" sz="2800" b="1" dirty="0"/>
              <a:t>供电电源很好但磁路本身存在非线性；</a:t>
            </a:r>
          </a:p>
          <a:p>
            <a:pPr marL="536575" indent="-536575">
              <a:buClr>
                <a:srgbClr val="F84D08"/>
              </a:buClr>
              <a:buFont typeface="Wingdings" pitchFamily="2" charset="2"/>
              <a:buChar char="u"/>
            </a:pPr>
            <a:r>
              <a:rPr lang="zh-CN" altLang="en-US" sz="2800" b="1" dirty="0"/>
              <a:t>工频干扰。</a:t>
            </a:r>
          </a:p>
        </p:txBody>
      </p:sp>
      <p:sp>
        <p:nvSpPr>
          <p:cNvPr id="16" name="Text Box 18"/>
          <p:cNvSpPr txBox="1">
            <a:spLocks noChangeArrowheads="1"/>
          </p:cNvSpPr>
          <p:nvPr/>
        </p:nvSpPr>
        <p:spPr bwMode="auto">
          <a:xfrm>
            <a:off x="285720" y="3500438"/>
            <a:ext cx="5715040" cy="1815882"/>
          </a:xfrm>
          <a:prstGeom prst="rect">
            <a:avLst/>
          </a:prstGeom>
          <a:noFill/>
          <a:ln w="9525" algn="ctr">
            <a:noFill/>
            <a:miter lim="800000"/>
            <a:headEnd/>
            <a:tailEnd/>
          </a:ln>
        </p:spPr>
        <p:txBody>
          <a:bodyPr wrap="square">
            <a:spAutoFit/>
          </a:bodyPr>
          <a:lstStyle/>
          <a:p>
            <a:pPr indent="630238">
              <a:spcBef>
                <a:spcPct val="50000"/>
              </a:spcBef>
            </a:pPr>
            <a:r>
              <a:rPr lang="zh-CN" altLang="en-US" sz="2800" b="1" dirty="0" smtClean="0">
                <a:latin typeface="宋体" pitchFamily="2" charset="-122"/>
                <a:ea typeface="宋体" pitchFamily="2" charset="-122"/>
              </a:rPr>
              <a:t>由于</a:t>
            </a:r>
            <a:r>
              <a:rPr kumimoji="0" lang="zh-CN" altLang="en-US" sz="2800" b="1" dirty="0" smtClean="0">
                <a:latin typeface="宋体" pitchFamily="2" charset="-122"/>
              </a:rPr>
              <a:t>零点残余电压的</a:t>
            </a:r>
            <a:r>
              <a:rPr lang="zh-CN" altLang="en-US" sz="2800" b="1" dirty="0" smtClean="0">
                <a:latin typeface="宋体" pitchFamily="2" charset="-122"/>
                <a:ea typeface="宋体" pitchFamily="2" charset="-122"/>
              </a:rPr>
              <a:t>存在，造成测量系统存在不灵敏区</a:t>
            </a:r>
            <a:r>
              <a:rPr lang="zh-CN" altLang="en-US" sz="2800" b="1" dirty="0" smtClean="0">
                <a:solidFill>
                  <a:srgbClr val="FF0000"/>
                </a:solidFill>
                <a:latin typeface="Times New Roman" pitchFamily="18" charset="0"/>
                <a:cs typeface="Times New Roman" pitchFamily="18" charset="0"/>
              </a:rPr>
              <a:t>△</a:t>
            </a:r>
            <a:r>
              <a:rPr lang="en-US" altLang="zh-CN" sz="2800" b="1" i="1" dirty="0" smtClean="0">
                <a:solidFill>
                  <a:srgbClr val="FF0000"/>
                </a:solidFill>
                <a:latin typeface="Times New Roman" pitchFamily="18" charset="0"/>
                <a:cs typeface="Times New Roman" pitchFamily="18" charset="0"/>
              </a:rPr>
              <a:t>l</a:t>
            </a:r>
            <a:r>
              <a:rPr lang="en-US" altLang="zh-CN" sz="2800" b="1" i="1" baseline="-25000" dirty="0" smtClean="0">
                <a:solidFill>
                  <a:srgbClr val="FF0000"/>
                </a:solidFill>
                <a:latin typeface="Times New Roman" pitchFamily="18" charset="0"/>
                <a:cs typeface="Times New Roman" pitchFamily="18" charset="0"/>
              </a:rPr>
              <a:t>0</a:t>
            </a:r>
            <a:r>
              <a:rPr lang="zh-CN" altLang="en-US" sz="2800" b="1" dirty="0" smtClean="0">
                <a:latin typeface="宋体" pitchFamily="2" charset="-122"/>
                <a:ea typeface="宋体" pitchFamily="2" charset="-122"/>
              </a:rPr>
              <a:t>，限制了系统的最小灵敏度；</a:t>
            </a:r>
            <a:r>
              <a:rPr lang="zh-CN" altLang="en-US" sz="2800" b="1" dirty="0" smtClean="0">
                <a:latin typeface="宋体" pitchFamily="2" charset="-122"/>
              </a:rPr>
              <a:t>同时也影响到</a:t>
            </a:r>
            <a:r>
              <a:rPr lang="zh-CN" altLang="en-US" sz="2800" b="1" dirty="0" smtClean="0">
                <a:solidFill>
                  <a:srgbClr val="FF0000"/>
                </a:solidFill>
                <a:latin typeface="Times New Roman" pitchFamily="18" charset="0"/>
                <a:cs typeface="Times New Roman" pitchFamily="18" charset="0"/>
              </a:rPr>
              <a:t>△</a:t>
            </a:r>
            <a:r>
              <a:rPr lang="en-US" altLang="zh-CN" sz="2800" b="1" i="1" dirty="0" smtClean="0">
                <a:solidFill>
                  <a:srgbClr val="FF0000"/>
                </a:solidFill>
                <a:latin typeface="Times New Roman" pitchFamily="18" charset="0"/>
                <a:cs typeface="Times New Roman" pitchFamily="18" charset="0"/>
              </a:rPr>
              <a:t>U</a:t>
            </a:r>
            <a:r>
              <a:rPr lang="zh-CN" altLang="en-US" sz="2800" b="1" dirty="0" smtClean="0">
                <a:latin typeface="宋体" pitchFamily="2" charset="-122"/>
              </a:rPr>
              <a:t>与之</a:t>
            </a:r>
            <a:r>
              <a:rPr lang="en-US" altLang="zh-CN" sz="2800" b="1" i="1" dirty="0" smtClean="0">
                <a:solidFill>
                  <a:srgbClr val="FF0000"/>
                </a:solidFill>
                <a:latin typeface="Times New Roman" pitchFamily="18" charset="0"/>
                <a:cs typeface="Times New Roman" pitchFamily="18" charset="0"/>
              </a:rPr>
              <a:t>l</a:t>
            </a:r>
            <a:r>
              <a:rPr lang="zh-CN" altLang="en-US" sz="2800" b="1" i="1" baseline="-25000" dirty="0">
                <a:solidFill>
                  <a:srgbClr val="FF0000"/>
                </a:solidFill>
                <a:latin typeface="Times New Roman" pitchFamily="18" charset="0"/>
                <a:cs typeface="Times New Roman" pitchFamily="18" charset="0"/>
              </a:rPr>
              <a:t> </a:t>
            </a:r>
            <a:r>
              <a:rPr lang="zh-CN" altLang="en-US" sz="2800" b="1" dirty="0" smtClean="0">
                <a:latin typeface="宋体" pitchFamily="2" charset="-122"/>
              </a:rPr>
              <a:t>间转换的线性度</a:t>
            </a:r>
            <a:r>
              <a:rPr lang="zh-CN" altLang="en-US" sz="2800" b="1" dirty="0" smtClean="0">
                <a:latin typeface="宋体" pitchFamily="2" charset="-122"/>
                <a:ea typeface="宋体" pitchFamily="2" charset="-122"/>
              </a:rPr>
              <a:t>。</a:t>
            </a:r>
            <a:endParaRPr lang="zh-CN" altLang="en-US" sz="2800" b="1" dirty="0">
              <a:latin typeface="宋体" pitchFamily="2" charset="-122"/>
              <a:ea typeface="宋体" pitchFamily="2" charset="-122"/>
            </a:endParaRPr>
          </a:p>
        </p:txBody>
      </p:sp>
      <p:graphicFrame>
        <p:nvGraphicFramePr>
          <p:cNvPr id="45059" name="Object 2"/>
          <p:cNvGraphicFramePr>
            <a:graphicFrameLocks noChangeAspect="1"/>
          </p:cNvGraphicFramePr>
          <p:nvPr/>
        </p:nvGraphicFramePr>
        <p:xfrm>
          <a:off x="6143636" y="3071810"/>
          <a:ext cx="2762250" cy="3248025"/>
        </p:xfrm>
        <a:graphic>
          <a:graphicData uri="http://schemas.openxmlformats.org/presentationml/2006/ole">
            <p:oleObj spid="_x0000_s45059" name="图像文档" r:id="rId3" imgW="2762280" imgH="3324240" progId="">
              <p:embed/>
            </p:oleObj>
          </a:graphicData>
        </a:graphic>
      </p:graphicFrame>
      <p:sp>
        <p:nvSpPr>
          <p:cNvPr id="19" name="圆角矩形标注 18"/>
          <p:cNvSpPr/>
          <p:nvPr/>
        </p:nvSpPr>
        <p:spPr>
          <a:xfrm>
            <a:off x="3929058" y="5500702"/>
            <a:ext cx="1643074" cy="642942"/>
          </a:xfrm>
          <a:prstGeom prst="wedgeRoundRectCallout">
            <a:avLst>
              <a:gd name="adj1" fmla="val 154455"/>
              <a:gd name="adj2" fmla="val 30623"/>
              <a:gd name="adj3" fmla="val 16667"/>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rgbClr val="FFFF00"/>
                </a:solidFill>
              </a:rPr>
              <a:t>不灵敏区</a:t>
            </a:r>
            <a:endParaRPr lang="zh-CN" altLang="en-US" sz="2400" b="1"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diamond(in)">
                                      <p:cBhvr>
                                        <p:cTn id="7" dur="20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diamond(in)">
                                      <p:cBhvr>
                                        <p:cTn id="12" dur="20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diamond(in)">
                                      <p:cBhvr>
                                        <p:cTn id="17" dur="20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linds(horizontal)">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9" name="Text Box 4"/>
          <p:cNvSpPr txBox="1">
            <a:spLocks noChangeArrowheads="1"/>
          </p:cNvSpPr>
          <p:nvPr/>
        </p:nvSpPr>
        <p:spPr bwMode="auto">
          <a:xfrm>
            <a:off x="285720" y="2285992"/>
            <a:ext cx="8572560" cy="1384995"/>
          </a:xfrm>
          <a:prstGeom prst="rect">
            <a:avLst/>
          </a:prstGeom>
          <a:noFill/>
          <a:ln w="9525">
            <a:noFill/>
            <a:miter lim="800000"/>
            <a:headEnd/>
            <a:tailEnd/>
          </a:ln>
        </p:spPr>
        <p:txBody>
          <a:bodyPr wrap="square">
            <a:spAutoFit/>
          </a:bodyPr>
          <a:lstStyle/>
          <a:p>
            <a:pPr indent="441325"/>
            <a:r>
              <a:rPr lang="zh-CN" altLang="en-US" sz="2800" b="1" dirty="0">
                <a:latin typeface="Verdana" pitchFamily="34" charset="0"/>
                <a:ea typeface="宋体" pitchFamily="2" charset="-122"/>
              </a:rPr>
              <a:t>残余电压导致传感器灵敏度下降，线性误差增大，还可能使放大器饱和而不能正常工作或反映输入量的变化</a:t>
            </a:r>
            <a:r>
              <a:rPr lang="zh-CN" altLang="en-US" sz="2800" dirty="0">
                <a:latin typeface="Verdana" pitchFamily="34" charset="0"/>
                <a:ea typeface="宋体" pitchFamily="2" charset="-122"/>
              </a:rPr>
              <a:t>。</a:t>
            </a:r>
          </a:p>
        </p:txBody>
      </p:sp>
      <p:sp>
        <p:nvSpPr>
          <p:cNvPr id="20" name="Text Box 5"/>
          <p:cNvSpPr txBox="1">
            <a:spLocks noChangeArrowheads="1"/>
          </p:cNvSpPr>
          <p:nvPr/>
        </p:nvSpPr>
        <p:spPr bwMode="auto">
          <a:xfrm>
            <a:off x="428596" y="4357694"/>
            <a:ext cx="8429684" cy="1815882"/>
          </a:xfrm>
          <a:prstGeom prst="rect">
            <a:avLst/>
          </a:prstGeom>
          <a:noFill/>
          <a:ln w="9525">
            <a:noFill/>
            <a:miter lim="800000"/>
            <a:headEnd/>
            <a:tailEnd/>
          </a:ln>
        </p:spPr>
        <p:txBody>
          <a:bodyPr wrap="square">
            <a:spAutoFit/>
          </a:bodyPr>
          <a:lstStyle/>
          <a:p>
            <a:r>
              <a:rPr lang="zh-CN" altLang="en-US" sz="2800" b="1" dirty="0">
                <a:latin typeface="Verdana" pitchFamily="34" charset="0"/>
                <a:ea typeface="宋体" pitchFamily="2" charset="-122"/>
              </a:rPr>
              <a:t>  在设计传感器时，一般要使铜损电阻尽量小，而涡流损耗电阻和磁滞损耗电阻尽量大，即采用高电阻率及窄磁滞回线的铁心材料，以提高传感器灵敏度；增加屏蔽</a:t>
            </a:r>
            <a:r>
              <a:rPr lang="zh-CN" altLang="en-US" sz="2800" b="1" dirty="0" smtClean="0">
                <a:latin typeface="Verdana" pitchFamily="34" charset="0"/>
                <a:ea typeface="宋体" pitchFamily="2" charset="-122"/>
              </a:rPr>
              <a:t>电路</a:t>
            </a:r>
            <a:r>
              <a:rPr lang="zh-CN" altLang="en-US" sz="2800" b="1" dirty="0">
                <a:latin typeface="Verdana" pitchFamily="34" charset="0"/>
              </a:rPr>
              <a:t>。</a:t>
            </a:r>
            <a:endParaRPr lang="zh-CN" altLang="en-US" sz="2800" b="1" dirty="0">
              <a:latin typeface="Verdana" pitchFamily="34" charset="0"/>
              <a:ea typeface="宋体" pitchFamily="2" charset="-122"/>
            </a:endParaRPr>
          </a:p>
        </p:txBody>
      </p:sp>
      <p:sp>
        <p:nvSpPr>
          <p:cNvPr id="22" name="Rectangle 10"/>
          <p:cNvSpPr txBox="1">
            <a:spLocks noChangeArrowheads="1"/>
          </p:cNvSpPr>
          <p:nvPr/>
        </p:nvSpPr>
        <p:spPr bwMode="auto">
          <a:xfrm>
            <a:off x="285720" y="1643050"/>
            <a:ext cx="8501122" cy="5159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R="0" lvl="0" indent="536575"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effectLst/>
                <a:uLnTx/>
                <a:uFillTx/>
                <a:latin typeface="+mj-lt"/>
                <a:ea typeface="+mj-ea"/>
                <a:cs typeface="+mj-cs"/>
              </a:rPr>
              <a:t>零点残余电压是判断传感器质量的一个重要指标。</a:t>
            </a:r>
          </a:p>
        </p:txBody>
      </p:sp>
      <p:sp>
        <p:nvSpPr>
          <p:cNvPr id="23" name="TextBox 22"/>
          <p:cNvSpPr txBox="1"/>
          <p:nvPr/>
        </p:nvSpPr>
        <p:spPr>
          <a:xfrm>
            <a:off x="428596" y="3714752"/>
            <a:ext cx="2214578" cy="523220"/>
          </a:xfrm>
          <a:prstGeom prst="rect">
            <a:avLst/>
          </a:prstGeom>
          <a:noFill/>
        </p:spPr>
        <p:txBody>
          <a:bodyPr wrap="square" rtlCol="0">
            <a:spAutoFit/>
          </a:bodyPr>
          <a:lstStyle/>
          <a:p>
            <a:r>
              <a:rPr lang="zh-CN" altLang="en-US" sz="2800" b="1" dirty="0" smtClean="0">
                <a:solidFill>
                  <a:srgbClr val="FF0000"/>
                </a:solidFill>
                <a:latin typeface="黑体" pitchFamily="49" charset="-122"/>
                <a:ea typeface="黑体" pitchFamily="49" charset="-122"/>
              </a:rPr>
              <a:t>克服方法：</a:t>
            </a:r>
            <a:endParaRPr lang="zh-CN" altLang="en-US" sz="2800" b="1" dirty="0">
              <a:solidFill>
                <a:srgbClr val="FF0000"/>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linds(horizontal)">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linds(horizontal)">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1" name="Text Box 6"/>
          <p:cNvSpPr txBox="1">
            <a:spLocks noChangeArrowheads="1"/>
          </p:cNvSpPr>
          <p:nvPr/>
        </p:nvSpPr>
        <p:spPr bwMode="auto">
          <a:xfrm>
            <a:off x="285720" y="2000240"/>
            <a:ext cx="8524876" cy="3754874"/>
          </a:xfrm>
          <a:prstGeom prst="rect">
            <a:avLst/>
          </a:prstGeom>
          <a:noFill/>
          <a:ln w="9525">
            <a:noFill/>
            <a:miter lim="800000"/>
            <a:headEnd/>
            <a:tailEnd/>
          </a:ln>
        </p:spPr>
        <p:txBody>
          <a:bodyPr wrap="square">
            <a:spAutoFit/>
          </a:bodyPr>
          <a:lstStyle/>
          <a:p>
            <a:pPr>
              <a:spcBef>
                <a:spcPct val="50000"/>
              </a:spcBef>
            </a:pPr>
            <a:r>
              <a:rPr lang="en-US" altLang="zh-CN" sz="2800" b="1" dirty="0">
                <a:latin typeface="Verdana" pitchFamily="34" charset="0"/>
                <a:ea typeface="宋体" pitchFamily="2" charset="-122"/>
              </a:rPr>
              <a:t>     </a:t>
            </a:r>
            <a:r>
              <a:rPr lang="zh-CN" altLang="en-US" sz="2800" b="1" dirty="0" smtClean="0">
                <a:latin typeface="Verdana" pitchFamily="34" charset="0"/>
                <a:ea typeface="宋体" pitchFamily="2" charset="-122"/>
              </a:rPr>
              <a:t>使用时，选</a:t>
            </a:r>
            <a:r>
              <a:rPr lang="zh-CN" altLang="en-US" sz="2800" b="1" dirty="0" smtClean="0">
                <a:latin typeface="Verdana" pitchFamily="34" charset="0"/>
              </a:rPr>
              <a:t>用</a:t>
            </a:r>
            <a:r>
              <a:rPr lang="zh-CN" altLang="en-US" sz="2800" b="1" dirty="0">
                <a:latin typeface="Verdana" pitchFamily="34" charset="0"/>
              </a:rPr>
              <a:t>合适的</a:t>
            </a:r>
            <a:r>
              <a:rPr lang="zh-CN" altLang="en-US" sz="2800" b="1" dirty="0" smtClean="0">
                <a:latin typeface="Verdana" pitchFamily="34" charset="0"/>
              </a:rPr>
              <a:t>电源，并</a:t>
            </a:r>
            <a:r>
              <a:rPr lang="zh-CN" altLang="en-US" sz="2800" b="1" dirty="0" smtClean="0">
                <a:latin typeface="Verdana" pitchFamily="34" charset="0"/>
                <a:ea typeface="宋体" pitchFamily="2" charset="-122"/>
              </a:rPr>
              <a:t>在线</a:t>
            </a:r>
            <a:r>
              <a:rPr lang="zh-CN" altLang="en-US" sz="2800" b="1" dirty="0">
                <a:latin typeface="Verdana" pitchFamily="34" charset="0"/>
                <a:ea typeface="宋体" pitchFamily="2" charset="-122"/>
              </a:rPr>
              <a:t>路上采取</a:t>
            </a:r>
            <a:r>
              <a:rPr lang="zh-CN" altLang="en-US" sz="2800" b="1" dirty="0" smtClean="0">
                <a:latin typeface="Verdana" pitchFamily="34" charset="0"/>
                <a:ea typeface="宋体" pitchFamily="2" charset="-122"/>
              </a:rPr>
              <a:t>措施：</a:t>
            </a:r>
            <a:endParaRPr lang="en-US" altLang="zh-CN" sz="2800" b="1" dirty="0" smtClean="0">
              <a:latin typeface="Verdana" pitchFamily="34" charset="0"/>
              <a:ea typeface="宋体" pitchFamily="2" charset="-122"/>
            </a:endParaRPr>
          </a:p>
          <a:p>
            <a:pPr indent="536575">
              <a:spcBef>
                <a:spcPct val="50000"/>
              </a:spcBef>
              <a:buFont typeface="Wingdings" pitchFamily="2" charset="2"/>
              <a:buChar char="u"/>
            </a:pPr>
            <a:r>
              <a:rPr lang="zh-CN" altLang="en-US" sz="2800" b="1" dirty="0" smtClean="0">
                <a:latin typeface="Verdana" pitchFamily="34" charset="0"/>
                <a:ea typeface="宋体" pitchFamily="2" charset="-122"/>
              </a:rPr>
              <a:t>在</a:t>
            </a:r>
            <a:r>
              <a:rPr lang="zh-CN" altLang="en-US" sz="2800" b="1" dirty="0">
                <a:latin typeface="Verdana" pitchFamily="34" charset="0"/>
                <a:ea typeface="宋体" pitchFamily="2" charset="-122"/>
              </a:rPr>
              <a:t>桥臂上增加调节</a:t>
            </a:r>
            <a:r>
              <a:rPr lang="zh-CN" altLang="en-US" sz="2800" b="1" dirty="0" smtClean="0">
                <a:latin typeface="Verdana" pitchFamily="34" charset="0"/>
                <a:ea typeface="宋体" pitchFamily="2" charset="-122"/>
              </a:rPr>
              <a:t>元件（可</a:t>
            </a:r>
            <a:r>
              <a:rPr lang="zh-CN" altLang="en-US" sz="2800" b="1" dirty="0">
                <a:latin typeface="Verdana" pitchFamily="34" charset="0"/>
                <a:ea typeface="宋体" pitchFamily="2" charset="-122"/>
              </a:rPr>
              <a:t>在电桥的某个臂上并联大</a:t>
            </a:r>
            <a:r>
              <a:rPr lang="zh-CN" altLang="en-US" sz="2800" b="1" dirty="0" smtClean="0">
                <a:latin typeface="Verdana" pitchFamily="34" charset="0"/>
                <a:ea typeface="宋体" pitchFamily="2" charset="-122"/>
              </a:rPr>
              <a:t>电阻，或减小</a:t>
            </a:r>
            <a:r>
              <a:rPr lang="zh-CN" altLang="en-US" sz="2800" b="1" dirty="0">
                <a:latin typeface="Verdana" pitchFamily="34" charset="0"/>
                <a:ea typeface="宋体" pitchFamily="2" charset="-122"/>
              </a:rPr>
              <a:t>电容，也可两者兼</a:t>
            </a:r>
            <a:r>
              <a:rPr lang="zh-CN" altLang="en-US" sz="2800" b="1" dirty="0" smtClean="0">
                <a:latin typeface="Verdana" pitchFamily="34" charset="0"/>
                <a:ea typeface="宋体" pitchFamily="2" charset="-122"/>
              </a:rPr>
              <a:t>用）。</a:t>
            </a:r>
            <a:endParaRPr lang="en-US" altLang="zh-CN" sz="2800" b="1" dirty="0" smtClean="0">
              <a:latin typeface="Verdana" pitchFamily="34" charset="0"/>
              <a:ea typeface="宋体" pitchFamily="2" charset="-122"/>
            </a:endParaRPr>
          </a:p>
          <a:p>
            <a:pPr indent="536575">
              <a:spcBef>
                <a:spcPct val="50000"/>
              </a:spcBef>
              <a:buFont typeface="Wingdings" pitchFamily="2" charset="2"/>
              <a:buChar char="u"/>
            </a:pPr>
            <a:r>
              <a:rPr lang="zh-CN" altLang="en-US" sz="2800" b="1" dirty="0" smtClean="0">
                <a:latin typeface="Verdana" pitchFamily="34" charset="0"/>
                <a:ea typeface="宋体" pitchFamily="2" charset="-122"/>
              </a:rPr>
              <a:t>为</a:t>
            </a:r>
            <a:r>
              <a:rPr lang="zh-CN" altLang="en-US" sz="2800" b="1" dirty="0">
                <a:latin typeface="Verdana" pitchFamily="34" charset="0"/>
                <a:ea typeface="宋体" pitchFamily="2" charset="-122"/>
              </a:rPr>
              <a:t>滤掉不平衡电压中的高次谐波，也可在电桥之后加带通滤波器</a:t>
            </a:r>
            <a:r>
              <a:rPr lang="zh-CN" altLang="en-US" sz="2800" b="1" dirty="0" smtClean="0">
                <a:latin typeface="Verdana" pitchFamily="34" charset="0"/>
                <a:ea typeface="宋体" pitchFamily="2" charset="-122"/>
              </a:rPr>
              <a:t>，带通</a:t>
            </a:r>
            <a:r>
              <a:rPr lang="zh-CN" altLang="en-US" sz="2800" b="1" dirty="0">
                <a:latin typeface="Verdana" pitchFamily="34" charset="0"/>
              </a:rPr>
              <a:t>滤波器</a:t>
            </a:r>
            <a:r>
              <a:rPr lang="zh-CN" altLang="en-US" sz="2800" b="1" dirty="0" smtClean="0">
                <a:latin typeface="Verdana" pitchFamily="34" charset="0"/>
                <a:ea typeface="宋体" pitchFamily="2" charset="-122"/>
              </a:rPr>
              <a:t>的</a:t>
            </a:r>
            <a:r>
              <a:rPr lang="zh-CN" altLang="en-US" sz="2800" b="1" dirty="0">
                <a:latin typeface="Verdana" pitchFamily="34" charset="0"/>
                <a:ea typeface="宋体" pitchFamily="2" charset="-122"/>
              </a:rPr>
              <a:t>中心频率可取为桥电源频率，而带宽由被测信号频率决定</a:t>
            </a:r>
            <a:r>
              <a:rPr lang="zh-CN" altLang="en-US" sz="2800" b="1" dirty="0" smtClean="0">
                <a:latin typeface="Verdana" pitchFamily="34" charset="0"/>
                <a:ea typeface="宋体" pitchFamily="2" charset="-122"/>
              </a:rPr>
              <a:t>。</a:t>
            </a:r>
            <a:endParaRPr lang="en-US" altLang="zh-CN" sz="2800" b="1" dirty="0" smtClean="0">
              <a:latin typeface="Verdana" pitchFamily="34" charset="0"/>
              <a:ea typeface="宋体" pitchFamily="2" charset="-122"/>
            </a:endParaRPr>
          </a:p>
          <a:p>
            <a:pPr indent="536575">
              <a:spcBef>
                <a:spcPct val="50000"/>
              </a:spcBef>
              <a:buFont typeface="Wingdings" pitchFamily="2" charset="2"/>
              <a:buChar char="u"/>
            </a:pPr>
            <a:r>
              <a:rPr lang="zh-CN" altLang="en-US" sz="2800" b="1" dirty="0" smtClean="0">
                <a:latin typeface="Verdana" pitchFamily="34" charset="0"/>
                <a:ea typeface="宋体" pitchFamily="2" charset="-122"/>
              </a:rPr>
              <a:t> </a:t>
            </a:r>
            <a:r>
              <a:rPr lang="zh-CN" altLang="en-US" sz="2800" b="1" dirty="0">
                <a:latin typeface="Verdana" pitchFamily="34" charset="0"/>
                <a:ea typeface="宋体" pitchFamily="2" charset="-122"/>
              </a:rPr>
              <a:t>选择合适的供电电压，使电桥灵敏度适中。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blinds(horizontal)">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blinds(horizontal)">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blinds(horizontal)">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blinds(horizontal)">
                                      <p:cBhvr>
                                        <p:cTn id="22" dur="500"/>
                                        <p:tgtEl>
                                          <p:spTgt spid="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7" name="内容占位符 16"/>
          <p:cNvSpPr>
            <a:spLocks noGrp="1"/>
          </p:cNvSpPr>
          <p:nvPr>
            <p:ph idx="1"/>
          </p:nvPr>
        </p:nvSpPr>
        <p:spPr>
          <a:xfrm>
            <a:off x="571500" y="1643063"/>
            <a:ext cx="7943850" cy="642937"/>
          </a:xfrm>
        </p:spPr>
        <p:txBody>
          <a:bodyPr/>
          <a:lstStyle/>
          <a:p>
            <a:pPr marL="0" indent="0" eaLnBrk="1" hangingPunct="1">
              <a:spcBef>
                <a:spcPct val="0"/>
              </a:spcBef>
              <a:buNone/>
              <a:defRPr/>
            </a:pPr>
            <a:r>
              <a:rPr lang="zh-CN" altLang="en-US" sz="2800" b="1" dirty="0" smtClean="0">
                <a:solidFill>
                  <a:srgbClr val="FF6600"/>
                </a:solidFill>
                <a:latin typeface="黑体" pitchFamily="49" charset="-122"/>
                <a:ea typeface="黑体" pitchFamily="49" charset="-122"/>
                <a:cs typeface="+mj-cs"/>
              </a:rPr>
              <a:t>特点</a:t>
            </a:r>
          </a:p>
        </p:txBody>
      </p:sp>
      <p:graphicFrame>
        <p:nvGraphicFramePr>
          <p:cNvPr id="13" name="图示 12"/>
          <p:cNvGraphicFramePr/>
          <p:nvPr/>
        </p:nvGraphicFramePr>
        <p:xfrm>
          <a:off x="1071538" y="2428868"/>
          <a:ext cx="7072362" cy="33575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3">
                                            <p:graphicEl>
                                              <a:dgm id="{8213E9B3-073F-4512-878E-5CB7E614B559}"/>
                                            </p:graphicEl>
                                          </p:spTgt>
                                        </p:tgtEl>
                                        <p:attrNameLst>
                                          <p:attrName>style.visibility</p:attrName>
                                        </p:attrNameLst>
                                      </p:cBhvr>
                                      <p:to>
                                        <p:strVal val="visible"/>
                                      </p:to>
                                    </p:set>
                                    <p:animEffect transition="in" filter="blinds(horizontal)">
                                      <p:cBhvr>
                                        <p:cTn id="7" dur="500"/>
                                        <p:tgtEl>
                                          <p:spTgt spid="13">
                                            <p:graphicEl>
                                              <a:dgm id="{8213E9B3-073F-4512-878E-5CB7E614B559}"/>
                                            </p:graphic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
                                            <p:graphicEl>
                                              <a:dgm id="{5E52E001-A813-47DA-891B-466ED875132F}"/>
                                            </p:graphicEl>
                                          </p:spTgt>
                                        </p:tgtEl>
                                        <p:attrNameLst>
                                          <p:attrName>style.visibility</p:attrName>
                                        </p:attrNameLst>
                                      </p:cBhvr>
                                      <p:to>
                                        <p:strVal val="visible"/>
                                      </p:to>
                                    </p:set>
                                    <p:animEffect transition="in" filter="blinds(horizontal)">
                                      <p:cBhvr>
                                        <p:cTn id="10" dur="500"/>
                                        <p:tgtEl>
                                          <p:spTgt spid="13">
                                            <p:graphicEl>
                                              <a:dgm id="{5E52E001-A813-47DA-891B-466ED875132F}"/>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3">
                                            <p:graphicEl>
                                              <a:dgm id="{FCA6E5E6-36DC-4A7E-B6F9-FC9CA395BFA8}"/>
                                            </p:graphicEl>
                                          </p:spTgt>
                                        </p:tgtEl>
                                        <p:attrNameLst>
                                          <p:attrName>style.visibility</p:attrName>
                                        </p:attrNameLst>
                                      </p:cBhvr>
                                      <p:to>
                                        <p:strVal val="visible"/>
                                      </p:to>
                                    </p:set>
                                    <p:animEffect transition="in" filter="blinds(horizontal)">
                                      <p:cBhvr>
                                        <p:cTn id="15" dur="500"/>
                                        <p:tgtEl>
                                          <p:spTgt spid="13">
                                            <p:graphicEl>
                                              <a:dgm id="{FCA6E5E6-36DC-4A7E-B6F9-FC9CA395BFA8}"/>
                                            </p:graphic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3">
                                            <p:graphicEl>
                                              <a:dgm id="{71FB7FE8-A998-4FB8-9DA9-290521F8C2A5}"/>
                                            </p:graphicEl>
                                          </p:spTgt>
                                        </p:tgtEl>
                                        <p:attrNameLst>
                                          <p:attrName>style.visibility</p:attrName>
                                        </p:attrNameLst>
                                      </p:cBhvr>
                                      <p:to>
                                        <p:strVal val="visible"/>
                                      </p:to>
                                    </p:set>
                                    <p:animEffect transition="in" filter="blinds(horizontal)">
                                      <p:cBhvr>
                                        <p:cTn id="18" dur="500"/>
                                        <p:tgtEl>
                                          <p:spTgt spid="13">
                                            <p:graphicEl>
                                              <a:dgm id="{71FB7FE8-A998-4FB8-9DA9-290521F8C2A5}"/>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3">
                                            <p:graphicEl>
                                              <a:dgm id="{C2689B0D-CDD3-40EF-8556-88E1665B162C}"/>
                                            </p:graphicEl>
                                          </p:spTgt>
                                        </p:tgtEl>
                                        <p:attrNameLst>
                                          <p:attrName>style.visibility</p:attrName>
                                        </p:attrNameLst>
                                      </p:cBhvr>
                                      <p:to>
                                        <p:strVal val="visible"/>
                                      </p:to>
                                    </p:set>
                                    <p:animEffect transition="in" filter="blinds(horizontal)">
                                      <p:cBhvr>
                                        <p:cTn id="23" dur="500"/>
                                        <p:tgtEl>
                                          <p:spTgt spid="13">
                                            <p:graphicEl>
                                              <a:dgm id="{C2689B0D-CDD3-40EF-8556-88E1665B162C}"/>
                                            </p:graphic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3">
                                            <p:graphicEl>
                                              <a:dgm id="{3361263B-43BA-4D2C-8AAA-821FCDF72084}"/>
                                            </p:graphicEl>
                                          </p:spTgt>
                                        </p:tgtEl>
                                        <p:attrNameLst>
                                          <p:attrName>style.visibility</p:attrName>
                                        </p:attrNameLst>
                                      </p:cBhvr>
                                      <p:to>
                                        <p:strVal val="visible"/>
                                      </p:to>
                                    </p:set>
                                    <p:animEffect transition="in" filter="blinds(horizontal)">
                                      <p:cBhvr>
                                        <p:cTn id="26" dur="500"/>
                                        <p:tgtEl>
                                          <p:spTgt spid="13">
                                            <p:graphicEl>
                                              <a:dgm id="{3361263B-43BA-4D2C-8AAA-821FCDF72084}"/>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Sub>
          <a:bldDgm bld="one"/>
        </p:bldSub>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214438" y="571500"/>
            <a:ext cx="6572250" cy="862013"/>
          </a:xfrm>
        </p:spPr>
        <p:txBody>
          <a:bodyPr anchor="b"/>
          <a:lstStyle/>
          <a:p>
            <a:pPr eaLnBrk="1" hangingPunct="1"/>
            <a:r>
              <a:rPr lang="en-US" altLang="zh-CN" sz="3600" b="1" dirty="0" smtClean="0">
                <a:solidFill>
                  <a:schemeClr val="tx2"/>
                </a:solidFill>
                <a:latin typeface="黑体" pitchFamily="2" charset="-122"/>
                <a:ea typeface="黑体" pitchFamily="2" charset="-122"/>
              </a:rPr>
              <a:t>4.1 </a:t>
            </a:r>
            <a:r>
              <a:rPr lang="zh-CN" altLang="en-US" sz="3600" b="1" dirty="0" smtClean="0">
                <a:solidFill>
                  <a:schemeClr val="tx2"/>
                </a:solidFill>
                <a:latin typeface="黑体" pitchFamily="2" charset="-122"/>
                <a:ea typeface="黑体" pitchFamily="2" charset="-122"/>
              </a:rPr>
              <a:t>自感式传感器</a:t>
            </a:r>
            <a:endParaRPr lang="zh-CN" altLang="en-US" sz="4000"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6" name="Text Box 5"/>
          <p:cNvSpPr txBox="1">
            <a:spLocks noChangeArrowheads="1"/>
          </p:cNvSpPr>
          <p:nvPr/>
        </p:nvSpPr>
        <p:spPr bwMode="auto">
          <a:xfrm>
            <a:off x="1042988" y="5167304"/>
            <a:ext cx="3600450" cy="457200"/>
          </a:xfrm>
          <a:prstGeom prst="rect">
            <a:avLst/>
          </a:prstGeom>
          <a:noFill/>
          <a:ln w="9525">
            <a:noFill/>
            <a:miter lim="800000"/>
            <a:headEnd/>
            <a:tailEnd/>
          </a:ln>
        </p:spPr>
        <p:txBody>
          <a:bodyPr>
            <a:spAutoFit/>
          </a:bodyPr>
          <a:lstStyle/>
          <a:p>
            <a:pPr>
              <a:spcBef>
                <a:spcPct val="50000"/>
              </a:spcBef>
            </a:pPr>
            <a:r>
              <a:rPr lang="zh-CN" altLang="en-US" sz="2400" b="1">
                <a:solidFill>
                  <a:srgbClr val="000099"/>
                </a:solidFill>
                <a:latin typeface="Times New Roman" pitchFamily="18" charset="0"/>
                <a:ea typeface="宋体" charset="-122"/>
              </a:rPr>
              <a:t>测气体压力的电感传感器</a:t>
            </a:r>
          </a:p>
        </p:txBody>
      </p:sp>
      <p:graphicFrame>
        <p:nvGraphicFramePr>
          <p:cNvPr id="7" name="Object 6"/>
          <p:cNvGraphicFramePr>
            <a:graphicFrameLocks noChangeAspect="1"/>
          </p:cNvGraphicFramePr>
          <p:nvPr/>
        </p:nvGraphicFramePr>
        <p:xfrm>
          <a:off x="1476375" y="2214554"/>
          <a:ext cx="2674938" cy="2900362"/>
        </p:xfrm>
        <a:graphic>
          <a:graphicData uri="http://schemas.openxmlformats.org/presentationml/2006/ole">
            <p:oleObj spid="_x0000_s48130" name="Image" r:id="rId3" imgW="9051429" imgH="9815510" progId="">
              <p:embed/>
            </p:oleObj>
          </a:graphicData>
        </a:graphic>
      </p:graphicFrame>
      <p:sp>
        <p:nvSpPr>
          <p:cNvPr id="9" name="Text Box 7"/>
          <p:cNvSpPr txBox="1">
            <a:spLocks noChangeArrowheads="1"/>
          </p:cNvSpPr>
          <p:nvPr/>
        </p:nvSpPr>
        <p:spPr bwMode="auto">
          <a:xfrm>
            <a:off x="4929190" y="5143512"/>
            <a:ext cx="2305050" cy="457200"/>
          </a:xfrm>
          <a:prstGeom prst="rect">
            <a:avLst/>
          </a:prstGeom>
          <a:noFill/>
          <a:ln w="9525">
            <a:noFill/>
            <a:miter lim="800000"/>
            <a:headEnd/>
            <a:tailEnd/>
          </a:ln>
        </p:spPr>
        <p:txBody>
          <a:bodyPr>
            <a:spAutoFit/>
          </a:bodyPr>
          <a:lstStyle/>
          <a:p>
            <a:r>
              <a:rPr lang="zh-CN" altLang="en-US" sz="2400" b="1" dirty="0">
                <a:solidFill>
                  <a:srgbClr val="000099"/>
                </a:solidFill>
                <a:latin typeface="Times New Roman" pitchFamily="18" charset="0"/>
                <a:ea typeface="宋体" charset="-122"/>
              </a:rPr>
              <a:t>压差传感器</a:t>
            </a:r>
          </a:p>
        </p:txBody>
      </p:sp>
      <p:graphicFrame>
        <p:nvGraphicFramePr>
          <p:cNvPr id="10" name="Object 8"/>
          <p:cNvGraphicFramePr>
            <a:graphicFrameLocks noChangeAspect="1"/>
          </p:cNvGraphicFramePr>
          <p:nvPr/>
        </p:nvGraphicFramePr>
        <p:xfrm>
          <a:off x="4643438" y="2214554"/>
          <a:ext cx="2581275" cy="2828925"/>
        </p:xfrm>
        <a:graphic>
          <a:graphicData uri="http://schemas.openxmlformats.org/presentationml/2006/ole">
            <p:oleObj spid="_x0000_s48131" name="Image" r:id="rId4" imgW="11049796" imgH="12107755"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14438" y="571500"/>
            <a:ext cx="6572250" cy="862013"/>
          </a:xfrm>
        </p:spPr>
        <p:txBody>
          <a:bodyPr anchor="b"/>
          <a:lstStyle/>
          <a:p>
            <a:pPr eaLnBrk="1" hangingPunct="1"/>
            <a:r>
              <a:rPr lang="zh-CN" altLang="en-US" sz="4000" b="1" dirty="0" smtClean="0">
                <a:solidFill>
                  <a:schemeClr val="tx2"/>
                </a:solidFill>
                <a:latin typeface="黑体" pitchFamily="2" charset="-122"/>
                <a:ea typeface="黑体" pitchFamily="2" charset="-122"/>
              </a:rPr>
              <a:t>第</a:t>
            </a:r>
            <a:r>
              <a:rPr lang="en-US" altLang="zh-CN" sz="4000" b="1" dirty="0" smtClean="0">
                <a:solidFill>
                  <a:schemeClr val="tx2"/>
                </a:solidFill>
                <a:latin typeface="黑体" pitchFamily="2" charset="-122"/>
                <a:ea typeface="黑体" pitchFamily="2" charset="-122"/>
              </a:rPr>
              <a:t>4</a:t>
            </a:r>
            <a:r>
              <a:rPr lang="zh-CN" altLang="en-US" sz="4000" b="1" dirty="0" smtClean="0">
                <a:solidFill>
                  <a:schemeClr val="tx2"/>
                </a:solidFill>
                <a:latin typeface="黑体" pitchFamily="2" charset="-122"/>
                <a:ea typeface="黑体" pitchFamily="2" charset="-122"/>
              </a:rPr>
              <a:t>章 电感式传感器</a:t>
            </a:r>
            <a:endParaRPr lang="zh-CN" altLang="en-US"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6" name="Text Box 4"/>
          <p:cNvSpPr txBox="1">
            <a:spLocks noChangeArrowheads="1"/>
          </p:cNvSpPr>
          <p:nvPr/>
        </p:nvSpPr>
        <p:spPr bwMode="auto">
          <a:xfrm>
            <a:off x="571500" y="1571625"/>
            <a:ext cx="8286750" cy="3194721"/>
          </a:xfrm>
          <a:prstGeom prst="rect">
            <a:avLst/>
          </a:prstGeom>
          <a:noFill/>
          <a:ln w="9525">
            <a:noFill/>
            <a:miter lim="800000"/>
            <a:headEnd/>
            <a:tailEnd/>
          </a:ln>
        </p:spPr>
        <p:txBody>
          <a:bodyPr>
            <a:spAutoFit/>
          </a:bodyPr>
          <a:lstStyle/>
          <a:p>
            <a:pPr marL="0" lvl="1" indent="620713">
              <a:lnSpc>
                <a:spcPct val="120000"/>
              </a:lnSpc>
            </a:pPr>
            <a:r>
              <a:rPr lang="en-US" altLang="zh-CN" sz="2800" b="1" dirty="0">
                <a:latin typeface="黑体" pitchFamily="2" charset="-122"/>
                <a:ea typeface="黑体" pitchFamily="2" charset="-122"/>
              </a:rPr>
              <a:t>4.1 </a:t>
            </a:r>
            <a:r>
              <a:rPr lang="zh-CN" altLang="en-US" sz="2800" b="1" dirty="0">
                <a:latin typeface="黑体" pitchFamily="2" charset="-122"/>
                <a:ea typeface="黑体" pitchFamily="2" charset="-122"/>
              </a:rPr>
              <a:t>自感式传感器</a:t>
            </a:r>
            <a:endParaRPr lang="en-US" altLang="zh-CN" sz="2800" b="1" dirty="0">
              <a:latin typeface="黑体" pitchFamily="2" charset="-122"/>
              <a:ea typeface="黑体" pitchFamily="2" charset="-122"/>
            </a:endParaRPr>
          </a:p>
          <a:p>
            <a:pPr marL="0" lvl="1" indent="620713">
              <a:lnSpc>
                <a:spcPct val="120000"/>
              </a:lnSpc>
            </a:pPr>
            <a:r>
              <a:rPr lang="en-US" altLang="zh-CN" sz="2800" b="1" dirty="0" smtClean="0">
                <a:latin typeface="黑体" pitchFamily="2" charset="-122"/>
                <a:ea typeface="黑体" pitchFamily="2" charset="-122"/>
              </a:rPr>
              <a:t>4.2 </a:t>
            </a:r>
            <a:r>
              <a:rPr lang="zh-CN" altLang="en-US" sz="2800" b="1" dirty="0" smtClean="0">
                <a:solidFill>
                  <a:srgbClr val="FF0000"/>
                </a:solidFill>
                <a:latin typeface="黑体" pitchFamily="2" charset="-122"/>
                <a:ea typeface="黑体" pitchFamily="2" charset="-122"/>
              </a:rPr>
              <a:t>变压器式传感器</a:t>
            </a:r>
            <a:endParaRPr lang="en-US" altLang="zh-CN" sz="2800" b="1" dirty="0" smtClean="0">
              <a:solidFill>
                <a:srgbClr val="FF0000"/>
              </a:solidFill>
              <a:latin typeface="黑体" pitchFamily="2" charset="-122"/>
              <a:ea typeface="黑体" pitchFamily="2" charset="-122"/>
            </a:endParaRPr>
          </a:p>
          <a:p>
            <a:pPr marL="0" lvl="1" indent="620713">
              <a:lnSpc>
                <a:spcPct val="120000"/>
              </a:lnSpc>
            </a:pPr>
            <a:r>
              <a:rPr lang="en-US" altLang="zh-CN" sz="2800" b="1" dirty="0" smtClean="0">
                <a:latin typeface="黑体" pitchFamily="2" charset="-122"/>
                <a:ea typeface="黑体" pitchFamily="2" charset="-122"/>
              </a:rPr>
              <a:t>4.3 </a:t>
            </a:r>
            <a:r>
              <a:rPr lang="zh-CN" altLang="en-US" sz="2800" b="1" dirty="0" smtClean="0">
                <a:latin typeface="黑体" pitchFamily="2" charset="-122"/>
                <a:ea typeface="黑体" pitchFamily="2" charset="-122"/>
              </a:rPr>
              <a:t>电涡流式传感器</a:t>
            </a:r>
            <a:endParaRPr lang="en-US" altLang="zh-CN" sz="2800" b="1" dirty="0" smtClean="0">
              <a:latin typeface="黑体" pitchFamily="2" charset="-122"/>
              <a:ea typeface="黑体" pitchFamily="2" charset="-122"/>
            </a:endParaRPr>
          </a:p>
          <a:p>
            <a:pPr marL="0" lvl="1" indent="620713">
              <a:lnSpc>
                <a:spcPct val="120000"/>
              </a:lnSpc>
            </a:pPr>
            <a:r>
              <a:rPr lang="en-US" altLang="zh-CN" sz="2800" b="1" dirty="0" smtClean="0">
                <a:latin typeface="黑体" pitchFamily="2" charset="-122"/>
                <a:ea typeface="黑体" pitchFamily="2" charset="-122"/>
              </a:rPr>
              <a:t>4.4</a:t>
            </a:r>
            <a:r>
              <a:rPr lang="zh-CN" altLang="en-US" sz="2800" b="1" dirty="0" smtClean="0">
                <a:latin typeface="黑体" pitchFamily="2" charset="-122"/>
                <a:ea typeface="黑体" pitchFamily="2" charset="-122"/>
              </a:rPr>
              <a:t> 压磁式传感器</a:t>
            </a:r>
            <a:endParaRPr lang="en-US" altLang="zh-CN" sz="2800" b="1" dirty="0">
              <a:latin typeface="黑体" pitchFamily="2" charset="-122"/>
              <a:ea typeface="黑体" pitchFamily="2" charset="-122"/>
            </a:endParaRPr>
          </a:p>
          <a:p>
            <a:pPr marL="0" lvl="1" indent="620713">
              <a:lnSpc>
                <a:spcPct val="120000"/>
              </a:lnSpc>
            </a:pPr>
            <a:endParaRPr lang="en-US" altLang="zh-CN" sz="2800" b="1" dirty="0">
              <a:latin typeface="黑体" pitchFamily="2" charset="-122"/>
              <a:ea typeface="黑体" pitchFamily="2" charset="-122"/>
            </a:endParaRPr>
          </a:p>
          <a:p>
            <a:pPr marL="0" lvl="1" indent="620713">
              <a:lnSpc>
                <a:spcPct val="120000"/>
              </a:lnSpc>
            </a:pPr>
            <a:endParaRPr kumimoji="0" lang="zh-CN" altLang="en-US" sz="2800" b="1"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7"/>
          <p:cNvSpPr>
            <a:spLocks noGrp="1" noChangeArrowheads="1"/>
          </p:cNvSpPr>
          <p:nvPr>
            <p:ph type="title"/>
          </p:nvPr>
        </p:nvSpPr>
        <p:spPr bwMode="auto">
          <a:xfrm>
            <a:off x="1285852" y="714357"/>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4.2 </a:t>
            </a:r>
            <a:r>
              <a:rPr lang="zh-CN" altLang="en-US" sz="3600" b="1" dirty="0" smtClean="0">
                <a:solidFill>
                  <a:schemeClr val="tx2"/>
                </a:solidFill>
                <a:latin typeface="黑体" pitchFamily="2" charset="-122"/>
                <a:ea typeface="黑体" pitchFamily="2" charset="-122"/>
              </a:rPr>
              <a:t>变压器式传感器</a:t>
            </a:r>
          </a:p>
        </p:txBody>
      </p:sp>
      <p:sp>
        <p:nvSpPr>
          <p:cNvPr id="49156" name="Text Box 9"/>
          <p:cNvSpPr txBox="1">
            <a:spLocks noChangeArrowheads="1"/>
          </p:cNvSpPr>
          <p:nvPr/>
        </p:nvSpPr>
        <p:spPr bwMode="auto">
          <a:xfrm>
            <a:off x="214282" y="2143116"/>
            <a:ext cx="8643998" cy="1815882"/>
          </a:xfrm>
          <a:prstGeom prst="rect">
            <a:avLst/>
          </a:prstGeom>
          <a:noFill/>
          <a:ln w="9525" algn="ctr">
            <a:noFill/>
            <a:miter lim="800000"/>
            <a:headEnd/>
            <a:tailEnd/>
          </a:ln>
        </p:spPr>
        <p:txBody>
          <a:bodyPr wrap="square">
            <a:spAutoFit/>
          </a:bodyPr>
          <a:lstStyle/>
          <a:p>
            <a:pPr marL="0" lvl="1" indent="630238">
              <a:spcBef>
                <a:spcPct val="20000"/>
              </a:spcBef>
              <a:buClr>
                <a:schemeClr val="hlink"/>
              </a:buClr>
              <a:buSzPct val="55000"/>
              <a:buFont typeface="Wingdings" pitchFamily="2" charset="2"/>
              <a:buNone/>
            </a:pPr>
            <a:r>
              <a:rPr lang="zh-CN" altLang="en-US" sz="2800" b="1" dirty="0">
                <a:latin typeface="宋体" charset="-122"/>
                <a:ea typeface="宋体" charset="-122"/>
              </a:rPr>
              <a:t>把被测量的变化转换成互感系数</a:t>
            </a:r>
            <a:r>
              <a:rPr lang="zh-CN" altLang="en-US" sz="2800" b="1" i="1" dirty="0">
                <a:latin typeface="Times New Roman" pitchFamily="18" charset="0"/>
                <a:ea typeface="宋体" charset="-122"/>
              </a:rPr>
              <a:t> </a:t>
            </a:r>
            <a:r>
              <a:rPr lang="en-US" altLang="zh-CN" sz="2800" b="1" i="1" dirty="0">
                <a:solidFill>
                  <a:srgbClr val="FF0000"/>
                </a:solidFill>
                <a:latin typeface="Times New Roman" pitchFamily="18" charset="0"/>
                <a:ea typeface="宋体" charset="-122"/>
              </a:rPr>
              <a:t>M</a:t>
            </a:r>
            <a:r>
              <a:rPr lang="en-US" altLang="zh-CN" sz="2800" b="1" i="1" dirty="0">
                <a:latin typeface="Times New Roman" pitchFamily="18" charset="0"/>
                <a:ea typeface="宋体" charset="-122"/>
              </a:rPr>
              <a:t> </a:t>
            </a:r>
            <a:r>
              <a:rPr lang="zh-CN" altLang="en-US" sz="2800" b="1" dirty="0">
                <a:latin typeface="宋体" charset="-122"/>
                <a:ea typeface="宋体" charset="-122"/>
              </a:rPr>
              <a:t>的变化。传感器本身是互感系数可变的变压器，当一次侧线圈接入激励电源后，二次侧线圈就产生感应电压输出，互感变化时，输出电压将作相应变化。</a:t>
            </a:r>
            <a:endParaRPr lang="en-US" altLang="zh-CN" sz="2800" b="1" dirty="0">
              <a:latin typeface="宋体" charset="-122"/>
              <a:ea typeface="宋体" charset="-122"/>
            </a:endParaRPr>
          </a:p>
        </p:txBody>
      </p:sp>
      <p:sp>
        <p:nvSpPr>
          <p:cNvPr id="7" name="矩形 6"/>
          <p:cNvSpPr>
            <a:spLocks noChangeArrowheads="1"/>
          </p:cNvSpPr>
          <p:nvPr/>
        </p:nvSpPr>
        <p:spPr bwMode="auto">
          <a:xfrm>
            <a:off x="214282" y="4214818"/>
            <a:ext cx="8643998" cy="1815882"/>
          </a:xfrm>
          <a:prstGeom prst="rect">
            <a:avLst/>
          </a:prstGeom>
          <a:noFill/>
          <a:ln w="9525">
            <a:noFill/>
            <a:miter lim="800000"/>
            <a:headEnd/>
            <a:tailEnd/>
          </a:ln>
        </p:spPr>
        <p:txBody>
          <a:bodyPr wrap="square">
            <a:spAutoFit/>
          </a:bodyPr>
          <a:lstStyle/>
          <a:p>
            <a:pPr marL="0" lvl="1" indent="630238">
              <a:spcBef>
                <a:spcPct val="20000"/>
              </a:spcBef>
              <a:buClr>
                <a:schemeClr val="hlink"/>
              </a:buClr>
              <a:buSzPct val="55000"/>
              <a:buFont typeface="Wingdings" pitchFamily="2" charset="2"/>
              <a:buNone/>
            </a:pPr>
            <a:r>
              <a:rPr lang="zh-CN" altLang="en-US" sz="2800" b="1" dirty="0">
                <a:latin typeface="宋体" charset="-122"/>
                <a:ea typeface="宋体" charset="-122"/>
              </a:rPr>
              <a:t>这种传感器的二次侧线圈一般有两个，接线方式又是差动的，故常称之为</a:t>
            </a:r>
            <a:r>
              <a:rPr lang="zh-CN" altLang="en-US" sz="2800" b="1" dirty="0">
                <a:solidFill>
                  <a:srgbClr val="FF0000"/>
                </a:solidFill>
                <a:latin typeface="宋体" charset="-122"/>
                <a:ea typeface="宋体" charset="-122"/>
              </a:rPr>
              <a:t>差动变压器式传感器</a:t>
            </a:r>
            <a:r>
              <a:rPr lang="zh-CN" altLang="en-US" sz="2800" b="1" dirty="0">
                <a:latin typeface="宋体" charset="-122"/>
                <a:ea typeface="宋体" charset="-122"/>
              </a:rPr>
              <a:t>。另外，因为它是基于互感变化的原理，故也称为互感式传感器。</a:t>
            </a:r>
            <a:endParaRPr lang="zh-CN" altLang="en-US" sz="2800" dirty="0"/>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8" name="矩形 7"/>
          <p:cNvSpPr/>
          <p:nvPr/>
        </p:nvSpPr>
        <p:spPr>
          <a:xfrm>
            <a:off x="571472" y="1571612"/>
            <a:ext cx="1627369" cy="523220"/>
          </a:xfrm>
          <a:prstGeom prst="rect">
            <a:avLst/>
          </a:prstGeom>
        </p:spPr>
        <p:txBody>
          <a:bodyPr wrap="none">
            <a:spAutoFit/>
          </a:bodyPr>
          <a:lstStyle/>
          <a:p>
            <a:pPr>
              <a:defRPr/>
            </a:pPr>
            <a:r>
              <a:rPr lang="zh-CN" altLang="en-US" sz="2800" b="1" dirty="0" smtClean="0">
                <a:solidFill>
                  <a:srgbClr val="FF6600"/>
                </a:solidFill>
                <a:latin typeface="黑体" pitchFamily="49" charset="-122"/>
                <a:ea typeface="黑体" pitchFamily="49" charset="-122"/>
                <a:cs typeface="+mj-cs"/>
              </a:rPr>
              <a:t>工作原理</a:t>
            </a:r>
          </a:p>
        </p:txBody>
      </p:sp>
      <p:sp>
        <p:nvSpPr>
          <p:cNvPr id="9" name="矩形 8"/>
          <p:cNvSpPr/>
          <p:nvPr/>
        </p:nvSpPr>
        <p:spPr>
          <a:xfrm>
            <a:off x="928662" y="6143644"/>
            <a:ext cx="5955476" cy="523220"/>
          </a:xfrm>
          <a:prstGeom prst="rect">
            <a:avLst/>
          </a:prstGeom>
        </p:spPr>
        <p:txBody>
          <a:bodyPr wrap="none">
            <a:spAutoFit/>
          </a:bodyPr>
          <a:lstStyle/>
          <a:p>
            <a:r>
              <a:rPr lang="zh-CN" altLang="en-US" sz="2800" b="1" dirty="0" smtClean="0">
                <a:latin typeface="Verdana" pitchFamily="34" charset="0"/>
                <a:ea typeface="宋体" charset="-122"/>
              </a:rPr>
              <a:t>分为气隙型、截面型和螺线管三种。</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7"/>
          <p:cNvSpPr>
            <a:spLocks noGrp="1" noChangeArrowheads="1"/>
          </p:cNvSpPr>
          <p:nvPr>
            <p:ph type="title"/>
          </p:nvPr>
        </p:nvSpPr>
        <p:spPr bwMode="auto">
          <a:xfrm>
            <a:off x="1285852" y="714357"/>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4.2 </a:t>
            </a:r>
            <a:r>
              <a:rPr lang="zh-CN" altLang="en-US" sz="3600" b="1" dirty="0" smtClean="0">
                <a:solidFill>
                  <a:schemeClr val="tx2"/>
                </a:solidFill>
                <a:latin typeface="黑体" pitchFamily="2" charset="-122"/>
                <a:ea typeface="黑体" pitchFamily="2" charset="-122"/>
              </a:rPr>
              <a:t>变压器式传感器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0" name="Text Box 12"/>
          <p:cNvSpPr txBox="1">
            <a:spLocks noChangeArrowheads="1"/>
          </p:cNvSpPr>
          <p:nvPr/>
        </p:nvSpPr>
        <p:spPr bwMode="auto">
          <a:xfrm>
            <a:off x="1285852" y="4143380"/>
            <a:ext cx="3455987" cy="396875"/>
          </a:xfrm>
          <a:prstGeom prst="rect">
            <a:avLst/>
          </a:prstGeom>
          <a:noFill/>
          <a:ln w="9525">
            <a:noFill/>
            <a:miter lim="800000"/>
            <a:headEnd/>
            <a:tailEnd/>
          </a:ln>
        </p:spPr>
        <p:txBody>
          <a:bodyPr>
            <a:spAutoFit/>
          </a:bodyPr>
          <a:lstStyle/>
          <a:p>
            <a:pPr>
              <a:spcBef>
                <a:spcPct val="20000"/>
              </a:spcBef>
              <a:buClr>
                <a:schemeClr val="folHlink"/>
              </a:buClr>
              <a:buFont typeface="Wingdings" pitchFamily="2" charset="2"/>
              <a:buNone/>
            </a:pPr>
            <a:r>
              <a:rPr kumimoji="0" lang="zh-CN" altLang="en-US" sz="2000" b="1" dirty="0">
                <a:solidFill>
                  <a:srgbClr val="000099"/>
                </a:solidFill>
                <a:latin typeface="Times New Roman" pitchFamily="18" charset="0"/>
                <a:ea typeface="楷体_GB2312" pitchFamily="49" charset="-122"/>
              </a:rPr>
              <a:t>气隙型差动变压器式传感器</a:t>
            </a:r>
            <a:endParaRPr lang="zh-CN" altLang="en-US" sz="2000" b="1" dirty="0">
              <a:solidFill>
                <a:srgbClr val="000099"/>
              </a:solidFill>
              <a:latin typeface="Times New Roman" pitchFamily="18" charset="0"/>
              <a:ea typeface="楷体_GB2312" pitchFamily="49" charset="-122"/>
            </a:endParaRPr>
          </a:p>
        </p:txBody>
      </p:sp>
      <p:graphicFrame>
        <p:nvGraphicFramePr>
          <p:cNvPr id="11" name="Object 13"/>
          <p:cNvGraphicFramePr>
            <a:graphicFrameLocks noChangeAspect="1"/>
          </p:cNvGraphicFramePr>
          <p:nvPr/>
        </p:nvGraphicFramePr>
        <p:xfrm>
          <a:off x="1285852" y="1643050"/>
          <a:ext cx="3489325" cy="2438400"/>
        </p:xfrm>
        <a:graphic>
          <a:graphicData uri="http://schemas.openxmlformats.org/presentationml/2006/ole">
            <p:oleObj spid="_x0000_s64514" name="Image" r:id="rId3" imgW="15399184" imgH="10755918" progId="">
              <p:embed/>
            </p:oleObj>
          </a:graphicData>
        </a:graphic>
      </p:graphicFrame>
      <p:sp>
        <p:nvSpPr>
          <p:cNvPr id="12" name="Text Box 14"/>
          <p:cNvSpPr txBox="1">
            <a:spLocks noChangeArrowheads="1"/>
          </p:cNvSpPr>
          <p:nvPr/>
        </p:nvSpPr>
        <p:spPr bwMode="auto">
          <a:xfrm>
            <a:off x="4786314" y="4143380"/>
            <a:ext cx="3765550" cy="396875"/>
          </a:xfrm>
          <a:prstGeom prst="rect">
            <a:avLst/>
          </a:prstGeom>
          <a:noFill/>
          <a:ln w="9525">
            <a:noFill/>
            <a:miter lim="800000"/>
            <a:headEnd/>
            <a:tailEnd/>
          </a:ln>
        </p:spPr>
        <p:txBody>
          <a:bodyPr>
            <a:spAutoFit/>
          </a:bodyPr>
          <a:lstStyle/>
          <a:p>
            <a:pPr>
              <a:spcBef>
                <a:spcPct val="50000"/>
              </a:spcBef>
            </a:pPr>
            <a:r>
              <a:rPr kumimoji="0" lang="zh-CN" altLang="en-US" sz="2000" b="1" dirty="0">
                <a:solidFill>
                  <a:srgbClr val="000099"/>
                </a:solidFill>
                <a:latin typeface="Times New Roman" pitchFamily="18" charset="0"/>
                <a:ea typeface="楷体_GB2312" pitchFamily="49" charset="-122"/>
              </a:rPr>
              <a:t>截面积型差动变压器式传感器</a:t>
            </a:r>
          </a:p>
        </p:txBody>
      </p:sp>
      <p:graphicFrame>
        <p:nvGraphicFramePr>
          <p:cNvPr id="13" name="Object 15"/>
          <p:cNvGraphicFramePr>
            <a:graphicFrameLocks noChangeAspect="1"/>
          </p:cNvGraphicFramePr>
          <p:nvPr/>
        </p:nvGraphicFramePr>
        <p:xfrm>
          <a:off x="5072066" y="1643050"/>
          <a:ext cx="2971800" cy="2424112"/>
        </p:xfrm>
        <a:graphic>
          <a:graphicData uri="http://schemas.openxmlformats.org/presentationml/2006/ole">
            <p:oleObj spid="_x0000_s64515" name="Image" r:id="rId4" imgW="14987755" imgH="12225306" progId="">
              <p:embed/>
            </p:oleObj>
          </a:graphicData>
        </a:graphic>
      </p:graphicFrame>
      <p:sp>
        <p:nvSpPr>
          <p:cNvPr id="14" name="Text Box 17"/>
          <p:cNvSpPr txBox="1">
            <a:spLocks noChangeArrowheads="1"/>
          </p:cNvSpPr>
          <p:nvPr/>
        </p:nvSpPr>
        <p:spPr bwMode="auto">
          <a:xfrm>
            <a:off x="285720" y="4611231"/>
            <a:ext cx="8572560" cy="2246769"/>
          </a:xfrm>
          <a:prstGeom prst="rect">
            <a:avLst/>
          </a:prstGeom>
          <a:noFill/>
          <a:ln w="9525" algn="ctr">
            <a:noFill/>
            <a:miter lim="800000"/>
            <a:headEnd/>
            <a:tailEnd/>
          </a:ln>
        </p:spPr>
        <p:txBody>
          <a:bodyPr wrap="square">
            <a:spAutoFit/>
          </a:bodyPr>
          <a:lstStyle/>
          <a:p>
            <a:pPr indent="536575">
              <a:lnSpc>
                <a:spcPts val="3360"/>
              </a:lnSpc>
              <a:spcBef>
                <a:spcPct val="50000"/>
              </a:spcBef>
            </a:pPr>
            <a:r>
              <a:rPr lang="zh-CN" altLang="en-US" sz="2800" b="1" dirty="0" smtClean="0">
                <a:latin typeface="宋体" charset="-122"/>
                <a:ea typeface="宋体" charset="-122"/>
              </a:rPr>
              <a:t>衔铁初始位置，</a:t>
            </a:r>
            <a:r>
              <a:rPr lang="en-US" altLang="zh-CN" sz="2800" b="1" i="1" dirty="0" smtClean="0">
                <a:solidFill>
                  <a:srgbClr val="FF0000"/>
                </a:solidFill>
                <a:latin typeface="Times New Roman" pitchFamily="18" charset="0"/>
                <a:ea typeface="宋体" charset="-122"/>
                <a:cs typeface="Times New Roman" pitchFamily="18" charset="0"/>
              </a:rPr>
              <a:t>M</a:t>
            </a:r>
            <a:r>
              <a:rPr lang="en-US" altLang="zh-CN" sz="2800" b="1" i="1" baseline="-25000" dirty="0" smtClean="0">
                <a:solidFill>
                  <a:srgbClr val="FF0000"/>
                </a:solidFill>
                <a:latin typeface="Times New Roman" pitchFamily="18" charset="0"/>
                <a:ea typeface="宋体" charset="-122"/>
                <a:cs typeface="Times New Roman" pitchFamily="18" charset="0"/>
              </a:rPr>
              <a:t>a</a:t>
            </a:r>
            <a:r>
              <a:rPr lang="en-US" altLang="zh-CN" sz="2800" b="1" i="1" dirty="0" smtClean="0">
                <a:solidFill>
                  <a:srgbClr val="FF0000"/>
                </a:solidFill>
                <a:latin typeface="Times New Roman" pitchFamily="18" charset="0"/>
                <a:ea typeface="宋体" charset="-122"/>
                <a:cs typeface="Times New Roman" pitchFamily="18" charset="0"/>
              </a:rPr>
              <a:t>=M</a:t>
            </a:r>
            <a:r>
              <a:rPr lang="en-US" altLang="zh-CN" sz="2800" b="1" i="1" baseline="-25000" dirty="0" smtClean="0">
                <a:solidFill>
                  <a:srgbClr val="FF0000"/>
                </a:solidFill>
                <a:latin typeface="Times New Roman" pitchFamily="18" charset="0"/>
                <a:ea typeface="宋体" charset="-122"/>
                <a:cs typeface="Times New Roman" pitchFamily="18" charset="0"/>
              </a:rPr>
              <a:t>b</a:t>
            </a:r>
            <a:r>
              <a:rPr lang="zh-CN" altLang="en-US" sz="2800" b="1" dirty="0" smtClean="0">
                <a:latin typeface="宋体" charset="-122"/>
                <a:ea typeface="宋体" charset="-122"/>
              </a:rPr>
              <a:t>；</a:t>
            </a:r>
          </a:p>
          <a:p>
            <a:pPr indent="536575">
              <a:lnSpc>
                <a:spcPts val="3360"/>
              </a:lnSpc>
              <a:spcBef>
                <a:spcPct val="50000"/>
              </a:spcBef>
            </a:pPr>
            <a:r>
              <a:rPr lang="zh-CN" altLang="en-US" sz="2800" b="1" dirty="0" smtClean="0">
                <a:latin typeface="宋体" charset="-122"/>
                <a:ea typeface="宋体" charset="-122"/>
              </a:rPr>
              <a:t>一次绕组同名端顺向串联，并施加交流电压；</a:t>
            </a:r>
            <a:endParaRPr lang="en-US" altLang="zh-CN" sz="2800" b="1" dirty="0" smtClean="0">
              <a:latin typeface="宋体" charset="-122"/>
              <a:ea typeface="宋体" charset="-122"/>
            </a:endParaRPr>
          </a:p>
          <a:p>
            <a:pPr indent="536575">
              <a:lnSpc>
                <a:spcPts val="3360"/>
              </a:lnSpc>
              <a:spcBef>
                <a:spcPct val="50000"/>
              </a:spcBef>
            </a:pPr>
            <a:r>
              <a:rPr lang="zh-CN" altLang="en-US" sz="2800" b="1" dirty="0" smtClean="0">
                <a:latin typeface="宋体" charset="-122"/>
                <a:ea typeface="宋体" charset="-122"/>
              </a:rPr>
              <a:t>二次绕组同名端反向串联，合成电动势可以得到位移大小和方向。</a:t>
            </a:r>
            <a:endParaRPr lang="en-US" altLang="zh-CN" sz="2800" b="1" dirty="0" smtClean="0">
              <a:latin typeface="宋体" charset="-122"/>
              <a:ea typeface="宋体" charset="-122"/>
            </a:endParaRPr>
          </a:p>
        </p:txBody>
      </p:sp>
      <p:grpSp>
        <p:nvGrpSpPr>
          <p:cNvPr id="39" name="组合 38"/>
          <p:cNvGrpSpPr/>
          <p:nvPr/>
        </p:nvGrpSpPr>
        <p:grpSpPr>
          <a:xfrm>
            <a:off x="642910" y="1714488"/>
            <a:ext cx="1785950" cy="2000264"/>
            <a:chOff x="642910" y="1714488"/>
            <a:chExt cx="1785950" cy="2000264"/>
          </a:xfrm>
        </p:grpSpPr>
        <p:sp>
          <p:nvSpPr>
            <p:cNvPr id="16" name="矩形 15"/>
            <p:cNvSpPr/>
            <p:nvPr/>
          </p:nvSpPr>
          <p:spPr>
            <a:xfrm>
              <a:off x="642910" y="1714488"/>
              <a:ext cx="928694" cy="642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latin typeface="宋体" charset="-122"/>
                  <a:ea typeface="宋体" charset="-122"/>
                </a:rPr>
                <a:t>固定铁芯</a:t>
              </a:r>
              <a:endParaRPr lang="zh-CN" altLang="en-US" dirty="0">
                <a:solidFill>
                  <a:schemeClr val="tx1"/>
                </a:solidFill>
              </a:endParaRPr>
            </a:p>
          </p:txBody>
        </p:sp>
        <p:cxnSp>
          <p:nvCxnSpPr>
            <p:cNvPr id="18" name="直接箭头连接符 17"/>
            <p:cNvCxnSpPr>
              <a:stCxn id="16" idx="3"/>
            </p:cNvCxnSpPr>
            <p:nvPr/>
          </p:nvCxnSpPr>
          <p:spPr>
            <a:xfrm>
              <a:off x="1571604" y="2035959"/>
              <a:ext cx="857256" cy="678661"/>
            </a:xfrm>
            <a:prstGeom prst="straightConnector1">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rot="16200000" flipH="1">
              <a:off x="1178695" y="2464587"/>
              <a:ext cx="1643074" cy="857256"/>
            </a:xfrm>
            <a:prstGeom prst="straightConnector1">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500034" y="3143248"/>
            <a:ext cx="2357454" cy="714380"/>
            <a:chOff x="500034" y="3143248"/>
            <a:chExt cx="2357454" cy="714380"/>
          </a:xfrm>
        </p:grpSpPr>
        <p:sp>
          <p:nvSpPr>
            <p:cNvPr id="22" name="矩形 21"/>
            <p:cNvSpPr/>
            <p:nvPr/>
          </p:nvSpPr>
          <p:spPr>
            <a:xfrm>
              <a:off x="500034" y="3214686"/>
              <a:ext cx="928694" cy="642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latin typeface="宋体" charset="-122"/>
                  <a:ea typeface="宋体" charset="-122"/>
                </a:rPr>
                <a:t>衔铁</a:t>
              </a:r>
              <a:endParaRPr lang="zh-CN" altLang="en-US" dirty="0">
                <a:solidFill>
                  <a:schemeClr val="tx1"/>
                </a:solidFill>
              </a:endParaRPr>
            </a:p>
          </p:txBody>
        </p:sp>
        <p:cxnSp>
          <p:nvCxnSpPr>
            <p:cNvPr id="23" name="直接箭头连接符 22"/>
            <p:cNvCxnSpPr/>
            <p:nvPr/>
          </p:nvCxnSpPr>
          <p:spPr>
            <a:xfrm flipV="1">
              <a:off x="1357290" y="3143248"/>
              <a:ext cx="1500198" cy="357190"/>
            </a:xfrm>
            <a:prstGeom prst="straightConnector1">
              <a:avLst/>
            </a:prstGeom>
            <a:ln w="57150">
              <a:solidFill>
                <a:srgbClr val="0000C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1" name="组合 40"/>
          <p:cNvGrpSpPr/>
          <p:nvPr/>
        </p:nvGrpSpPr>
        <p:grpSpPr>
          <a:xfrm>
            <a:off x="2786050" y="1643050"/>
            <a:ext cx="2000264" cy="2000263"/>
            <a:chOff x="2786050" y="1643050"/>
            <a:chExt cx="2000264" cy="2000263"/>
          </a:xfrm>
        </p:grpSpPr>
        <p:sp>
          <p:nvSpPr>
            <p:cNvPr id="25" name="矩形 24"/>
            <p:cNvSpPr/>
            <p:nvPr/>
          </p:nvSpPr>
          <p:spPr>
            <a:xfrm>
              <a:off x="3857620" y="1643050"/>
              <a:ext cx="928694" cy="642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latin typeface="宋体" charset="-122"/>
                  <a:ea typeface="宋体" charset="-122"/>
                </a:rPr>
                <a:t>一次绕组</a:t>
              </a:r>
              <a:endParaRPr lang="zh-CN" altLang="en-US" dirty="0">
                <a:solidFill>
                  <a:schemeClr val="tx1"/>
                </a:solidFill>
              </a:endParaRPr>
            </a:p>
          </p:txBody>
        </p:sp>
        <p:cxnSp>
          <p:nvCxnSpPr>
            <p:cNvPr id="26" name="直接箭头连接符 25"/>
            <p:cNvCxnSpPr>
              <a:stCxn id="25" idx="1"/>
            </p:cNvCxnSpPr>
            <p:nvPr/>
          </p:nvCxnSpPr>
          <p:spPr>
            <a:xfrm rot="10800000" flipV="1">
              <a:off x="2857488" y="1964520"/>
              <a:ext cx="1000132" cy="750099"/>
            </a:xfrm>
            <a:prstGeom prst="straightConnector1">
              <a:avLst/>
            </a:prstGeom>
            <a:ln w="57150">
              <a:solidFill>
                <a:srgbClr val="0000C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25" idx="1"/>
            </p:cNvCxnSpPr>
            <p:nvPr/>
          </p:nvCxnSpPr>
          <p:spPr>
            <a:xfrm rot="10800000" flipV="1">
              <a:off x="2786050" y="1964520"/>
              <a:ext cx="1071570" cy="1678793"/>
            </a:xfrm>
            <a:prstGeom prst="straightConnector1">
              <a:avLst/>
            </a:prstGeom>
            <a:ln w="57150">
              <a:solidFill>
                <a:srgbClr val="0000C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3571868" y="2714621"/>
            <a:ext cx="1714512" cy="857254"/>
            <a:chOff x="3571868" y="2714621"/>
            <a:chExt cx="1714512" cy="857254"/>
          </a:xfrm>
        </p:grpSpPr>
        <p:sp>
          <p:nvSpPr>
            <p:cNvPr id="32" name="矩形 31"/>
            <p:cNvSpPr/>
            <p:nvPr/>
          </p:nvSpPr>
          <p:spPr>
            <a:xfrm>
              <a:off x="4357686" y="2857496"/>
              <a:ext cx="928694" cy="642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latin typeface="宋体" charset="-122"/>
                  <a:ea typeface="宋体" charset="-122"/>
                </a:rPr>
                <a:t>二次绕组</a:t>
              </a:r>
              <a:endParaRPr lang="zh-CN" altLang="en-US" dirty="0">
                <a:solidFill>
                  <a:schemeClr val="tx1"/>
                </a:solidFill>
              </a:endParaRPr>
            </a:p>
          </p:txBody>
        </p:sp>
        <p:cxnSp>
          <p:nvCxnSpPr>
            <p:cNvPr id="33" name="直接箭头连接符 32"/>
            <p:cNvCxnSpPr>
              <a:stCxn id="32" idx="1"/>
            </p:cNvCxnSpPr>
            <p:nvPr/>
          </p:nvCxnSpPr>
          <p:spPr>
            <a:xfrm rot="10800000" flipV="1">
              <a:off x="3643306" y="3178966"/>
              <a:ext cx="714380" cy="392909"/>
            </a:xfrm>
            <a:prstGeom prst="straightConnector1">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32" idx="1"/>
            </p:cNvCxnSpPr>
            <p:nvPr/>
          </p:nvCxnSpPr>
          <p:spPr>
            <a:xfrm rot="10800000">
              <a:off x="3571868" y="2714621"/>
              <a:ext cx="785818" cy="464347"/>
            </a:xfrm>
            <a:prstGeom prst="straightConnector1">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xit" presetSubtype="16" fill="hold" nodeType="clickEffect">
                                  <p:stCondLst>
                                    <p:cond delay="0"/>
                                  </p:stCondLst>
                                  <p:childTnLst>
                                    <p:animEffect transition="out" filter="diamond(in)">
                                      <p:cBhvr>
                                        <p:cTn id="6" dur="2000"/>
                                        <p:tgtEl>
                                          <p:spTgt spid="39"/>
                                        </p:tgtEl>
                                      </p:cBhvr>
                                    </p:animEffect>
                                    <p:set>
                                      <p:cBhvr>
                                        <p:cTn id="7" dur="1" fill="hold">
                                          <p:stCondLst>
                                            <p:cond delay="1999"/>
                                          </p:stCondLst>
                                        </p:cTn>
                                        <p:tgtEl>
                                          <p:spTgt spid="3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blinds(horizontal)">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xit" presetSubtype="8" fill="hold" nodeType="clickEffect">
                                  <p:stCondLst>
                                    <p:cond delay="0"/>
                                  </p:stCondLst>
                                  <p:childTnLst>
                                    <p:anim calcmode="lin" valueType="num">
                                      <p:cBhvr additive="base">
                                        <p:cTn id="16" dur="500"/>
                                        <p:tgtEl>
                                          <p:spTgt spid="40"/>
                                        </p:tgtEl>
                                        <p:attrNameLst>
                                          <p:attrName>ppt_x</p:attrName>
                                        </p:attrNameLst>
                                      </p:cBhvr>
                                      <p:tavLst>
                                        <p:tav tm="0">
                                          <p:val>
                                            <p:strVal val="ppt_x"/>
                                          </p:val>
                                        </p:tav>
                                        <p:tav tm="100000">
                                          <p:val>
                                            <p:strVal val="0-ppt_w/2"/>
                                          </p:val>
                                        </p:tav>
                                      </p:tavLst>
                                    </p:anim>
                                    <p:anim calcmode="lin" valueType="num">
                                      <p:cBhvr additive="base">
                                        <p:cTn id="17" dur="500"/>
                                        <p:tgtEl>
                                          <p:spTgt spid="40"/>
                                        </p:tgtEl>
                                        <p:attrNameLst>
                                          <p:attrName>ppt_y</p:attrName>
                                        </p:attrNameLst>
                                      </p:cBhvr>
                                      <p:tavLst>
                                        <p:tav tm="0">
                                          <p:val>
                                            <p:strVal val="ppt_y"/>
                                          </p:val>
                                        </p:tav>
                                        <p:tav tm="100000">
                                          <p:val>
                                            <p:strVal val="ppt_y"/>
                                          </p:val>
                                        </p:tav>
                                      </p:tavLst>
                                    </p:anim>
                                    <p:set>
                                      <p:cBhvr>
                                        <p:cTn id="18" dur="1" fill="hold">
                                          <p:stCondLst>
                                            <p:cond delay="499"/>
                                          </p:stCondLst>
                                        </p:cTn>
                                        <p:tgtEl>
                                          <p:spTgt spid="4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blinds(horizontal)">
                                      <p:cBhvr>
                                        <p:cTn id="23" dur="500"/>
                                        <p:tgtEl>
                                          <p:spTgt spid="41"/>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nodeType="clickEffect">
                                  <p:stCondLst>
                                    <p:cond delay="0"/>
                                  </p:stCondLst>
                                  <p:childTnLst>
                                    <p:animEffect transition="out" filter="blinds(horizontal)">
                                      <p:cBhvr>
                                        <p:cTn id="27" dur="500"/>
                                        <p:tgtEl>
                                          <p:spTgt spid="41"/>
                                        </p:tgtEl>
                                      </p:cBhvr>
                                    </p:animEffect>
                                    <p:set>
                                      <p:cBhvr>
                                        <p:cTn id="28" dur="1" fill="hold">
                                          <p:stCondLst>
                                            <p:cond delay="499"/>
                                          </p:stCondLst>
                                        </p:cTn>
                                        <p:tgtEl>
                                          <p:spTgt spid="41"/>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blinds(horizontal)">
                                      <p:cBhvr>
                                        <p:cTn id="33" dur="500"/>
                                        <p:tgtEl>
                                          <p:spTgt spid="42"/>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xit" presetSubtype="10" fill="hold" nodeType="clickEffect">
                                  <p:stCondLst>
                                    <p:cond delay="0"/>
                                  </p:stCondLst>
                                  <p:childTnLst>
                                    <p:animEffect transition="out" filter="blinds(horizontal)">
                                      <p:cBhvr>
                                        <p:cTn id="37" dur="500"/>
                                        <p:tgtEl>
                                          <p:spTgt spid="42"/>
                                        </p:tgtEl>
                                      </p:cBhvr>
                                    </p:animEffect>
                                    <p:set>
                                      <p:cBhvr>
                                        <p:cTn id="38" dur="1" fill="hold">
                                          <p:stCondLst>
                                            <p:cond delay="499"/>
                                          </p:stCondLst>
                                        </p:cTn>
                                        <p:tgtEl>
                                          <p:spTgt spid="4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4">
                                            <p:txEl>
                                              <p:pRg st="0" end="0"/>
                                            </p:txEl>
                                          </p:spTgt>
                                        </p:tgtEl>
                                        <p:attrNameLst>
                                          <p:attrName>style.visibility</p:attrName>
                                        </p:attrNameLst>
                                      </p:cBhvr>
                                      <p:to>
                                        <p:strVal val="visible"/>
                                      </p:to>
                                    </p:set>
                                    <p:animEffect transition="in" filter="blinds(horizontal)">
                                      <p:cBhvr>
                                        <p:cTn id="43" dur="500"/>
                                        <p:tgtEl>
                                          <p:spTgt spid="14">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4">
                                            <p:txEl>
                                              <p:pRg st="1" end="1"/>
                                            </p:txEl>
                                          </p:spTgt>
                                        </p:tgtEl>
                                        <p:attrNameLst>
                                          <p:attrName>style.visibility</p:attrName>
                                        </p:attrNameLst>
                                      </p:cBhvr>
                                      <p:to>
                                        <p:strVal val="visible"/>
                                      </p:to>
                                    </p:set>
                                    <p:animEffect transition="in" filter="blinds(horizontal)">
                                      <p:cBhvr>
                                        <p:cTn id="48" dur="500"/>
                                        <p:tgtEl>
                                          <p:spTgt spid="14">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4">
                                            <p:txEl>
                                              <p:pRg st="2" end="2"/>
                                            </p:txEl>
                                          </p:spTgt>
                                        </p:tgtEl>
                                        <p:attrNameLst>
                                          <p:attrName>style.visibility</p:attrName>
                                        </p:attrNameLst>
                                      </p:cBhvr>
                                      <p:to>
                                        <p:strVal val="visible"/>
                                      </p:to>
                                    </p:set>
                                    <p:animEffect transition="in" filter="blinds(horizontal)">
                                      <p:cBhvr>
                                        <p:cTn id="53"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4.2 </a:t>
            </a:r>
            <a:r>
              <a:rPr lang="zh-CN" altLang="en-US" sz="3600" b="1" dirty="0" smtClean="0">
                <a:solidFill>
                  <a:schemeClr val="tx2"/>
                </a:solidFill>
                <a:latin typeface="黑体" pitchFamily="2" charset="-122"/>
                <a:ea typeface="黑体" pitchFamily="2" charset="-122"/>
              </a:rPr>
              <a:t>变压器式传感器</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0" name="Rectangle 15"/>
          <p:cNvSpPr txBox="1">
            <a:spLocks noChangeArrowheads="1"/>
          </p:cNvSpPr>
          <p:nvPr/>
        </p:nvSpPr>
        <p:spPr bwMode="auto">
          <a:xfrm>
            <a:off x="357158" y="1571612"/>
            <a:ext cx="7885112" cy="571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CC0066"/>
                </a:solidFill>
                <a:effectLst/>
                <a:uLnTx/>
                <a:uFillTx/>
                <a:latin typeface="+mj-lt"/>
                <a:ea typeface="+mj-ea"/>
                <a:cs typeface="+mj-cs"/>
              </a:rPr>
              <a:t>等效电路及特性</a:t>
            </a:r>
          </a:p>
        </p:txBody>
      </p:sp>
      <p:sp>
        <p:nvSpPr>
          <p:cNvPr id="11" name="Text Box 17"/>
          <p:cNvSpPr txBox="1">
            <a:spLocks noChangeArrowheads="1"/>
          </p:cNvSpPr>
          <p:nvPr/>
        </p:nvSpPr>
        <p:spPr bwMode="auto">
          <a:xfrm>
            <a:off x="285720" y="2071678"/>
            <a:ext cx="8243887" cy="1384995"/>
          </a:xfrm>
          <a:prstGeom prst="rect">
            <a:avLst/>
          </a:prstGeom>
          <a:noFill/>
          <a:ln w="9525" algn="ctr">
            <a:noFill/>
            <a:miter lim="800000"/>
            <a:headEnd/>
            <a:tailEnd/>
          </a:ln>
        </p:spPr>
        <p:txBody>
          <a:bodyPr>
            <a:spAutoFit/>
          </a:bodyPr>
          <a:lstStyle/>
          <a:p>
            <a:pPr indent="449263">
              <a:spcBef>
                <a:spcPct val="50000"/>
              </a:spcBef>
            </a:pPr>
            <a:r>
              <a:rPr lang="zh-CN" altLang="en-US" sz="2800" b="1" dirty="0">
                <a:latin typeface="宋体" charset="-122"/>
                <a:ea typeface="宋体" charset="-122"/>
              </a:rPr>
              <a:t>假定传感器副端开路</a:t>
            </a:r>
            <a:r>
              <a:rPr lang="en-US" altLang="zh-CN" sz="2800" b="1" dirty="0">
                <a:latin typeface="宋体" charset="-122"/>
                <a:ea typeface="宋体" charset="-122"/>
              </a:rPr>
              <a:t>(</a:t>
            </a:r>
            <a:r>
              <a:rPr lang="zh-CN" altLang="en-US" sz="2800" b="1" dirty="0">
                <a:latin typeface="宋体" charset="-122"/>
                <a:ea typeface="宋体" charset="-122"/>
              </a:rPr>
              <a:t>或负载阻值足够大</a:t>
            </a:r>
            <a:r>
              <a:rPr lang="en-US" altLang="zh-CN" sz="2800" b="1" dirty="0">
                <a:latin typeface="宋体" charset="-122"/>
                <a:ea typeface="宋体" charset="-122"/>
              </a:rPr>
              <a:t>)</a:t>
            </a:r>
            <a:r>
              <a:rPr lang="zh-CN" altLang="en-US" sz="2800" b="1" dirty="0">
                <a:latin typeface="宋体" charset="-122"/>
                <a:ea typeface="宋体" charset="-122"/>
              </a:rPr>
              <a:t>，且不考虑铁损</a:t>
            </a:r>
            <a:r>
              <a:rPr lang="en-US" altLang="zh-CN" sz="2800" b="1" dirty="0" smtClean="0">
                <a:latin typeface="宋体" charset="-122"/>
                <a:ea typeface="宋体" charset="-122"/>
              </a:rPr>
              <a:t>(</a:t>
            </a:r>
            <a:r>
              <a:rPr lang="zh-CN" altLang="en-US" sz="2800" b="1" dirty="0" smtClean="0">
                <a:latin typeface="宋体" charset="-122"/>
                <a:ea typeface="宋体" charset="-122"/>
              </a:rPr>
              <a:t>涡流、磁滞损耗</a:t>
            </a:r>
            <a:r>
              <a:rPr lang="en-US" altLang="zh-CN" sz="2800" b="1" dirty="0" smtClean="0">
                <a:latin typeface="宋体" charset="-122"/>
                <a:ea typeface="宋体" charset="-122"/>
              </a:rPr>
              <a:t>)</a:t>
            </a:r>
            <a:r>
              <a:rPr lang="zh-CN" altLang="en-US" sz="2800" b="1" dirty="0" smtClean="0">
                <a:latin typeface="宋体" charset="-122"/>
                <a:ea typeface="宋体" charset="-122"/>
              </a:rPr>
              <a:t>，二次绕组</a:t>
            </a:r>
            <a:r>
              <a:rPr lang="zh-CN" altLang="en-US" sz="2800" b="1" dirty="0">
                <a:latin typeface="宋体" charset="-122"/>
                <a:ea typeface="宋体" charset="-122"/>
              </a:rPr>
              <a:t>中产生的感生电动势为：</a:t>
            </a:r>
          </a:p>
        </p:txBody>
      </p:sp>
      <p:pic>
        <p:nvPicPr>
          <p:cNvPr id="49156" name="Picture 4"/>
          <p:cNvPicPr>
            <a:picLocks noChangeAspect="1" noChangeArrowheads="1"/>
          </p:cNvPicPr>
          <p:nvPr/>
        </p:nvPicPr>
        <p:blipFill>
          <a:blip r:embed="rId3"/>
          <a:srcRect/>
          <a:stretch>
            <a:fillRect/>
          </a:stretch>
        </p:blipFill>
        <p:spPr bwMode="auto">
          <a:xfrm>
            <a:off x="6215074" y="3071810"/>
            <a:ext cx="2428860" cy="2639583"/>
          </a:xfrm>
          <a:prstGeom prst="rect">
            <a:avLst/>
          </a:prstGeom>
          <a:noFill/>
          <a:ln w="9525">
            <a:noFill/>
            <a:miter lim="800000"/>
            <a:headEnd/>
            <a:tailEnd/>
          </a:ln>
          <a:effectLst/>
        </p:spPr>
      </p:pic>
      <p:graphicFrame>
        <p:nvGraphicFramePr>
          <p:cNvPr id="49157" name="Object 6"/>
          <p:cNvGraphicFramePr>
            <a:graphicFrameLocks noChangeAspect="1"/>
          </p:cNvGraphicFramePr>
          <p:nvPr/>
        </p:nvGraphicFramePr>
        <p:xfrm>
          <a:off x="1285852" y="3428999"/>
          <a:ext cx="4704728" cy="488469"/>
        </p:xfrm>
        <a:graphic>
          <a:graphicData uri="http://schemas.openxmlformats.org/presentationml/2006/ole">
            <p:oleObj spid="_x0000_s49157" name="图像文档" r:id="rId4" imgW="3486240" imgH="361800" progId="">
              <p:embed/>
            </p:oleObj>
          </a:graphicData>
        </a:graphic>
      </p:graphicFrame>
      <p:graphicFrame>
        <p:nvGraphicFramePr>
          <p:cNvPr id="49158" name="Object 7"/>
          <p:cNvGraphicFramePr>
            <a:graphicFrameLocks noChangeAspect="1"/>
          </p:cNvGraphicFramePr>
          <p:nvPr/>
        </p:nvGraphicFramePr>
        <p:xfrm>
          <a:off x="1785918" y="3857628"/>
          <a:ext cx="3920610" cy="925521"/>
        </p:xfrm>
        <a:graphic>
          <a:graphicData uri="http://schemas.openxmlformats.org/presentationml/2006/ole">
            <p:oleObj spid="_x0000_s49158" name="图像文档" r:id="rId5" imgW="2905200" imgH="609480" progId="">
              <p:embed/>
            </p:oleObj>
          </a:graphicData>
        </a:graphic>
      </p:graphicFrame>
      <p:grpSp>
        <p:nvGrpSpPr>
          <p:cNvPr id="21" name="组合 20"/>
          <p:cNvGrpSpPr/>
          <p:nvPr/>
        </p:nvGrpSpPr>
        <p:grpSpPr>
          <a:xfrm>
            <a:off x="1428728" y="5915025"/>
            <a:ext cx="3429024" cy="942975"/>
            <a:chOff x="1428728" y="5915025"/>
            <a:chExt cx="3429024" cy="942975"/>
          </a:xfrm>
        </p:grpSpPr>
        <p:sp>
          <p:nvSpPr>
            <p:cNvPr id="20" name="圆角矩形 19"/>
            <p:cNvSpPr/>
            <p:nvPr/>
          </p:nvSpPr>
          <p:spPr>
            <a:xfrm>
              <a:off x="1428728" y="5929330"/>
              <a:ext cx="3429024" cy="928670"/>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9160" name="Object 11"/>
            <p:cNvGraphicFramePr>
              <a:graphicFrameLocks noChangeAspect="1"/>
            </p:cNvGraphicFramePr>
            <p:nvPr/>
          </p:nvGraphicFramePr>
          <p:xfrm>
            <a:off x="1571604" y="6143644"/>
            <a:ext cx="542925" cy="314325"/>
          </p:xfrm>
          <a:graphic>
            <a:graphicData uri="http://schemas.openxmlformats.org/presentationml/2006/ole">
              <p:oleObj spid="_x0000_s49160" name="图像文档" r:id="rId6" imgW="542880" imgH="314280" progId="">
                <p:embed/>
              </p:oleObj>
            </a:graphicData>
          </a:graphic>
        </p:graphicFrame>
        <p:graphicFrame>
          <p:nvGraphicFramePr>
            <p:cNvPr id="49161" name="Object 12"/>
            <p:cNvGraphicFramePr>
              <a:graphicFrameLocks noChangeAspect="1"/>
            </p:cNvGraphicFramePr>
            <p:nvPr/>
          </p:nvGraphicFramePr>
          <p:xfrm>
            <a:off x="2133600" y="5915025"/>
            <a:ext cx="2466975" cy="942975"/>
          </p:xfrm>
          <a:graphic>
            <a:graphicData uri="http://schemas.openxmlformats.org/presentationml/2006/ole">
              <p:oleObj spid="_x0000_s49161" name="图像文档" r:id="rId7" imgW="2467080" imgH="942840" progId="">
                <p:embed/>
              </p:oleObj>
            </a:graphicData>
          </a:graphic>
        </p:graphicFrame>
      </p:grpSp>
      <p:grpSp>
        <p:nvGrpSpPr>
          <p:cNvPr id="23" name="组合 22"/>
          <p:cNvGrpSpPr/>
          <p:nvPr/>
        </p:nvGrpSpPr>
        <p:grpSpPr>
          <a:xfrm>
            <a:off x="928662" y="4857760"/>
            <a:ext cx="4348188" cy="647690"/>
            <a:chOff x="928662" y="4857760"/>
            <a:chExt cx="4348188" cy="647690"/>
          </a:xfrm>
        </p:grpSpPr>
        <p:graphicFrame>
          <p:nvGraphicFramePr>
            <p:cNvPr id="49159" name="Object 8"/>
            <p:cNvGraphicFramePr>
              <a:graphicFrameLocks noChangeAspect="1"/>
            </p:cNvGraphicFramePr>
            <p:nvPr/>
          </p:nvGraphicFramePr>
          <p:xfrm>
            <a:off x="2133600" y="4876800"/>
            <a:ext cx="3143250" cy="628650"/>
          </p:xfrm>
          <a:graphic>
            <a:graphicData uri="http://schemas.openxmlformats.org/presentationml/2006/ole">
              <p:oleObj spid="_x0000_s49159" name="图像文档" r:id="rId8" imgW="3143160" imgH="628560" progId="">
                <p:embed/>
              </p:oleObj>
            </a:graphicData>
          </a:graphic>
        </p:graphicFrame>
        <p:sp>
          <p:nvSpPr>
            <p:cNvPr id="18" name="Text Box 9"/>
            <p:cNvSpPr txBox="1">
              <a:spLocks noChangeArrowheads="1"/>
            </p:cNvSpPr>
            <p:nvPr/>
          </p:nvSpPr>
          <p:spPr bwMode="auto">
            <a:xfrm>
              <a:off x="928662" y="4857760"/>
              <a:ext cx="1143008" cy="523220"/>
            </a:xfrm>
            <a:prstGeom prst="rect">
              <a:avLst/>
            </a:prstGeom>
            <a:noFill/>
            <a:ln w="9525">
              <a:noFill/>
              <a:miter lim="800000"/>
              <a:headEnd/>
              <a:tailEnd/>
            </a:ln>
          </p:spPr>
          <p:txBody>
            <a:bodyPr wrap="square">
              <a:spAutoFit/>
            </a:bodyPr>
            <a:lstStyle/>
            <a:p>
              <a:pPr>
                <a:spcBef>
                  <a:spcPct val="50000"/>
                </a:spcBef>
              </a:pPr>
              <a:r>
                <a:rPr lang="zh-CN" altLang="en-US" sz="2800" b="1" dirty="0">
                  <a:latin typeface="Verdana" pitchFamily="34" charset="0"/>
                  <a:ea typeface="宋体" charset="-122"/>
                </a:rPr>
                <a:t>因为</a:t>
              </a:r>
            </a:p>
          </p:txBody>
        </p:sp>
      </p:grpSp>
      <p:sp>
        <p:nvSpPr>
          <p:cNvPr id="19" name="Text Box 10"/>
          <p:cNvSpPr txBox="1">
            <a:spLocks noChangeArrowheads="1"/>
          </p:cNvSpPr>
          <p:nvPr/>
        </p:nvSpPr>
        <p:spPr bwMode="auto">
          <a:xfrm>
            <a:off x="285720" y="5429264"/>
            <a:ext cx="5224463" cy="523220"/>
          </a:xfrm>
          <a:prstGeom prst="rect">
            <a:avLst/>
          </a:prstGeom>
          <a:noFill/>
          <a:ln w="9525">
            <a:noFill/>
            <a:miter lim="800000"/>
            <a:headEnd/>
            <a:tailEnd/>
          </a:ln>
        </p:spPr>
        <p:txBody>
          <a:bodyPr>
            <a:spAutoFit/>
          </a:bodyPr>
          <a:lstStyle/>
          <a:p>
            <a:pPr>
              <a:spcBef>
                <a:spcPct val="50000"/>
              </a:spcBef>
            </a:pPr>
            <a:r>
              <a:rPr lang="zh-CN" altLang="en-US" sz="2800" b="1" dirty="0">
                <a:latin typeface="Verdana" pitchFamily="34" charset="0"/>
                <a:ea typeface="宋体" charset="-122"/>
              </a:rPr>
              <a:t>保证两绕组对称，可以推得：</a:t>
            </a:r>
          </a:p>
        </p:txBody>
      </p:sp>
      <p:graphicFrame>
        <p:nvGraphicFramePr>
          <p:cNvPr id="2" name="Object 9"/>
          <p:cNvGraphicFramePr>
            <a:graphicFrameLocks noGrp="1" noChangeAspect="1"/>
          </p:cNvGraphicFramePr>
          <p:nvPr/>
        </p:nvGraphicFramePr>
        <p:xfrm>
          <a:off x="5214942" y="5786454"/>
          <a:ext cx="1314450" cy="879475"/>
        </p:xfrm>
        <a:graphic>
          <a:graphicData uri="http://schemas.openxmlformats.org/presentationml/2006/ole">
            <p:oleObj spid="_x0000_s49162" name="Equation" r:id="rId9" imgW="647640" imgH="431640" progId="Equation.3">
              <p:embed/>
            </p:oleObj>
          </a:graphicData>
        </a:graphic>
      </p:graphicFrame>
      <p:graphicFrame>
        <p:nvGraphicFramePr>
          <p:cNvPr id="3" name="Object 9"/>
          <p:cNvGraphicFramePr>
            <a:graphicFrameLocks noGrp="1" noChangeAspect="1"/>
          </p:cNvGraphicFramePr>
          <p:nvPr/>
        </p:nvGraphicFramePr>
        <p:xfrm>
          <a:off x="6715140" y="5715016"/>
          <a:ext cx="2087563" cy="930275"/>
        </p:xfrm>
        <a:graphic>
          <a:graphicData uri="http://schemas.openxmlformats.org/presentationml/2006/ole">
            <p:oleObj spid="_x0000_s49163" name="Equation" r:id="rId10" imgW="1028520" imgH="4572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linds(horizontal)">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cTn>
                              </p:par>
                              <p:par>
                                <p:cTn id="28" presetID="3" presetClass="entr" presetSubtype="1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blinds(horizontal)">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4.2 </a:t>
            </a:r>
            <a:r>
              <a:rPr lang="zh-CN" altLang="en-US" sz="3600" b="1" dirty="0" smtClean="0">
                <a:solidFill>
                  <a:schemeClr val="tx2"/>
                </a:solidFill>
                <a:latin typeface="黑体" pitchFamily="2" charset="-122"/>
                <a:ea typeface="黑体" pitchFamily="2" charset="-122"/>
              </a:rPr>
              <a:t>变压器式传感器</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0" name="Rectangle 15"/>
          <p:cNvSpPr txBox="1">
            <a:spLocks noChangeArrowheads="1"/>
          </p:cNvSpPr>
          <p:nvPr/>
        </p:nvSpPr>
        <p:spPr bwMode="auto">
          <a:xfrm>
            <a:off x="714348" y="1571612"/>
            <a:ext cx="7527922" cy="571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 typeface="Wingdings" pitchFamily="2" charset="2"/>
              <a:buChar char="u"/>
              <a:tabLst/>
              <a:defRPr/>
            </a:pPr>
            <a:r>
              <a:rPr kumimoji="0" lang="zh-CN" altLang="en-US" sz="2800" b="1" i="0" u="none" strike="noStrike" kern="1200" cap="none" spc="0" normalizeH="0" baseline="0" noProof="0" dirty="0" smtClean="0">
                <a:ln>
                  <a:noFill/>
                </a:ln>
                <a:effectLst/>
                <a:uLnTx/>
                <a:uFillTx/>
                <a:latin typeface="+mj-lt"/>
                <a:ea typeface="+mj-ea"/>
                <a:cs typeface="+mj-cs"/>
              </a:rPr>
              <a:t> 幅频特性</a:t>
            </a:r>
          </a:p>
        </p:txBody>
      </p:sp>
      <p:graphicFrame>
        <p:nvGraphicFramePr>
          <p:cNvPr id="65545" name="Object 5"/>
          <p:cNvGraphicFramePr>
            <a:graphicFrameLocks noChangeAspect="1"/>
          </p:cNvGraphicFramePr>
          <p:nvPr/>
        </p:nvGraphicFramePr>
        <p:xfrm>
          <a:off x="2786050" y="2143116"/>
          <a:ext cx="3086100" cy="895350"/>
        </p:xfrm>
        <a:graphic>
          <a:graphicData uri="http://schemas.openxmlformats.org/presentationml/2006/ole">
            <p:oleObj spid="_x0000_s65545" name="图像文档" r:id="rId3" imgW="3086280" imgH="895320" progId="">
              <p:embed/>
            </p:oleObj>
          </a:graphicData>
        </a:graphic>
      </p:graphicFrame>
      <p:sp>
        <p:nvSpPr>
          <p:cNvPr id="21" name="Rectangle 15"/>
          <p:cNvSpPr txBox="1">
            <a:spLocks noChangeArrowheads="1"/>
          </p:cNvSpPr>
          <p:nvPr/>
        </p:nvSpPr>
        <p:spPr bwMode="auto">
          <a:xfrm>
            <a:off x="642910" y="3071810"/>
            <a:ext cx="7527922" cy="571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 typeface="Wingdings" pitchFamily="2" charset="2"/>
              <a:buChar char="u"/>
              <a:tabLst/>
              <a:defRPr/>
            </a:pPr>
            <a:r>
              <a:rPr kumimoji="0" lang="zh-CN" altLang="en-US" sz="2800" b="1" i="0" u="none" strike="noStrike" kern="1200" cap="none" spc="0" normalizeH="0" baseline="0" noProof="0" dirty="0" smtClean="0">
                <a:ln>
                  <a:noFill/>
                </a:ln>
                <a:effectLst/>
                <a:uLnTx/>
                <a:uFillTx/>
                <a:latin typeface="+mj-lt"/>
                <a:ea typeface="+mj-ea"/>
                <a:cs typeface="+mj-cs"/>
              </a:rPr>
              <a:t> 相频特性</a:t>
            </a:r>
          </a:p>
        </p:txBody>
      </p:sp>
      <p:grpSp>
        <p:nvGrpSpPr>
          <p:cNvPr id="13" name="组合 12"/>
          <p:cNvGrpSpPr/>
          <p:nvPr/>
        </p:nvGrpSpPr>
        <p:grpSpPr>
          <a:xfrm>
            <a:off x="2714612" y="3571876"/>
            <a:ext cx="2900363" cy="514350"/>
            <a:chOff x="2714612" y="3571876"/>
            <a:chExt cx="2900363" cy="514350"/>
          </a:xfrm>
        </p:grpSpPr>
        <p:graphicFrame>
          <p:nvGraphicFramePr>
            <p:cNvPr id="65546" name="Object 7"/>
            <p:cNvGraphicFramePr>
              <a:graphicFrameLocks noChangeAspect="1"/>
            </p:cNvGraphicFramePr>
            <p:nvPr/>
          </p:nvGraphicFramePr>
          <p:xfrm>
            <a:off x="2786050" y="3571876"/>
            <a:ext cx="2828925" cy="514350"/>
          </p:xfrm>
          <a:graphic>
            <a:graphicData uri="http://schemas.openxmlformats.org/presentationml/2006/ole">
              <p:oleObj spid="_x0000_s65546" name="图像文档" r:id="rId4" imgW="2828880" imgH="514440" progId="">
                <p:embed/>
              </p:oleObj>
            </a:graphicData>
          </a:graphic>
        </p:graphicFrame>
        <p:sp>
          <p:nvSpPr>
            <p:cNvPr id="22" name="TextBox 21"/>
            <p:cNvSpPr txBox="1"/>
            <p:nvPr/>
          </p:nvSpPr>
          <p:spPr>
            <a:xfrm>
              <a:off x="2714612" y="3571876"/>
              <a:ext cx="357190" cy="400110"/>
            </a:xfrm>
            <a:prstGeom prst="rect">
              <a:avLst/>
            </a:prstGeom>
            <a:solidFill>
              <a:schemeClr val="bg1">
                <a:lumMod val="95000"/>
              </a:schemeClr>
            </a:solidFill>
          </p:spPr>
          <p:txBody>
            <a:bodyPr wrap="square" rtlCol="0">
              <a:spAutoFit/>
            </a:bodyPr>
            <a:lstStyle/>
            <a:p>
              <a:r>
                <a:rPr lang="el-GR" altLang="zh-CN" dirty="0" smtClean="0"/>
                <a:t>φ</a:t>
              </a:r>
              <a:endParaRPr lang="zh-CN" altLang="en-US" dirty="0"/>
            </a:p>
          </p:txBody>
        </p:sp>
      </p:grpSp>
      <p:sp>
        <p:nvSpPr>
          <p:cNvPr id="23" name="圆角矩形标注 22"/>
          <p:cNvSpPr/>
          <p:nvPr/>
        </p:nvSpPr>
        <p:spPr>
          <a:xfrm>
            <a:off x="6000760" y="2071678"/>
            <a:ext cx="2928958" cy="1928826"/>
          </a:xfrm>
          <a:prstGeom prst="wedgeRoundRectCallout">
            <a:avLst>
              <a:gd name="adj1" fmla="val -66977"/>
              <a:gd name="adj2" fmla="val 33075"/>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41325">
              <a:spcBef>
                <a:spcPct val="50000"/>
              </a:spcBef>
            </a:pPr>
            <a:r>
              <a:rPr lang="zh-CN" altLang="en-US" b="1" dirty="0" smtClean="0">
                <a:solidFill>
                  <a:schemeClr val="tx1"/>
                </a:solidFill>
                <a:latin typeface="Verdana" pitchFamily="34" charset="0"/>
                <a:ea typeface="宋体" charset="-122"/>
              </a:rPr>
              <a:t>只有在一次侧线圈有功损耗电阻为零的情况下，输出信号才与输入信号同相</a:t>
            </a:r>
            <a:r>
              <a:rPr lang="en-US" altLang="zh-CN" b="1" dirty="0" smtClean="0">
                <a:solidFill>
                  <a:schemeClr val="tx1"/>
                </a:solidFill>
                <a:latin typeface="Verdana" pitchFamily="34" charset="0"/>
                <a:ea typeface="宋体" charset="-122"/>
              </a:rPr>
              <a:t>(</a:t>
            </a:r>
            <a:r>
              <a:rPr lang="zh-CN" altLang="en-US" b="1" dirty="0" smtClean="0">
                <a:solidFill>
                  <a:schemeClr val="tx1"/>
                </a:solidFill>
                <a:latin typeface="Verdana" pitchFamily="34" charset="0"/>
                <a:ea typeface="宋体" charset="-122"/>
              </a:rPr>
              <a:t>或反相</a:t>
            </a:r>
            <a:r>
              <a:rPr lang="en-US" altLang="zh-CN" b="1" dirty="0" smtClean="0">
                <a:solidFill>
                  <a:schemeClr val="tx1"/>
                </a:solidFill>
                <a:latin typeface="Verdana" pitchFamily="34" charset="0"/>
                <a:ea typeface="宋体" charset="-122"/>
              </a:rPr>
              <a:t>)</a:t>
            </a:r>
            <a:r>
              <a:rPr lang="zh-CN" altLang="en-US" b="1" dirty="0" smtClean="0">
                <a:solidFill>
                  <a:schemeClr val="tx1"/>
                </a:solidFill>
                <a:latin typeface="Verdana" pitchFamily="34" charset="0"/>
                <a:ea typeface="宋体" charset="-122"/>
              </a:rPr>
              <a:t>，其幅值才正比于衔铁的直线位移。</a:t>
            </a:r>
            <a:endParaRPr lang="zh-CN" altLang="en-US" b="1" dirty="0">
              <a:solidFill>
                <a:schemeClr val="tx1"/>
              </a:solidFill>
              <a:latin typeface="Verdana" pitchFamily="34" charset="0"/>
              <a:ea typeface="宋体" charset="-122"/>
            </a:endParaRPr>
          </a:p>
        </p:txBody>
      </p:sp>
      <p:grpSp>
        <p:nvGrpSpPr>
          <p:cNvPr id="14" name="组合 13"/>
          <p:cNvGrpSpPr/>
          <p:nvPr/>
        </p:nvGrpSpPr>
        <p:grpSpPr>
          <a:xfrm>
            <a:off x="642910" y="4429132"/>
            <a:ext cx="5091124" cy="1457329"/>
            <a:chOff x="642910" y="4429132"/>
            <a:chExt cx="5091124" cy="1457329"/>
          </a:xfrm>
        </p:grpSpPr>
        <p:sp>
          <p:nvSpPr>
            <p:cNvPr id="24" name="Text Box 9"/>
            <p:cNvSpPr txBox="1">
              <a:spLocks noChangeArrowheads="1"/>
            </p:cNvSpPr>
            <p:nvPr/>
          </p:nvSpPr>
          <p:spPr bwMode="auto">
            <a:xfrm>
              <a:off x="642910" y="4429132"/>
              <a:ext cx="3724276" cy="523220"/>
            </a:xfrm>
            <a:prstGeom prst="rect">
              <a:avLst/>
            </a:prstGeom>
            <a:noFill/>
            <a:ln w="9525">
              <a:noFill/>
              <a:miter lim="800000"/>
              <a:headEnd/>
              <a:tailEnd/>
            </a:ln>
          </p:spPr>
          <p:txBody>
            <a:bodyPr wrap="square">
              <a:spAutoFit/>
            </a:bodyPr>
            <a:lstStyle/>
            <a:p>
              <a:pPr>
                <a:buFont typeface="Wingdings" pitchFamily="2" charset="2"/>
                <a:buChar char="u"/>
              </a:pPr>
              <a:r>
                <a:rPr kumimoji="0" lang="zh-CN" altLang="en-US" sz="2800" b="1" dirty="0" smtClean="0">
                  <a:latin typeface="+mj-lt"/>
                  <a:ea typeface="+mj-ea"/>
                  <a:cs typeface="+mj-cs"/>
                </a:rPr>
                <a:t> 灵敏度</a:t>
              </a:r>
            </a:p>
          </p:txBody>
        </p:sp>
        <p:graphicFrame>
          <p:nvGraphicFramePr>
            <p:cNvPr id="25" name="Object 10"/>
            <p:cNvGraphicFramePr>
              <a:graphicFrameLocks noChangeAspect="1"/>
            </p:cNvGraphicFramePr>
            <p:nvPr/>
          </p:nvGraphicFramePr>
          <p:xfrm>
            <a:off x="2285984" y="5000636"/>
            <a:ext cx="3448050" cy="885825"/>
          </p:xfrm>
          <a:graphic>
            <a:graphicData uri="http://schemas.openxmlformats.org/presentationml/2006/ole">
              <p:oleObj spid="_x0000_s65547" name="图像文档" r:id="rId5" imgW="3448080" imgH="885960" progId="">
                <p:embed/>
              </p:oleObj>
            </a:graphicData>
          </a:graphic>
        </p:graphicFrame>
      </p:grpSp>
      <p:sp>
        <p:nvSpPr>
          <p:cNvPr id="26" name="TextBox 25"/>
          <p:cNvSpPr txBox="1"/>
          <p:nvPr/>
        </p:nvSpPr>
        <p:spPr>
          <a:xfrm>
            <a:off x="785786" y="6072206"/>
            <a:ext cx="7643866" cy="523220"/>
          </a:xfrm>
          <a:prstGeom prst="rect">
            <a:avLst/>
          </a:prstGeom>
          <a:noFill/>
        </p:spPr>
        <p:txBody>
          <a:bodyPr wrap="square" rtlCol="0">
            <a:spAutoFit/>
          </a:bodyPr>
          <a:lstStyle/>
          <a:p>
            <a:r>
              <a:rPr lang="zh-CN" altLang="en-US" sz="2800" b="1" dirty="0" smtClean="0"/>
              <a:t>特点分析：</a:t>
            </a:r>
            <a:r>
              <a:rPr lang="en-US" altLang="zh-CN" sz="2800" b="1" dirty="0" smtClean="0"/>
              <a:t>P56</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linds(horizont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6">
                                            <p:txEl>
                                              <p:pRg st="0" end="0"/>
                                            </p:txEl>
                                          </p:spTgt>
                                        </p:tgtEl>
                                        <p:attrNameLst>
                                          <p:attrName>style.visibility</p:attrName>
                                        </p:attrNameLst>
                                      </p:cBhvr>
                                      <p:to>
                                        <p:strVal val="visible"/>
                                      </p:to>
                                    </p:set>
                                    <p:animEffect transition="in" filter="blinds(horizontal)">
                                      <p:cBhvr>
                                        <p:cTn id="27"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4.2 </a:t>
            </a:r>
            <a:r>
              <a:rPr lang="zh-CN" altLang="en-US" sz="3600" b="1" dirty="0" smtClean="0">
                <a:solidFill>
                  <a:schemeClr val="tx2"/>
                </a:solidFill>
                <a:latin typeface="黑体" pitchFamily="2" charset="-122"/>
                <a:ea typeface="黑体" pitchFamily="2" charset="-122"/>
              </a:rPr>
              <a:t>变压器式传感器</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3" name="Rectangle 15"/>
          <p:cNvSpPr txBox="1">
            <a:spLocks noChangeArrowheads="1"/>
          </p:cNvSpPr>
          <p:nvPr/>
        </p:nvSpPr>
        <p:spPr bwMode="auto">
          <a:xfrm>
            <a:off x="357158" y="1571612"/>
            <a:ext cx="7885112" cy="571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CC0066"/>
                </a:solidFill>
                <a:effectLst/>
                <a:uLnTx/>
                <a:uFillTx/>
                <a:latin typeface="+mj-lt"/>
                <a:ea typeface="+mj-ea"/>
                <a:cs typeface="+mj-cs"/>
              </a:rPr>
              <a:t>检测电路</a:t>
            </a:r>
          </a:p>
        </p:txBody>
      </p:sp>
      <p:sp>
        <p:nvSpPr>
          <p:cNvPr id="14" name="Text Box 10"/>
          <p:cNvSpPr txBox="1">
            <a:spLocks noChangeArrowheads="1"/>
          </p:cNvSpPr>
          <p:nvPr/>
        </p:nvSpPr>
        <p:spPr bwMode="auto">
          <a:xfrm>
            <a:off x="428596" y="2143116"/>
            <a:ext cx="7561263" cy="540725"/>
          </a:xfrm>
          <a:prstGeom prst="rect">
            <a:avLst/>
          </a:prstGeom>
          <a:noFill/>
          <a:ln w="9525" algn="ctr">
            <a:noFill/>
            <a:miter lim="800000"/>
            <a:headEnd/>
            <a:tailEnd/>
          </a:ln>
        </p:spPr>
        <p:txBody>
          <a:bodyPr>
            <a:spAutoFit/>
          </a:bodyPr>
          <a:lstStyle/>
          <a:p>
            <a:pPr indent="361950">
              <a:lnSpc>
                <a:spcPct val="120000"/>
              </a:lnSpc>
              <a:spcBef>
                <a:spcPct val="50000"/>
              </a:spcBef>
            </a:pPr>
            <a:r>
              <a:rPr kumimoji="0" lang="zh-CN" altLang="en-US" sz="2800" b="1" dirty="0">
                <a:latin typeface="宋体" charset="-122"/>
                <a:ea typeface="宋体" charset="-122"/>
              </a:rPr>
              <a:t>差分变压器随衔铁的位移输出一个调幅</a:t>
            </a:r>
            <a:r>
              <a:rPr kumimoji="0" lang="zh-CN" altLang="en-US" sz="2800" b="1" dirty="0" smtClean="0">
                <a:latin typeface="宋体" charset="-122"/>
                <a:ea typeface="宋体" charset="-122"/>
              </a:rPr>
              <a:t>波。</a:t>
            </a:r>
            <a:endParaRPr kumimoji="0" lang="zh-CN" altLang="en-US" sz="2800" b="1" dirty="0">
              <a:latin typeface="宋体" charset="-122"/>
              <a:ea typeface="宋体" charset="-122"/>
            </a:endParaRPr>
          </a:p>
        </p:txBody>
      </p:sp>
      <p:sp>
        <p:nvSpPr>
          <p:cNvPr id="15" name="Text Box 10"/>
          <p:cNvSpPr txBox="1">
            <a:spLocks noChangeArrowheads="1"/>
          </p:cNvSpPr>
          <p:nvPr/>
        </p:nvSpPr>
        <p:spPr bwMode="auto">
          <a:xfrm>
            <a:off x="285720" y="2786058"/>
            <a:ext cx="8643998" cy="2591479"/>
          </a:xfrm>
          <a:prstGeom prst="rect">
            <a:avLst/>
          </a:prstGeom>
          <a:noFill/>
          <a:ln w="9525" algn="ctr">
            <a:noFill/>
            <a:miter lim="800000"/>
            <a:headEnd/>
            <a:tailEnd/>
          </a:ln>
        </p:spPr>
        <p:txBody>
          <a:bodyPr wrap="square">
            <a:spAutoFit/>
          </a:bodyPr>
          <a:lstStyle/>
          <a:p>
            <a:pPr indent="722313">
              <a:lnSpc>
                <a:spcPct val="120000"/>
              </a:lnSpc>
              <a:spcBef>
                <a:spcPct val="50000"/>
              </a:spcBef>
            </a:pPr>
            <a:r>
              <a:rPr kumimoji="0" lang="zh-CN" altLang="en-US" sz="2800" b="1" dirty="0" smtClean="0">
                <a:latin typeface="宋体" charset="-122"/>
                <a:ea typeface="宋体" charset="-122"/>
              </a:rPr>
              <a:t>用</a:t>
            </a:r>
            <a:r>
              <a:rPr kumimoji="0" lang="zh-CN" altLang="en-US" sz="2800" b="1" dirty="0" smtClean="0">
                <a:solidFill>
                  <a:srgbClr val="FF0000"/>
                </a:solidFill>
                <a:latin typeface="宋体" charset="-122"/>
                <a:ea typeface="宋体" charset="-122"/>
              </a:rPr>
              <a:t>电压表</a:t>
            </a:r>
            <a:r>
              <a:rPr kumimoji="0" lang="zh-CN" altLang="en-US" sz="2800" b="1" dirty="0" smtClean="0">
                <a:latin typeface="宋体" charset="-122"/>
                <a:ea typeface="宋体" charset="-122"/>
              </a:rPr>
              <a:t>测量存在的问题：</a:t>
            </a:r>
            <a:endParaRPr kumimoji="0" lang="en-US" altLang="zh-CN" sz="2800" b="1" dirty="0" smtClean="0">
              <a:latin typeface="宋体" charset="-122"/>
              <a:ea typeface="宋体" charset="-122"/>
            </a:endParaRPr>
          </a:p>
          <a:p>
            <a:pPr marL="1608138" lvl="2" indent="-614363">
              <a:lnSpc>
                <a:spcPct val="120000"/>
              </a:lnSpc>
              <a:spcBef>
                <a:spcPct val="50000"/>
              </a:spcBef>
              <a:buFont typeface="Wingdings" pitchFamily="2" charset="2"/>
              <a:buChar char="p"/>
            </a:pPr>
            <a:r>
              <a:rPr kumimoji="0" lang="zh-CN" altLang="en-US" sz="2800" b="1" dirty="0" smtClean="0">
                <a:latin typeface="宋体" charset="-122"/>
                <a:ea typeface="宋体" charset="-122"/>
              </a:rPr>
              <a:t>总</a:t>
            </a:r>
            <a:r>
              <a:rPr kumimoji="0" lang="zh-CN" altLang="en-US" sz="2800" b="1" dirty="0">
                <a:latin typeface="宋体" charset="-122"/>
                <a:ea typeface="宋体" charset="-122"/>
              </a:rPr>
              <a:t>有零位电压输出，因而零位附近的小位移量困难</a:t>
            </a:r>
            <a:r>
              <a:rPr kumimoji="0" lang="zh-CN" altLang="en-US" sz="2800" b="1" dirty="0" smtClean="0">
                <a:latin typeface="宋体" charset="-122"/>
                <a:ea typeface="宋体" charset="-122"/>
              </a:rPr>
              <a:t>。</a:t>
            </a:r>
            <a:endParaRPr kumimoji="0" lang="en-US" altLang="zh-CN" sz="2800" b="1" dirty="0" smtClean="0">
              <a:latin typeface="宋体" charset="-122"/>
              <a:ea typeface="宋体" charset="-122"/>
            </a:endParaRPr>
          </a:p>
          <a:p>
            <a:pPr marL="1608138" lvl="2" indent="-614363">
              <a:lnSpc>
                <a:spcPct val="120000"/>
              </a:lnSpc>
              <a:spcBef>
                <a:spcPct val="50000"/>
              </a:spcBef>
              <a:buFont typeface="Wingdings" pitchFamily="2" charset="2"/>
              <a:buChar char="p"/>
            </a:pPr>
            <a:r>
              <a:rPr kumimoji="0" lang="zh-CN" altLang="en-US" sz="2800" b="1" dirty="0" smtClean="0">
                <a:latin typeface="宋体" charset="-122"/>
                <a:ea typeface="宋体" charset="-122"/>
              </a:rPr>
              <a:t>交流电压</a:t>
            </a:r>
            <a:r>
              <a:rPr kumimoji="0" lang="zh-CN" altLang="en-US" sz="2800" b="1" dirty="0">
                <a:latin typeface="宋体" charset="-122"/>
                <a:ea typeface="宋体" charset="-122"/>
              </a:rPr>
              <a:t>表无法判别衔铁移动方向</a:t>
            </a:r>
            <a:r>
              <a:rPr kumimoji="0" lang="zh-CN" altLang="en-US" sz="2800" b="1" dirty="0" smtClean="0">
                <a:latin typeface="宋体" charset="-122"/>
                <a:ea typeface="宋体" charset="-122"/>
              </a:rPr>
              <a:t>，</a:t>
            </a:r>
            <a:endParaRPr kumimoji="0" lang="zh-CN" altLang="en-US" sz="2800" b="1" dirty="0">
              <a:latin typeface="宋体" charset="-122"/>
              <a:ea typeface="宋体" charset="-122"/>
            </a:endParaRPr>
          </a:p>
        </p:txBody>
      </p:sp>
      <p:grpSp>
        <p:nvGrpSpPr>
          <p:cNvPr id="18" name="组合 17"/>
          <p:cNvGrpSpPr/>
          <p:nvPr/>
        </p:nvGrpSpPr>
        <p:grpSpPr>
          <a:xfrm>
            <a:off x="1357290" y="5715016"/>
            <a:ext cx="5223669" cy="523220"/>
            <a:chOff x="1357290" y="5715016"/>
            <a:chExt cx="5223669" cy="523220"/>
          </a:xfrm>
        </p:grpSpPr>
        <p:sp>
          <p:nvSpPr>
            <p:cNvPr id="16" name="矩形 15"/>
            <p:cNvSpPr/>
            <p:nvPr/>
          </p:nvSpPr>
          <p:spPr>
            <a:xfrm>
              <a:off x="2428860" y="5715016"/>
              <a:ext cx="4152099" cy="523220"/>
            </a:xfrm>
            <a:prstGeom prst="rect">
              <a:avLst/>
            </a:prstGeom>
          </p:spPr>
          <p:txBody>
            <a:bodyPr wrap="none">
              <a:spAutoFit/>
            </a:bodyPr>
            <a:lstStyle/>
            <a:p>
              <a:r>
                <a:rPr kumimoji="0" lang="zh-CN" altLang="en-US" sz="2800" b="1" dirty="0" smtClean="0">
                  <a:latin typeface="宋体" charset="-122"/>
                  <a:ea typeface="宋体" charset="-122"/>
                </a:rPr>
                <a:t>常采用测量电路来解决。</a:t>
              </a:r>
              <a:endParaRPr lang="zh-CN" altLang="en-US" sz="2800" dirty="0"/>
            </a:p>
          </p:txBody>
        </p:sp>
        <p:sp>
          <p:nvSpPr>
            <p:cNvPr id="17" name="右箭头 16"/>
            <p:cNvSpPr/>
            <p:nvPr/>
          </p:nvSpPr>
          <p:spPr>
            <a:xfrm>
              <a:off x="1357290" y="5715016"/>
              <a:ext cx="857256" cy="5000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4.2 </a:t>
            </a:r>
            <a:r>
              <a:rPr lang="zh-CN" altLang="en-US" sz="3600" b="1" dirty="0" smtClean="0">
                <a:solidFill>
                  <a:schemeClr val="tx2"/>
                </a:solidFill>
                <a:latin typeface="黑体" pitchFamily="2" charset="-122"/>
                <a:ea typeface="黑体" pitchFamily="2" charset="-122"/>
              </a:rPr>
              <a:t>变压器式传感器</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3" name="Rectangle 15"/>
          <p:cNvSpPr txBox="1">
            <a:spLocks noChangeArrowheads="1"/>
          </p:cNvSpPr>
          <p:nvPr/>
        </p:nvSpPr>
        <p:spPr bwMode="auto">
          <a:xfrm>
            <a:off x="357158" y="1571612"/>
            <a:ext cx="7885112" cy="571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Font typeface="Wingdings" pitchFamily="2" charset="2"/>
              <a:buChar char="u"/>
            </a:pPr>
            <a:r>
              <a:rPr kumimoji="0" lang="zh-CN" altLang="en-US" sz="2800" b="1" dirty="0" smtClean="0"/>
              <a:t> 相敏检测电路</a:t>
            </a:r>
            <a:endParaRPr kumimoji="0" lang="zh-CN" altLang="en-US" sz="2800" b="1" i="0" u="none" strike="noStrike" kern="1200" cap="none" spc="0" normalizeH="0" baseline="0" noProof="0" dirty="0" smtClean="0">
              <a:ln>
                <a:noFill/>
              </a:ln>
              <a:effectLst/>
              <a:uLnTx/>
              <a:uFillTx/>
              <a:latin typeface="+mj-lt"/>
              <a:ea typeface="+mj-ea"/>
              <a:cs typeface="+mj-cs"/>
            </a:endParaRPr>
          </a:p>
        </p:txBody>
      </p:sp>
      <p:graphicFrame>
        <p:nvGraphicFramePr>
          <p:cNvPr id="67586" name="Object 3"/>
          <p:cNvGraphicFramePr>
            <a:graphicFrameLocks noChangeAspect="1"/>
          </p:cNvGraphicFramePr>
          <p:nvPr/>
        </p:nvGraphicFramePr>
        <p:xfrm>
          <a:off x="5572132" y="1785926"/>
          <a:ext cx="3289300" cy="1420813"/>
        </p:xfrm>
        <a:graphic>
          <a:graphicData uri="http://schemas.openxmlformats.org/presentationml/2006/ole">
            <p:oleObj spid="_x0000_s67586" name="图像文档" r:id="rId3" imgW="3000240" imgH="1295280" progId="">
              <p:embed/>
            </p:oleObj>
          </a:graphicData>
        </a:graphic>
      </p:graphicFrame>
      <p:sp>
        <p:nvSpPr>
          <p:cNvPr id="11" name="Text Box 2"/>
          <p:cNvSpPr txBox="1">
            <a:spLocks noChangeArrowheads="1"/>
          </p:cNvSpPr>
          <p:nvPr/>
        </p:nvSpPr>
        <p:spPr bwMode="auto">
          <a:xfrm>
            <a:off x="285720" y="2214554"/>
            <a:ext cx="5172076" cy="1815882"/>
          </a:xfrm>
          <a:prstGeom prst="rect">
            <a:avLst/>
          </a:prstGeom>
          <a:noFill/>
          <a:ln w="9525">
            <a:noFill/>
            <a:miter lim="800000"/>
            <a:headEnd/>
            <a:tailEnd/>
          </a:ln>
        </p:spPr>
        <p:txBody>
          <a:bodyPr wrap="square">
            <a:spAutoFit/>
          </a:bodyPr>
          <a:lstStyle/>
          <a:p>
            <a:pPr indent="449263">
              <a:spcBef>
                <a:spcPct val="50000"/>
              </a:spcBef>
            </a:pPr>
            <a:r>
              <a:rPr lang="zh-CN" altLang="en-US" sz="2800" b="1" dirty="0">
                <a:latin typeface="Verdana" pitchFamily="34" charset="0"/>
                <a:ea typeface="宋体" charset="-122"/>
              </a:rPr>
              <a:t>采用相敏检波电路不仅可以鉴别衔铁移动方向，而且可以把衔铁在中间位置时，因高次谐波引起的零点残余电压消除。</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4.2 </a:t>
            </a:r>
            <a:r>
              <a:rPr lang="zh-CN" altLang="en-US" sz="3600" b="1" dirty="0" smtClean="0">
                <a:solidFill>
                  <a:schemeClr val="tx2"/>
                </a:solidFill>
                <a:latin typeface="黑体" pitchFamily="2" charset="-122"/>
                <a:ea typeface="黑体" pitchFamily="2" charset="-122"/>
              </a:rPr>
              <a:t>变压器式传感器</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3" name="Rectangle 15"/>
          <p:cNvSpPr txBox="1">
            <a:spLocks noChangeArrowheads="1"/>
          </p:cNvSpPr>
          <p:nvPr/>
        </p:nvSpPr>
        <p:spPr bwMode="auto">
          <a:xfrm>
            <a:off x="357158" y="1571612"/>
            <a:ext cx="7885112" cy="571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Font typeface="Wingdings" pitchFamily="2" charset="2"/>
              <a:buChar char="u"/>
            </a:pPr>
            <a:r>
              <a:rPr kumimoji="0" lang="zh-CN" altLang="en-US" sz="2800" b="1" dirty="0" smtClean="0"/>
              <a:t> 差分整流电路</a:t>
            </a:r>
            <a:endParaRPr kumimoji="0" lang="zh-CN" altLang="en-US" sz="2800" b="1" i="0" u="none" strike="noStrike" kern="1200" cap="none" spc="0" normalizeH="0" baseline="0" noProof="0" dirty="0" smtClean="0">
              <a:ln>
                <a:noFill/>
              </a:ln>
              <a:effectLst/>
              <a:uLnTx/>
              <a:uFillTx/>
              <a:latin typeface="+mj-lt"/>
              <a:ea typeface="+mj-ea"/>
              <a:cs typeface="+mj-cs"/>
            </a:endParaRPr>
          </a:p>
        </p:txBody>
      </p:sp>
      <p:pic>
        <p:nvPicPr>
          <p:cNvPr id="68612" name="Picture 4"/>
          <p:cNvPicPr>
            <a:picLocks noChangeAspect="1" noChangeArrowheads="1"/>
          </p:cNvPicPr>
          <p:nvPr/>
        </p:nvPicPr>
        <p:blipFill>
          <a:blip r:embed="rId2"/>
          <a:srcRect/>
          <a:stretch>
            <a:fillRect/>
          </a:stretch>
        </p:blipFill>
        <p:spPr bwMode="auto">
          <a:xfrm>
            <a:off x="1714480" y="2285992"/>
            <a:ext cx="5353050" cy="1571625"/>
          </a:xfrm>
          <a:prstGeom prst="rect">
            <a:avLst/>
          </a:prstGeom>
          <a:noFill/>
          <a:ln w="9525">
            <a:noFill/>
            <a:miter lim="800000"/>
            <a:headEnd/>
            <a:tailEnd/>
          </a:ln>
          <a:effectLst/>
        </p:spPr>
      </p:pic>
      <p:sp>
        <p:nvSpPr>
          <p:cNvPr id="10" name="TextBox 9"/>
          <p:cNvSpPr txBox="1"/>
          <p:nvPr/>
        </p:nvSpPr>
        <p:spPr>
          <a:xfrm>
            <a:off x="1142976" y="4071942"/>
            <a:ext cx="6858048" cy="461665"/>
          </a:xfrm>
          <a:prstGeom prst="rect">
            <a:avLst/>
          </a:prstGeom>
          <a:noFill/>
        </p:spPr>
        <p:txBody>
          <a:bodyPr wrap="square" rtlCol="0">
            <a:spAutoFit/>
          </a:bodyPr>
          <a:lstStyle/>
          <a:p>
            <a:pPr algn="ctr"/>
            <a:r>
              <a:rPr lang="zh-CN" altLang="en-US" sz="2400" b="1" dirty="0" smtClean="0"/>
              <a:t>电流输出型，适用于低负载阻抗</a:t>
            </a:r>
            <a:endParaRPr lang="zh-CN" altLang="en-US" sz="2400" b="1" dirty="0"/>
          </a:p>
        </p:txBody>
      </p:sp>
      <p:grpSp>
        <p:nvGrpSpPr>
          <p:cNvPr id="14" name="组合 13"/>
          <p:cNvGrpSpPr/>
          <p:nvPr/>
        </p:nvGrpSpPr>
        <p:grpSpPr>
          <a:xfrm>
            <a:off x="1214414" y="4572008"/>
            <a:ext cx="6858048" cy="2104739"/>
            <a:chOff x="1214414" y="4572008"/>
            <a:chExt cx="6858048" cy="2104739"/>
          </a:xfrm>
        </p:grpSpPr>
        <p:pic>
          <p:nvPicPr>
            <p:cNvPr id="68613" name="Picture 5"/>
            <p:cNvPicPr>
              <a:picLocks noChangeAspect="1" noChangeArrowheads="1"/>
            </p:cNvPicPr>
            <p:nvPr/>
          </p:nvPicPr>
          <p:blipFill>
            <a:blip r:embed="rId3"/>
            <a:srcRect/>
            <a:stretch>
              <a:fillRect/>
            </a:stretch>
          </p:blipFill>
          <p:spPr bwMode="auto">
            <a:xfrm>
              <a:off x="1714480" y="4572008"/>
              <a:ext cx="5295900" cy="1543050"/>
            </a:xfrm>
            <a:prstGeom prst="rect">
              <a:avLst/>
            </a:prstGeom>
            <a:noFill/>
            <a:ln w="9525">
              <a:noFill/>
              <a:miter lim="800000"/>
              <a:headEnd/>
              <a:tailEnd/>
            </a:ln>
            <a:effectLst/>
          </p:spPr>
        </p:pic>
        <p:sp>
          <p:nvSpPr>
            <p:cNvPr id="12" name="TextBox 11"/>
            <p:cNvSpPr txBox="1"/>
            <p:nvPr/>
          </p:nvSpPr>
          <p:spPr>
            <a:xfrm>
              <a:off x="1214414" y="6215082"/>
              <a:ext cx="6858048" cy="461665"/>
            </a:xfrm>
            <a:prstGeom prst="rect">
              <a:avLst/>
            </a:prstGeom>
            <a:noFill/>
          </p:spPr>
          <p:txBody>
            <a:bodyPr wrap="square" rtlCol="0">
              <a:spAutoFit/>
            </a:bodyPr>
            <a:lstStyle/>
            <a:p>
              <a:pPr algn="ctr"/>
              <a:r>
                <a:rPr lang="zh-CN" altLang="en-US" sz="2400" b="1" dirty="0" smtClean="0"/>
                <a:t>电压输出型，适用于高负载阻抗</a:t>
              </a:r>
              <a:endParaRPr lang="zh-CN" altLang="en-US" sz="24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4.2 </a:t>
            </a:r>
            <a:r>
              <a:rPr lang="zh-CN" altLang="en-US" sz="3600" b="1" dirty="0" smtClean="0">
                <a:solidFill>
                  <a:schemeClr val="tx2"/>
                </a:solidFill>
                <a:latin typeface="黑体" pitchFamily="2" charset="-122"/>
                <a:ea typeface="黑体" pitchFamily="2" charset="-122"/>
              </a:rPr>
              <a:t>变压器式传感器</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11" name="Object 3"/>
          <p:cNvGraphicFramePr>
            <a:graphicFrameLocks noChangeAspect="1"/>
          </p:cNvGraphicFramePr>
          <p:nvPr/>
        </p:nvGraphicFramePr>
        <p:xfrm>
          <a:off x="914400" y="1905000"/>
          <a:ext cx="3533775" cy="1819275"/>
        </p:xfrm>
        <a:graphic>
          <a:graphicData uri="http://schemas.openxmlformats.org/presentationml/2006/ole">
            <p:oleObj spid="_x0000_s69634" name="图像文档" r:id="rId3" imgW="3533760" imgH="1819440" progId="">
              <p:embed/>
            </p:oleObj>
          </a:graphicData>
        </a:graphic>
      </p:graphicFrame>
      <p:graphicFrame>
        <p:nvGraphicFramePr>
          <p:cNvPr id="14" name="Object 4"/>
          <p:cNvGraphicFramePr>
            <a:graphicFrameLocks noChangeAspect="1"/>
          </p:cNvGraphicFramePr>
          <p:nvPr/>
        </p:nvGraphicFramePr>
        <p:xfrm>
          <a:off x="6553200" y="1981200"/>
          <a:ext cx="2219325" cy="3438525"/>
        </p:xfrm>
        <a:graphic>
          <a:graphicData uri="http://schemas.openxmlformats.org/presentationml/2006/ole">
            <p:oleObj spid="_x0000_s69635" name="图像文档" r:id="rId4" imgW="2219400" imgH="3438360" progId="">
              <p:embed/>
            </p:oleObj>
          </a:graphicData>
        </a:graphic>
      </p:graphicFrame>
      <p:sp>
        <p:nvSpPr>
          <p:cNvPr id="15" name="Line 5"/>
          <p:cNvSpPr>
            <a:spLocks noChangeShapeType="1"/>
          </p:cNvSpPr>
          <p:nvPr/>
        </p:nvSpPr>
        <p:spPr bwMode="auto">
          <a:xfrm>
            <a:off x="6172200" y="3200400"/>
            <a:ext cx="2743200" cy="0"/>
          </a:xfrm>
          <a:prstGeom prst="line">
            <a:avLst/>
          </a:prstGeom>
          <a:noFill/>
          <a:ln w="9525">
            <a:solidFill>
              <a:srgbClr val="FF0000"/>
            </a:solidFill>
            <a:miter lim="800000"/>
            <a:headEnd/>
            <a:tailEnd/>
          </a:ln>
        </p:spPr>
        <p:txBody>
          <a:bodyPr wrap="none"/>
          <a:lstStyle/>
          <a:p>
            <a:endParaRPr lang="zh-CN" altLang="en-US"/>
          </a:p>
        </p:txBody>
      </p:sp>
      <p:sp>
        <p:nvSpPr>
          <p:cNvPr id="16" name="Line 6"/>
          <p:cNvSpPr>
            <a:spLocks noChangeShapeType="1"/>
          </p:cNvSpPr>
          <p:nvPr/>
        </p:nvSpPr>
        <p:spPr bwMode="auto">
          <a:xfrm>
            <a:off x="6172200" y="4191000"/>
            <a:ext cx="2819400" cy="0"/>
          </a:xfrm>
          <a:prstGeom prst="line">
            <a:avLst/>
          </a:prstGeom>
          <a:noFill/>
          <a:ln w="9525">
            <a:solidFill>
              <a:srgbClr val="FF0000"/>
            </a:solidFill>
            <a:miter lim="800000"/>
            <a:headEnd/>
            <a:tailEnd/>
          </a:ln>
        </p:spPr>
        <p:txBody>
          <a:bodyPr wrap="none"/>
          <a:lstStyle/>
          <a:p>
            <a:endParaRPr lang="zh-CN" altLang="en-US"/>
          </a:p>
        </p:txBody>
      </p:sp>
      <p:sp>
        <p:nvSpPr>
          <p:cNvPr id="17" name="Rectangle 7"/>
          <p:cNvSpPr>
            <a:spLocks noChangeArrowheads="1"/>
          </p:cNvSpPr>
          <p:nvPr/>
        </p:nvSpPr>
        <p:spPr bwMode="auto">
          <a:xfrm>
            <a:off x="1905000" y="2057400"/>
            <a:ext cx="152400" cy="1447800"/>
          </a:xfrm>
          <a:prstGeom prst="rect">
            <a:avLst/>
          </a:prstGeom>
          <a:solidFill>
            <a:schemeClr val="accent1"/>
          </a:solidFill>
          <a:ln w="28575">
            <a:solidFill>
              <a:srgbClr val="FF0000"/>
            </a:solidFill>
            <a:miter lim="800000"/>
            <a:headEnd/>
            <a:tailEnd/>
          </a:ln>
        </p:spPr>
        <p:txBody>
          <a:bodyPr wrap="none" anchor="ctr"/>
          <a:lstStyle/>
          <a:p>
            <a:endParaRPr lang="zh-CN" altLang="en-US"/>
          </a:p>
        </p:txBody>
      </p:sp>
      <p:sp>
        <p:nvSpPr>
          <p:cNvPr id="18" name="Line 8"/>
          <p:cNvSpPr>
            <a:spLocks noChangeShapeType="1"/>
          </p:cNvSpPr>
          <p:nvPr/>
        </p:nvSpPr>
        <p:spPr bwMode="auto">
          <a:xfrm>
            <a:off x="1981200" y="3505200"/>
            <a:ext cx="0" cy="304800"/>
          </a:xfrm>
          <a:prstGeom prst="line">
            <a:avLst/>
          </a:prstGeom>
          <a:noFill/>
          <a:ln w="38100">
            <a:solidFill>
              <a:srgbClr val="FF0000"/>
            </a:solidFill>
            <a:miter lim="800000"/>
            <a:headEnd/>
            <a:tailEnd/>
          </a:ln>
        </p:spPr>
        <p:txBody>
          <a:bodyPr wrap="none"/>
          <a:lstStyle/>
          <a:p>
            <a:endParaRPr lang="zh-CN" altLang="en-US"/>
          </a:p>
        </p:txBody>
      </p:sp>
      <p:sp>
        <p:nvSpPr>
          <p:cNvPr id="19" name="Text Box 9"/>
          <p:cNvSpPr txBox="1">
            <a:spLocks noChangeArrowheads="1"/>
          </p:cNvSpPr>
          <p:nvPr/>
        </p:nvSpPr>
        <p:spPr bwMode="auto">
          <a:xfrm>
            <a:off x="1905000" y="3733800"/>
            <a:ext cx="1066800" cy="396875"/>
          </a:xfrm>
          <a:prstGeom prst="rect">
            <a:avLst/>
          </a:prstGeom>
          <a:noFill/>
          <a:ln w="9525">
            <a:noFill/>
            <a:miter lim="800000"/>
            <a:headEnd/>
            <a:tailEnd/>
          </a:ln>
        </p:spPr>
        <p:txBody>
          <a:bodyPr>
            <a:spAutoFit/>
          </a:bodyPr>
          <a:lstStyle/>
          <a:p>
            <a:pPr>
              <a:spcBef>
                <a:spcPct val="50000"/>
              </a:spcBef>
            </a:pPr>
            <a:r>
              <a:rPr lang="zh-CN" altLang="en-US" sz="2000">
                <a:solidFill>
                  <a:srgbClr val="FF0000"/>
                </a:solidFill>
                <a:latin typeface="Verdana" pitchFamily="34" charset="0"/>
                <a:ea typeface="宋体" charset="-122"/>
              </a:rPr>
              <a:t>衔铁</a:t>
            </a:r>
          </a:p>
        </p:txBody>
      </p:sp>
      <p:sp>
        <p:nvSpPr>
          <p:cNvPr id="20" name="Text Box 10"/>
          <p:cNvSpPr txBox="1">
            <a:spLocks noChangeArrowheads="1"/>
          </p:cNvSpPr>
          <p:nvPr/>
        </p:nvSpPr>
        <p:spPr bwMode="auto">
          <a:xfrm>
            <a:off x="357158" y="4214818"/>
            <a:ext cx="5562600" cy="2308324"/>
          </a:xfrm>
          <a:prstGeom prst="rect">
            <a:avLst/>
          </a:prstGeom>
          <a:noFill/>
          <a:ln w="9525">
            <a:noFill/>
            <a:miter lim="800000"/>
            <a:headEnd/>
            <a:tailEnd/>
          </a:ln>
        </p:spPr>
        <p:txBody>
          <a:bodyPr>
            <a:spAutoFit/>
          </a:bodyPr>
          <a:lstStyle/>
          <a:p>
            <a:pPr>
              <a:spcBef>
                <a:spcPct val="50000"/>
              </a:spcBef>
            </a:pPr>
            <a:r>
              <a:rPr lang="en-US" altLang="zh-CN" sz="2400" b="1" dirty="0">
                <a:latin typeface="Verdana" pitchFamily="34" charset="0"/>
                <a:ea typeface="宋体" charset="-122"/>
              </a:rPr>
              <a:t>      </a:t>
            </a:r>
            <a:r>
              <a:rPr lang="zh-CN" altLang="en-US" sz="2400" b="1" dirty="0">
                <a:latin typeface="Verdana" pitchFamily="34" charset="0"/>
                <a:ea typeface="宋体" charset="-122"/>
              </a:rPr>
              <a:t>差分整流电路结构简单，一般不需调整相位，不需考虑零位输出的影响。在远距离传输时，将此电路的整流部分放在差分变压器一端，整流后的输出线延长，就可避免感应和引出线分布电容的影响。</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4.2 </a:t>
            </a:r>
            <a:r>
              <a:rPr lang="zh-CN" altLang="en-US" sz="3600" b="1" dirty="0" smtClean="0">
                <a:solidFill>
                  <a:schemeClr val="tx2"/>
                </a:solidFill>
                <a:latin typeface="黑体" pitchFamily="2" charset="-122"/>
                <a:ea typeface="黑体" pitchFamily="2" charset="-122"/>
              </a:rPr>
              <a:t>变压器式传感器</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2" name="Rectangle 5"/>
          <p:cNvSpPr txBox="1">
            <a:spLocks noChangeArrowheads="1"/>
          </p:cNvSpPr>
          <p:nvPr/>
        </p:nvSpPr>
        <p:spPr bwMode="auto">
          <a:xfrm>
            <a:off x="642910" y="1571612"/>
            <a:ext cx="7581900" cy="7921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smtClean="0">
                <a:ln>
                  <a:noFill/>
                </a:ln>
                <a:solidFill>
                  <a:srgbClr val="CC0066"/>
                </a:solidFill>
                <a:effectLst/>
                <a:uLnTx/>
                <a:uFillTx/>
                <a:latin typeface="+mj-lt"/>
                <a:ea typeface="+mj-ea"/>
                <a:cs typeface="+mj-cs"/>
              </a:rPr>
              <a:t>零点残余电压的补偿</a:t>
            </a:r>
            <a:endParaRPr kumimoji="0" lang="zh-CN" altLang="en-US" sz="2800" b="1" i="0" u="none" strike="noStrike" kern="1200" cap="none" spc="0" normalizeH="0" baseline="0" noProof="0" dirty="0" smtClean="0">
              <a:ln>
                <a:noFill/>
              </a:ln>
              <a:solidFill>
                <a:srgbClr val="CC0066"/>
              </a:solidFill>
              <a:effectLst/>
              <a:uLnTx/>
              <a:uFillTx/>
              <a:latin typeface="+mj-lt"/>
              <a:ea typeface="+mj-ea"/>
              <a:cs typeface="+mj-cs"/>
            </a:endParaRPr>
          </a:p>
        </p:txBody>
      </p:sp>
      <p:sp>
        <p:nvSpPr>
          <p:cNvPr id="13" name="Text Box 4"/>
          <p:cNvSpPr txBox="1">
            <a:spLocks noChangeArrowheads="1"/>
          </p:cNvSpPr>
          <p:nvPr/>
        </p:nvSpPr>
        <p:spPr bwMode="auto">
          <a:xfrm>
            <a:off x="285720" y="2143116"/>
            <a:ext cx="8572560" cy="2893100"/>
          </a:xfrm>
          <a:prstGeom prst="rect">
            <a:avLst/>
          </a:prstGeom>
          <a:noFill/>
          <a:ln w="9525">
            <a:noFill/>
            <a:miter lim="800000"/>
            <a:headEnd/>
            <a:tailEnd/>
          </a:ln>
        </p:spPr>
        <p:txBody>
          <a:bodyPr wrap="square">
            <a:spAutoFit/>
          </a:bodyPr>
          <a:lstStyle/>
          <a:p>
            <a:pPr indent="449263">
              <a:spcBef>
                <a:spcPct val="50000"/>
              </a:spcBef>
            </a:pPr>
            <a:r>
              <a:rPr kumimoji="0" lang="zh-CN" altLang="en-US" sz="2800" b="1" dirty="0" smtClean="0">
                <a:latin typeface="宋体" charset="-122"/>
                <a:ea typeface="宋体" charset="-122"/>
              </a:rPr>
              <a:t>差分</a:t>
            </a:r>
            <a:r>
              <a:rPr kumimoji="0" lang="zh-CN" altLang="en-US" sz="2800" b="1" dirty="0">
                <a:latin typeface="宋体" charset="-122"/>
                <a:ea typeface="宋体" charset="-122"/>
              </a:rPr>
              <a:t>变压器也存在零点残余电压问题。零点残余电压的存在使得传感器</a:t>
            </a:r>
            <a:r>
              <a:rPr kumimoji="0" lang="zh-CN" altLang="en-US" sz="2800" b="1" dirty="0" smtClean="0">
                <a:latin typeface="宋体" charset="-122"/>
                <a:ea typeface="宋体" charset="-122"/>
              </a:rPr>
              <a:t>的</a:t>
            </a:r>
            <a:r>
              <a:rPr lang="zh-CN" altLang="en-US" sz="2800" b="1" dirty="0" smtClean="0">
                <a:latin typeface="宋体" charset="-122"/>
                <a:ea typeface="宋体" charset="-122"/>
              </a:rPr>
              <a:t>线性度变差；</a:t>
            </a:r>
            <a:r>
              <a:rPr kumimoji="0" lang="zh-CN" altLang="en-US" sz="2800" b="1" dirty="0" smtClean="0">
                <a:latin typeface="宋体" charset="-122"/>
                <a:ea typeface="宋体" charset="-122"/>
              </a:rPr>
              <a:t>特性曲线</a:t>
            </a:r>
            <a:r>
              <a:rPr kumimoji="0" lang="zh-CN" altLang="en-US" sz="2800" b="1" dirty="0">
                <a:latin typeface="宋体" charset="-122"/>
                <a:ea typeface="宋体" charset="-122"/>
              </a:rPr>
              <a:t>不通过</a:t>
            </a:r>
            <a:r>
              <a:rPr kumimoji="0" lang="zh-CN" altLang="en-US" sz="2800" b="1" dirty="0" smtClean="0">
                <a:latin typeface="宋体" charset="-122"/>
                <a:ea typeface="宋体" charset="-122"/>
              </a:rPr>
              <a:t>原点；</a:t>
            </a:r>
            <a:r>
              <a:rPr lang="zh-CN" altLang="en-US" sz="2800" b="1" dirty="0" smtClean="0">
                <a:latin typeface="宋体" charset="-122"/>
                <a:ea typeface="宋体" charset="-122"/>
              </a:rPr>
              <a:t>零点附近的范围内不灵敏，限制了分辨力的提高；</a:t>
            </a:r>
            <a:r>
              <a:rPr kumimoji="0" lang="zh-CN" altLang="en-US" sz="2800" b="1" dirty="0" smtClean="0">
                <a:latin typeface="宋体" charset="-122"/>
                <a:ea typeface="宋体" charset="-122"/>
              </a:rPr>
              <a:t>实际</a:t>
            </a:r>
            <a:r>
              <a:rPr kumimoji="0" lang="zh-CN" altLang="en-US" sz="2800" b="1" dirty="0">
                <a:latin typeface="宋体" charset="-122"/>
                <a:ea typeface="宋体" charset="-122"/>
              </a:rPr>
              <a:t>特性不同于理想特性</a:t>
            </a:r>
            <a:r>
              <a:rPr kumimoji="0" lang="zh-CN" altLang="en-US" sz="2800" b="1" dirty="0" smtClean="0">
                <a:latin typeface="宋体" charset="-122"/>
                <a:ea typeface="宋体" charset="-122"/>
              </a:rPr>
              <a:t>。</a:t>
            </a:r>
            <a:endParaRPr kumimoji="0" lang="en-US" altLang="zh-CN" sz="2800" b="1" dirty="0" smtClean="0">
              <a:latin typeface="宋体" charset="-122"/>
              <a:ea typeface="宋体" charset="-122"/>
            </a:endParaRPr>
          </a:p>
          <a:p>
            <a:pPr indent="449263">
              <a:spcBef>
                <a:spcPct val="50000"/>
              </a:spcBef>
            </a:pPr>
            <a:r>
              <a:rPr lang="zh-CN" altLang="en-US" sz="2800" b="1" dirty="0" smtClean="0">
                <a:latin typeface="宋体" charset="-122"/>
                <a:ea typeface="宋体" charset="-122"/>
              </a:rPr>
              <a:t>会使放大器饱和，堵塞有用信号通过，致使仪器不再反映被测量的变化。</a:t>
            </a:r>
            <a:endParaRPr lang="zh-CN" altLang="en-US" sz="2800" dirty="0">
              <a:latin typeface="Verdana" pitchFamily="34" charset="0"/>
              <a:ea typeface="宋体"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4.2 </a:t>
            </a:r>
            <a:r>
              <a:rPr lang="zh-CN" altLang="en-US" sz="3600" b="1" dirty="0" smtClean="0">
                <a:solidFill>
                  <a:schemeClr val="tx2"/>
                </a:solidFill>
                <a:latin typeface="黑体" pitchFamily="2" charset="-122"/>
                <a:ea typeface="黑体" pitchFamily="2" charset="-122"/>
              </a:rPr>
              <a:t>变压器式传感器</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2" name="Rectangle 5"/>
          <p:cNvSpPr txBox="1">
            <a:spLocks noChangeArrowheads="1"/>
          </p:cNvSpPr>
          <p:nvPr/>
        </p:nvSpPr>
        <p:spPr bwMode="auto">
          <a:xfrm>
            <a:off x="642910" y="1571612"/>
            <a:ext cx="7581900" cy="7921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smtClean="0">
                <a:ln>
                  <a:noFill/>
                </a:ln>
                <a:solidFill>
                  <a:srgbClr val="CC0066"/>
                </a:solidFill>
                <a:effectLst/>
                <a:uLnTx/>
                <a:uFillTx/>
                <a:latin typeface="+mj-lt"/>
                <a:ea typeface="+mj-ea"/>
                <a:cs typeface="+mj-cs"/>
              </a:rPr>
              <a:t>零点残余电压的补偿</a:t>
            </a:r>
            <a:endParaRPr kumimoji="0" lang="zh-CN" altLang="en-US" sz="2800" b="1" i="0" u="none" strike="noStrike" kern="1200" cap="none" spc="0" normalizeH="0" baseline="0" noProof="0" dirty="0" smtClean="0">
              <a:ln>
                <a:noFill/>
              </a:ln>
              <a:solidFill>
                <a:srgbClr val="CC0066"/>
              </a:solidFill>
              <a:effectLst/>
              <a:uLnTx/>
              <a:uFillTx/>
              <a:latin typeface="+mj-lt"/>
              <a:ea typeface="+mj-ea"/>
              <a:cs typeface="+mj-cs"/>
            </a:endParaRPr>
          </a:p>
        </p:txBody>
      </p:sp>
      <p:sp>
        <p:nvSpPr>
          <p:cNvPr id="6" name="Text Box 9"/>
          <p:cNvSpPr txBox="1">
            <a:spLocks noChangeArrowheads="1"/>
          </p:cNvSpPr>
          <p:nvPr/>
        </p:nvSpPr>
        <p:spPr bwMode="auto">
          <a:xfrm>
            <a:off x="285720" y="2133600"/>
            <a:ext cx="8607455" cy="1384995"/>
          </a:xfrm>
          <a:prstGeom prst="rect">
            <a:avLst/>
          </a:prstGeom>
          <a:noFill/>
          <a:ln w="9525" algn="ctr">
            <a:noFill/>
            <a:miter lim="800000"/>
            <a:headEnd/>
            <a:tailEnd/>
          </a:ln>
        </p:spPr>
        <p:txBody>
          <a:bodyPr wrap="square">
            <a:spAutoFit/>
          </a:bodyPr>
          <a:lstStyle/>
          <a:p>
            <a:pPr indent="711200"/>
            <a:r>
              <a:rPr lang="zh-CN" altLang="en-US" sz="2800" b="1" dirty="0" smtClean="0">
                <a:latin typeface="宋体" charset="-122"/>
                <a:ea typeface="宋体" charset="-122"/>
              </a:rPr>
              <a:t>可以</a:t>
            </a:r>
            <a:r>
              <a:rPr lang="zh-CN" altLang="en-US" sz="2800" b="1" dirty="0">
                <a:latin typeface="宋体" charset="-122"/>
                <a:ea typeface="宋体" charset="-122"/>
              </a:rPr>
              <a:t>通过材料和工艺等途径解决；也可以通过选用合适的测量线路如相敏检波电路；使用电路补偿法也是一种最常用和有效的方法。</a:t>
            </a:r>
            <a:endParaRPr lang="zh-CN" altLang="en-US" sz="2800" dirty="0"/>
          </a:p>
        </p:txBody>
      </p:sp>
      <p:graphicFrame>
        <p:nvGraphicFramePr>
          <p:cNvPr id="71682" name="Object 4"/>
          <p:cNvGraphicFramePr>
            <a:graphicFrameLocks noChangeAspect="1"/>
          </p:cNvGraphicFramePr>
          <p:nvPr/>
        </p:nvGraphicFramePr>
        <p:xfrm>
          <a:off x="2357422" y="3643314"/>
          <a:ext cx="4176713" cy="2874962"/>
        </p:xfrm>
        <a:graphic>
          <a:graphicData uri="http://schemas.openxmlformats.org/presentationml/2006/ole">
            <p:oleObj spid="_x0000_s71682" name="图像文档" r:id="rId3" imgW="3943440" imgH="2714760" progId="">
              <p:embed/>
            </p:oleObj>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14438" y="571500"/>
            <a:ext cx="6572250" cy="862013"/>
          </a:xfrm>
        </p:spPr>
        <p:txBody>
          <a:bodyPr anchor="b"/>
          <a:lstStyle/>
          <a:p>
            <a:pPr eaLnBrk="1" hangingPunct="1"/>
            <a:r>
              <a:rPr lang="zh-CN" altLang="en-US" sz="4000" b="1" dirty="0" smtClean="0">
                <a:solidFill>
                  <a:schemeClr val="tx2"/>
                </a:solidFill>
                <a:latin typeface="黑体" pitchFamily="2" charset="-122"/>
                <a:ea typeface="黑体" pitchFamily="2" charset="-122"/>
              </a:rPr>
              <a:t>第</a:t>
            </a:r>
            <a:r>
              <a:rPr lang="en-US" altLang="zh-CN" sz="4000" b="1" dirty="0" smtClean="0">
                <a:solidFill>
                  <a:schemeClr val="tx2"/>
                </a:solidFill>
                <a:latin typeface="黑体" pitchFamily="2" charset="-122"/>
                <a:ea typeface="黑体" pitchFamily="2" charset="-122"/>
              </a:rPr>
              <a:t>4</a:t>
            </a:r>
            <a:r>
              <a:rPr lang="zh-CN" altLang="en-US" sz="4000" b="1" dirty="0" smtClean="0">
                <a:solidFill>
                  <a:schemeClr val="tx2"/>
                </a:solidFill>
                <a:latin typeface="黑体" pitchFamily="2" charset="-122"/>
                <a:ea typeface="黑体" pitchFamily="2" charset="-122"/>
              </a:rPr>
              <a:t>章 电感式传感器</a:t>
            </a:r>
            <a:endParaRPr lang="zh-CN" altLang="en-US"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6" name="Text Box 4"/>
          <p:cNvSpPr txBox="1">
            <a:spLocks noChangeArrowheads="1"/>
          </p:cNvSpPr>
          <p:nvPr/>
        </p:nvSpPr>
        <p:spPr bwMode="auto">
          <a:xfrm>
            <a:off x="571500" y="1571625"/>
            <a:ext cx="8286750" cy="3194721"/>
          </a:xfrm>
          <a:prstGeom prst="rect">
            <a:avLst/>
          </a:prstGeom>
          <a:noFill/>
          <a:ln w="9525">
            <a:noFill/>
            <a:miter lim="800000"/>
            <a:headEnd/>
            <a:tailEnd/>
          </a:ln>
        </p:spPr>
        <p:txBody>
          <a:bodyPr>
            <a:spAutoFit/>
          </a:bodyPr>
          <a:lstStyle/>
          <a:p>
            <a:pPr marL="0" lvl="1" indent="620713">
              <a:lnSpc>
                <a:spcPct val="120000"/>
              </a:lnSpc>
            </a:pPr>
            <a:r>
              <a:rPr lang="en-US" altLang="zh-CN" sz="2800" b="1" dirty="0">
                <a:latin typeface="黑体" pitchFamily="2" charset="-122"/>
                <a:ea typeface="黑体" pitchFamily="2" charset="-122"/>
              </a:rPr>
              <a:t>4.1 </a:t>
            </a:r>
            <a:r>
              <a:rPr lang="zh-CN" altLang="en-US" sz="2800" b="1" dirty="0">
                <a:latin typeface="黑体" pitchFamily="2" charset="-122"/>
                <a:ea typeface="黑体" pitchFamily="2" charset="-122"/>
              </a:rPr>
              <a:t>自感式传感器</a:t>
            </a:r>
            <a:endParaRPr lang="en-US" altLang="zh-CN" sz="2800" b="1" dirty="0">
              <a:latin typeface="黑体" pitchFamily="2" charset="-122"/>
              <a:ea typeface="黑体" pitchFamily="2" charset="-122"/>
            </a:endParaRPr>
          </a:p>
          <a:p>
            <a:pPr marL="0" lvl="1" indent="620713">
              <a:lnSpc>
                <a:spcPct val="120000"/>
              </a:lnSpc>
            </a:pPr>
            <a:r>
              <a:rPr lang="en-US" altLang="zh-CN" sz="2800" b="1" dirty="0" smtClean="0">
                <a:latin typeface="黑体" pitchFamily="2" charset="-122"/>
                <a:ea typeface="黑体" pitchFamily="2" charset="-122"/>
              </a:rPr>
              <a:t>4.2 </a:t>
            </a:r>
            <a:r>
              <a:rPr lang="zh-CN" altLang="en-US" sz="2800" b="1" dirty="0" smtClean="0">
                <a:latin typeface="黑体" pitchFamily="2" charset="-122"/>
                <a:ea typeface="黑体" pitchFamily="2" charset="-122"/>
              </a:rPr>
              <a:t>变压器式传感器</a:t>
            </a:r>
            <a:endParaRPr lang="en-US" altLang="zh-CN" sz="2800" b="1" dirty="0" smtClean="0">
              <a:latin typeface="黑体" pitchFamily="2" charset="-122"/>
              <a:ea typeface="黑体" pitchFamily="2" charset="-122"/>
            </a:endParaRPr>
          </a:p>
          <a:p>
            <a:pPr marL="0" lvl="1" indent="620713">
              <a:lnSpc>
                <a:spcPct val="120000"/>
              </a:lnSpc>
            </a:pPr>
            <a:r>
              <a:rPr lang="en-US" altLang="zh-CN" sz="2800" b="1" dirty="0" smtClean="0">
                <a:latin typeface="黑体" pitchFamily="2" charset="-122"/>
                <a:ea typeface="黑体" pitchFamily="2" charset="-122"/>
              </a:rPr>
              <a:t>4.3 </a:t>
            </a:r>
            <a:r>
              <a:rPr lang="zh-CN" altLang="en-US" sz="2800" b="1" dirty="0" smtClean="0">
                <a:solidFill>
                  <a:srgbClr val="FF0000"/>
                </a:solidFill>
                <a:latin typeface="黑体" pitchFamily="2" charset="-122"/>
                <a:ea typeface="黑体" pitchFamily="2" charset="-122"/>
              </a:rPr>
              <a:t>电涡流式传感器</a:t>
            </a:r>
            <a:endParaRPr lang="en-US" altLang="zh-CN" sz="2800" b="1" dirty="0" smtClean="0">
              <a:solidFill>
                <a:srgbClr val="FF0000"/>
              </a:solidFill>
              <a:latin typeface="黑体" pitchFamily="2" charset="-122"/>
              <a:ea typeface="黑体" pitchFamily="2" charset="-122"/>
            </a:endParaRPr>
          </a:p>
          <a:p>
            <a:pPr marL="0" lvl="1" indent="620713">
              <a:lnSpc>
                <a:spcPct val="120000"/>
              </a:lnSpc>
            </a:pPr>
            <a:r>
              <a:rPr lang="en-US" altLang="zh-CN" sz="2800" b="1" dirty="0" smtClean="0">
                <a:latin typeface="黑体" pitchFamily="2" charset="-122"/>
                <a:ea typeface="黑体" pitchFamily="2" charset="-122"/>
              </a:rPr>
              <a:t>4.4</a:t>
            </a:r>
            <a:r>
              <a:rPr lang="zh-CN" altLang="en-US" sz="2800" b="1" dirty="0" smtClean="0">
                <a:latin typeface="黑体" pitchFamily="2" charset="-122"/>
                <a:ea typeface="黑体" pitchFamily="2" charset="-122"/>
              </a:rPr>
              <a:t> 压磁式传感器</a:t>
            </a:r>
            <a:endParaRPr lang="en-US" altLang="zh-CN" sz="2800" b="1" dirty="0">
              <a:latin typeface="黑体" pitchFamily="2" charset="-122"/>
              <a:ea typeface="黑体" pitchFamily="2" charset="-122"/>
            </a:endParaRPr>
          </a:p>
          <a:p>
            <a:pPr marL="0" lvl="1" indent="620713">
              <a:lnSpc>
                <a:spcPct val="120000"/>
              </a:lnSpc>
            </a:pPr>
            <a:endParaRPr lang="en-US" altLang="zh-CN" sz="2800" b="1" dirty="0">
              <a:latin typeface="黑体" pitchFamily="2" charset="-122"/>
              <a:ea typeface="黑体" pitchFamily="2" charset="-122"/>
            </a:endParaRPr>
          </a:p>
          <a:p>
            <a:pPr marL="0" lvl="1" indent="620713">
              <a:lnSpc>
                <a:spcPct val="120000"/>
              </a:lnSpc>
            </a:pPr>
            <a:endParaRPr kumimoji="0" lang="zh-CN" altLang="en-US" sz="2800" b="1"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4.3 </a:t>
            </a:r>
            <a:r>
              <a:rPr lang="zh-CN" altLang="en-US" sz="3600" b="1" dirty="0" smtClean="0">
                <a:solidFill>
                  <a:schemeClr val="tx2"/>
                </a:solidFill>
                <a:latin typeface="黑体" pitchFamily="2" charset="-122"/>
                <a:ea typeface="黑体" pitchFamily="2" charset="-122"/>
              </a:rPr>
              <a:t>电涡流式传感器</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2" name="Rectangle 5"/>
          <p:cNvSpPr txBox="1">
            <a:spLocks noChangeArrowheads="1"/>
          </p:cNvSpPr>
          <p:nvPr/>
        </p:nvSpPr>
        <p:spPr bwMode="auto">
          <a:xfrm>
            <a:off x="642910" y="1571612"/>
            <a:ext cx="7581900" cy="571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latinLnBrk="0" hangingPunct="1">
              <a:lnSpc>
                <a:spcPct val="100000"/>
              </a:lnSpc>
              <a:buClrTx/>
              <a:buSzTx/>
              <a:buFontTx/>
              <a:buNone/>
              <a:tabLst/>
              <a:defRPr/>
            </a:pPr>
            <a:r>
              <a:rPr lang="zh-CN" altLang="en-US" sz="2800" b="1" dirty="0" smtClean="0">
                <a:solidFill>
                  <a:srgbClr val="FF6600"/>
                </a:solidFill>
                <a:latin typeface="黑体" pitchFamily="49" charset="-122"/>
                <a:ea typeface="黑体" pitchFamily="49" charset="-122"/>
                <a:cs typeface="+mj-cs"/>
              </a:rPr>
              <a:t>工作原理</a:t>
            </a:r>
          </a:p>
        </p:txBody>
      </p:sp>
      <p:sp>
        <p:nvSpPr>
          <p:cNvPr id="7" name="Text Box 11"/>
          <p:cNvSpPr txBox="1">
            <a:spLocks noChangeArrowheads="1"/>
          </p:cNvSpPr>
          <p:nvPr/>
        </p:nvSpPr>
        <p:spPr bwMode="auto">
          <a:xfrm>
            <a:off x="285720" y="2071678"/>
            <a:ext cx="8572560" cy="1815882"/>
          </a:xfrm>
          <a:prstGeom prst="rect">
            <a:avLst/>
          </a:prstGeom>
          <a:noFill/>
          <a:ln w="9525" algn="ctr">
            <a:noFill/>
            <a:miter lim="800000"/>
            <a:headEnd/>
            <a:tailEnd/>
          </a:ln>
        </p:spPr>
        <p:txBody>
          <a:bodyPr wrap="square">
            <a:spAutoFit/>
          </a:bodyPr>
          <a:lstStyle/>
          <a:p>
            <a:pPr indent="439738">
              <a:spcBef>
                <a:spcPct val="20000"/>
              </a:spcBef>
              <a:buClr>
                <a:schemeClr val="folHlink"/>
              </a:buClr>
              <a:buFont typeface="Wingdings" pitchFamily="2" charset="2"/>
              <a:buNone/>
            </a:pPr>
            <a:r>
              <a:rPr kumimoji="0" lang="zh-CN" altLang="en-US" sz="2800" b="1" dirty="0">
                <a:latin typeface="宋体" charset="-122"/>
                <a:ea typeface="宋体" charset="-122"/>
              </a:rPr>
              <a:t>金属导体</a:t>
            </a:r>
            <a:r>
              <a:rPr kumimoji="0" lang="zh-CN" altLang="en-US" sz="2800" b="1" dirty="0" smtClean="0">
                <a:latin typeface="宋体" charset="-122"/>
                <a:ea typeface="宋体" charset="-122"/>
              </a:rPr>
              <a:t>置于交变磁场</a:t>
            </a:r>
            <a:r>
              <a:rPr kumimoji="0" lang="zh-CN" altLang="en-US" sz="2800" b="1" dirty="0">
                <a:latin typeface="宋体" charset="-122"/>
                <a:ea typeface="宋体" charset="-122"/>
              </a:rPr>
              <a:t>中，导体内就会产生感应电流，称之为电涡流或涡流。这种现象称为涡流效应。涡流式传感器就是在这种涡流效应的基础上建立起来的。</a:t>
            </a:r>
            <a:endParaRPr lang="zh-CN" altLang="en-US" sz="2800" dirty="0"/>
          </a:p>
        </p:txBody>
      </p:sp>
      <p:sp>
        <p:nvSpPr>
          <p:cNvPr id="10" name="Text Box 12"/>
          <p:cNvSpPr txBox="1">
            <a:spLocks noChangeArrowheads="1"/>
          </p:cNvSpPr>
          <p:nvPr/>
        </p:nvSpPr>
        <p:spPr bwMode="auto">
          <a:xfrm>
            <a:off x="214282" y="4143380"/>
            <a:ext cx="8715436" cy="1384995"/>
          </a:xfrm>
          <a:prstGeom prst="rect">
            <a:avLst/>
          </a:prstGeom>
          <a:noFill/>
          <a:ln w="9525">
            <a:noFill/>
            <a:miter lim="800000"/>
            <a:headEnd/>
            <a:tailEnd/>
          </a:ln>
        </p:spPr>
        <p:txBody>
          <a:bodyPr wrap="square">
            <a:spAutoFit/>
          </a:bodyPr>
          <a:lstStyle/>
          <a:p>
            <a:pPr indent="439738">
              <a:spcBef>
                <a:spcPct val="20000"/>
              </a:spcBef>
              <a:buClr>
                <a:schemeClr val="folHlink"/>
              </a:buClr>
            </a:pPr>
            <a:r>
              <a:rPr kumimoji="0" lang="zh-CN" altLang="en-US" sz="2800" b="1" dirty="0">
                <a:latin typeface="宋体" charset="-122"/>
                <a:ea typeface="宋体" charset="-122"/>
              </a:rPr>
              <a:t>涡流式传感器主要由产生交变磁场的通电线圈和置于线圈附近处于交变磁场中的金属导体两部分组成。金属导体也可以是被测对象本身。</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4.3 </a:t>
            </a:r>
            <a:r>
              <a:rPr lang="zh-CN" altLang="en-US" sz="3600" b="1" dirty="0" smtClean="0">
                <a:solidFill>
                  <a:schemeClr val="tx2"/>
                </a:solidFill>
                <a:latin typeface="黑体" pitchFamily="2" charset="-122"/>
                <a:ea typeface="黑体" pitchFamily="2" charset="-122"/>
              </a:rPr>
              <a:t>电涡流式传感器</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pic>
        <p:nvPicPr>
          <p:cNvPr id="73730" name="Picture 2"/>
          <p:cNvPicPr>
            <a:picLocks noChangeAspect="1" noChangeArrowheads="1"/>
          </p:cNvPicPr>
          <p:nvPr/>
        </p:nvPicPr>
        <p:blipFill>
          <a:blip r:embed="rId3"/>
          <a:srcRect/>
          <a:stretch>
            <a:fillRect/>
          </a:stretch>
        </p:blipFill>
        <p:spPr bwMode="auto">
          <a:xfrm>
            <a:off x="5286380" y="1714488"/>
            <a:ext cx="3581400" cy="2400300"/>
          </a:xfrm>
          <a:prstGeom prst="rect">
            <a:avLst/>
          </a:prstGeom>
          <a:noFill/>
          <a:ln w="9525">
            <a:noFill/>
            <a:miter lim="800000"/>
            <a:headEnd/>
            <a:tailEnd/>
          </a:ln>
          <a:effectLst/>
        </p:spPr>
      </p:pic>
      <p:sp>
        <p:nvSpPr>
          <p:cNvPr id="11" name="Text Box 3"/>
          <p:cNvSpPr txBox="1">
            <a:spLocks noChangeArrowheads="1"/>
          </p:cNvSpPr>
          <p:nvPr/>
        </p:nvSpPr>
        <p:spPr bwMode="auto">
          <a:xfrm>
            <a:off x="214282" y="1844675"/>
            <a:ext cx="5000660" cy="1815882"/>
          </a:xfrm>
          <a:prstGeom prst="rect">
            <a:avLst/>
          </a:prstGeom>
          <a:noFill/>
          <a:ln w="9525">
            <a:noFill/>
            <a:miter lim="800000"/>
            <a:headEnd/>
            <a:tailEnd/>
          </a:ln>
        </p:spPr>
        <p:txBody>
          <a:bodyPr wrap="square">
            <a:spAutoFit/>
          </a:bodyPr>
          <a:lstStyle/>
          <a:p>
            <a:r>
              <a:rPr lang="en-US" altLang="zh-CN" b="1" dirty="0">
                <a:solidFill>
                  <a:srgbClr val="0000FF"/>
                </a:solidFill>
                <a:latin typeface="Verdana" pitchFamily="34" charset="0"/>
                <a:ea typeface="宋体" charset="-122"/>
              </a:rPr>
              <a:t>    </a:t>
            </a:r>
            <a:r>
              <a:rPr lang="zh-CN" altLang="en-US" sz="2800" b="1" dirty="0">
                <a:latin typeface="Verdana" pitchFamily="34" charset="0"/>
                <a:ea typeface="宋体" charset="-122"/>
              </a:rPr>
              <a:t>线圈与金属导体之间通过磁场发生关系。线圈受金属导体影响后</a:t>
            </a:r>
            <a:r>
              <a:rPr lang="zh-CN" altLang="en-US" sz="2800" b="1" dirty="0" smtClean="0">
                <a:latin typeface="Verdana" pitchFamily="34" charset="0"/>
                <a:ea typeface="宋体" charset="-122"/>
              </a:rPr>
              <a:t>，根据</a:t>
            </a:r>
            <a:r>
              <a:rPr lang="zh-CN" altLang="en-US" sz="2800" b="1" dirty="0">
                <a:latin typeface="Verdana" pitchFamily="34" charset="0"/>
                <a:ea typeface="宋体" charset="-122"/>
              </a:rPr>
              <a:t>基尔霍夫定律，有：</a:t>
            </a:r>
          </a:p>
        </p:txBody>
      </p:sp>
      <p:graphicFrame>
        <p:nvGraphicFramePr>
          <p:cNvPr id="73731" name="Object 5"/>
          <p:cNvGraphicFramePr>
            <a:graphicFrameLocks noChangeAspect="1"/>
          </p:cNvGraphicFramePr>
          <p:nvPr/>
        </p:nvGraphicFramePr>
        <p:xfrm>
          <a:off x="857224" y="3643314"/>
          <a:ext cx="4038600" cy="1173163"/>
        </p:xfrm>
        <a:graphic>
          <a:graphicData uri="http://schemas.openxmlformats.org/presentationml/2006/ole">
            <p:oleObj spid="_x0000_s73731" name="图像文档" r:id="rId4" imgW="3048120" imgH="885960" progId="">
              <p:embed/>
            </p:oleObj>
          </a:graphicData>
        </a:graphic>
      </p:graphicFrame>
      <p:sp>
        <p:nvSpPr>
          <p:cNvPr id="13" name="TextBox 12"/>
          <p:cNvSpPr txBox="1"/>
          <p:nvPr/>
        </p:nvSpPr>
        <p:spPr>
          <a:xfrm>
            <a:off x="571472" y="5000636"/>
            <a:ext cx="8001056" cy="1384995"/>
          </a:xfrm>
          <a:prstGeom prst="rect">
            <a:avLst/>
          </a:prstGeom>
          <a:noFill/>
        </p:spPr>
        <p:txBody>
          <a:bodyPr wrap="square" rtlCol="0">
            <a:spAutoFit/>
          </a:bodyPr>
          <a:lstStyle/>
          <a:p>
            <a:r>
              <a:rPr lang="en-US" altLang="zh-CN" sz="2800" b="1" i="1" dirty="0" smtClean="0">
                <a:solidFill>
                  <a:srgbClr val="FF0000"/>
                </a:solidFill>
                <a:latin typeface="Times New Roman" pitchFamily="18" charset="0"/>
                <a:cs typeface="Times New Roman" pitchFamily="18" charset="0"/>
              </a:rPr>
              <a:t>R</a:t>
            </a:r>
            <a:r>
              <a:rPr lang="en-US" altLang="zh-CN" sz="2800" b="1" i="1" baseline="-25000" dirty="0" smtClean="0">
                <a:solidFill>
                  <a:srgbClr val="FF0000"/>
                </a:solidFill>
                <a:latin typeface="Times New Roman" pitchFamily="18" charset="0"/>
                <a:cs typeface="Times New Roman" pitchFamily="18" charset="0"/>
              </a:rPr>
              <a:t>1</a:t>
            </a:r>
            <a:r>
              <a:rPr lang="zh-CN" altLang="en-US" sz="2800" b="1" i="1" baseline="-25000" dirty="0" smtClean="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a:t>
            </a:r>
            <a:r>
              <a:rPr lang="zh-CN" altLang="en-US" sz="2800" b="1" dirty="0" smtClean="0">
                <a:latin typeface="Times New Roman" pitchFamily="18" charset="0"/>
                <a:cs typeface="Times New Roman" pitchFamily="18" charset="0"/>
              </a:rPr>
              <a:t> </a:t>
            </a:r>
            <a:r>
              <a:rPr lang="en-US" altLang="zh-CN" sz="2800" b="1" i="1" dirty="0" smtClean="0">
                <a:solidFill>
                  <a:srgbClr val="FF0000"/>
                </a:solidFill>
                <a:latin typeface="Times New Roman" pitchFamily="18" charset="0"/>
                <a:cs typeface="Times New Roman" pitchFamily="18" charset="0"/>
              </a:rPr>
              <a:t>L</a:t>
            </a:r>
            <a:r>
              <a:rPr lang="en-US" altLang="zh-CN" sz="2800" b="1" i="1" baseline="-25000" dirty="0" smtClean="0">
                <a:solidFill>
                  <a:srgbClr val="FF0000"/>
                </a:solidFill>
                <a:latin typeface="Times New Roman" pitchFamily="18" charset="0"/>
                <a:cs typeface="Times New Roman" pitchFamily="18" charset="0"/>
              </a:rPr>
              <a:t>1</a:t>
            </a:r>
            <a:r>
              <a:rPr lang="en-US" altLang="zh-CN" sz="2800" b="1" dirty="0" smtClean="0">
                <a:solidFill>
                  <a:srgbClr val="FF0000"/>
                </a:solidFill>
              </a:rPr>
              <a:t> </a:t>
            </a:r>
            <a:r>
              <a:rPr lang="zh-CN" altLang="en-US" sz="2800" b="1" dirty="0" smtClean="0">
                <a:solidFill>
                  <a:srgbClr val="FF0000"/>
                </a:solidFill>
              </a:rPr>
              <a:t>：</a:t>
            </a:r>
            <a:r>
              <a:rPr lang="zh-CN" altLang="en-US" sz="2800" b="1" dirty="0" smtClean="0"/>
              <a:t>线圈的电阻和电感；</a:t>
            </a:r>
            <a:endParaRPr lang="en-US" altLang="zh-CN" sz="2800" b="1" dirty="0" smtClean="0"/>
          </a:p>
          <a:p>
            <a:r>
              <a:rPr lang="en-US" altLang="zh-CN" sz="2800" b="1" i="1" dirty="0" smtClean="0">
                <a:solidFill>
                  <a:srgbClr val="FF0000"/>
                </a:solidFill>
                <a:latin typeface="Times New Roman" pitchFamily="18" charset="0"/>
                <a:cs typeface="Times New Roman" pitchFamily="18" charset="0"/>
              </a:rPr>
              <a:t>R</a:t>
            </a:r>
            <a:r>
              <a:rPr lang="en-US" altLang="zh-CN" sz="2800" b="1" i="1" baseline="-25000" dirty="0" smtClean="0">
                <a:solidFill>
                  <a:srgbClr val="FF0000"/>
                </a:solidFill>
                <a:latin typeface="Times New Roman" pitchFamily="18" charset="0"/>
                <a:cs typeface="Times New Roman" pitchFamily="18" charset="0"/>
              </a:rPr>
              <a:t>2</a:t>
            </a:r>
            <a:r>
              <a:rPr lang="zh-CN" altLang="en-US" sz="2800" b="1" i="1" baseline="-25000" dirty="0" smtClean="0">
                <a:latin typeface="Times New Roman" pitchFamily="18" charset="0"/>
                <a:cs typeface="Times New Roman" pitchFamily="18" charset="0"/>
              </a:rPr>
              <a:t> </a:t>
            </a:r>
            <a:r>
              <a:rPr lang="en-US" altLang="zh-CN" sz="2800" b="1" dirty="0" smtClean="0">
                <a:latin typeface="Times New Roman" pitchFamily="18" charset="0"/>
                <a:cs typeface="Times New Roman" pitchFamily="18" charset="0"/>
              </a:rPr>
              <a:t>,</a:t>
            </a:r>
            <a:r>
              <a:rPr lang="zh-CN" altLang="en-US" sz="2800" b="1" dirty="0" smtClean="0">
                <a:latin typeface="Times New Roman" pitchFamily="18" charset="0"/>
                <a:cs typeface="Times New Roman" pitchFamily="18" charset="0"/>
              </a:rPr>
              <a:t> </a:t>
            </a:r>
            <a:r>
              <a:rPr lang="en-US" altLang="zh-CN" sz="2800" b="1" i="1" dirty="0" smtClean="0">
                <a:solidFill>
                  <a:srgbClr val="FF0000"/>
                </a:solidFill>
                <a:latin typeface="Times New Roman" pitchFamily="18" charset="0"/>
                <a:cs typeface="Times New Roman" pitchFamily="18" charset="0"/>
              </a:rPr>
              <a:t>L</a:t>
            </a:r>
            <a:r>
              <a:rPr lang="en-US" altLang="zh-CN" sz="2800" b="1" i="1" baseline="-25000" dirty="0" smtClean="0">
                <a:solidFill>
                  <a:srgbClr val="FF0000"/>
                </a:solidFill>
                <a:latin typeface="Times New Roman" pitchFamily="18" charset="0"/>
                <a:cs typeface="Times New Roman" pitchFamily="18" charset="0"/>
              </a:rPr>
              <a:t>2</a:t>
            </a:r>
            <a:r>
              <a:rPr lang="en-US" altLang="zh-CN" sz="2800" b="1" dirty="0" smtClean="0">
                <a:solidFill>
                  <a:srgbClr val="FF0000"/>
                </a:solidFill>
              </a:rPr>
              <a:t> </a:t>
            </a:r>
            <a:r>
              <a:rPr lang="zh-CN" altLang="en-US" sz="2800" b="1" dirty="0" smtClean="0">
                <a:solidFill>
                  <a:srgbClr val="FF0000"/>
                </a:solidFill>
              </a:rPr>
              <a:t>：</a:t>
            </a:r>
            <a:r>
              <a:rPr lang="zh-CN" altLang="en-US" sz="2800" b="1" dirty="0" smtClean="0"/>
              <a:t>金属导体的电阻和电感；</a:t>
            </a:r>
            <a:endParaRPr lang="en-US" altLang="zh-CN" sz="2800" b="1" dirty="0" smtClean="0"/>
          </a:p>
          <a:p>
            <a:r>
              <a:rPr lang="en-US" altLang="zh-CN" sz="2800" b="1" i="1" dirty="0" smtClean="0">
                <a:solidFill>
                  <a:srgbClr val="FF0000"/>
                </a:solidFill>
                <a:latin typeface="Times New Roman" pitchFamily="18" charset="0"/>
                <a:cs typeface="Times New Roman" pitchFamily="18" charset="0"/>
              </a:rPr>
              <a:t>U</a:t>
            </a:r>
            <a:r>
              <a:rPr lang="zh-CN" altLang="en-US" sz="2800" b="1" i="1" dirty="0" smtClean="0">
                <a:solidFill>
                  <a:srgbClr val="FF0000"/>
                </a:solidFill>
                <a:latin typeface="Times New Roman" pitchFamily="18" charset="0"/>
                <a:cs typeface="Times New Roman" pitchFamily="18" charset="0"/>
              </a:rPr>
              <a:t> </a:t>
            </a:r>
            <a:r>
              <a:rPr lang="zh-CN" altLang="en-US" sz="2800" b="1" dirty="0" smtClean="0"/>
              <a:t>线圈的激励电压；</a:t>
            </a:r>
            <a:endParaRPr lang="zh-CN" alt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4.3 </a:t>
            </a:r>
            <a:r>
              <a:rPr lang="zh-CN" altLang="en-US" sz="3600" b="1" dirty="0" smtClean="0">
                <a:solidFill>
                  <a:schemeClr val="tx2"/>
                </a:solidFill>
                <a:latin typeface="黑体" pitchFamily="2" charset="-122"/>
                <a:ea typeface="黑体" pitchFamily="2" charset="-122"/>
              </a:rPr>
              <a:t>电涡流式传感器</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0" name="Rectangle 11"/>
          <p:cNvSpPr txBox="1">
            <a:spLocks noChangeArrowheads="1"/>
          </p:cNvSpPr>
          <p:nvPr/>
        </p:nvSpPr>
        <p:spPr bwMode="auto">
          <a:xfrm>
            <a:off x="642910" y="1571612"/>
            <a:ext cx="8027987" cy="5873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 typeface="Wingdings" pitchFamily="2" charset="2"/>
              <a:buChar char="u"/>
              <a:tabLst/>
              <a:defRPr/>
            </a:pPr>
            <a:r>
              <a:rPr kumimoji="0" lang="zh-CN" altLang="en-US" sz="2800" b="1" i="0" u="none" strike="noStrike" kern="1200" cap="none" spc="0" normalizeH="0" baseline="0" noProof="0" dirty="0" smtClean="0">
                <a:ln>
                  <a:noFill/>
                </a:ln>
                <a:effectLst/>
                <a:uLnTx/>
                <a:uFillTx/>
                <a:latin typeface="+mj-lt"/>
                <a:ea typeface="+mj-ea"/>
                <a:cs typeface="+mj-cs"/>
              </a:rPr>
              <a:t>等效阻抗</a:t>
            </a:r>
          </a:p>
        </p:txBody>
      </p:sp>
      <p:grpSp>
        <p:nvGrpSpPr>
          <p:cNvPr id="2" name="组合 15"/>
          <p:cNvGrpSpPr/>
          <p:nvPr/>
        </p:nvGrpSpPr>
        <p:grpSpPr>
          <a:xfrm>
            <a:off x="1071538" y="2143116"/>
            <a:ext cx="6942754" cy="938210"/>
            <a:chOff x="1071538" y="2143116"/>
            <a:chExt cx="6942754" cy="938210"/>
          </a:xfrm>
        </p:grpSpPr>
        <p:graphicFrame>
          <p:nvGraphicFramePr>
            <p:cNvPr id="74755" name="Object 7"/>
            <p:cNvGraphicFramePr>
              <a:graphicFrameLocks noChangeAspect="1"/>
            </p:cNvGraphicFramePr>
            <p:nvPr/>
          </p:nvGraphicFramePr>
          <p:xfrm>
            <a:off x="1071538" y="2143116"/>
            <a:ext cx="6942754" cy="938210"/>
          </p:xfrm>
          <a:graphic>
            <a:graphicData uri="http://schemas.openxmlformats.org/presentationml/2006/ole">
              <p:oleObj spid="_x0000_s75778" name="图像文档" r:id="rId3" imgW="5638680" imgH="762120" progId="">
                <p:embed/>
              </p:oleObj>
            </a:graphicData>
          </a:graphic>
        </p:graphicFrame>
        <p:sp>
          <p:nvSpPr>
            <p:cNvPr id="15" name="TextBox 14"/>
            <p:cNvSpPr txBox="1"/>
            <p:nvPr/>
          </p:nvSpPr>
          <p:spPr>
            <a:xfrm>
              <a:off x="4786314" y="2428868"/>
              <a:ext cx="285752" cy="400110"/>
            </a:xfrm>
            <a:prstGeom prst="rect">
              <a:avLst/>
            </a:prstGeom>
            <a:solidFill>
              <a:schemeClr val="bg1"/>
            </a:solidFill>
          </p:spPr>
          <p:txBody>
            <a:bodyPr wrap="square" rtlCol="0">
              <a:spAutoFit/>
            </a:bodyPr>
            <a:lstStyle/>
            <a:p>
              <a:r>
                <a:rPr lang="en-US" altLang="zh-CN" dirty="0" smtClean="0"/>
                <a:t>+</a:t>
              </a:r>
              <a:endParaRPr lang="zh-CN" altLang="en-US" dirty="0"/>
            </a:p>
          </p:txBody>
        </p:sp>
      </p:grpSp>
      <p:grpSp>
        <p:nvGrpSpPr>
          <p:cNvPr id="3" name="组合 18"/>
          <p:cNvGrpSpPr/>
          <p:nvPr/>
        </p:nvGrpSpPr>
        <p:grpSpPr>
          <a:xfrm>
            <a:off x="785786" y="2214554"/>
            <a:ext cx="4071966" cy="1928826"/>
            <a:chOff x="785786" y="2214554"/>
            <a:chExt cx="4071966" cy="1928826"/>
          </a:xfrm>
        </p:grpSpPr>
        <p:sp>
          <p:nvSpPr>
            <p:cNvPr id="17" name="圆角矩形 16"/>
            <p:cNvSpPr/>
            <p:nvPr/>
          </p:nvSpPr>
          <p:spPr>
            <a:xfrm>
              <a:off x="2500298" y="2214554"/>
              <a:ext cx="2357454" cy="85725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标注 17"/>
            <p:cNvSpPr/>
            <p:nvPr/>
          </p:nvSpPr>
          <p:spPr>
            <a:xfrm>
              <a:off x="785786" y="3500438"/>
              <a:ext cx="1571636" cy="642942"/>
            </a:xfrm>
            <a:prstGeom prst="wedgeRoundRectCallout">
              <a:avLst>
                <a:gd name="adj1" fmla="val 90815"/>
                <a:gd name="adj2" fmla="val -115228"/>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rgbClr val="FF0000"/>
                  </a:solidFill>
                </a:rPr>
                <a:t>等效电阻 </a:t>
              </a:r>
              <a:r>
                <a:rPr lang="en-US" altLang="zh-CN" b="1" i="1" dirty="0" smtClean="0">
                  <a:solidFill>
                    <a:srgbClr val="FF0000"/>
                  </a:solidFill>
                  <a:latin typeface="Times New Roman" pitchFamily="18" charset="0"/>
                  <a:cs typeface="Times New Roman" pitchFamily="18" charset="0"/>
                </a:rPr>
                <a:t>R</a:t>
              </a:r>
              <a:endParaRPr lang="zh-CN" altLang="en-US" b="1" i="1" dirty="0">
                <a:solidFill>
                  <a:srgbClr val="FF0000"/>
                </a:solidFill>
                <a:latin typeface="Times New Roman" pitchFamily="18" charset="0"/>
                <a:cs typeface="Times New Roman" pitchFamily="18" charset="0"/>
              </a:endParaRPr>
            </a:p>
          </p:txBody>
        </p:sp>
      </p:grpSp>
      <p:grpSp>
        <p:nvGrpSpPr>
          <p:cNvPr id="4" name="组合 21"/>
          <p:cNvGrpSpPr/>
          <p:nvPr/>
        </p:nvGrpSpPr>
        <p:grpSpPr>
          <a:xfrm>
            <a:off x="4500562" y="2214554"/>
            <a:ext cx="3429024" cy="1928826"/>
            <a:chOff x="4500562" y="2214554"/>
            <a:chExt cx="3429024" cy="1928826"/>
          </a:xfrm>
        </p:grpSpPr>
        <p:sp>
          <p:nvSpPr>
            <p:cNvPr id="20" name="圆角矩形标注 19"/>
            <p:cNvSpPr/>
            <p:nvPr/>
          </p:nvSpPr>
          <p:spPr>
            <a:xfrm>
              <a:off x="4500562" y="3500438"/>
              <a:ext cx="1571636" cy="642942"/>
            </a:xfrm>
            <a:prstGeom prst="wedgeRoundRectCallout">
              <a:avLst>
                <a:gd name="adj1" fmla="val 90815"/>
                <a:gd name="adj2" fmla="val -115228"/>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rgbClr val="FF0000"/>
                  </a:solidFill>
                </a:rPr>
                <a:t>等效电感 </a:t>
              </a:r>
              <a:r>
                <a:rPr lang="en-US" altLang="zh-CN" b="1" i="1" dirty="0" smtClean="0">
                  <a:solidFill>
                    <a:srgbClr val="FF0000"/>
                  </a:solidFill>
                  <a:latin typeface="Times New Roman" pitchFamily="18" charset="0"/>
                  <a:cs typeface="Times New Roman" pitchFamily="18" charset="0"/>
                </a:rPr>
                <a:t>L</a:t>
              </a:r>
              <a:endParaRPr lang="zh-CN" altLang="en-US" b="1" i="1" dirty="0">
                <a:solidFill>
                  <a:srgbClr val="FF0000"/>
                </a:solidFill>
                <a:latin typeface="Times New Roman" pitchFamily="18" charset="0"/>
                <a:cs typeface="Times New Roman" pitchFamily="18" charset="0"/>
              </a:endParaRPr>
            </a:p>
          </p:txBody>
        </p:sp>
        <p:sp>
          <p:nvSpPr>
            <p:cNvPr id="21" name="圆角矩形 20"/>
            <p:cNvSpPr/>
            <p:nvPr/>
          </p:nvSpPr>
          <p:spPr>
            <a:xfrm>
              <a:off x="5357818" y="2214554"/>
              <a:ext cx="2571768" cy="85725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Text Box 4"/>
          <p:cNvSpPr txBox="1">
            <a:spLocks noChangeArrowheads="1"/>
          </p:cNvSpPr>
          <p:nvPr/>
        </p:nvSpPr>
        <p:spPr bwMode="auto">
          <a:xfrm>
            <a:off x="642910" y="4286256"/>
            <a:ext cx="2911475" cy="523220"/>
          </a:xfrm>
          <a:prstGeom prst="rect">
            <a:avLst/>
          </a:prstGeom>
          <a:noFill/>
          <a:ln w="9525">
            <a:noFill/>
            <a:miter lim="800000"/>
            <a:headEnd/>
            <a:tailEnd/>
          </a:ln>
        </p:spPr>
        <p:txBody>
          <a:bodyPr>
            <a:spAutoFit/>
          </a:bodyPr>
          <a:lstStyle/>
          <a:p>
            <a:pPr>
              <a:buFont typeface="Wingdings" pitchFamily="2" charset="2"/>
              <a:buChar char="u"/>
            </a:pPr>
            <a:r>
              <a:rPr kumimoji="0" lang="zh-CN" altLang="en-US" sz="2800" b="1" dirty="0" smtClean="0">
                <a:latin typeface="+mj-lt"/>
                <a:ea typeface="+mj-ea"/>
                <a:cs typeface="+mj-cs"/>
              </a:rPr>
              <a:t> 品质因数</a:t>
            </a:r>
          </a:p>
        </p:txBody>
      </p:sp>
      <p:graphicFrame>
        <p:nvGraphicFramePr>
          <p:cNvPr id="74756" name="Object 8"/>
          <p:cNvGraphicFramePr>
            <a:graphicFrameLocks noChangeAspect="1"/>
          </p:cNvGraphicFramePr>
          <p:nvPr/>
        </p:nvGraphicFramePr>
        <p:xfrm>
          <a:off x="2786050" y="4286256"/>
          <a:ext cx="3857625" cy="1104900"/>
        </p:xfrm>
        <a:graphic>
          <a:graphicData uri="http://schemas.openxmlformats.org/presentationml/2006/ole">
            <p:oleObj spid="_x0000_s75779" name="图像文档" r:id="rId4" imgW="3857760" imgH="1104840" progId="">
              <p:embed/>
            </p:oleObj>
          </a:graphicData>
        </a:graphic>
      </p:graphicFrame>
      <p:sp>
        <p:nvSpPr>
          <p:cNvPr id="24" name="Text Box 5"/>
          <p:cNvSpPr txBox="1">
            <a:spLocks noChangeArrowheads="1"/>
          </p:cNvSpPr>
          <p:nvPr/>
        </p:nvSpPr>
        <p:spPr bwMode="auto">
          <a:xfrm>
            <a:off x="428596" y="5500702"/>
            <a:ext cx="8458200" cy="1200329"/>
          </a:xfrm>
          <a:prstGeom prst="rect">
            <a:avLst/>
          </a:prstGeom>
          <a:solidFill>
            <a:srgbClr val="92D050"/>
          </a:solidFill>
          <a:ln w="9525">
            <a:noFill/>
            <a:miter lim="800000"/>
            <a:headEnd/>
            <a:tailEnd/>
          </a:ln>
        </p:spPr>
        <p:txBody>
          <a:bodyPr>
            <a:spAutoFit/>
          </a:bodyPr>
          <a:lstStyle/>
          <a:p>
            <a:r>
              <a:rPr lang="en-US" altLang="zh-CN" sz="2000" b="1" dirty="0">
                <a:solidFill>
                  <a:srgbClr val="0000FF"/>
                </a:solidFill>
                <a:latin typeface="Verdana" pitchFamily="34" charset="0"/>
                <a:ea typeface="宋体" charset="-122"/>
              </a:rPr>
              <a:t>      </a:t>
            </a:r>
            <a:r>
              <a:rPr lang="zh-CN" altLang="en-US" sz="2400" b="1" dirty="0" smtClean="0">
                <a:solidFill>
                  <a:srgbClr val="0000FF"/>
                </a:solidFill>
                <a:latin typeface="Verdana" pitchFamily="34" charset="0"/>
                <a:ea typeface="宋体" charset="-122"/>
              </a:rPr>
              <a:t>被</a:t>
            </a:r>
            <a:r>
              <a:rPr lang="zh-CN" altLang="en-US" sz="2400" b="1" dirty="0">
                <a:solidFill>
                  <a:srgbClr val="0000FF"/>
                </a:solidFill>
                <a:latin typeface="Verdana" pitchFamily="34" charset="0"/>
                <a:ea typeface="宋体" charset="-122"/>
              </a:rPr>
              <a:t>测参数的变化，能</a:t>
            </a:r>
            <a:r>
              <a:rPr lang="zh-CN" altLang="en-US" sz="2400" b="1" dirty="0" smtClean="0">
                <a:solidFill>
                  <a:srgbClr val="0000FF"/>
                </a:solidFill>
                <a:latin typeface="Verdana" pitchFamily="34" charset="0"/>
                <a:ea typeface="宋体" charset="-122"/>
              </a:rPr>
              <a:t>引起 </a:t>
            </a:r>
            <a:r>
              <a:rPr lang="en-US" altLang="zh-CN" sz="2400" b="1" i="1" dirty="0" smtClean="0">
                <a:solidFill>
                  <a:srgbClr val="CC3300"/>
                </a:solidFill>
                <a:latin typeface="Times New Roman" pitchFamily="18" charset="0"/>
                <a:ea typeface="宋体" charset="-122"/>
              </a:rPr>
              <a:t>Q</a:t>
            </a:r>
            <a:r>
              <a:rPr lang="zh-CN" altLang="en-US" sz="2400" b="1" dirty="0">
                <a:solidFill>
                  <a:srgbClr val="0000FF"/>
                </a:solidFill>
                <a:latin typeface="Times New Roman" pitchFamily="18" charset="0"/>
                <a:ea typeface="宋体" charset="-122"/>
              </a:rPr>
              <a:t>、</a:t>
            </a:r>
            <a:r>
              <a:rPr lang="en-US" altLang="zh-CN" sz="2400" b="1" i="1" dirty="0" smtClean="0">
                <a:solidFill>
                  <a:srgbClr val="CC3300"/>
                </a:solidFill>
                <a:latin typeface="Times New Roman" pitchFamily="18" charset="0"/>
                <a:ea typeface="宋体" charset="-122"/>
              </a:rPr>
              <a:t>L</a:t>
            </a:r>
            <a:r>
              <a:rPr lang="zh-CN" altLang="en-US" sz="2400" b="1" i="1" dirty="0" smtClean="0">
                <a:solidFill>
                  <a:srgbClr val="CC3300"/>
                </a:solidFill>
                <a:latin typeface="Times New Roman" pitchFamily="18" charset="0"/>
                <a:ea typeface="宋体" charset="-122"/>
              </a:rPr>
              <a:t> </a:t>
            </a:r>
            <a:r>
              <a:rPr lang="zh-CN" altLang="en-US" sz="2400" b="1" dirty="0" smtClean="0">
                <a:solidFill>
                  <a:srgbClr val="0000FF"/>
                </a:solidFill>
                <a:latin typeface="Times New Roman" pitchFamily="18" charset="0"/>
                <a:ea typeface="宋体" charset="-122"/>
              </a:rPr>
              <a:t>和 </a:t>
            </a:r>
            <a:r>
              <a:rPr lang="en-US" altLang="zh-CN" sz="2400" b="1" i="1" dirty="0" smtClean="0">
                <a:solidFill>
                  <a:srgbClr val="CC3300"/>
                </a:solidFill>
                <a:latin typeface="Times New Roman" pitchFamily="18" charset="0"/>
                <a:ea typeface="宋体" charset="-122"/>
              </a:rPr>
              <a:t>Z</a:t>
            </a:r>
            <a:r>
              <a:rPr lang="zh-CN" altLang="en-US" sz="2400" b="1" i="1" dirty="0" smtClean="0">
                <a:solidFill>
                  <a:srgbClr val="CC3300"/>
                </a:solidFill>
                <a:latin typeface="Times New Roman" pitchFamily="18" charset="0"/>
                <a:ea typeface="宋体" charset="-122"/>
              </a:rPr>
              <a:t> </a:t>
            </a:r>
            <a:r>
              <a:rPr lang="zh-CN" altLang="en-US" sz="2400" b="1" dirty="0" smtClean="0">
                <a:solidFill>
                  <a:srgbClr val="0000FF"/>
                </a:solidFill>
                <a:latin typeface="Verdana" pitchFamily="34" charset="0"/>
                <a:ea typeface="宋体" charset="-122"/>
              </a:rPr>
              <a:t>的变化；涡流</a:t>
            </a:r>
            <a:r>
              <a:rPr lang="zh-CN" altLang="en-US" sz="2400" b="1" dirty="0">
                <a:solidFill>
                  <a:srgbClr val="0000FF"/>
                </a:solidFill>
                <a:latin typeface="Verdana" pitchFamily="34" charset="0"/>
                <a:ea typeface="宋体" charset="-122"/>
              </a:rPr>
              <a:t>传感器可使用其中任意一个参数作为输出，转换成电量，达到测量的目的。</a:t>
            </a:r>
          </a:p>
        </p:txBody>
      </p:sp>
      <p:sp>
        <p:nvSpPr>
          <p:cNvPr id="19" name="圆角矩形标注 18"/>
          <p:cNvSpPr/>
          <p:nvPr/>
        </p:nvSpPr>
        <p:spPr>
          <a:xfrm>
            <a:off x="6500826" y="3286124"/>
            <a:ext cx="2643174" cy="1357322"/>
          </a:xfrm>
          <a:prstGeom prst="wedgeRoundRectCallout">
            <a:avLst>
              <a:gd name="adj1" fmla="val -74532"/>
              <a:gd name="adj2" fmla="val 129927"/>
              <a:gd name="adj3" fmla="val 16667"/>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smtClean="0">
                <a:solidFill>
                  <a:srgbClr val="FF0000"/>
                </a:solidFill>
                <a:latin typeface="Times New Roman" pitchFamily="18" charset="0"/>
                <a:cs typeface="Times New Roman" pitchFamily="18" charset="0"/>
              </a:rPr>
              <a:t>Z =f (</a:t>
            </a:r>
            <a:r>
              <a:rPr lang="el-GR" altLang="zh-CN" b="1" i="1" dirty="0" smtClean="0">
                <a:solidFill>
                  <a:srgbClr val="FF0000"/>
                </a:solidFill>
                <a:latin typeface="Times New Roman" pitchFamily="18" charset="0"/>
                <a:cs typeface="Times New Roman" pitchFamily="18" charset="0"/>
              </a:rPr>
              <a:t>ρ</a:t>
            </a:r>
            <a:r>
              <a:rPr lang="en-US" altLang="zh-CN" b="1" i="1" dirty="0" smtClean="0">
                <a:solidFill>
                  <a:srgbClr val="FF0000"/>
                </a:solidFill>
                <a:latin typeface="Times New Roman" pitchFamily="18" charset="0"/>
                <a:cs typeface="Times New Roman" pitchFamily="18" charset="0"/>
              </a:rPr>
              <a:t>, </a:t>
            </a:r>
            <a:r>
              <a:rPr lang="el-GR" altLang="zh-CN" b="1" i="1" dirty="0" smtClean="0">
                <a:solidFill>
                  <a:srgbClr val="FF0000"/>
                </a:solidFill>
                <a:latin typeface="Times New Roman" pitchFamily="18" charset="0"/>
                <a:cs typeface="Times New Roman" pitchFamily="18" charset="0"/>
              </a:rPr>
              <a:t>μ</a:t>
            </a:r>
            <a:r>
              <a:rPr lang="en-US" altLang="zh-CN" b="1" i="1" dirty="0" smtClean="0">
                <a:solidFill>
                  <a:srgbClr val="FF0000"/>
                </a:solidFill>
                <a:latin typeface="Times New Roman" pitchFamily="18" charset="0"/>
                <a:cs typeface="Times New Roman" pitchFamily="18" charset="0"/>
              </a:rPr>
              <a:t>, </a:t>
            </a:r>
            <a:r>
              <a:rPr lang="el-GR" altLang="zh-CN" b="1" i="1" dirty="0" smtClean="0">
                <a:solidFill>
                  <a:srgbClr val="FF0000"/>
                </a:solidFill>
                <a:latin typeface="Times New Roman" pitchFamily="18" charset="0"/>
                <a:cs typeface="Times New Roman" pitchFamily="18" charset="0"/>
              </a:rPr>
              <a:t>ω</a:t>
            </a:r>
            <a:r>
              <a:rPr lang="en-US" altLang="zh-CN" b="1" i="1" dirty="0" smtClean="0">
                <a:solidFill>
                  <a:srgbClr val="FF0000"/>
                </a:solidFill>
                <a:latin typeface="Times New Roman" pitchFamily="18" charset="0"/>
                <a:cs typeface="Times New Roman" pitchFamily="18" charset="0"/>
              </a:rPr>
              <a:t>, x)</a:t>
            </a:r>
          </a:p>
          <a:p>
            <a:pPr algn="ctr"/>
            <a:r>
              <a:rPr lang="zh-CN" altLang="en-US" b="1" dirty="0" smtClean="0">
                <a:solidFill>
                  <a:schemeClr val="tx1"/>
                </a:solidFill>
                <a:latin typeface="Times New Roman" pitchFamily="18" charset="0"/>
                <a:cs typeface="Times New Roman" pitchFamily="18" charset="0"/>
              </a:rPr>
              <a:t>控制其中一个参数变化，其它参数恒定，就可以测量特定参数！</a:t>
            </a:r>
            <a:endParaRPr lang="zh-CN" altLang="en-US"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linds(horizont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4756"/>
                                        </p:tgtEl>
                                        <p:attrNameLst>
                                          <p:attrName>style.visibility</p:attrName>
                                        </p:attrNameLst>
                                      </p:cBhvr>
                                      <p:to>
                                        <p:strVal val="visible"/>
                                      </p:to>
                                    </p:set>
                                    <p:animEffect transition="in" filter="blinds(horizontal)">
                                      <p:cBhvr>
                                        <p:cTn id="22" dur="500"/>
                                        <p:tgtEl>
                                          <p:spTgt spid="7475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blinds(horizontal)">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checkerboard(across)">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1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4.3 </a:t>
            </a:r>
            <a:r>
              <a:rPr lang="zh-CN" altLang="en-US" sz="3600" b="1" dirty="0" smtClean="0">
                <a:solidFill>
                  <a:schemeClr val="tx2"/>
                </a:solidFill>
                <a:latin typeface="黑体" pitchFamily="2" charset="-122"/>
                <a:ea typeface="黑体" pitchFamily="2" charset="-122"/>
              </a:rPr>
              <a:t>电涡流式传感器</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0" name="Rectangle 11"/>
          <p:cNvSpPr txBox="1">
            <a:spLocks noChangeArrowheads="1"/>
          </p:cNvSpPr>
          <p:nvPr/>
        </p:nvSpPr>
        <p:spPr bwMode="auto">
          <a:xfrm>
            <a:off x="642910" y="1571612"/>
            <a:ext cx="8027987" cy="5873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 typeface="Wingdings" pitchFamily="2" charset="2"/>
              <a:buChar char="u"/>
              <a:tabLst/>
              <a:defRPr/>
            </a:pPr>
            <a:r>
              <a:rPr kumimoji="0" lang="zh-CN" altLang="en-US" sz="2800" b="1" i="0" u="none" strike="noStrike" kern="1200" cap="none" spc="0" normalizeH="0" baseline="0" noProof="0" dirty="0" smtClean="0">
                <a:ln>
                  <a:noFill/>
                </a:ln>
                <a:effectLst/>
                <a:uLnTx/>
                <a:uFillTx/>
                <a:latin typeface="+mj-lt"/>
                <a:ea typeface="+mj-ea"/>
                <a:cs typeface="+mj-cs"/>
              </a:rPr>
              <a:t>转换电路</a:t>
            </a:r>
          </a:p>
        </p:txBody>
      </p:sp>
      <p:sp>
        <p:nvSpPr>
          <p:cNvPr id="25" name="Text Box 14"/>
          <p:cNvSpPr txBox="1">
            <a:spLocks noChangeArrowheads="1"/>
          </p:cNvSpPr>
          <p:nvPr/>
        </p:nvSpPr>
        <p:spPr bwMode="auto">
          <a:xfrm>
            <a:off x="214282" y="2071678"/>
            <a:ext cx="8715436" cy="1514261"/>
          </a:xfrm>
          <a:prstGeom prst="rect">
            <a:avLst/>
          </a:prstGeom>
          <a:noFill/>
          <a:ln w="9525" algn="ctr">
            <a:noFill/>
            <a:miter lim="800000"/>
            <a:headEnd/>
            <a:tailEnd/>
          </a:ln>
        </p:spPr>
        <p:txBody>
          <a:bodyPr wrap="square">
            <a:spAutoFit/>
          </a:bodyPr>
          <a:lstStyle/>
          <a:p>
            <a:pPr indent="541338">
              <a:lnSpc>
                <a:spcPct val="110000"/>
              </a:lnSpc>
              <a:spcBef>
                <a:spcPct val="50000"/>
              </a:spcBef>
            </a:pPr>
            <a:r>
              <a:rPr lang="zh-CN" altLang="en-US" sz="2800" b="1" dirty="0">
                <a:latin typeface="宋体" charset="-122"/>
                <a:ea typeface="宋体" charset="-122"/>
              </a:rPr>
              <a:t>涡流式传感器可以使用</a:t>
            </a:r>
            <a:r>
              <a:rPr lang="en-US" altLang="zh-CN" sz="2800" b="1" i="1" dirty="0">
                <a:solidFill>
                  <a:srgbClr val="FF0000"/>
                </a:solidFill>
                <a:latin typeface="Times New Roman" pitchFamily="18" charset="0"/>
                <a:ea typeface="宋体" charset="-122"/>
              </a:rPr>
              <a:t>L</a:t>
            </a:r>
            <a:r>
              <a:rPr lang="zh-CN" altLang="en-US" sz="2800" b="1" i="1" dirty="0">
                <a:latin typeface="Times New Roman" pitchFamily="18" charset="0"/>
                <a:ea typeface="宋体" charset="-122"/>
              </a:rPr>
              <a:t>、</a:t>
            </a:r>
            <a:r>
              <a:rPr lang="en-US" altLang="zh-CN" sz="2800" b="1" i="1" dirty="0">
                <a:solidFill>
                  <a:srgbClr val="FF0000"/>
                </a:solidFill>
                <a:latin typeface="Times New Roman" pitchFamily="18" charset="0"/>
                <a:ea typeface="宋体" charset="-122"/>
              </a:rPr>
              <a:t>Q</a:t>
            </a:r>
            <a:r>
              <a:rPr lang="zh-CN" altLang="en-US" sz="2800" b="1" i="1" dirty="0">
                <a:latin typeface="Times New Roman" pitchFamily="18" charset="0"/>
                <a:ea typeface="宋体" charset="-122"/>
              </a:rPr>
              <a:t>、</a:t>
            </a:r>
            <a:r>
              <a:rPr lang="en-US" altLang="zh-CN" sz="2800" b="1" i="1" dirty="0">
                <a:solidFill>
                  <a:srgbClr val="FF0000"/>
                </a:solidFill>
                <a:latin typeface="Times New Roman" pitchFamily="18" charset="0"/>
                <a:ea typeface="宋体" charset="-122"/>
              </a:rPr>
              <a:t>Z</a:t>
            </a:r>
            <a:r>
              <a:rPr lang="zh-CN" altLang="en-US" sz="2800" b="1" dirty="0">
                <a:latin typeface="宋体" charset="-122"/>
                <a:ea typeface="宋体" charset="-122"/>
              </a:rPr>
              <a:t>作为输出，转换电路就要将这些参量转换成电压或电流等电量的输出。在各种转换电路中，一般很少对</a:t>
            </a:r>
            <a:r>
              <a:rPr lang="en-US" altLang="zh-CN" sz="2800" b="1" i="1" dirty="0">
                <a:solidFill>
                  <a:srgbClr val="FF0000"/>
                </a:solidFill>
                <a:latin typeface="Times New Roman" pitchFamily="18" charset="0"/>
                <a:ea typeface="宋体" charset="-122"/>
              </a:rPr>
              <a:t>Q</a:t>
            </a:r>
            <a:r>
              <a:rPr lang="zh-CN" altLang="en-US" sz="2800" b="1" dirty="0">
                <a:latin typeface="宋体" charset="-122"/>
                <a:ea typeface="宋体" charset="-122"/>
              </a:rPr>
              <a:t>值进行转换。</a:t>
            </a:r>
          </a:p>
        </p:txBody>
      </p:sp>
      <p:sp>
        <p:nvSpPr>
          <p:cNvPr id="26" name="Text Box 15"/>
          <p:cNvSpPr txBox="1">
            <a:spLocks noChangeArrowheads="1"/>
          </p:cNvSpPr>
          <p:nvPr/>
        </p:nvSpPr>
        <p:spPr bwMode="auto">
          <a:xfrm>
            <a:off x="285720" y="3643314"/>
            <a:ext cx="8572560" cy="954107"/>
          </a:xfrm>
          <a:prstGeom prst="rect">
            <a:avLst/>
          </a:prstGeom>
          <a:noFill/>
          <a:ln w="9525" algn="ctr">
            <a:noFill/>
            <a:miter lim="800000"/>
            <a:headEnd/>
            <a:tailEnd/>
          </a:ln>
        </p:spPr>
        <p:txBody>
          <a:bodyPr wrap="square">
            <a:spAutoFit/>
          </a:bodyPr>
          <a:lstStyle/>
          <a:p>
            <a:pPr indent="541338">
              <a:spcBef>
                <a:spcPct val="50000"/>
              </a:spcBef>
            </a:pPr>
            <a:r>
              <a:rPr lang="zh-CN" altLang="en-US" sz="2800" b="1" dirty="0">
                <a:latin typeface="Times New Roman" pitchFamily="18" charset="0"/>
                <a:ea typeface="宋体" charset="-122"/>
              </a:rPr>
              <a:t>阻抗 </a:t>
            </a:r>
            <a:r>
              <a:rPr lang="en-US" altLang="zh-CN" sz="2800" b="1" i="1" dirty="0">
                <a:solidFill>
                  <a:srgbClr val="FF0000"/>
                </a:solidFill>
                <a:latin typeface="Times New Roman" pitchFamily="18" charset="0"/>
                <a:ea typeface="宋体" charset="-122"/>
              </a:rPr>
              <a:t>Z</a:t>
            </a:r>
            <a:r>
              <a:rPr lang="en-US" altLang="zh-CN" sz="2800" b="1" dirty="0">
                <a:latin typeface="Times New Roman" pitchFamily="18" charset="0"/>
                <a:ea typeface="宋体" charset="-122"/>
              </a:rPr>
              <a:t> </a:t>
            </a:r>
            <a:r>
              <a:rPr lang="zh-CN" altLang="en-US" sz="2800" b="1" dirty="0">
                <a:latin typeface="Times New Roman" pitchFamily="18" charset="0"/>
                <a:ea typeface="宋体" charset="-122"/>
              </a:rPr>
              <a:t>的转换：一般采用电桥电路，属于调幅电路。</a:t>
            </a:r>
          </a:p>
        </p:txBody>
      </p:sp>
      <p:sp>
        <p:nvSpPr>
          <p:cNvPr id="27" name="Text Box 16"/>
          <p:cNvSpPr txBox="1">
            <a:spLocks noChangeArrowheads="1"/>
          </p:cNvSpPr>
          <p:nvPr/>
        </p:nvSpPr>
        <p:spPr bwMode="auto">
          <a:xfrm>
            <a:off x="285721" y="4722814"/>
            <a:ext cx="8170864" cy="954107"/>
          </a:xfrm>
          <a:prstGeom prst="rect">
            <a:avLst/>
          </a:prstGeom>
          <a:noFill/>
          <a:ln w="9525" algn="ctr">
            <a:noFill/>
            <a:miter lim="800000"/>
            <a:headEnd/>
            <a:tailEnd/>
          </a:ln>
        </p:spPr>
        <p:txBody>
          <a:bodyPr wrap="square">
            <a:spAutoFit/>
          </a:bodyPr>
          <a:lstStyle/>
          <a:p>
            <a:pPr marL="0" lvl="1" indent="531813"/>
            <a:r>
              <a:rPr lang="zh-CN" altLang="en-US" sz="2800" b="1" dirty="0">
                <a:latin typeface="宋体" charset="-122"/>
                <a:ea typeface="宋体" charset="-122"/>
              </a:rPr>
              <a:t>电感</a:t>
            </a:r>
            <a:r>
              <a:rPr lang="zh-CN" altLang="en-US" sz="2800" b="1" i="1" dirty="0">
                <a:latin typeface="宋体" charset="-122"/>
                <a:ea typeface="宋体" charset="-122"/>
              </a:rPr>
              <a:t> </a:t>
            </a:r>
            <a:r>
              <a:rPr lang="en-US" altLang="zh-CN" sz="2800" b="1" i="1" dirty="0">
                <a:solidFill>
                  <a:srgbClr val="FF0000"/>
                </a:solidFill>
                <a:latin typeface="宋体" charset="-122"/>
                <a:ea typeface="宋体" charset="-122"/>
              </a:rPr>
              <a:t>L</a:t>
            </a:r>
            <a:r>
              <a:rPr lang="en-US" altLang="zh-CN" sz="2800" b="1" dirty="0">
                <a:latin typeface="宋体" charset="-122"/>
                <a:ea typeface="宋体" charset="-122"/>
              </a:rPr>
              <a:t> </a:t>
            </a:r>
            <a:r>
              <a:rPr lang="zh-CN" altLang="en-US" sz="2800" b="1" dirty="0">
                <a:latin typeface="宋体" charset="-122"/>
                <a:ea typeface="宋体" charset="-122"/>
              </a:rPr>
              <a:t>的转换：一般采用谐振电路，包括调幅和调频两种电路。</a:t>
            </a:r>
            <a:endParaRPr lang="zh-CN" altLang="en-US" sz="2800" dirty="0">
              <a:latin typeface="宋体" charset="-122"/>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ox(in)">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checkerboard(across)">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4.3 </a:t>
            </a:r>
            <a:r>
              <a:rPr lang="zh-CN" altLang="en-US" sz="3600" b="1" dirty="0" smtClean="0">
                <a:solidFill>
                  <a:schemeClr val="tx2"/>
                </a:solidFill>
                <a:latin typeface="黑体" pitchFamily="2" charset="-122"/>
                <a:ea typeface="黑体" pitchFamily="2" charset="-122"/>
              </a:rPr>
              <a:t>电涡流式传感器</a:t>
            </a:r>
          </a:p>
        </p:txBody>
      </p:sp>
      <p:cxnSp>
        <p:nvCxnSpPr>
          <p:cNvPr id="11" name="直接连接符 10"/>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pSp>
        <p:nvGrpSpPr>
          <p:cNvPr id="18" name="组合 17"/>
          <p:cNvGrpSpPr/>
          <p:nvPr/>
        </p:nvGrpSpPr>
        <p:grpSpPr>
          <a:xfrm>
            <a:off x="214282" y="2643182"/>
            <a:ext cx="2857520" cy="3000396"/>
            <a:chOff x="214282" y="2643182"/>
            <a:chExt cx="2857520" cy="3000396"/>
          </a:xfrm>
        </p:grpSpPr>
        <p:sp>
          <p:nvSpPr>
            <p:cNvPr id="17" name="圆角矩形 16"/>
            <p:cNvSpPr/>
            <p:nvPr/>
          </p:nvSpPr>
          <p:spPr>
            <a:xfrm>
              <a:off x="214282" y="2643182"/>
              <a:ext cx="2857520" cy="3000396"/>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6803" name="Picture 3"/>
            <p:cNvPicPr>
              <a:picLocks noChangeAspect="1" noChangeArrowheads="1"/>
            </p:cNvPicPr>
            <p:nvPr/>
          </p:nvPicPr>
          <p:blipFill>
            <a:blip r:embed="rId2"/>
            <a:srcRect/>
            <a:stretch>
              <a:fillRect/>
            </a:stretch>
          </p:blipFill>
          <p:spPr bwMode="auto">
            <a:xfrm>
              <a:off x="428596" y="2928934"/>
              <a:ext cx="2419350" cy="1838325"/>
            </a:xfrm>
            <a:prstGeom prst="rect">
              <a:avLst/>
            </a:prstGeom>
            <a:noFill/>
            <a:ln w="9525">
              <a:noFill/>
              <a:miter lim="800000"/>
              <a:headEnd/>
              <a:tailEnd/>
            </a:ln>
            <a:effectLst/>
          </p:spPr>
        </p:pic>
        <p:sp>
          <p:nvSpPr>
            <p:cNvPr id="12" name="Text Box 2"/>
            <p:cNvSpPr txBox="1">
              <a:spLocks noChangeArrowheads="1"/>
            </p:cNvSpPr>
            <p:nvPr/>
          </p:nvSpPr>
          <p:spPr bwMode="auto">
            <a:xfrm>
              <a:off x="785786" y="4929198"/>
              <a:ext cx="1447800" cy="457200"/>
            </a:xfrm>
            <a:prstGeom prst="rect">
              <a:avLst/>
            </a:prstGeom>
            <a:noFill/>
            <a:ln w="9525">
              <a:noFill/>
              <a:miter lim="800000"/>
              <a:headEnd/>
              <a:tailEnd/>
            </a:ln>
          </p:spPr>
          <p:txBody>
            <a:bodyPr>
              <a:spAutoFit/>
            </a:bodyPr>
            <a:lstStyle/>
            <a:p>
              <a:pPr>
                <a:spcBef>
                  <a:spcPct val="50000"/>
                </a:spcBef>
              </a:pPr>
              <a:r>
                <a:rPr lang="zh-CN" altLang="en-US" sz="2400" b="1" dirty="0">
                  <a:latin typeface="Verdana" pitchFamily="34" charset="0"/>
                  <a:ea typeface="楷体_GB2312" pitchFamily="49" charset="-122"/>
                </a:rPr>
                <a:t>电桥电路</a:t>
              </a:r>
            </a:p>
          </p:txBody>
        </p:sp>
      </p:grpSp>
      <p:grpSp>
        <p:nvGrpSpPr>
          <p:cNvPr id="20" name="组合 19"/>
          <p:cNvGrpSpPr/>
          <p:nvPr/>
        </p:nvGrpSpPr>
        <p:grpSpPr>
          <a:xfrm>
            <a:off x="3214678" y="1571612"/>
            <a:ext cx="5786478" cy="2571768"/>
            <a:chOff x="3214678" y="1571612"/>
            <a:chExt cx="5786478" cy="2571768"/>
          </a:xfrm>
        </p:grpSpPr>
        <p:sp>
          <p:nvSpPr>
            <p:cNvPr id="19" name="圆角矩形 18"/>
            <p:cNvSpPr/>
            <p:nvPr/>
          </p:nvSpPr>
          <p:spPr>
            <a:xfrm>
              <a:off x="3214678" y="1571612"/>
              <a:ext cx="5786478" cy="2571768"/>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6804" name="Picture 4"/>
            <p:cNvPicPr>
              <a:picLocks noChangeAspect="1" noChangeArrowheads="1"/>
            </p:cNvPicPr>
            <p:nvPr/>
          </p:nvPicPr>
          <p:blipFill>
            <a:blip r:embed="rId3"/>
            <a:srcRect/>
            <a:stretch>
              <a:fillRect/>
            </a:stretch>
          </p:blipFill>
          <p:spPr bwMode="auto">
            <a:xfrm>
              <a:off x="3428992" y="1857364"/>
              <a:ext cx="2057400" cy="1714500"/>
            </a:xfrm>
            <a:prstGeom prst="rect">
              <a:avLst/>
            </a:prstGeom>
            <a:noFill/>
            <a:ln w="9525">
              <a:noFill/>
              <a:miter lim="800000"/>
              <a:headEnd/>
              <a:tailEnd/>
            </a:ln>
            <a:effectLst/>
          </p:spPr>
        </p:pic>
        <p:pic>
          <p:nvPicPr>
            <p:cNvPr id="76805" name="Picture 5"/>
            <p:cNvPicPr>
              <a:picLocks noChangeAspect="1" noChangeArrowheads="1"/>
            </p:cNvPicPr>
            <p:nvPr/>
          </p:nvPicPr>
          <p:blipFill>
            <a:blip r:embed="rId4"/>
            <a:srcRect/>
            <a:stretch>
              <a:fillRect/>
            </a:stretch>
          </p:blipFill>
          <p:spPr bwMode="auto">
            <a:xfrm>
              <a:off x="5643570" y="1785926"/>
              <a:ext cx="3076575" cy="2162175"/>
            </a:xfrm>
            <a:prstGeom prst="rect">
              <a:avLst/>
            </a:prstGeom>
            <a:noFill/>
            <a:ln w="9525">
              <a:noFill/>
              <a:miter lim="800000"/>
              <a:headEnd/>
              <a:tailEnd/>
            </a:ln>
            <a:effectLst/>
          </p:spPr>
        </p:pic>
        <p:sp>
          <p:nvSpPr>
            <p:cNvPr id="14" name="Text Box 3"/>
            <p:cNvSpPr txBox="1">
              <a:spLocks noChangeArrowheads="1"/>
            </p:cNvSpPr>
            <p:nvPr/>
          </p:nvSpPr>
          <p:spPr bwMode="auto">
            <a:xfrm>
              <a:off x="3428992" y="3643314"/>
              <a:ext cx="2057400" cy="457200"/>
            </a:xfrm>
            <a:prstGeom prst="rect">
              <a:avLst/>
            </a:prstGeom>
            <a:noFill/>
            <a:ln w="9525">
              <a:noFill/>
              <a:miter lim="800000"/>
              <a:headEnd/>
              <a:tailEnd/>
            </a:ln>
          </p:spPr>
          <p:txBody>
            <a:bodyPr>
              <a:spAutoFit/>
            </a:bodyPr>
            <a:lstStyle/>
            <a:p>
              <a:pPr>
                <a:spcBef>
                  <a:spcPct val="50000"/>
                </a:spcBef>
              </a:pPr>
              <a:r>
                <a:rPr lang="zh-CN" altLang="en-US" sz="2400" b="1" dirty="0" smtClean="0">
                  <a:latin typeface="Verdana" pitchFamily="34" charset="0"/>
                  <a:ea typeface="楷体_GB2312" pitchFamily="49" charset="-122"/>
                </a:rPr>
                <a:t>谐振调幅电路</a:t>
              </a:r>
              <a:endParaRPr lang="zh-CN" altLang="en-US" sz="2400" b="1" dirty="0">
                <a:latin typeface="Verdana" pitchFamily="34" charset="0"/>
                <a:ea typeface="楷体_GB2312" pitchFamily="49" charset="-122"/>
              </a:endParaRPr>
            </a:p>
          </p:txBody>
        </p:sp>
      </p:grpSp>
      <p:grpSp>
        <p:nvGrpSpPr>
          <p:cNvPr id="22" name="组合 21"/>
          <p:cNvGrpSpPr/>
          <p:nvPr/>
        </p:nvGrpSpPr>
        <p:grpSpPr>
          <a:xfrm>
            <a:off x="3714744" y="3857604"/>
            <a:ext cx="3857652" cy="3000396"/>
            <a:chOff x="3714744" y="3857604"/>
            <a:chExt cx="3857652" cy="3000396"/>
          </a:xfrm>
        </p:grpSpPr>
        <p:sp>
          <p:nvSpPr>
            <p:cNvPr id="21" name="圆角矩形 20"/>
            <p:cNvSpPr/>
            <p:nvPr/>
          </p:nvSpPr>
          <p:spPr>
            <a:xfrm>
              <a:off x="3714744" y="3857604"/>
              <a:ext cx="3857652" cy="3000396"/>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6806" name="Picture 6"/>
            <p:cNvPicPr>
              <a:picLocks noChangeAspect="1" noChangeArrowheads="1"/>
            </p:cNvPicPr>
            <p:nvPr/>
          </p:nvPicPr>
          <p:blipFill>
            <a:blip r:embed="rId5"/>
            <a:srcRect/>
            <a:stretch>
              <a:fillRect/>
            </a:stretch>
          </p:blipFill>
          <p:spPr bwMode="auto">
            <a:xfrm>
              <a:off x="5072066" y="4143380"/>
              <a:ext cx="2205032" cy="2528062"/>
            </a:xfrm>
            <a:prstGeom prst="rect">
              <a:avLst/>
            </a:prstGeom>
            <a:noFill/>
            <a:ln w="9525">
              <a:noFill/>
              <a:miter lim="800000"/>
              <a:headEnd/>
              <a:tailEnd/>
            </a:ln>
            <a:effectLst/>
          </p:spPr>
        </p:pic>
        <p:sp>
          <p:nvSpPr>
            <p:cNvPr id="16" name="Text Box 3"/>
            <p:cNvSpPr txBox="1">
              <a:spLocks noChangeArrowheads="1"/>
            </p:cNvSpPr>
            <p:nvPr/>
          </p:nvSpPr>
          <p:spPr bwMode="auto">
            <a:xfrm>
              <a:off x="3714744" y="6143644"/>
              <a:ext cx="2057400" cy="461665"/>
            </a:xfrm>
            <a:prstGeom prst="rect">
              <a:avLst/>
            </a:prstGeom>
            <a:noFill/>
            <a:ln w="9525">
              <a:noFill/>
              <a:miter lim="800000"/>
              <a:headEnd/>
              <a:tailEnd/>
            </a:ln>
          </p:spPr>
          <p:txBody>
            <a:bodyPr>
              <a:spAutoFit/>
            </a:bodyPr>
            <a:lstStyle/>
            <a:p>
              <a:pPr>
                <a:spcBef>
                  <a:spcPct val="50000"/>
                </a:spcBef>
              </a:pPr>
              <a:r>
                <a:rPr lang="zh-CN" altLang="en-US" sz="2400" b="1" dirty="0" smtClean="0">
                  <a:latin typeface="Verdana" pitchFamily="34" charset="0"/>
                  <a:ea typeface="楷体_GB2312" pitchFamily="49" charset="-122"/>
                </a:rPr>
                <a:t>谐振调频电路</a:t>
              </a:r>
              <a:endParaRPr lang="zh-CN" altLang="en-US" sz="2400" b="1" dirty="0">
                <a:latin typeface="Verdana" pitchFamily="34" charset="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4.3 </a:t>
            </a:r>
            <a:r>
              <a:rPr lang="zh-CN" altLang="en-US" sz="3600" b="1" dirty="0" smtClean="0">
                <a:solidFill>
                  <a:schemeClr val="tx2"/>
                </a:solidFill>
                <a:latin typeface="黑体" pitchFamily="2" charset="-122"/>
                <a:ea typeface="黑体" pitchFamily="2" charset="-122"/>
              </a:rPr>
              <a:t>电涡流式传感器</a:t>
            </a:r>
          </a:p>
        </p:txBody>
      </p:sp>
      <p:cxnSp>
        <p:nvCxnSpPr>
          <p:cNvPr id="11" name="直接连接符 10"/>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8" name="Rectangle 5"/>
          <p:cNvSpPr txBox="1">
            <a:spLocks noChangeArrowheads="1"/>
          </p:cNvSpPr>
          <p:nvPr/>
        </p:nvSpPr>
        <p:spPr bwMode="auto">
          <a:xfrm>
            <a:off x="642910" y="1571612"/>
            <a:ext cx="7581900" cy="571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latinLnBrk="0" hangingPunct="1">
              <a:lnSpc>
                <a:spcPct val="100000"/>
              </a:lnSpc>
              <a:buClrTx/>
              <a:buSzTx/>
              <a:buFontTx/>
              <a:buNone/>
              <a:tabLst/>
              <a:defRPr/>
            </a:pPr>
            <a:r>
              <a:rPr lang="zh-CN" altLang="en-US" sz="2800" b="1" dirty="0" smtClean="0">
                <a:solidFill>
                  <a:srgbClr val="FF6600"/>
                </a:solidFill>
                <a:latin typeface="黑体" pitchFamily="49" charset="-122"/>
                <a:ea typeface="黑体" pitchFamily="49" charset="-122"/>
                <a:cs typeface="+mj-cs"/>
              </a:rPr>
              <a:t>特性及应用</a:t>
            </a:r>
          </a:p>
        </p:txBody>
      </p:sp>
      <p:sp>
        <p:nvSpPr>
          <p:cNvPr id="20" name="Text Box 7"/>
          <p:cNvSpPr txBox="1">
            <a:spLocks noChangeArrowheads="1"/>
          </p:cNvSpPr>
          <p:nvPr/>
        </p:nvSpPr>
        <p:spPr bwMode="auto">
          <a:xfrm>
            <a:off x="214282" y="2143116"/>
            <a:ext cx="8643998" cy="1384995"/>
          </a:xfrm>
          <a:prstGeom prst="rect">
            <a:avLst/>
          </a:prstGeom>
          <a:noFill/>
          <a:ln w="9525" algn="ctr">
            <a:noFill/>
            <a:miter lim="800000"/>
            <a:headEnd/>
            <a:tailEnd/>
          </a:ln>
        </p:spPr>
        <p:txBody>
          <a:bodyPr wrap="square">
            <a:spAutoFit/>
          </a:bodyPr>
          <a:lstStyle/>
          <a:p>
            <a:pPr indent="439738"/>
            <a:r>
              <a:rPr lang="zh-CN" altLang="en-US" sz="2800" b="1" dirty="0" smtClean="0">
                <a:latin typeface="宋体" charset="-122"/>
                <a:ea typeface="宋体" charset="-122"/>
              </a:rPr>
              <a:t>特点：结构</a:t>
            </a:r>
            <a:r>
              <a:rPr lang="zh-CN" altLang="en-US" sz="2800" b="1" dirty="0">
                <a:latin typeface="宋体" charset="-122"/>
                <a:ea typeface="宋体" charset="-122"/>
              </a:rPr>
              <a:t>简单、易于进行非接触的连续测量，灵敏度较高，适用性强，可以测量位移，也可以测量材料的性质。</a:t>
            </a:r>
            <a:endParaRPr lang="zh-CN" altLang="en-US" sz="2800" dirty="0"/>
          </a:p>
        </p:txBody>
      </p:sp>
      <p:sp>
        <p:nvSpPr>
          <p:cNvPr id="23" name="Text Box 9"/>
          <p:cNvSpPr txBox="1">
            <a:spLocks noChangeArrowheads="1"/>
          </p:cNvSpPr>
          <p:nvPr/>
        </p:nvSpPr>
        <p:spPr bwMode="auto">
          <a:xfrm>
            <a:off x="428596" y="3571876"/>
            <a:ext cx="8429684" cy="2677656"/>
          </a:xfrm>
          <a:prstGeom prst="rect">
            <a:avLst/>
          </a:prstGeom>
          <a:noFill/>
          <a:ln w="9525" algn="ctr">
            <a:noFill/>
            <a:miter lim="800000"/>
            <a:headEnd/>
            <a:tailEnd/>
          </a:ln>
        </p:spPr>
        <p:txBody>
          <a:bodyPr wrap="square">
            <a:spAutoFit/>
          </a:bodyPr>
          <a:lstStyle/>
          <a:p>
            <a:pPr marL="711200" indent="-711200">
              <a:lnSpc>
                <a:spcPct val="120000"/>
              </a:lnSpc>
              <a:buClr>
                <a:srgbClr val="F84D08"/>
              </a:buClr>
              <a:buFont typeface="Wingdings" pitchFamily="2" charset="2"/>
              <a:buChar char="l"/>
            </a:pPr>
            <a:r>
              <a:rPr lang="zh-CN" altLang="en-US" sz="2800" b="1" dirty="0">
                <a:latin typeface="宋体" charset="-122"/>
                <a:ea typeface="宋体" charset="-122"/>
              </a:rPr>
              <a:t>利用</a:t>
            </a:r>
            <a:r>
              <a:rPr lang="zh-CN" altLang="en-US" sz="2800" b="1" dirty="0">
                <a:solidFill>
                  <a:srgbClr val="C00000"/>
                </a:solidFill>
                <a:latin typeface="宋体" charset="-122"/>
                <a:ea typeface="宋体" charset="-122"/>
              </a:rPr>
              <a:t>位移</a:t>
            </a:r>
            <a:r>
              <a:rPr lang="zh-CN" altLang="en-US" sz="2800" b="1" dirty="0">
                <a:latin typeface="宋体" charset="-122"/>
                <a:ea typeface="宋体" charset="-122"/>
              </a:rPr>
              <a:t>作为变换量，可以测量：位移、厚度、振幅、振摆、转速；</a:t>
            </a:r>
            <a:r>
              <a:rPr lang="zh-CN" altLang="en-US" sz="2800" b="1" dirty="0">
                <a:solidFill>
                  <a:srgbClr val="0000CC"/>
                </a:solidFill>
                <a:latin typeface="宋体" charset="-122"/>
                <a:ea typeface="宋体" charset="-122"/>
              </a:rPr>
              <a:t>接近开关</a:t>
            </a:r>
            <a:r>
              <a:rPr lang="en-US" altLang="zh-CN" sz="2800" b="1" dirty="0">
                <a:solidFill>
                  <a:srgbClr val="0000CC"/>
                </a:solidFill>
                <a:latin typeface="宋体" charset="-122"/>
                <a:ea typeface="宋体" charset="-122"/>
              </a:rPr>
              <a:t>/</a:t>
            </a:r>
            <a:r>
              <a:rPr lang="zh-CN" altLang="en-US" sz="2800" b="1" dirty="0" smtClean="0">
                <a:solidFill>
                  <a:srgbClr val="0000CC"/>
                </a:solidFill>
                <a:latin typeface="宋体" charset="-122"/>
                <a:ea typeface="宋体" charset="-122"/>
              </a:rPr>
              <a:t>计数器；</a:t>
            </a:r>
            <a:endParaRPr lang="zh-CN" altLang="en-US" sz="2800" b="1" dirty="0">
              <a:latin typeface="宋体" charset="-122"/>
              <a:ea typeface="宋体" charset="-122"/>
            </a:endParaRPr>
          </a:p>
          <a:p>
            <a:pPr marL="711200" indent="-711200">
              <a:lnSpc>
                <a:spcPct val="120000"/>
              </a:lnSpc>
              <a:buClr>
                <a:srgbClr val="F84D08"/>
              </a:buClr>
              <a:buFont typeface="Wingdings" pitchFamily="2" charset="2"/>
              <a:buChar char="l"/>
            </a:pPr>
            <a:r>
              <a:rPr lang="zh-CN" altLang="en-US" sz="2800" b="1" dirty="0">
                <a:latin typeface="宋体" charset="-122"/>
                <a:ea typeface="宋体" charset="-122"/>
              </a:rPr>
              <a:t>利用材料</a:t>
            </a:r>
            <a:r>
              <a:rPr lang="zh-CN" altLang="en-US" sz="2800" b="1" dirty="0">
                <a:solidFill>
                  <a:srgbClr val="C00000"/>
                </a:solidFill>
                <a:latin typeface="宋体" charset="-122"/>
                <a:ea typeface="宋体" charset="-122"/>
              </a:rPr>
              <a:t>电阻率</a:t>
            </a:r>
            <a:r>
              <a:rPr lang="zh-CN" altLang="en-US" sz="2800" b="1" dirty="0">
                <a:latin typeface="宋体" charset="-122"/>
                <a:ea typeface="宋体" charset="-122"/>
              </a:rPr>
              <a:t>作为变换量：温度；材质</a:t>
            </a:r>
            <a:r>
              <a:rPr lang="zh-CN" altLang="en-US" sz="2800" b="1" dirty="0" smtClean="0">
                <a:latin typeface="宋体" charset="-122"/>
                <a:ea typeface="宋体" charset="-122"/>
              </a:rPr>
              <a:t>判别；</a:t>
            </a:r>
            <a:endParaRPr lang="zh-CN" altLang="en-US" sz="2800" b="1" dirty="0">
              <a:latin typeface="宋体" charset="-122"/>
              <a:ea typeface="宋体" charset="-122"/>
            </a:endParaRPr>
          </a:p>
          <a:p>
            <a:pPr marL="711200" indent="-711200">
              <a:lnSpc>
                <a:spcPct val="120000"/>
              </a:lnSpc>
              <a:buClr>
                <a:srgbClr val="F84D08"/>
              </a:buClr>
              <a:buFont typeface="Wingdings" pitchFamily="2" charset="2"/>
              <a:buChar char="l"/>
            </a:pPr>
            <a:r>
              <a:rPr lang="zh-CN" altLang="en-US" sz="2800" b="1" dirty="0" smtClean="0">
                <a:latin typeface="宋体" charset="-122"/>
                <a:ea typeface="宋体" charset="-122"/>
              </a:rPr>
              <a:t>利用</a:t>
            </a:r>
            <a:r>
              <a:rPr lang="zh-CN" altLang="en-US" sz="2800" b="1" dirty="0" smtClean="0">
                <a:solidFill>
                  <a:srgbClr val="C00000"/>
                </a:solidFill>
                <a:latin typeface="宋体" charset="-122"/>
                <a:ea typeface="宋体" charset="-122"/>
              </a:rPr>
              <a:t>磁导率</a:t>
            </a:r>
            <a:r>
              <a:rPr lang="zh-CN" altLang="en-US" sz="2800" b="1" dirty="0">
                <a:latin typeface="宋体" charset="-122"/>
                <a:ea typeface="宋体" charset="-122"/>
              </a:rPr>
              <a:t>作为变换量：应力、</a:t>
            </a:r>
            <a:r>
              <a:rPr lang="zh-CN" altLang="en-US" sz="2800" b="1" dirty="0" smtClean="0">
                <a:latin typeface="宋体" charset="-122"/>
                <a:ea typeface="宋体" charset="-122"/>
              </a:rPr>
              <a:t>硬度；</a:t>
            </a:r>
            <a:endParaRPr lang="zh-CN" altLang="en-US" sz="2800" b="1" dirty="0">
              <a:latin typeface="宋体" charset="-122"/>
              <a:ea typeface="宋体" charset="-122"/>
            </a:endParaRPr>
          </a:p>
          <a:p>
            <a:pPr marL="711200" indent="-711200">
              <a:lnSpc>
                <a:spcPct val="120000"/>
              </a:lnSpc>
              <a:buClr>
                <a:srgbClr val="F84D08"/>
              </a:buClr>
              <a:buFont typeface="Wingdings" pitchFamily="2" charset="2"/>
              <a:buChar char="l"/>
            </a:pPr>
            <a:r>
              <a:rPr lang="zh-CN" altLang="en-US" sz="2800" b="1" dirty="0">
                <a:latin typeface="宋体" charset="-122"/>
                <a:ea typeface="宋体" charset="-122"/>
              </a:rPr>
              <a:t>利用上述量综合影响，可以做探伤传感器。</a:t>
            </a:r>
            <a:endParaRPr lang="zh-CN" altLang="en-US" sz="2800" dirty="0"/>
          </a:p>
        </p:txBody>
      </p:sp>
      <p:pic>
        <p:nvPicPr>
          <p:cNvPr id="77826" name="Picture 2"/>
          <p:cNvPicPr>
            <a:picLocks noChangeAspect="1" noChangeArrowheads="1"/>
          </p:cNvPicPr>
          <p:nvPr/>
        </p:nvPicPr>
        <p:blipFill>
          <a:blip r:embed="rId2"/>
          <a:srcRect/>
          <a:stretch>
            <a:fillRect/>
          </a:stretch>
        </p:blipFill>
        <p:spPr bwMode="auto">
          <a:xfrm>
            <a:off x="1071538" y="2500306"/>
            <a:ext cx="6858000" cy="3048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blinds(horizontal)">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
                                            <p:txEl>
                                              <p:pRg st="1" end="1"/>
                                            </p:txEl>
                                          </p:spTgt>
                                        </p:tgtEl>
                                        <p:attrNameLst>
                                          <p:attrName>style.visibility</p:attrName>
                                        </p:attrNameLst>
                                      </p:cBhvr>
                                      <p:to>
                                        <p:strVal val="visible"/>
                                      </p:to>
                                    </p:set>
                                    <p:animEffect transition="in" filter="blinds(horizontal)">
                                      <p:cBhvr>
                                        <p:cTn id="12" dur="500"/>
                                        <p:tgtEl>
                                          <p:spTgt spid="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animEffect transition="in" filter="blinds(horizontal)">
                                      <p:cBhvr>
                                        <p:cTn id="17" dur="500"/>
                                        <p:tgtEl>
                                          <p:spTgt spid="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
                                            <p:txEl>
                                              <p:pRg st="3" end="3"/>
                                            </p:txEl>
                                          </p:spTgt>
                                        </p:tgtEl>
                                        <p:attrNameLst>
                                          <p:attrName>style.visibility</p:attrName>
                                        </p:attrNameLst>
                                      </p:cBhvr>
                                      <p:to>
                                        <p:strVal val="visible"/>
                                      </p:to>
                                    </p:set>
                                    <p:animEffect transition="in" filter="blinds(horizontal)">
                                      <p:cBhvr>
                                        <p:cTn id="22" dur="500"/>
                                        <p:tgtEl>
                                          <p:spTgt spid="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7826"/>
                                        </p:tgtEl>
                                        <p:attrNameLst>
                                          <p:attrName>style.visibility</p:attrName>
                                        </p:attrNameLst>
                                      </p:cBhvr>
                                      <p:to>
                                        <p:strVal val="visible"/>
                                      </p:to>
                                    </p:set>
                                    <p:animEffect transition="in" filter="blinds(horizontal)">
                                      <p:cBhvr>
                                        <p:cTn id="27" dur="500"/>
                                        <p:tgtEl>
                                          <p:spTgt spid="7782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nodeType="clickEffect">
                                  <p:stCondLst>
                                    <p:cond delay="0"/>
                                  </p:stCondLst>
                                  <p:childTnLst>
                                    <p:animEffect transition="out" filter="blinds(horizontal)">
                                      <p:cBhvr>
                                        <p:cTn id="31" dur="500"/>
                                        <p:tgtEl>
                                          <p:spTgt spid="77826"/>
                                        </p:tgtEl>
                                      </p:cBhvr>
                                    </p:animEffect>
                                    <p:set>
                                      <p:cBhvr>
                                        <p:cTn id="32" dur="1" fill="hold">
                                          <p:stCondLst>
                                            <p:cond delay="499"/>
                                          </p:stCondLst>
                                        </p:cTn>
                                        <p:tgtEl>
                                          <p:spTgt spid="778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14438" y="571500"/>
            <a:ext cx="6572250" cy="862013"/>
          </a:xfrm>
        </p:spPr>
        <p:txBody>
          <a:bodyPr anchor="b"/>
          <a:lstStyle/>
          <a:p>
            <a:pPr eaLnBrk="1" hangingPunct="1"/>
            <a:r>
              <a:rPr lang="zh-CN" altLang="en-US" sz="4000" b="1" dirty="0" smtClean="0">
                <a:solidFill>
                  <a:schemeClr val="tx2"/>
                </a:solidFill>
                <a:latin typeface="黑体" pitchFamily="2" charset="-122"/>
                <a:ea typeface="黑体" pitchFamily="2" charset="-122"/>
              </a:rPr>
              <a:t>第</a:t>
            </a:r>
            <a:r>
              <a:rPr lang="en-US" altLang="zh-CN" sz="4000" b="1" dirty="0" smtClean="0">
                <a:solidFill>
                  <a:schemeClr val="tx2"/>
                </a:solidFill>
                <a:latin typeface="黑体" pitchFamily="2" charset="-122"/>
                <a:ea typeface="黑体" pitchFamily="2" charset="-122"/>
              </a:rPr>
              <a:t>4</a:t>
            </a:r>
            <a:r>
              <a:rPr lang="zh-CN" altLang="en-US" sz="4000" b="1" dirty="0" smtClean="0">
                <a:solidFill>
                  <a:schemeClr val="tx2"/>
                </a:solidFill>
                <a:latin typeface="黑体" pitchFamily="2" charset="-122"/>
                <a:ea typeface="黑体" pitchFamily="2" charset="-122"/>
              </a:rPr>
              <a:t>章 电感式传感器</a:t>
            </a:r>
            <a:endParaRPr lang="zh-CN" altLang="en-US" b="1" dirty="0" smtClean="0">
              <a:solidFill>
                <a:schemeClr val="tx2"/>
              </a:solidFill>
              <a:latin typeface="黑体" pitchFamily="2" charset="-122"/>
              <a:ea typeface="黑体" pitchFamily="2" charset="-122"/>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6" name="Text Box 4"/>
          <p:cNvSpPr txBox="1">
            <a:spLocks noChangeArrowheads="1"/>
          </p:cNvSpPr>
          <p:nvPr/>
        </p:nvSpPr>
        <p:spPr bwMode="auto">
          <a:xfrm>
            <a:off x="571500" y="1571625"/>
            <a:ext cx="8286750" cy="3194721"/>
          </a:xfrm>
          <a:prstGeom prst="rect">
            <a:avLst/>
          </a:prstGeom>
          <a:noFill/>
          <a:ln w="9525">
            <a:noFill/>
            <a:miter lim="800000"/>
            <a:headEnd/>
            <a:tailEnd/>
          </a:ln>
        </p:spPr>
        <p:txBody>
          <a:bodyPr>
            <a:spAutoFit/>
          </a:bodyPr>
          <a:lstStyle/>
          <a:p>
            <a:pPr marL="0" lvl="1" indent="620713">
              <a:lnSpc>
                <a:spcPct val="120000"/>
              </a:lnSpc>
            </a:pPr>
            <a:r>
              <a:rPr lang="en-US" altLang="zh-CN" sz="2800" b="1" dirty="0">
                <a:latin typeface="黑体" pitchFamily="2" charset="-122"/>
                <a:ea typeface="黑体" pitchFamily="2" charset="-122"/>
              </a:rPr>
              <a:t>4.1 </a:t>
            </a:r>
            <a:r>
              <a:rPr lang="zh-CN" altLang="en-US" sz="2800" b="1" dirty="0">
                <a:latin typeface="黑体" pitchFamily="2" charset="-122"/>
                <a:ea typeface="黑体" pitchFamily="2" charset="-122"/>
              </a:rPr>
              <a:t>自感式传感器</a:t>
            </a:r>
            <a:endParaRPr lang="en-US" altLang="zh-CN" sz="2800" b="1" dirty="0">
              <a:latin typeface="黑体" pitchFamily="2" charset="-122"/>
              <a:ea typeface="黑体" pitchFamily="2" charset="-122"/>
            </a:endParaRPr>
          </a:p>
          <a:p>
            <a:pPr marL="0" lvl="1" indent="620713">
              <a:lnSpc>
                <a:spcPct val="120000"/>
              </a:lnSpc>
            </a:pPr>
            <a:r>
              <a:rPr lang="en-US" altLang="zh-CN" sz="2800" b="1" dirty="0" smtClean="0">
                <a:latin typeface="黑体" pitchFamily="2" charset="-122"/>
                <a:ea typeface="黑体" pitchFamily="2" charset="-122"/>
              </a:rPr>
              <a:t>4.2 </a:t>
            </a:r>
            <a:r>
              <a:rPr lang="zh-CN" altLang="en-US" sz="2800" b="1" dirty="0" smtClean="0">
                <a:latin typeface="黑体" pitchFamily="2" charset="-122"/>
                <a:ea typeface="黑体" pitchFamily="2" charset="-122"/>
              </a:rPr>
              <a:t>变压器式传感器</a:t>
            </a:r>
            <a:endParaRPr lang="en-US" altLang="zh-CN" sz="2800" b="1" dirty="0" smtClean="0">
              <a:latin typeface="黑体" pitchFamily="2" charset="-122"/>
              <a:ea typeface="黑体" pitchFamily="2" charset="-122"/>
            </a:endParaRPr>
          </a:p>
          <a:p>
            <a:pPr marL="0" lvl="1" indent="620713">
              <a:lnSpc>
                <a:spcPct val="120000"/>
              </a:lnSpc>
            </a:pPr>
            <a:r>
              <a:rPr lang="en-US" altLang="zh-CN" sz="2800" b="1" dirty="0" smtClean="0">
                <a:latin typeface="黑体" pitchFamily="2" charset="-122"/>
                <a:ea typeface="黑体" pitchFamily="2" charset="-122"/>
              </a:rPr>
              <a:t>4.3 </a:t>
            </a:r>
            <a:r>
              <a:rPr lang="zh-CN" altLang="en-US" sz="2800" b="1" dirty="0" smtClean="0">
                <a:latin typeface="黑体" pitchFamily="2" charset="-122"/>
                <a:ea typeface="黑体" pitchFamily="2" charset="-122"/>
              </a:rPr>
              <a:t>电涡流式传感器</a:t>
            </a:r>
            <a:endParaRPr lang="en-US" altLang="zh-CN" sz="2800" b="1" dirty="0" smtClean="0">
              <a:latin typeface="黑体" pitchFamily="2" charset="-122"/>
              <a:ea typeface="黑体" pitchFamily="2" charset="-122"/>
            </a:endParaRPr>
          </a:p>
          <a:p>
            <a:pPr marL="0" lvl="1" indent="620713">
              <a:lnSpc>
                <a:spcPct val="120000"/>
              </a:lnSpc>
            </a:pPr>
            <a:r>
              <a:rPr lang="en-US" altLang="zh-CN" sz="2800" b="1" dirty="0" smtClean="0">
                <a:latin typeface="黑体" pitchFamily="2" charset="-122"/>
                <a:ea typeface="黑体" pitchFamily="2" charset="-122"/>
              </a:rPr>
              <a:t>4.4</a:t>
            </a:r>
            <a:r>
              <a:rPr lang="zh-CN" altLang="en-US" sz="2800" b="1" dirty="0" smtClean="0">
                <a:latin typeface="黑体" pitchFamily="2" charset="-122"/>
                <a:ea typeface="黑体" pitchFamily="2" charset="-122"/>
              </a:rPr>
              <a:t> </a:t>
            </a:r>
            <a:r>
              <a:rPr lang="zh-CN" altLang="en-US" sz="2800" b="1" dirty="0" smtClean="0">
                <a:solidFill>
                  <a:srgbClr val="FF0000"/>
                </a:solidFill>
                <a:latin typeface="黑体" pitchFamily="2" charset="-122"/>
                <a:ea typeface="黑体" pitchFamily="2" charset="-122"/>
              </a:rPr>
              <a:t>压磁式传感器</a:t>
            </a:r>
            <a:endParaRPr lang="en-US" altLang="zh-CN" sz="2800" b="1" dirty="0">
              <a:solidFill>
                <a:srgbClr val="FF0000"/>
              </a:solidFill>
              <a:latin typeface="黑体" pitchFamily="2" charset="-122"/>
              <a:ea typeface="黑体" pitchFamily="2" charset="-122"/>
            </a:endParaRPr>
          </a:p>
          <a:p>
            <a:pPr marL="0" lvl="1" indent="620713">
              <a:lnSpc>
                <a:spcPct val="120000"/>
              </a:lnSpc>
            </a:pPr>
            <a:endParaRPr lang="en-US" altLang="zh-CN" sz="2800" b="1" dirty="0">
              <a:latin typeface="黑体" pitchFamily="2" charset="-122"/>
              <a:ea typeface="黑体" pitchFamily="2" charset="-122"/>
            </a:endParaRPr>
          </a:p>
          <a:p>
            <a:pPr marL="0" lvl="1" indent="620713">
              <a:lnSpc>
                <a:spcPct val="120000"/>
              </a:lnSpc>
            </a:pPr>
            <a:endParaRPr kumimoji="0" lang="zh-CN" altLang="en-US" sz="2800" b="1"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4.4 </a:t>
            </a:r>
            <a:r>
              <a:rPr lang="zh-CN" altLang="en-US" sz="3600" b="1" dirty="0" smtClean="0">
                <a:solidFill>
                  <a:schemeClr val="tx2"/>
                </a:solidFill>
                <a:latin typeface="黑体" pitchFamily="2" charset="-122"/>
                <a:ea typeface="黑体" pitchFamily="2" charset="-122"/>
              </a:rPr>
              <a:t>压磁式传感器</a:t>
            </a:r>
          </a:p>
        </p:txBody>
      </p:sp>
      <p:cxnSp>
        <p:nvCxnSpPr>
          <p:cNvPr id="11" name="直接连接符 10"/>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8" name="Rectangle 5"/>
          <p:cNvSpPr txBox="1">
            <a:spLocks noChangeArrowheads="1"/>
          </p:cNvSpPr>
          <p:nvPr/>
        </p:nvSpPr>
        <p:spPr bwMode="auto">
          <a:xfrm>
            <a:off x="571472" y="1571612"/>
            <a:ext cx="7010428" cy="571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latinLnBrk="0" hangingPunct="1">
              <a:lnSpc>
                <a:spcPct val="100000"/>
              </a:lnSpc>
              <a:buClrTx/>
              <a:buSzTx/>
              <a:buFontTx/>
              <a:buNone/>
              <a:tabLst/>
              <a:defRPr/>
            </a:pPr>
            <a:r>
              <a:rPr lang="zh-CN" altLang="en-US" sz="2800" b="1" dirty="0" smtClean="0">
                <a:solidFill>
                  <a:srgbClr val="FF6600"/>
                </a:solidFill>
                <a:latin typeface="黑体" pitchFamily="49" charset="-122"/>
                <a:ea typeface="黑体" pitchFamily="49" charset="-122"/>
                <a:cs typeface="+mj-cs"/>
              </a:rPr>
              <a:t>工作原理</a:t>
            </a:r>
          </a:p>
        </p:txBody>
      </p:sp>
      <p:sp>
        <p:nvSpPr>
          <p:cNvPr id="9" name="Text Box 9"/>
          <p:cNvSpPr txBox="1">
            <a:spLocks noChangeArrowheads="1"/>
          </p:cNvSpPr>
          <p:nvPr/>
        </p:nvSpPr>
        <p:spPr bwMode="auto">
          <a:xfrm>
            <a:off x="285720" y="2071678"/>
            <a:ext cx="8572560" cy="2246769"/>
          </a:xfrm>
          <a:prstGeom prst="rect">
            <a:avLst/>
          </a:prstGeom>
          <a:noFill/>
          <a:ln w="9525" algn="ctr">
            <a:noFill/>
            <a:miter lim="800000"/>
            <a:headEnd/>
            <a:tailEnd/>
          </a:ln>
        </p:spPr>
        <p:txBody>
          <a:bodyPr wrap="square">
            <a:spAutoFit/>
          </a:bodyPr>
          <a:lstStyle/>
          <a:p>
            <a:pPr indent="355600"/>
            <a:r>
              <a:rPr kumimoji="0" lang="en-US" altLang="zh-CN" sz="2800" dirty="0">
                <a:latin typeface="宋体" charset="-122"/>
                <a:ea typeface="宋体" charset="-122"/>
              </a:rPr>
              <a:t> </a:t>
            </a:r>
            <a:r>
              <a:rPr kumimoji="0" lang="zh-CN" altLang="en-US" sz="2800" b="1" dirty="0">
                <a:latin typeface="宋体" charset="-122"/>
                <a:ea typeface="宋体" charset="-122"/>
              </a:rPr>
              <a:t>某些铁磁物质在外界机械力的作用下，其内部产生机械应力，从而引起磁导率的改变，这种现象称为“</a:t>
            </a:r>
            <a:r>
              <a:rPr kumimoji="0" lang="zh-CN" altLang="en-US" sz="2800" b="1" dirty="0">
                <a:solidFill>
                  <a:srgbClr val="C00000"/>
                </a:solidFill>
                <a:latin typeface="宋体" charset="-122"/>
                <a:ea typeface="宋体" charset="-122"/>
              </a:rPr>
              <a:t>压磁效应</a:t>
            </a:r>
            <a:r>
              <a:rPr kumimoji="0" lang="zh-CN" altLang="en-US" sz="2800" b="1" dirty="0">
                <a:latin typeface="宋体" charset="-122"/>
                <a:ea typeface="宋体" charset="-122"/>
              </a:rPr>
              <a:t>”。相反，某些铁磁物质在外界磁场的作用下会产生变形，有些伸长，有些则压缩，这种现象称为“</a:t>
            </a:r>
            <a:r>
              <a:rPr kumimoji="0" lang="zh-CN" altLang="en-US" sz="2800" b="1" dirty="0">
                <a:solidFill>
                  <a:srgbClr val="C00000"/>
                </a:solidFill>
                <a:latin typeface="宋体" charset="-122"/>
                <a:ea typeface="宋体" charset="-122"/>
              </a:rPr>
              <a:t>磁致伸缩</a:t>
            </a:r>
            <a:r>
              <a:rPr kumimoji="0" lang="zh-CN" altLang="en-US" sz="2800" b="1" dirty="0">
                <a:latin typeface="宋体" charset="-122"/>
                <a:ea typeface="宋体" charset="-122"/>
              </a:rPr>
              <a:t>”。 </a:t>
            </a:r>
          </a:p>
        </p:txBody>
      </p:sp>
      <p:sp>
        <p:nvSpPr>
          <p:cNvPr id="10" name="矩形 9"/>
          <p:cNvSpPr>
            <a:spLocks noChangeArrowheads="1"/>
          </p:cNvSpPr>
          <p:nvPr/>
        </p:nvSpPr>
        <p:spPr bwMode="auto">
          <a:xfrm>
            <a:off x="285720" y="4500570"/>
            <a:ext cx="8572560" cy="1815882"/>
          </a:xfrm>
          <a:prstGeom prst="rect">
            <a:avLst/>
          </a:prstGeom>
          <a:noFill/>
          <a:ln w="9525">
            <a:noFill/>
            <a:miter lim="800000"/>
            <a:headEnd/>
            <a:tailEnd/>
          </a:ln>
        </p:spPr>
        <p:txBody>
          <a:bodyPr wrap="square">
            <a:spAutoFit/>
          </a:bodyPr>
          <a:lstStyle/>
          <a:p>
            <a:r>
              <a:rPr kumimoji="0" lang="zh-CN" altLang="en-US" sz="2800" b="1" dirty="0" smtClean="0">
                <a:solidFill>
                  <a:srgbClr val="FF0000"/>
                </a:solidFill>
                <a:latin typeface="黑体" pitchFamily="49" charset="-122"/>
                <a:ea typeface="黑体" pitchFamily="49" charset="-122"/>
              </a:rPr>
              <a:t>磁致伸缩：</a:t>
            </a:r>
            <a:r>
              <a:rPr kumimoji="0" lang="zh-CN" altLang="en-US" sz="2800" b="1" dirty="0" smtClean="0">
                <a:latin typeface="宋体" charset="-122"/>
                <a:ea typeface="宋体" charset="-122"/>
              </a:rPr>
              <a:t>当</a:t>
            </a:r>
            <a:r>
              <a:rPr kumimoji="0" lang="zh-CN" altLang="en-US" sz="2800" b="1" dirty="0">
                <a:latin typeface="宋体" charset="-122"/>
                <a:ea typeface="宋体" charset="-122"/>
              </a:rPr>
              <a:t>某些材料受</a:t>
            </a:r>
            <a:r>
              <a:rPr kumimoji="0" lang="zh-CN" altLang="en-US" sz="2800" b="1" dirty="0" smtClean="0">
                <a:latin typeface="宋体" charset="-122"/>
                <a:ea typeface="宋体" charset="-122"/>
              </a:rPr>
              <a:t>拉力时</a:t>
            </a:r>
            <a:r>
              <a:rPr kumimoji="0" lang="zh-CN" altLang="en-US" sz="2800" b="1" dirty="0">
                <a:latin typeface="宋体" charset="-122"/>
                <a:ea typeface="宋体" charset="-122"/>
              </a:rPr>
              <a:t>，在受力方向上的磁导率增高，而在与作用力相垂直的方向上磁导率降低，这种现象称为正磁致伸缩；与此相反的称为负磁致伸缩。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4.4 </a:t>
            </a:r>
            <a:r>
              <a:rPr lang="zh-CN" altLang="en-US" sz="3600" b="1" dirty="0" smtClean="0">
                <a:solidFill>
                  <a:schemeClr val="tx2"/>
                </a:solidFill>
                <a:latin typeface="黑体" pitchFamily="2" charset="-122"/>
                <a:ea typeface="黑体" pitchFamily="2" charset="-122"/>
              </a:rPr>
              <a:t>压磁式传感器</a:t>
            </a:r>
          </a:p>
        </p:txBody>
      </p:sp>
      <p:cxnSp>
        <p:nvCxnSpPr>
          <p:cNvPr id="11" name="直接连接符 10"/>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7" name="Text Box 3"/>
          <p:cNvSpPr txBox="1">
            <a:spLocks noChangeArrowheads="1"/>
          </p:cNvSpPr>
          <p:nvPr/>
        </p:nvSpPr>
        <p:spPr bwMode="auto">
          <a:xfrm>
            <a:off x="214282" y="1844675"/>
            <a:ext cx="8678893" cy="2763834"/>
          </a:xfrm>
          <a:prstGeom prst="rect">
            <a:avLst/>
          </a:prstGeom>
          <a:noFill/>
          <a:ln w="9525">
            <a:noFill/>
            <a:miter lim="800000"/>
            <a:headEnd/>
            <a:tailEnd/>
          </a:ln>
        </p:spPr>
        <p:txBody>
          <a:bodyPr wrap="square">
            <a:spAutoFit/>
          </a:bodyPr>
          <a:lstStyle/>
          <a:p>
            <a:pPr indent="439738">
              <a:spcBef>
                <a:spcPct val="20000"/>
              </a:spcBef>
              <a:buClr>
                <a:schemeClr val="folHlink"/>
              </a:buClr>
              <a:buSzPct val="75000"/>
              <a:buFont typeface="Wingdings" pitchFamily="2" charset="2"/>
              <a:buNone/>
            </a:pPr>
            <a:r>
              <a:rPr lang="zh-CN" altLang="en-US" sz="2800" b="1" dirty="0">
                <a:latin typeface="宋体" charset="-122"/>
                <a:ea typeface="宋体" charset="-122"/>
              </a:rPr>
              <a:t>实验证明，只有在一定条件下</a:t>
            </a:r>
            <a:r>
              <a:rPr lang="en-US" altLang="zh-CN" sz="2800" b="1" dirty="0">
                <a:latin typeface="宋体" charset="-122"/>
                <a:ea typeface="宋体" charset="-122"/>
              </a:rPr>
              <a:t>(</a:t>
            </a:r>
            <a:r>
              <a:rPr lang="zh-CN" altLang="en-US" sz="2800" b="1" dirty="0">
                <a:latin typeface="宋体" charset="-122"/>
                <a:ea typeface="宋体" charset="-122"/>
              </a:rPr>
              <a:t>如磁场强度恒定</a:t>
            </a:r>
            <a:r>
              <a:rPr lang="en-US" altLang="zh-CN" sz="2800" b="1" dirty="0">
                <a:latin typeface="宋体" charset="-122"/>
                <a:ea typeface="宋体" charset="-122"/>
              </a:rPr>
              <a:t>)</a:t>
            </a:r>
            <a:r>
              <a:rPr lang="zh-CN" altLang="en-US" sz="2800" b="1" dirty="0">
                <a:latin typeface="宋体" charset="-122"/>
                <a:ea typeface="宋体" charset="-122"/>
              </a:rPr>
              <a:t>压磁效应才有单位特性，但不是线性关系</a:t>
            </a:r>
            <a:r>
              <a:rPr lang="zh-CN" altLang="en-US" sz="2800" b="1" dirty="0" smtClean="0">
                <a:latin typeface="宋体" charset="-122"/>
                <a:ea typeface="宋体" charset="-122"/>
              </a:rPr>
              <a:t>。</a:t>
            </a:r>
            <a:endParaRPr lang="en-US" altLang="zh-CN" sz="2800" b="1" dirty="0" smtClean="0">
              <a:latin typeface="宋体" charset="-122"/>
              <a:ea typeface="宋体" charset="-122"/>
            </a:endParaRPr>
          </a:p>
          <a:p>
            <a:pPr indent="439738">
              <a:spcBef>
                <a:spcPct val="20000"/>
              </a:spcBef>
              <a:buClr>
                <a:schemeClr val="folHlink"/>
              </a:buClr>
              <a:buSzPct val="75000"/>
              <a:buFont typeface="Wingdings" pitchFamily="2" charset="2"/>
              <a:buNone/>
            </a:pPr>
            <a:r>
              <a:rPr lang="zh-CN" altLang="en-US" sz="2800" b="1" dirty="0" smtClean="0">
                <a:latin typeface="宋体" charset="-122"/>
                <a:ea typeface="宋体" charset="-122"/>
              </a:rPr>
              <a:t>就</a:t>
            </a:r>
            <a:r>
              <a:rPr lang="zh-CN" altLang="en-US" sz="2800" b="1" dirty="0">
                <a:latin typeface="宋体" charset="-122"/>
                <a:ea typeface="宋体" charset="-122"/>
              </a:rPr>
              <a:t>同一种铁磁材料而言，在外界机械力的作用下，磁导率的改变与磁场强度有着密切的关系，如当磁场较强时，磁导率随外界力的增加而减小，而当磁场较弱时则有相反的结果。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4.4 </a:t>
            </a:r>
            <a:r>
              <a:rPr lang="zh-CN" altLang="en-US" sz="3600" b="1" dirty="0" smtClean="0">
                <a:solidFill>
                  <a:schemeClr val="tx2"/>
                </a:solidFill>
                <a:latin typeface="黑体" pitchFamily="2" charset="-122"/>
                <a:ea typeface="黑体" pitchFamily="2" charset="-122"/>
              </a:rPr>
              <a:t>压磁式传感器</a:t>
            </a:r>
          </a:p>
        </p:txBody>
      </p:sp>
      <p:cxnSp>
        <p:nvCxnSpPr>
          <p:cNvPr id="11" name="直接连接符 10"/>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Rectangle 4"/>
          <p:cNvSpPr>
            <a:spLocks noRot="1" noChangeArrowheads="1"/>
          </p:cNvSpPr>
          <p:nvPr/>
        </p:nvSpPr>
        <p:spPr bwMode="auto">
          <a:xfrm>
            <a:off x="214282" y="1571613"/>
            <a:ext cx="8675687" cy="571504"/>
          </a:xfrm>
          <a:prstGeom prst="rect">
            <a:avLst/>
          </a:prstGeom>
          <a:noFill/>
          <a:ln w="9525">
            <a:noFill/>
            <a:miter lim="800000"/>
            <a:headEnd/>
            <a:tailEnd/>
          </a:ln>
        </p:spPr>
        <p:txBody>
          <a:bodyPr/>
          <a:lstStyle/>
          <a:p>
            <a:pPr indent="627063">
              <a:spcBef>
                <a:spcPct val="20000"/>
              </a:spcBef>
              <a:buClr>
                <a:schemeClr val="folHlink"/>
              </a:buClr>
              <a:buSzPct val="60000"/>
              <a:buFont typeface="Wingdings" pitchFamily="2" charset="2"/>
              <a:buNone/>
            </a:pPr>
            <a:r>
              <a:rPr lang="zh-CN" altLang="en-US" sz="2800" b="1" dirty="0" smtClean="0">
                <a:latin typeface="宋体" charset="-122"/>
                <a:ea typeface="宋体" charset="-122"/>
              </a:rPr>
              <a:t>铁</a:t>
            </a:r>
            <a:r>
              <a:rPr lang="zh-CN" altLang="en-US" sz="2800" b="1" dirty="0">
                <a:latin typeface="宋体" charset="-122"/>
                <a:ea typeface="宋体" charset="-122"/>
              </a:rPr>
              <a:t>磁材料的压磁</a:t>
            </a:r>
            <a:r>
              <a:rPr lang="zh-CN" altLang="en-US" sz="2800" b="1" dirty="0" smtClean="0">
                <a:latin typeface="宋体" charset="-122"/>
                <a:ea typeface="宋体" charset="-122"/>
              </a:rPr>
              <a:t>应变灵敏度：</a:t>
            </a:r>
            <a:endParaRPr lang="zh-CN" altLang="en-US" sz="2600" b="1" dirty="0">
              <a:latin typeface="宋体" charset="-122"/>
              <a:ea typeface="宋体" charset="-122"/>
            </a:endParaRPr>
          </a:p>
        </p:txBody>
      </p:sp>
      <p:sp>
        <p:nvSpPr>
          <p:cNvPr id="6" name="Rectangle 4"/>
          <p:cNvSpPr>
            <a:spLocks noRot="1" noChangeArrowheads="1"/>
          </p:cNvSpPr>
          <p:nvPr/>
        </p:nvSpPr>
        <p:spPr bwMode="auto">
          <a:xfrm>
            <a:off x="214282" y="3143249"/>
            <a:ext cx="8675687" cy="1285884"/>
          </a:xfrm>
          <a:prstGeom prst="rect">
            <a:avLst/>
          </a:prstGeom>
          <a:noFill/>
          <a:ln w="9525">
            <a:noFill/>
            <a:miter lim="800000"/>
            <a:headEnd/>
            <a:tailEnd/>
          </a:ln>
        </p:spPr>
        <p:txBody>
          <a:bodyPr/>
          <a:lstStyle/>
          <a:p>
            <a:pPr marL="342900" indent="-342900">
              <a:spcBef>
                <a:spcPct val="20000"/>
              </a:spcBef>
              <a:buClr>
                <a:schemeClr val="folHlink"/>
              </a:buClr>
              <a:buSzPct val="60000"/>
              <a:buFont typeface="Wingdings" pitchFamily="2" charset="2"/>
              <a:buNone/>
            </a:pPr>
            <a:r>
              <a:rPr lang="zh-CN" altLang="en-US" sz="2600" b="1" dirty="0" smtClean="0">
                <a:latin typeface="宋体" charset="-122"/>
                <a:ea typeface="宋体" charset="-122"/>
              </a:rPr>
              <a:t>  </a:t>
            </a:r>
            <a:r>
              <a:rPr lang="en-US" altLang="zh-CN" sz="2600" b="1" dirty="0" err="1" smtClean="0">
                <a:latin typeface="宋体" charset="-122"/>
                <a:ea typeface="宋体" charset="-122"/>
              </a:rPr>
              <a:t>ε</a:t>
            </a:r>
            <a:r>
              <a:rPr lang="en-US" altLang="zh-CN" sz="2600" b="1" baseline="-25000" dirty="0" err="1" smtClean="0">
                <a:latin typeface="宋体" charset="-122"/>
                <a:ea typeface="宋体" charset="-122"/>
              </a:rPr>
              <a:t>μ</a:t>
            </a:r>
            <a:r>
              <a:rPr lang="en-US" altLang="zh-CN" sz="2600" b="1" dirty="0" smtClean="0">
                <a:latin typeface="宋体" charset="-122"/>
                <a:ea typeface="宋体" charset="-122"/>
              </a:rPr>
              <a:t>=</a:t>
            </a:r>
            <a:r>
              <a:rPr lang="en-US" altLang="zh-CN" sz="2600" b="1" dirty="0" err="1" smtClean="0">
                <a:latin typeface="宋体" charset="-122"/>
                <a:ea typeface="宋体" charset="-122"/>
              </a:rPr>
              <a:t>Δμ</a:t>
            </a:r>
            <a:r>
              <a:rPr lang="en-US" altLang="zh-CN" sz="2600" b="1" dirty="0" smtClean="0">
                <a:latin typeface="宋体" charset="-122"/>
                <a:ea typeface="宋体" charset="-122"/>
              </a:rPr>
              <a:t>/μ-</a:t>
            </a:r>
            <a:r>
              <a:rPr lang="en-US" altLang="zh-CN" sz="2600" b="1" dirty="0">
                <a:latin typeface="宋体" charset="-122"/>
                <a:ea typeface="宋体" charset="-122"/>
              </a:rPr>
              <a:t>-</a:t>
            </a:r>
            <a:r>
              <a:rPr lang="zh-CN" altLang="en-US" sz="2600" b="1" dirty="0">
                <a:latin typeface="宋体" charset="-122"/>
                <a:ea typeface="宋体" charset="-122"/>
              </a:rPr>
              <a:t>磁导率的相对变化； </a:t>
            </a:r>
          </a:p>
          <a:p>
            <a:pPr marL="342900" indent="-342900">
              <a:spcBef>
                <a:spcPct val="20000"/>
              </a:spcBef>
              <a:buClr>
                <a:schemeClr val="folHlink"/>
              </a:buClr>
              <a:buSzPct val="60000"/>
              <a:buFont typeface="Wingdings" pitchFamily="2" charset="2"/>
              <a:buNone/>
            </a:pPr>
            <a:r>
              <a:rPr lang="zh-CN" altLang="en-US" sz="2600" b="1" dirty="0">
                <a:latin typeface="宋体" charset="-122"/>
                <a:ea typeface="宋体" charset="-122"/>
              </a:rPr>
              <a:t>  </a:t>
            </a:r>
            <a:r>
              <a:rPr lang="en-US" altLang="zh-CN" sz="2600" b="1" dirty="0" err="1">
                <a:latin typeface="宋体" charset="-122"/>
                <a:ea typeface="宋体" charset="-122"/>
              </a:rPr>
              <a:t>ε</a:t>
            </a:r>
            <a:r>
              <a:rPr lang="en-US" altLang="zh-CN" sz="2600" b="1" baseline="-25000" dirty="0" err="1">
                <a:latin typeface="宋体" charset="-122"/>
                <a:ea typeface="宋体" charset="-122"/>
              </a:rPr>
              <a:t>l</a:t>
            </a:r>
            <a:r>
              <a:rPr lang="en-US" altLang="zh-CN" sz="2600" b="1" dirty="0">
                <a:latin typeface="宋体" charset="-122"/>
                <a:ea typeface="宋体" charset="-122"/>
              </a:rPr>
              <a:t>=</a:t>
            </a:r>
            <a:r>
              <a:rPr lang="en-US" altLang="zh-CN" sz="2600" b="1" dirty="0" err="1">
                <a:latin typeface="宋体" charset="-122"/>
                <a:ea typeface="宋体" charset="-122"/>
              </a:rPr>
              <a:t>Δl</a:t>
            </a:r>
            <a:r>
              <a:rPr lang="en-US" altLang="zh-CN" sz="2600" b="1" dirty="0">
                <a:latin typeface="宋体" charset="-122"/>
                <a:ea typeface="宋体" charset="-122"/>
              </a:rPr>
              <a:t>/l--</a:t>
            </a:r>
            <a:r>
              <a:rPr lang="zh-CN" altLang="en-US" sz="2600" b="1" dirty="0">
                <a:latin typeface="宋体" charset="-122"/>
                <a:ea typeface="宋体" charset="-122"/>
              </a:rPr>
              <a:t>在机械力的作用下铁磁物质的相对变形</a:t>
            </a:r>
            <a:r>
              <a:rPr lang="zh-CN" altLang="en-US" sz="2600" b="1" dirty="0" smtClean="0">
                <a:latin typeface="宋体" charset="-122"/>
                <a:ea typeface="宋体" charset="-122"/>
              </a:rPr>
              <a:t>。</a:t>
            </a:r>
            <a:endParaRPr lang="zh-CN" altLang="en-US" sz="2600" b="1" dirty="0">
              <a:latin typeface="宋体" charset="-122"/>
              <a:ea typeface="宋体" charset="-122"/>
            </a:endParaRPr>
          </a:p>
        </p:txBody>
      </p:sp>
      <p:graphicFrame>
        <p:nvGraphicFramePr>
          <p:cNvPr id="78850" name="Object 6"/>
          <p:cNvGraphicFramePr>
            <a:graphicFrameLocks noChangeAspect="1"/>
          </p:cNvGraphicFramePr>
          <p:nvPr/>
        </p:nvGraphicFramePr>
        <p:xfrm>
          <a:off x="3357554" y="2143116"/>
          <a:ext cx="2295532" cy="893176"/>
        </p:xfrm>
        <a:graphic>
          <a:graphicData uri="http://schemas.openxmlformats.org/presentationml/2006/ole">
            <p:oleObj spid="_x0000_s78850" name="Flash Movie" r:id="rId3" imgW="3122280" imgH="1148760" progId="">
              <p:embed/>
            </p:oleObj>
          </a:graphicData>
        </a:graphic>
      </p:graphicFrame>
      <p:grpSp>
        <p:nvGrpSpPr>
          <p:cNvPr id="12" name="组合 11"/>
          <p:cNvGrpSpPr/>
          <p:nvPr/>
        </p:nvGrpSpPr>
        <p:grpSpPr>
          <a:xfrm>
            <a:off x="500034" y="4214818"/>
            <a:ext cx="7929562" cy="1763717"/>
            <a:chOff x="500034" y="4214818"/>
            <a:chExt cx="7929562" cy="1763717"/>
          </a:xfrm>
        </p:grpSpPr>
        <p:sp>
          <p:nvSpPr>
            <p:cNvPr id="9" name="矩形 7"/>
            <p:cNvSpPr>
              <a:spLocks noChangeArrowheads="1"/>
            </p:cNvSpPr>
            <p:nvPr/>
          </p:nvSpPr>
          <p:spPr bwMode="auto">
            <a:xfrm>
              <a:off x="500034" y="4214818"/>
              <a:ext cx="7929562" cy="954107"/>
            </a:xfrm>
            <a:prstGeom prst="rect">
              <a:avLst/>
            </a:prstGeom>
            <a:noFill/>
            <a:ln w="9525">
              <a:noFill/>
              <a:miter lim="800000"/>
              <a:headEnd/>
              <a:tailEnd/>
            </a:ln>
          </p:spPr>
          <p:txBody>
            <a:bodyPr>
              <a:spAutoFit/>
            </a:bodyPr>
            <a:lstStyle/>
            <a:p>
              <a:pPr indent="355600">
                <a:spcBef>
                  <a:spcPct val="20000"/>
                </a:spcBef>
                <a:buClr>
                  <a:schemeClr val="folHlink"/>
                </a:buClr>
                <a:buSzPct val="60000"/>
                <a:buFont typeface="Wingdings" pitchFamily="2" charset="2"/>
                <a:buNone/>
              </a:pPr>
              <a:r>
                <a:rPr lang="zh-CN" altLang="en-US" sz="2800" b="1" dirty="0">
                  <a:latin typeface="宋体" charset="-122"/>
                  <a:ea typeface="宋体" charset="-122"/>
                </a:rPr>
                <a:t>压磁应力灵敏度定义为：单位机械应力</a:t>
              </a:r>
              <a:r>
                <a:rPr lang="en-US" altLang="zh-CN" sz="2800" b="1" dirty="0">
                  <a:latin typeface="宋体" charset="-122"/>
                  <a:ea typeface="宋体" charset="-122"/>
                </a:rPr>
                <a:t>б</a:t>
              </a:r>
              <a:r>
                <a:rPr lang="zh-CN" altLang="en-US" sz="2800" b="1" dirty="0">
                  <a:latin typeface="宋体" charset="-122"/>
                  <a:ea typeface="宋体" charset="-122"/>
                </a:rPr>
                <a:t>所引起的磁导率相对变化</a:t>
              </a:r>
              <a:r>
                <a:rPr lang="en-US" altLang="zh-CN" sz="2800" b="1" dirty="0" err="1">
                  <a:latin typeface="宋体" charset="-122"/>
                  <a:ea typeface="宋体" charset="-122"/>
                </a:rPr>
                <a:t>ε</a:t>
              </a:r>
              <a:r>
                <a:rPr lang="en-US" altLang="zh-CN" sz="2800" b="1" baseline="-25000" dirty="0" err="1">
                  <a:latin typeface="宋体" charset="-122"/>
                  <a:ea typeface="宋体" charset="-122"/>
                </a:rPr>
                <a:t>μ</a:t>
              </a:r>
              <a:r>
                <a:rPr lang="en-US" altLang="zh-CN" sz="2800" b="1" dirty="0">
                  <a:latin typeface="宋体" charset="-122"/>
                  <a:ea typeface="宋体" charset="-122"/>
                </a:rPr>
                <a:t>=</a:t>
              </a:r>
              <a:r>
                <a:rPr lang="en-US" altLang="zh-CN" sz="2800" b="1" dirty="0" err="1">
                  <a:latin typeface="宋体" charset="-122"/>
                  <a:ea typeface="宋体" charset="-122"/>
                </a:rPr>
                <a:t>Δμ</a:t>
              </a:r>
              <a:r>
                <a:rPr lang="en-US" altLang="zh-CN" sz="2800" b="1" dirty="0">
                  <a:latin typeface="宋体" charset="-122"/>
                  <a:ea typeface="宋体" charset="-122"/>
                </a:rPr>
                <a:t>/μ</a:t>
              </a:r>
              <a:r>
                <a:rPr lang="zh-CN" altLang="en-US" sz="2800" b="1" dirty="0">
                  <a:latin typeface="宋体" charset="-122"/>
                  <a:ea typeface="宋体" charset="-122"/>
                </a:rPr>
                <a:t>，即</a:t>
              </a:r>
            </a:p>
          </p:txBody>
        </p:sp>
        <p:graphicFrame>
          <p:nvGraphicFramePr>
            <p:cNvPr id="10" name="Object 5"/>
            <p:cNvGraphicFramePr>
              <a:graphicFrameLocks noChangeAspect="1"/>
            </p:cNvGraphicFramePr>
            <p:nvPr/>
          </p:nvGraphicFramePr>
          <p:xfrm>
            <a:off x="3786182" y="5286388"/>
            <a:ext cx="1785950" cy="692147"/>
          </p:xfrm>
          <a:graphic>
            <a:graphicData uri="http://schemas.openxmlformats.org/presentationml/2006/ole">
              <p:oleObj spid="_x0000_s78851" name="Equation" r:id="rId4" imgW="761760" imgH="40608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altLang="zh-CN" sz="3600" b="1" dirty="0" smtClean="0">
                <a:solidFill>
                  <a:schemeClr val="tx2"/>
                </a:solidFill>
                <a:latin typeface="黑体" pitchFamily="2" charset="-122"/>
                <a:ea typeface="黑体" pitchFamily="2" charset="-122"/>
              </a:rPr>
              <a:t>4.4 </a:t>
            </a:r>
            <a:r>
              <a:rPr lang="zh-CN" altLang="en-US" sz="3600" b="1" dirty="0" smtClean="0">
                <a:solidFill>
                  <a:schemeClr val="tx2"/>
                </a:solidFill>
                <a:latin typeface="黑体" pitchFamily="2" charset="-122"/>
                <a:ea typeface="黑体" pitchFamily="2" charset="-122"/>
              </a:rPr>
              <a:t>压磁式传感器</a:t>
            </a:r>
          </a:p>
        </p:txBody>
      </p:sp>
      <p:cxnSp>
        <p:nvCxnSpPr>
          <p:cNvPr id="11" name="直接连接符 10"/>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429063" name="Object 7"/>
          <p:cNvGraphicFramePr>
            <a:graphicFrameLocks noGrp="1" noChangeAspect="1"/>
          </p:cNvGraphicFramePr>
          <p:nvPr/>
        </p:nvGraphicFramePr>
        <p:xfrm>
          <a:off x="2143108" y="2928934"/>
          <a:ext cx="4600575" cy="3470275"/>
        </p:xfrm>
        <a:graphic>
          <a:graphicData uri="http://schemas.openxmlformats.org/presentationml/2006/ole">
            <p:oleObj spid="_x0000_s79876" name="Image" r:id="rId3" imgW="19797551" imgH="14928980" progId="">
              <p:embed/>
            </p:oleObj>
          </a:graphicData>
        </a:graphic>
      </p:graphicFrame>
      <p:sp>
        <p:nvSpPr>
          <p:cNvPr id="13" name="Text Box 6"/>
          <p:cNvSpPr txBox="1">
            <a:spLocks noChangeArrowheads="1"/>
          </p:cNvSpPr>
          <p:nvPr/>
        </p:nvSpPr>
        <p:spPr bwMode="auto">
          <a:xfrm>
            <a:off x="571472" y="1643050"/>
            <a:ext cx="7826375" cy="1384995"/>
          </a:xfrm>
          <a:prstGeom prst="rect">
            <a:avLst/>
          </a:prstGeom>
          <a:noFill/>
          <a:ln w="9525">
            <a:noFill/>
            <a:miter lim="800000"/>
            <a:headEnd/>
            <a:tailEnd/>
          </a:ln>
        </p:spPr>
        <p:txBody>
          <a:bodyPr>
            <a:spAutoFit/>
          </a:bodyPr>
          <a:lstStyle/>
          <a:p>
            <a:pPr>
              <a:spcBef>
                <a:spcPct val="50000"/>
              </a:spcBef>
            </a:pPr>
            <a:r>
              <a:rPr lang="en-US" altLang="zh-CN" sz="2800" b="1" dirty="0">
                <a:latin typeface="宋体" charset="-122"/>
                <a:ea typeface="宋体" charset="-122"/>
              </a:rPr>
              <a:t>    </a:t>
            </a:r>
            <a:r>
              <a:rPr lang="zh-CN" altLang="en-US" sz="2800" b="1" dirty="0">
                <a:latin typeface="宋体" charset="-122"/>
                <a:ea typeface="宋体" charset="-122"/>
              </a:rPr>
              <a:t>利用上述关系可以做成压磁传感器，常用来测量压力、拉力、弯矩、扭转力</a:t>
            </a:r>
            <a:r>
              <a:rPr lang="en-US" altLang="zh-CN" sz="2800" b="1" dirty="0">
                <a:latin typeface="宋体" charset="-122"/>
                <a:ea typeface="宋体" charset="-122"/>
              </a:rPr>
              <a:t>(</a:t>
            </a:r>
            <a:r>
              <a:rPr lang="zh-CN" altLang="en-US" sz="2800" b="1" dirty="0">
                <a:latin typeface="宋体" charset="-122"/>
                <a:ea typeface="宋体" charset="-122"/>
              </a:rPr>
              <a:t>或力矩</a:t>
            </a:r>
            <a:r>
              <a:rPr lang="en-US" altLang="zh-CN" sz="2800" b="1" dirty="0">
                <a:latin typeface="宋体" charset="-122"/>
                <a:ea typeface="宋体" charset="-122"/>
              </a:rPr>
              <a:t>)</a:t>
            </a:r>
            <a:r>
              <a:rPr lang="zh-CN" altLang="en-US" sz="2800" b="1" dirty="0">
                <a:latin typeface="宋体" charset="-122"/>
                <a:ea typeface="宋体" charset="-122"/>
              </a:rPr>
              <a:t>等物理量。</a:t>
            </a:r>
          </a:p>
        </p:txBody>
      </p:sp>
      <p:sp>
        <p:nvSpPr>
          <p:cNvPr id="14" name="Text Box 9"/>
          <p:cNvSpPr txBox="1">
            <a:spLocks noChangeArrowheads="1"/>
          </p:cNvSpPr>
          <p:nvPr/>
        </p:nvSpPr>
        <p:spPr bwMode="auto">
          <a:xfrm>
            <a:off x="2214546" y="6400800"/>
            <a:ext cx="4392612" cy="457200"/>
          </a:xfrm>
          <a:prstGeom prst="rect">
            <a:avLst/>
          </a:prstGeom>
          <a:noFill/>
          <a:ln w="9525" algn="ctr">
            <a:noFill/>
            <a:miter lim="800000"/>
            <a:headEnd/>
            <a:tailEnd/>
          </a:ln>
        </p:spPr>
        <p:txBody>
          <a:bodyPr>
            <a:spAutoFit/>
          </a:bodyPr>
          <a:lstStyle/>
          <a:p>
            <a:pPr marL="838200" indent="-838200">
              <a:spcBef>
                <a:spcPct val="50000"/>
              </a:spcBef>
            </a:pPr>
            <a:r>
              <a:rPr kumimoji="0" lang="zh-CN" altLang="en-US" sz="2400" b="1" dirty="0" smtClean="0">
                <a:latin typeface="楷体_GB2312" pitchFamily="49" charset="-122"/>
                <a:ea typeface="楷体_GB2312" pitchFamily="49" charset="-122"/>
              </a:rPr>
              <a:t>利用某一</a:t>
            </a:r>
            <a:r>
              <a:rPr kumimoji="0" lang="zh-CN" altLang="en-US" sz="2400" b="1" dirty="0">
                <a:latin typeface="楷体_GB2312" pitchFamily="49" charset="-122"/>
                <a:ea typeface="楷体_GB2312" pitchFamily="49" charset="-122"/>
              </a:rPr>
              <a:t>个方向磁导率的变化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429063"/>
                                        </p:tgtEl>
                                        <p:attrNameLst>
                                          <p:attrName>style.visibility</p:attrName>
                                        </p:attrNameLst>
                                      </p:cBhvr>
                                      <p:to>
                                        <p:strVal val="visible"/>
                                      </p:to>
                                    </p:set>
                                    <p:animEffect transition="in" filter="strips(downRight)">
                                      <p:cBhvr>
                                        <p:cTn id="7" dur="500"/>
                                        <p:tgtEl>
                                          <p:spTgt spid="429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zh-CN" altLang="en-US" sz="3600" b="1" dirty="0" smtClean="0">
                <a:solidFill>
                  <a:schemeClr val="tx2"/>
                </a:solidFill>
                <a:latin typeface="黑体" pitchFamily="2" charset="-122"/>
                <a:ea typeface="黑体" pitchFamily="2" charset="-122"/>
              </a:rPr>
              <a:t>本章要点</a:t>
            </a:r>
          </a:p>
        </p:txBody>
      </p:sp>
      <p:cxnSp>
        <p:nvCxnSpPr>
          <p:cNvPr id="11" name="直接连接符 10"/>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7" name="Rectangle 3"/>
          <p:cNvSpPr>
            <a:spLocks noRot="1" noChangeArrowheads="1"/>
          </p:cNvSpPr>
          <p:nvPr/>
        </p:nvSpPr>
        <p:spPr bwMode="auto">
          <a:xfrm>
            <a:off x="571472" y="1643050"/>
            <a:ext cx="8077200" cy="4876800"/>
          </a:xfrm>
          <a:prstGeom prst="rect">
            <a:avLst/>
          </a:prstGeom>
          <a:noFill/>
          <a:ln w="9525">
            <a:noFill/>
            <a:miter lim="800000"/>
            <a:headEnd/>
            <a:tailEnd/>
          </a:ln>
        </p:spPr>
        <p:txBody>
          <a:bodyPr/>
          <a:lstStyle/>
          <a:p>
            <a:pPr marL="342900" indent="-342900">
              <a:lnSpc>
                <a:spcPct val="130000"/>
              </a:lnSpc>
              <a:spcBef>
                <a:spcPct val="20000"/>
              </a:spcBef>
              <a:buSzPct val="100000"/>
              <a:buFont typeface="Wingdings" pitchFamily="2" charset="2"/>
              <a:buChar char="p"/>
            </a:pPr>
            <a:r>
              <a:rPr lang="zh-CN" altLang="en-US" sz="2800" b="1" dirty="0">
                <a:solidFill>
                  <a:srgbClr val="C00000"/>
                </a:solidFill>
                <a:latin typeface="宋体" charset="-122"/>
                <a:ea typeface="宋体" charset="-122"/>
              </a:rPr>
              <a:t>自感式传感器</a:t>
            </a:r>
            <a:endParaRPr lang="zh-CN" altLang="en-US" sz="2800" b="1" dirty="0">
              <a:solidFill>
                <a:srgbClr val="C00000"/>
              </a:solidFill>
              <a:latin typeface="Tahoma" pitchFamily="34" charset="0"/>
              <a:ea typeface="宋体" charset="-122"/>
            </a:endParaRPr>
          </a:p>
          <a:p>
            <a:pPr marL="800100" lvl="1" indent="-342900">
              <a:lnSpc>
                <a:spcPct val="130000"/>
              </a:lnSpc>
              <a:spcBef>
                <a:spcPct val="20000"/>
              </a:spcBef>
              <a:buClr>
                <a:schemeClr val="tx1"/>
              </a:buClr>
              <a:buSzPct val="100000"/>
              <a:buFont typeface="Wingdings" pitchFamily="2" charset="2"/>
              <a:buChar char="u"/>
            </a:pPr>
            <a:r>
              <a:rPr lang="zh-CN" altLang="en-US" sz="2400" b="1" dirty="0" smtClean="0">
                <a:latin typeface="宋体" charset="-122"/>
                <a:ea typeface="宋体" charset="-122"/>
              </a:rPr>
              <a:t>工作</a:t>
            </a:r>
            <a:r>
              <a:rPr lang="zh-CN" altLang="en-US" sz="2400" b="1" dirty="0">
                <a:latin typeface="宋体" charset="-122"/>
                <a:ea typeface="宋体" charset="-122"/>
              </a:rPr>
              <a:t>原理</a:t>
            </a:r>
            <a:endParaRPr lang="zh-CN" altLang="en-US" sz="2400" b="1" dirty="0">
              <a:latin typeface="Tahoma" pitchFamily="34" charset="0"/>
              <a:ea typeface="宋体" charset="-122"/>
            </a:endParaRPr>
          </a:p>
          <a:p>
            <a:pPr marL="800100" lvl="1" indent="-342900">
              <a:lnSpc>
                <a:spcPct val="130000"/>
              </a:lnSpc>
              <a:spcBef>
                <a:spcPct val="20000"/>
              </a:spcBef>
              <a:buClr>
                <a:schemeClr val="tx1"/>
              </a:buClr>
              <a:buSzPct val="100000"/>
              <a:buFont typeface="Wingdings" pitchFamily="2" charset="2"/>
              <a:buChar char="u"/>
            </a:pPr>
            <a:r>
              <a:rPr lang="zh-CN" altLang="en-US" sz="2400" b="1" dirty="0">
                <a:latin typeface="宋体" charset="-122"/>
                <a:ea typeface="宋体" charset="-122"/>
              </a:rPr>
              <a:t>灵敏度与非线性</a:t>
            </a:r>
          </a:p>
          <a:p>
            <a:pPr marL="342900" indent="-342900">
              <a:lnSpc>
                <a:spcPct val="130000"/>
              </a:lnSpc>
              <a:spcBef>
                <a:spcPct val="20000"/>
              </a:spcBef>
              <a:buClr>
                <a:schemeClr val="folHlink"/>
              </a:buClr>
              <a:buSzPct val="60000"/>
              <a:buFont typeface="Wingdings" pitchFamily="2" charset="2"/>
              <a:buNone/>
            </a:pPr>
            <a:r>
              <a:rPr lang="zh-CN" altLang="en-US" sz="2400" b="1" dirty="0">
                <a:latin typeface="宋体" charset="-122"/>
                <a:ea typeface="宋体" charset="-122"/>
              </a:rPr>
              <a:t>   </a:t>
            </a:r>
            <a:r>
              <a:rPr lang="zh-CN" altLang="en-US" sz="2400" b="1" dirty="0" smtClean="0">
                <a:latin typeface="宋体" charset="-122"/>
                <a:ea typeface="宋体" charset="-122"/>
              </a:rPr>
              <a:t>  差</a:t>
            </a:r>
            <a:r>
              <a:rPr lang="zh-CN" altLang="en-US" sz="2400" b="1" dirty="0">
                <a:latin typeface="宋体" charset="-122"/>
                <a:ea typeface="宋体" charset="-122"/>
              </a:rPr>
              <a:t>动式</a:t>
            </a:r>
            <a:r>
              <a:rPr lang="zh-CN" altLang="en-US" sz="2400" b="1" dirty="0" smtClean="0">
                <a:latin typeface="宋体" charset="-122"/>
                <a:ea typeface="宋体" charset="-122"/>
              </a:rPr>
              <a:t>传感器灵敏度</a:t>
            </a:r>
            <a:endParaRPr lang="zh-CN" altLang="en-US" sz="2400" b="1" dirty="0">
              <a:latin typeface="Tahoma" pitchFamily="34" charset="0"/>
              <a:ea typeface="宋体" charset="-122"/>
            </a:endParaRPr>
          </a:p>
          <a:p>
            <a:pPr marL="800100" lvl="1" indent="-342900">
              <a:lnSpc>
                <a:spcPct val="130000"/>
              </a:lnSpc>
              <a:spcBef>
                <a:spcPct val="20000"/>
              </a:spcBef>
              <a:buClr>
                <a:schemeClr val="tx1"/>
              </a:buClr>
              <a:buSzPct val="100000"/>
              <a:buFont typeface="Wingdings" pitchFamily="2" charset="2"/>
              <a:buChar char="u"/>
            </a:pPr>
            <a:r>
              <a:rPr lang="zh-CN" altLang="en-US" sz="2400" b="1" dirty="0">
                <a:latin typeface="宋体" charset="-122"/>
                <a:ea typeface="宋体" charset="-122"/>
              </a:rPr>
              <a:t>等效电路</a:t>
            </a:r>
          </a:p>
          <a:p>
            <a:pPr marL="800100" lvl="1" indent="-342900">
              <a:lnSpc>
                <a:spcPct val="130000"/>
              </a:lnSpc>
              <a:spcBef>
                <a:spcPct val="20000"/>
              </a:spcBef>
              <a:buClr>
                <a:schemeClr val="tx1"/>
              </a:buClr>
              <a:buSzPct val="100000"/>
              <a:buFont typeface="Wingdings" pitchFamily="2" charset="2"/>
              <a:buChar char="u"/>
            </a:pPr>
            <a:r>
              <a:rPr lang="zh-CN" altLang="en-US" sz="2400" b="1" dirty="0">
                <a:latin typeface="宋体" charset="-122"/>
                <a:ea typeface="宋体" charset="-122"/>
              </a:rPr>
              <a:t>转换电路</a:t>
            </a:r>
          </a:p>
          <a:p>
            <a:pPr marL="1257300" lvl="2" indent="-342900">
              <a:lnSpc>
                <a:spcPct val="130000"/>
              </a:lnSpc>
              <a:spcBef>
                <a:spcPct val="20000"/>
              </a:spcBef>
              <a:buSzPct val="100000"/>
              <a:buFont typeface="Wingdings" pitchFamily="2" charset="2"/>
              <a:buChar char="l"/>
            </a:pPr>
            <a:r>
              <a:rPr lang="zh-CN" altLang="en-US" sz="2400" b="1" dirty="0" smtClean="0">
                <a:latin typeface="宋体" charset="-122"/>
                <a:ea typeface="宋体" charset="-122"/>
              </a:rPr>
              <a:t>调幅电路</a:t>
            </a:r>
            <a:endParaRPr lang="en-US" altLang="zh-CN" sz="2400" b="1" dirty="0">
              <a:latin typeface="宋体" charset="-122"/>
              <a:ea typeface="宋体" charset="-122"/>
            </a:endParaRPr>
          </a:p>
          <a:p>
            <a:pPr marL="1257300" lvl="2" indent="-342900">
              <a:lnSpc>
                <a:spcPct val="130000"/>
              </a:lnSpc>
              <a:spcBef>
                <a:spcPct val="20000"/>
              </a:spcBef>
              <a:buSzPct val="100000"/>
              <a:buFont typeface="Wingdings" pitchFamily="2" charset="2"/>
              <a:buChar char="l"/>
            </a:pPr>
            <a:r>
              <a:rPr lang="zh-CN" altLang="en-US" sz="2400" b="1" dirty="0" smtClean="0">
                <a:latin typeface="宋体" charset="-122"/>
                <a:ea typeface="宋体" charset="-122"/>
              </a:rPr>
              <a:t>调频电路</a:t>
            </a:r>
            <a:endParaRPr lang="en-US" altLang="zh-CN" sz="2400" b="1" dirty="0">
              <a:latin typeface="宋体" charset="-122"/>
              <a:ea typeface="宋体" charset="-122"/>
            </a:endParaRPr>
          </a:p>
          <a:p>
            <a:pPr marL="1257300" lvl="2" indent="-342900">
              <a:lnSpc>
                <a:spcPct val="130000"/>
              </a:lnSpc>
              <a:spcBef>
                <a:spcPct val="20000"/>
              </a:spcBef>
              <a:buSzPct val="100000"/>
              <a:buFont typeface="Wingdings" pitchFamily="2" charset="2"/>
              <a:buChar char="l"/>
            </a:pPr>
            <a:r>
              <a:rPr lang="zh-CN" altLang="en-US" sz="2400" b="1" dirty="0" smtClean="0">
                <a:latin typeface="宋体" charset="-122"/>
                <a:ea typeface="宋体" charset="-122"/>
              </a:rPr>
              <a:t>调相电路</a:t>
            </a:r>
            <a:endParaRPr lang="en-US" altLang="zh-CN" sz="2400" b="1" dirty="0">
              <a:latin typeface="宋体" charset="-122"/>
              <a:ea typeface="宋体" charset="-122"/>
            </a:endParaRPr>
          </a:p>
        </p:txBody>
      </p:sp>
      <p:graphicFrame>
        <p:nvGraphicFramePr>
          <p:cNvPr id="9" name="Object 13"/>
          <p:cNvGraphicFramePr>
            <a:graphicFrameLocks noChangeAspect="1"/>
          </p:cNvGraphicFramePr>
          <p:nvPr/>
        </p:nvGraphicFramePr>
        <p:xfrm>
          <a:off x="4429124" y="3214686"/>
          <a:ext cx="2895600" cy="835025"/>
        </p:xfrm>
        <a:graphic>
          <a:graphicData uri="http://schemas.openxmlformats.org/presentationml/2006/ole">
            <p:oleObj spid="_x0000_s88067" name="Flash Movie" r:id="rId3" imgW="3106440" imgH="897120" progId="">
              <p:embed/>
            </p:oleObj>
          </a:graphicData>
        </a:graphic>
      </p:graphicFrame>
      <p:graphicFrame>
        <p:nvGraphicFramePr>
          <p:cNvPr id="10" name="Object 14"/>
          <p:cNvGraphicFramePr>
            <a:graphicFrameLocks noChangeAspect="1"/>
          </p:cNvGraphicFramePr>
          <p:nvPr/>
        </p:nvGraphicFramePr>
        <p:xfrm>
          <a:off x="2786050" y="3857628"/>
          <a:ext cx="2209800" cy="820737"/>
        </p:xfrm>
        <a:graphic>
          <a:graphicData uri="http://schemas.openxmlformats.org/presentationml/2006/ole">
            <p:oleObj spid="_x0000_s88068" name="Flash Movie" r:id="rId4" imgW="2255040" imgH="661680" progId="">
              <p:embed/>
            </p:oleObj>
          </a:graphicData>
        </a:graphic>
      </p:graphicFrame>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zh-CN" altLang="en-US" sz="3600" b="1" dirty="0" smtClean="0">
                <a:solidFill>
                  <a:schemeClr val="tx2"/>
                </a:solidFill>
                <a:latin typeface="黑体" pitchFamily="2" charset="-122"/>
                <a:ea typeface="黑体" pitchFamily="2" charset="-122"/>
              </a:rPr>
              <a:t>本章要点</a:t>
            </a:r>
          </a:p>
        </p:txBody>
      </p:sp>
      <p:cxnSp>
        <p:nvCxnSpPr>
          <p:cNvPr id="11" name="直接连接符 10"/>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2" name="Rectangle 3"/>
          <p:cNvSpPr>
            <a:spLocks noRot="1" noChangeArrowheads="1"/>
          </p:cNvSpPr>
          <p:nvPr/>
        </p:nvSpPr>
        <p:spPr bwMode="auto">
          <a:xfrm>
            <a:off x="642910" y="1643050"/>
            <a:ext cx="8077200" cy="4876800"/>
          </a:xfrm>
          <a:prstGeom prst="rect">
            <a:avLst/>
          </a:prstGeom>
          <a:noFill/>
          <a:ln w="9525">
            <a:noFill/>
            <a:miter lim="800000"/>
            <a:headEnd/>
            <a:tailEnd/>
          </a:ln>
        </p:spPr>
        <p:txBody>
          <a:bodyPr/>
          <a:lstStyle/>
          <a:p>
            <a:pPr marL="342900" indent="-342900">
              <a:lnSpc>
                <a:spcPct val="130000"/>
              </a:lnSpc>
              <a:spcBef>
                <a:spcPct val="20000"/>
              </a:spcBef>
              <a:buClr>
                <a:srgbClr val="C00000"/>
              </a:buClr>
              <a:buSzPct val="100000"/>
              <a:buFont typeface="Wingdings" pitchFamily="2" charset="2"/>
              <a:buChar char="p"/>
            </a:pPr>
            <a:r>
              <a:rPr lang="zh-CN" altLang="en-US" sz="2800" b="1" dirty="0">
                <a:solidFill>
                  <a:srgbClr val="C00000"/>
                </a:solidFill>
                <a:latin typeface="宋体" charset="-122"/>
                <a:ea typeface="宋体" charset="-122"/>
              </a:rPr>
              <a:t>变压器式传感器</a:t>
            </a:r>
          </a:p>
          <a:p>
            <a:pPr marL="800100" lvl="1" indent="-342900">
              <a:lnSpc>
                <a:spcPct val="130000"/>
              </a:lnSpc>
              <a:spcBef>
                <a:spcPct val="20000"/>
              </a:spcBef>
              <a:buClr>
                <a:schemeClr val="tx1"/>
              </a:buClr>
              <a:buSzPct val="100000"/>
              <a:buFont typeface="Wingdings" pitchFamily="2" charset="2"/>
              <a:buChar char="u"/>
            </a:pPr>
            <a:r>
              <a:rPr lang="zh-CN" altLang="en-US" sz="2400" b="1" dirty="0">
                <a:latin typeface="宋体" charset="-122"/>
                <a:ea typeface="宋体" charset="-122"/>
              </a:rPr>
              <a:t>工作原理</a:t>
            </a:r>
          </a:p>
          <a:p>
            <a:pPr marL="800100" lvl="1" indent="-342900">
              <a:lnSpc>
                <a:spcPct val="130000"/>
              </a:lnSpc>
              <a:spcBef>
                <a:spcPct val="20000"/>
              </a:spcBef>
              <a:buClr>
                <a:schemeClr val="tx1"/>
              </a:buClr>
              <a:buSzPct val="100000"/>
              <a:buFont typeface="Wingdings" pitchFamily="2" charset="2"/>
              <a:buChar char="u"/>
            </a:pPr>
            <a:r>
              <a:rPr lang="zh-CN" altLang="en-US" sz="2400" b="1" dirty="0">
                <a:latin typeface="宋体" charset="-122"/>
                <a:ea typeface="宋体" charset="-122"/>
              </a:rPr>
              <a:t>等效电路及其特性</a:t>
            </a:r>
          </a:p>
          <a:p>
            <a:pPr marL="800100" lvl="1" indent="-342900">
              <a:lnSpc>
                <a:spcPct val="130000"/>
              </a:lnSpc>
              <a:spcBef>
                <a:spcPct val="20000"/>
              </a:spcBef>
              <a:buClr>
                <a:schemeClr val="tx1"/>
              </a:buClr>
              <a:buSzPct val="100000"/>
              <a:buFont typeface="Wingdings" pitchFamily="2" charset="2"/>
              <a:buChar char="u"/>
            </a:pPr>
            <a:r>
              <a:rPr lang="zh-CN" altLang="en-US" sz="2400" b="1" dirty="0">
                <a:latin typeface="宋体" charset="-122"/>
                <a:ea typeface="宋体" charset="-122"/>
              </a:rPr>
              <a:t>差动变压器式传感器的测量电路</a:t>
            </a:r>
          </a:p>
          <a:p>
            <a:pPr marL="1257300" lvl="2" indent="-342900">
              <a:lnSpc>
                <a:spcPct val="130000"/>
              </a:lnSpc>
              <a:spcBef>
                <a:spcPct val="20000"/>
              </a:spcBef>
              <a:buSzPct val="100000"/>
              <a:buFont typeface="Wingdings" pitchFamily="2" charset="2"/>
              <a:buChar char="l"/>
            </a:pPr>
            <a:r>
              <a:rPr lang="zh-CN" altLang="en-US" sz="2400" b="1" dirty="0" smtClean="0">
                <a:latin typeface="宋体" charset="-122"/>
                <a:ea typeface="宋体" charset="-122"/>
              </a:rPr>
              <a:t>相</a:t>
            </a:r>
            <a:r>
              <a:rPr lang="zh-CN" altLang="en-US" sz="2400" b="1" dirty="0">
                <a:latin typeface="宋体" charset="-122"/>
                <a:ea typeface="宋体" charset="-122"/>
              </a:rPr>
              <a:t>敏检测电路</a:t>
            </a:r>
            <a:r>
              <a:rPr lang="en-US" altLang="zh-CN" sz="2400" b="1" dirty="0">
                <a:latin typeface="宋体" charset="-122"/>
                <a:ea typeface="宋体" charset="-122"/>
              </a:rPr>
              <a:t>;</a:t>
            </a:r>
          </a:p>
          <a:p>
            <a:pPr marL="1257300" lvl="2" indent="-342900">
              <a:lnSpc>
                <a:spcPct val="130000"/>
              </a:lnSpc>
              <a:spcBef>
                <a:spcPct val="20000"/>
              </a:spcBef>
              <a:buSzPct val="100000"/>
              <a:buFont typeface="Wingdings" pitchFamily="2" charset="2"/>
              <a:buChar char="l"/>
            </a:pPr>
            <a:r>
              <a:rPr lang="zh-CN" altLang="en-US" sz="2400" b="1" dirty="0" smtClean="0">
                <a:latin typeface="宋体" charset="-122"/>
                <a:ea typeface="宋体" charset="-122"/>
              </a:rPr>
              <a:t>差</a:t>
            </a:r>
            <a:r>
              <a:rPr lang="zh-CN" altLang="en-US" sz="2400" b="1" dirty="0">
                <a:latin typeface="宋体" charset="-122"/>
                <a:ea typeface="宋体" charset="-122"/>
              </a:rPr>
              <a:t>动整流电路</a:t>
            </a:r>
          </a:p>
          <a:p>
            <a:pPr marL="800100" lvl="1" indent="-342900">
              <a:lnSpc>
                <a:spcPct val="130000"/>
              </a:lnSpc>
              <a:spcBef>
                <a:spcPct val="20000"/>
              </a:spcBef>
              <a:buClr>
                <a:schemeClr val="tx1"/>
              </a:buClr>
              <a:buSzPct val="100000"/>
              <a:buFont typeface="Wingdings" pitchFamily="2" charset="2"/>
              <a:buChar char="u"/>
            </a:pPr>
            <a:r>
              <a:rPr lang="zh-CN" altLang="en-US" sz="2400" b="1" dirty="0">
                <a:latin typeface="宋体" charset="-122"/>
                <a:ea typeface="宋体" charset="-122"/>
              </a:rPr>
              <a:t>零点残余电压的补偿</a:t>
            </a:r>
          </a:p>
          <a:p>
            <a:pPr marL="1257300" lvl="2" indent="-342900">
              <a:lnSpc>
                <a:spcPct val="130000"/>
              </a:lnSpc>
              <a:spcBef>
                <a:spcPct val="20000"/>
              </a:spcBef>
              <a:buSzPct val="100000"/>
              <a:buFont typeface="Wingdings" pitchFamily="2" charset="2"/>
              <a:buChar char="l"/>
            </a:pPr>
            <a:r>
              <a:rPr lang="zh-CN" altLang="en-US" sz="2400" b="1" dirty="0">
                <a:latin typeface="宋体" charset="-122"/>
                <a:ea typeface="宋体" charset="-122"/>
              </a:rPr>
              <a:t>  补偿零点残余电压的</a:t>
            </a:r>
            <a:r>
              <a:rPr lang="zh-CN" altLang="en-US" sz="2400" b="1" dirty="0" smtClean="0">
                <a:latin typeface="宋体" charset="-122"/>
                <a:ea typeface="宋体" charset="-122"/>
              </a:rPr>
              <a:t>电路</a:t>
            </a:r>
            <a:endParaRPr lang="en-US" altLang="zh-CN" sz="2400" b="1" dirty="0">
              <a:latin typeface="宋体" charset="-122"/>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title"/>
          </p:nvPr>
        </p:nvSpPr>
        <p:spPr bwMode="auto">
          <a:xfrm>
            <a:off x="1214414" y="785794"/>
            <a:ext cx="7292975" cy="71438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zh-CN" altLang="en-US" sz="3600" b="1" dirty="0" smtClean="0">
                <a:solidFill>
                  <a:schemeClr val="tx2"/>
                </a:solidFill>
                <a:latin typeface="黑体" pitchFamily="2" charset="-122"/>
                <a:ea typeface="黑体" pitchFamily="2" charset="-122"/>
              </a:rPr>
              <a:t>本章要点</a:t>
            </a:r>
          </a:p>
        </p:txBody>
      </p:sp>
      <p:cxnSp>
        <p:nvCxnSpPr>
          <p:cNvPr id="11" name="直接连接符 10"/>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Rectangle 3"/>
          <p:cNvSpPr>
            <a:spLocks noRot="1" noChangeArrowheads="1"/>
          </p:cNvSpPr>
          <p:nvPr/>
        </p:nvSpPr>
        <p:spPr bwMode="auto">
          <a:xfrm>
            <a:off x="500034" y="1714488"/>
            <a:ext cx="8077200" cy="4876800"/>
          </a:xfrm>
          <a:prstGeom prst="rect">
            <a:avLst/>
          </a:prstGeom>
          <a:noFill/>
          <a:ln w="9525">
            <a:noFill/>
            <a:miter lim="800000"/>
            <a:headEnd/>
            <a:tailEnd/>
          </a:ln>
        </p:spPr>
        <p:txBody>
          <a:bodyPr/>
          <a:lstStyle/>
          <a:p>
            <a:pPr marL="342900" indent="-342900">
              <a:lnSpc>
                <a:spcPct val="130000"/>
              </a:lnSpc>
              <a:spcBef>
                <a:spcPct val="20000"/>
              </a:spcBef>
              <a:buClr>
                <a:srgbClr val="C00000"/>
              </a:buClr>
              <a:buSzPct val="100000"/>
              <a:buFont typeface="Wingdings" pitchFamily="2" charset="2"/>
              <a:buChar char="p"/>
            </a:pPr>
            <a:r>
              <a:rPr lang="zh-CN" altLang="en-US" sz="2800" b="1" dirty="0">
                <a:solidFill>
                  <a:srgbClr val="C00000"/>
                </a:solidFill>
                <a:latin typeface="宋体" charset="-122"/>
                <a:ea typeface="宋体" charset="-122"/>
              </a:rPr>
              <a:t>涡流式传感器</a:t>
            </a:r>
          </a:p>
          <a:p>
            <a:pPr marL="800100" lvl="1" indent="-342900">
              <a:spcBef>
                <a:spcPct val="20000"/>
              </a:spcBef>
              <a:buClr>
                <a:schemeClr val="tx1"/>
              </a:buClr>
              <a:buSzPct val="100000"/>
              <a:buFont typeface="Wingdings" pitchFamily="2" charset="2"/>
              <a:buChar char="u"/>
            </a:pPr>
            <a:r>
              <a:rPr lang="zh-CN" altLang="en-US" sz="2400" b="1" dirty="0">
                <a:latin typeface="宋体" charset="-122"/>
                <a:ea typeface="宋体" charset="-122"/>
              </a:rPr>
              <a:t>工作</a:t>
            </a:r>
            <a:r>
              <a:rPr lang="zh-CN" altLang="en-US" sz="2400" b="1" dirty="0" smtClean="0">
                <a:latin typeface="宋体" charset="-122"/>
                <a:ea typeface="宋体" charset="-122"/>
              </a:rPr>
              <a:t>原理</a:t>
            </a:r>
            <a:endParaRPr lang="zh-CN" altLang="en-US" sz="2400" b="1" dirty="0">
              <a:latin typeface="宋体" charset="-122"/>
              <a:ea typeface="宋体" charset="-122"/>
            </a:endParaRPr>
          </a:p>
          <a:p>
            <a:pPr marL="800100" lvl="1" indent="-342900">
              <a:spcBef>
                <a:spcPct val="20000"/>
              </a:spcBef>
              <a:buClr>
                <a:schemeClr val="tx1"/>
              </a:buClr>
              <a:buSzPct val="100000"/>
              <a:buFont typeface="Wingdings" pitchFamily="2" charset="2"/>
              <a:buChar char="u"/>
            </a:pPr>
            <a:r>
              <a:rPr lang="zh-CN" altLang="en-US" sz="2400" b="1" dirty="0">
                <a:latin typeface="宋体" charset="-122"/>
                <a:ea typeface="宋体" charset="-122"/>
              </a:rPr>
              <a:t>转换电路</a:t>
            </a:r>
          </a:p>
          <a:p>
            <a:pPr marL="1257300" lvl="2" indent="-342900">
              <a:spcBef>
                <a:spcPct val="20000"/>
              </a:spcBef>
              <a:buSzPct val="100000"/>
              <a:buFont typeface="Wingdings" pitchFamily="2" charset="2"/>
              <a:buChar char="l"/>
            </a:pPr>
            <a:r>
              <a:rPr lang="zh-CN" altLang="en-US" sz="2400" b="1" dirty="0" smtClean="0">
                <a:latin typeface="宋体" charset="-122"/>
                <a:ea typeface="宋体" charset="-122"/>
              </a:rPr>
              <a:t>桥</a:t>
            </a:r>
            <a:r>
              <a:rPr lang="zh-CN" altLang="en-US" sz="2400" b="1" dirty="0">
                <a:latin typeface="宋体" charset="-122"/>
                <a:ea typeface="宋体" charset="-122"/>
              </a:rPr>
              <a:t>路 </a:t>
            </a:r>
          </a:p>
          <a:p>
            <a:pPr marL="1257300" lvl="2" indent="-342900">
              <a:spcBef>
                <a:spcPct val="20000"/>
              </a:spcBef>
              <a:buSzPct val="100000"/>
              <a:buFont typeface="Wingdings" pitchFamily="2" charset="2"/>
              <a:buChar char="l"/>
            </a:pPr>
            <a:r>
              <a:rPr lang="zh-CN" altLang="en-US" sz="2400" b="1" dirty="0" smtClean="0">
                <a:latin typeface="宋体" charset="-122"/>
                <a:ea typeface="宋体" charset="-122"/>
              </a:rPr>
              <a:t>谐振</a:t>
            </a:r>
            <a:r>
              <a:rPr lang="zh-CN" altLang="en-US" sz="2400" b="1" dirty="0">
                <a:latin typeface="宋体" charset="-122"/>
                <a:ea typeface="宋体" charset="-122"/>
              </a:rPr>
              <a:t>调幅电路</a:t>
            </a:r>
          </a:p>
          <a:p>
            <a:pPr marL="1257300" lvl="2" indent="-342900">
              <a:spcBef>
                <a:spcPct val="20000"/>
              </a:spcBef>
              <a:buSzPct val="100000"/>
              <a:buFont typeface="Wingdings" pitchFamily="2" charset="2"/>
              <a:buChar char="l"/>
            </a:pPr>
            <a:r>
              <a:rPr lang="zh-CN" altLang="en-US" sz="2400" b="1" dirty="0" smtClean="0">
                <a:latin typeface="宋体" charset="-122"/>
                <a:ea typeface="宋体" charset="-122"/>
              </a:rPr>
              <a:t>谐振</a:t>
            </a:r>
            <a:r>
              <a:rPr lang="zh-CN" altLang="en-US" sz="2400" b="1" dirty="0">
                <a:latin typeface="宋体" charset="-122"/>
                <a:ea typeface="宋体" charset="-122"/>
              </a:rPr>
              <a:t>调频电路</a:t>
            </a:r>
          </a:p>
          <a:p>
            <a:pPr marL="342900" indent="-342900">
              <a:lnSpc>
                <a:spcPct val="130000"/>
              </a:lnSpc>
              <a:spcBef>
                <a:spcPct val="20000"/>
              </a:spcBef>
              <a:buClr>
                <a:srgbClr val="C00000"/>
              </a:buClr>
              <a:buSzPct val="100000"/>
              <a:buFont typeface="Wingdings" pitchFamily="2" charset="2"/>
              <a:buChar char="p"/>
            </a:pPr>
            <a:r>
              <a:rPr lang="zh-CN" altLang="en-US" sz="2800" b="1" dirty="0">
                <a:solidFill>
                  <a:srgbClr val="C00000"/>
                </a:solidFill>
                <a:latin typeface="宋体" charset="-122"/>
                <a:ea typeface="宋体" charset="-122"/>
              </a:rPr>
              <a:t>压磁式</a:t>
            </a:r>
            <a:r>
              <a:rPr lang="zh-CN" altLang="en-US" sz="2800" b="1" dirty="0" smtClean="0">
                <a:solidFill>
                  <a:srgbClr val="C00000"/>
                </a:solidFill>
                <a:latin typeface="宋体" charset="-122"/>
                <a:ea typeface="宋体" charset="-122"/>
              </a:rPr>
              <a:t>传感器</a:t>
            </a:r>
            <a:endParaRPr lang="zh-CN" altLang="en-US" sz="2800" b="1" dirty="0">
              <a:solidFill>
                <a:srgbClr val="C00000"/>
              </a:solidFill>
              <a:latin typeface="宋体" charset="-122"/>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theme/theme1.xml><?xml version="1.0" encoding="utf-8"?>
<a:theme xmlns:a="http://schemas.openxmlformats.org/drawingml/2006/main" name="Office 主题">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3161</TotalTime>
  <Words>3355</Words>
  <Application>Microsoft PowerPoint</Application>
  <PresentationFormat>全屏显示(4:3)</PresentationFormat>
  <Paragraphs>358</Paragraphs>
  <Slides>58</Slides>
  <Notes>1</Notes>
  <HiddenSlides>0</HiddenSlides>
  <MMClips>0</MMClips>
  <ScaleCrop>false</ScaleCrop>
  <HeadingPairs>
    <vt:vector size="6" baseType="variant">
      <vt:variant>
        <vt:lpstr>主题</vt:lpstr>
      </vt:variant>
      <vt:variant>
        <vt:i4>1</vt:i4>
      </vt:variant>
      <vt:variant>
        <vt:lpstr>嵌入 OLE 服务器</vt:lpstr>
      </vt:variant>
      <vt:variant>
        <vt:i4>5</vt:i4>
      </vt:variant>
      <vt:variant>
        <vt:lpstr>幻灯片标题</vt:lpstr>
      </vt:variant>
      <vt:variant>
        <vt:i4>58</vt:i4>
      </vt:variant>
    </vt:vector>
  </HeadingPairs>
  <TitlesOfParts>
    <vt:vector size="64" baseType="lpstr">
      <vt:lpstr>Office 主题</vt:lpstr>
      <vt:lpstr>图像文档</vt:lpstr>
      <vt:lpstr>Image</vt:lpstr>
      <vt:lpstr>公式</vt:lpstr>
      <vt:lpstr>Equation</vt:lpstr>
      <vt:lpstr>Flash Movie</vt:lpstr>
      <vt:lpstr>第4章 电感式传感器</vt:lpstr>
      <vt:lpstr>第4章 电感式传感器</vt:lpstr>
      <vt:lpstr>第4章 电感式传感器</vt:lpstr>
      <vt:lpstr>第4章 电感式传感器</vt:lpstr>
      <vt:lpstr>第4章 电感式传感器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4.1 自感式传感器</vt:lpstr>
      <vt:lpstr>第4章 电感式传感器</vt:lpstr>
      <vt:lpstr>4.2 变压器式传感器</vt:lpstr>
      <vt:lpstr>4.2 变压器式传感器</vt:lpstr>
      <vt:lpstr>4.2 变压器式传感器</vt:lpstr>
      <vt:lpstr>4.2 变压器式传感器</vt:lpstr>
      <vt:lpstr>4.2 变压器式传感器</vt:lpstr>
      <vt:lpstr>4.2 变压器式传感器</vt:lpstr>
      <vt:lpstr>4.2 变压器式传感器</vt:lpstr>
      <vt:lpstr>4.2 变压器式传感器</vt:lpstr>
      <vt:lpstr>4.2 变压器式传感器</vt:lpstr>
      <vt:lpstr>4.2 变压器式传感器</vt:lpstr>
      <vt:lpstr>第4章 电感式传感器</vt:lpstr>
      <vt:lpstr>4.3 电涡流式传感器</vt:lpstr>
      <vt:lpstr>4.3 电涡流式传感器</vt:lpstr>
      <vt:lpstr>4.3 电涡流式传感器</vt:lpstr>
      <vt:lpstr>4.3 电涡流式传感器</vt:lpstr>
      <vt:lpstr>4.3 电涡流式传感器</vt:lpstr>
      <vt:lpstr>4.3 电涡流式传感器</vt:lpstr>
      <vt:lpstr>第4章 电感式传感器</vt:lpstr>
      <vt:lpstr>4.4 压磁式传感器</vt:lpstr>
      <vt:lpstr>4.4 压磁式传感器</vt:lpstr>
      <vt:lpstr>4.4 压磁式传感器</vt:lpstr>
      <vt:lpstr>4.4 压磁式传感器</vt:lpstr>
      <vt:lpstr>本章要点</vt:lpstr>
      <vt:lpstr>本章要点</vt:lpstr>
      <vt:lpstr>本章要点</vt:lpstr>
    </vt:vector>
  </TitlesOfParts>
  <Company>buaa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航空航天精密仪器系统技术</dc:title>
  <dc:creator>zgj</dc:creator>
  <cp:lastModifiedBy>徐平</cp:lastModifiedBy>
  <cp:revision>342</cp:revision>
  <dcterms:created xsi:type="dcterms:W3CDTF">2002-10-13T05:45:24Z</dcterms:created>
  <dcterms:modified xsi:type="dcterms:W3CDTF">2014-04-01T01:56:00Z</dcterms:modified>
</cp:coreProperties>
</file>