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Default Extension="wav" ContentType="audio/wav"/>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Lst>
  <p:notesMasterIdLst>
    <p:notesMasterId r:id="rId33"/>
  </p:notesMasterIdLst>
  <p:sldIdLst>
    <p:sldId id="363" r:id="rId2"/>
    <p:sldId id="336" r:id="rId3"/>
    <p:sldId id="380" r:id="rId4"/>
    <p:sldId id="381" r:id="rId5"/>
    <p:sldId id="337" r:id="rId6"/>
    <p:sldId id="383" r:id="rId7"/>
    <p:sldId id="382" r:id="rId8"/>
    <p:sldId id="430" r:id="rId9"/>
    <p:sldId id="408" r:id="rId10"/>
    <p:sldId id="409" r:id="rId11"/>
    <p:sldId id="410" r:id="rId12"/>
    <p:sldId id="411" r:id="rId13"/>
    <p:sldId id="412" r:id="rId14"/>
    <p:sldId id="413" r:id="rId15"/>
    <p:sldId id="414" r:id="rId16"/>
    <p:sldId id="415" r:id="rId17"/>
    <p:sldId id="416" r:id="rId18"/>
    <p:sldId id="417" r:id="rId19"/>
    <p:sldId id="418" r:id="rId20"/>
    <p:sldId id="419" r:id="rId21"/>
    <p:sldId id="420" r:id="rId22"/>
    <p:sldId id="421" r:id="rId23"/>
    <p:sldId id="422" r:id="rId24"/>
    <p:sldId id="423" r:id="rId25"/>
    <p:sldId id="424" r:id="rId26"/>
    <p:sldId id="425" r:id="rId27"/>
    <p:sldId id="426" r:id="rId28"/>
    <p:sldId id="427" r:id="rId29"/>
    <p:sldId id="428" r:id="rId30"/>
    <p:sldId id="429" r:id="rId31"/>
    <p:sldId id="362" r:id="rId32"/>
  </p:sldIdLst>
  <p:sldSz cx="9144000" cy="6858000" type="screen4x3"/>
  <p:notesSz cx="6858000" cy="9144000"/>
  <p:defaultTextStyle>
    <a:defPPr>
      <a:defRPr lang="zh-CN"/>
    </a:defPPr>
    <a:lvl1pPr algn="l" rtl="0" fontAlgn="base">
      <a:spcBef>
        <a:spcPct val="0"/>
      </a:spcBef>
      <a:spcAft>
        <a:spcPct val="0"/>
      </a:spcAft>
      <a:defRPr kumimoji="1" sz="2800" kern="1200">
        <a:solidFill>
          <a:schemeClr val="tx2"/>
        </a:solidFill>
        <a:latin typeface="黑体" pitchFamily="2" charset="-122"/>
        <a:ea typeface="黑体" pitchFamily="2" charset="-122"/>
        <a:cs typeface="+mn-cs"/>
      </a:defRPr>
    </a:lvl1pPr>
    <a:lvl2pPr marL="457200" algn="l" rtl="0" fontAlgn="base">
      <a:spcBef>
        <a:spcPct val="0"/>
      </a:spcBef>
      <a:spcAft>
        <a:spcPct val="0"/>
      </a:spcAft>
      <a:defRPr kumimoji="1" sz="2800" kern="1200">
        <a:solidFill>
          <a:schemeClr val="tx2"/>
        </a:solidFill>
        <a:latin typeface="黑体" pitchFamily="2" charset="-122"/>
        <a:ea typeface="黑体" pitchFamily="2" charset="-122"/>
        <a:cs typeface="+mn-cs"/>
      </a:defRPr>
    </a:lvl2pPr>
    <a:lvl3pPr marL="914400" algn="l" rtl="0" fontAlgn="base">
      <a:spcBef>
        <a:spcPct val="0"/>
      </a:spcBef>
      <a:spcAft>
        <a:spcPct val="0"/>
      </a:spcAft>
      <a:defRPr kumimoji="1" sz="2800" kern="1200">
        <a:solidFill>
          <a:schemeClr val="tx2"/>
        </a:solidFill>
        <a:latin typeface="黑体" pitchFamily="2" charset="-122"/>
        <a:ea typeface="黑体" pitchFamily="2" charset="-122"/>
        <a:cs typeface="+mn-cs"/>
      </a:defRPr>
    </a:lvl3pPr>
    <a:lvl4pPr marL="1371600" algn="l" rtl="0" fontAlgn="base">
      <a:spcBef>
        <a:spcPct val="0"/>
      </a:spcBef>
      <a:spcAft>
        <a:spcPct val="0"/>
      </a:spcAft>
      <a:defRPr kumimoji="1" sz="2800" kern="1200">
        <a:solidFill>
          <a:schemeClr val="tx2"/>
        </a:solidFill>
        <a:latin typeface="黑体" pitchFamily="2" charset="-122"/>
        <a:ea typeface="黑体" pitchFamily="2" charset="-122"/>
        <a:cs typeface="+mn-cs"/>
      </a:defRPr>
    </a:lvl4pPr>
    <a:lvl5pPr marL="1828800" algn="l" rtl="0" fontAlgn="base">
      <a:spcBef>
        <a:spcPct val="0"/>
      </a:spcBef>
      <a:spcAft>
        <a:spcPct val="0"/>
      </a:spcAft>
      <a:defRPr kumimoji="1" sz="2800" kern="1200">
        <a:solidFill>
          <a:schemeClr val="tx2"/>
        </a:solidFill>
        <a:latin typeface="黑体" pitchFamily="2" charset="-122"/>
        <a:ea typeface="黑体" pitchFamily="2" charset="-122"/>
        <a:cs typeface="+mn-cs"/>
      </a:defRPr>
    </a:lvl5pPr>
    <a:lvl6pPr marL="2286000" algn="l" defTabSz="914400" rtl="0" eaLnBrk="1" latinLnBrk="0" hangingPunct="1">
      <a:defRPr kumimoji="1" sz="2800" kern="1200">
        <a:solidFill>
          <a:schemeClr val="tx2"/>
        </a:solidFill>
        <a:latin typeface="黑体" pitchFamily="2" charset="-122"/>
        <a:ea typeface="黑体" pitchFamily="2" charset="-122"/>
        <a:cs typeface="+mn-cs"/>
      </a:defRPr>
    </a:lvl6pPr>
    <a:lvl7pPr marL="2743200" algn="l" defTabSz="914400" rtl="0" eaLnBrk="1" latinLnBrk="0" hangingPunct="1">
      <a:defRPr kumimoji="1" sz="2800" kern="1200">
        <a:solidFill>
          <a:schemeClr val="tx2"/>
        </a:solidFill>
        <a:latin typeface="黑体" pitchFamily="2" charset="-122"/>
        <a:ea typeface="黑体" pitchFamily="2" charset="-122"/>
        <a:cs typeface="+mn-cs"/>
      </a:defRPr>
    </a:lvl7pPr>
    <a:lvl8pPr marL="3200400" algn="l" defTabSz="914400" rtl="0" eaLnBrk="1" latinLnBrk="0" hangingPunct="1">
      <a:defRPr kumimoji="1" sz="2800" kern="1200">
        <a:solidFill>
          <a:schemeClr val="tx2"/>
        </a:solidFill>
        <a:latin typeface="黑体" pitchFamily="2" charset="-122"/>
        <a:ea typeface="黑体" pitchFamily="2" charset="-122"/>
        <a:cs typeface="+mn-cs"/>
      </a:defRPr>
    </a:lvl8pPr>
    <a:lvl9pPr marL="3657600" algn="l" defTabSz="914400" rtl="0" eaLnBrk="1" latinLnBrk="0" hangingPunct="1">
      <a:defRPr kumimoji="1" sz="2800" kern="1200">
        <a:solidFill>
          <a:schemeClr val="tx2"/>
        </a:solidFill>
        <a:latin typeface="黑体" pitchFamily="2" charset="-122"/>
        <a:ea typeface="黑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4D08"/>
    <a:srgbClr val="993300"/>
    <a:srgbClr val="0099FF"/>
    <a:srgbClr val="CC0066"/>
    <a:srgbClr val="CC3300"/>
    <a:srgbClr val="660066"/>
    <a:srgbClr val="FF0066"/>
    <a:srgbClr val="FF00F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615" autoAdjust="0"/>
    <p:restoredTop sz="86496" autoAdjust="0"/>
  </p:normalViewPr>
  <p:slideViewPr>
    <p:cSldViewPr>
      <p:cViewPr>
        <p:scale>
          <a:sx n="60" d="100"/>
          <a:sy n="60" d="100"/>
        </p:scale>
        <p:origin x="-1080" y="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notesViewPr>
    <p:cSldViewPr>
      <p:cViewPr varScale="1">
        <p:scale>
          <a:sx n="37" d="100"/>
          <a:sy n="37" d="100"/>
        </p:scale>
        <p:origin x="-1470" y="-96"/>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png"/></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image" Target="../media/image17.png"/></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bodyPr>
          <a:lstStyle>
            <a:lvl1pPr>
              <a:defRPr sz="1200">
                <a:solidFill>
                  <a:schemeClr val="tx1"/>
                </a:solidFill>
                <a:latin typeface="Tahoma" pitchFamily="34" charset="0"/>
                <a:ea typeface="宋体" pitchFamily="2" charset="-122"/>
              </a:defRPr>
            </a:lvl1pPr>
          </a:lstStyle>
          <a:p>
            <a:pPr>
              <a:defRPr/>
            </a:pPr>
            <a:endParaRPr lang="en-US" altLang="zh-CN"/>
          </a:p>
        </p:txBody>
      </p:sp>
      <p:sp>
        <p:nvSpPr>
          <p:cNvPr id="5427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bodyPr>
          <a:lstStyle>
            <a:lvl1pPr algn="r">
              <a:defRPr sz="1200">
                <a:solidFill>
                  <a:schemeClr val="tx1"/>
                </a:solidFill>
                <a:latin typeface="Tahoma" pitchFamily="34" charset="0"/>
                <a:ea typeface="宋体" pitchFamily="2" charset="-122"/>
              </a:defRPr>
            </a:lvl1pPr>
          </a:lstStyle>
          <a:p>
            <a:pPr>
              <a:defRPr/>
            </a:pPr>
            <a:endParaRPr lang="en-US" altLang="zh-CN"/>
          </a:p>
        </p:txBody>
      </p:sp>
      <p:sp>
        <p:nvSpPr>
          <p:cNvPr id="276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427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5427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none" lIns="91440" tIns="45720" rIns="91440" bIns="45720" numCol="1" anchor="b" anchorCtr="0" compatLnSpc="1">
            <a:prstTxWarp prst="textNoShape">
              <a:avLst/>
            </a:prstTxWarp>
          </a:bodyPr>
          <a:lstStyle>
            <a:lvl1pPr>
              <a:defRPr sz="1200">
                <a:solidFill>
                  <a:schemeClr val="tx1"/>
                </a:solidFill>
                <a:latin typeface="Tahoma" pitchFamily="34" charset="0"/>
                <a:ea typeface="宋体" pitchFamily="2" charset="-122"/>
              </a:defRPr>
            </a:lvl1pPr>
          </a:lstStyle>
          <a:p>
            <a:pPr>
              <a:defRPr/>
            </a:pPr>
            <a:endParaRPr lang="en-US" altLang="zh-CN"/>
          </a:p>
        </p:txBody>
      </p:sp>
      <p:sp>
        <p:nvSpPr>
          <p:cNvPr id="5427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none" lIns="91440" tIns="45720" rIns="91440" bIns="45720" numCol="1" anchor="b" anchorCtr="0" compatLnSpc="1">
            <a:prstTxWarp prst="textNoShape">
              <a:avLst/>
            </a:prstTxWarp>
          </a:bodyPr>
          <a:lstStyle>
            <a:lvl1pPr algn="r">
              <a:defRPr sz="1200">
                <a:solidFill>
                  <a:schemeClr val="tx1"/>
                </a:solidFill>
                <a:latin typeface="Tahoma" pitchFamily="34" charset="0"/>
                <a:ea typeface="宋体" pitchFamily="2" charset="-122"/>
              </a:defRPr>
            </a:lvl1pPr>
          </a:lstStyle>
          <a:p>
            <a:pPr>
              <a:defRPr/>
            </a:pPr>
            <a:fld id="{42049318-C3A6-4E21-9DBC-E2BCEAA9096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AC4E7BF8-815E-432E-97E6-131D1B0B78D8}" type="slidenum">
              <a:rPr lang="en-US" altLang="zh-CN" smtClean="0"/>
              <a:pPr>
                <a:defRPr/>
              </a:pPr>
              <a:t>‹#›</a:t>
            </a:fld>
            <a:endParaRPr lang="en-US" altLang="zh-CN"/>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dirty="0"/>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B53533C2-60E6-4266-9BD9-FD048B064E0C}" type="slidenum">
              <a:rPr lang="en-US" altLang="zh-CN"/>
              <a:pPr>
                <a:defRPr/>
              </a:pPr>
              <a:t>‹#›</a:t>
            </a:fld>
            <a:endParaRPr lang="en-US" altLang="zh-CN"/>
          </a:p>
        </p:txBody>
      </p:sp>
      <p:pic>
        <p:nvPicPr>
          <p:cNvPr id="7" name="Picture 12" descr="xh"/>
          <p:cNvPicPr>
            <a:picLocks noChangeAspect="1" noChangeArrowheads="1"/>
          </p:cNvPicPr>
          <p:nvPr userDrawn="1"/>
        </p:nvPicPr>
        <p:blipFill>
          <a:blip r:embed="rId2">
            <a:lum bright="54000" contrast="-6000"/>
          </a:blip>
          <a:srcRect/>
          <a:stretch>
            <a:fillRect/>
          </a:stretch>
        </p:blipFill>
        <p:spPr bwMode="auto">
          <a:xfrm>
            <a:off x="179388" y="188913"/>
            <a:ext cx="682625" cy="666750"/>
          </a:xfrm>
          <a:prstGeom prst="rect">
            <a:avLst/>
          </a:prstGeom>
          <a:noFill/>
          <a:ln w="9525">
            <a:noFill/>
            <a:miter lim="800000"/>
            <a:headEnd/>
            <a:tailEnd/>
          </a:ln>
        </p:spPr>
      </p:pic>
      <p:pic>
        <p:nvPicPr>
          <p:cNvPr id="8" name="Picture 9" descr="buaa2"/>
          <p:cNvPicPr>
            <a:picLocks noChangeAspect="1" noChangeArrowheads="1"/>
          </p:cNvPicPr>
          <p:nvPr userDrawn="1"/>
        </p:nvPicPr>
        <p:blipFill>
          <a:blip r:embed="rId3">
            <a:lum bright="48000"/>
          </a:blip>
          <a:srcRect/>
          <a:stretch>
            <a:fillRect/>
          </a:stretch>
        </p:blipFill>
        <p:spPr bwMode="auto">
          <a:xfrm>
            <a:off x="1000125" y="285750"/>
            <a:ext cx="2560638" cy="360363"/>
          </a:xfrm>
          <a:prstGeom prst="rect">
            <a:avLst/>
          </a:prstGeom>
          <a:noFill/>
          <a:ln w="9525">
            <a:noFill/>
            <a:miter lim="800000"/>
            <a:headEnd/>
            <a:tailEnd/>
          </a:ln>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endParaRPr lang="en-US" altLang="zh-CN"/>
          </a:p>
        </p:txBody>
      </p:sp>
      <p:sp>
        <p:nvSpPr>
          <p:cNvPr id="4" name="页脚占位符 4"/>
          <p:cNvSpPr>
            <a:spLocks noGrp="1"/>
          </p:cNvSpPr>
          <p:nvPr>
            <p:ph type="ftr" sz="quarter" idx="11"/>
          </p:nvPr>
        </p:nvSpPr>
        <p:spPr/>
        <p:txBody>
          <a:bodyPr/>
          <a:lstStyle>
            <a:lvl1pPr>
              <a:defRPr/>
            </a:lvl1pPr>
          </a:lstStyle>
          <a:p>
            <a:pPr>
              <a:defRPr/>
            </a:pPr>
            <a:endParaRPr lang="en-US" altLang="zh-CN"/>
          </a:p>
        </p:txBody>
      </p:sp>
      <p:sp>
        <p:nvSpPr>
          <p:cNvPr id="5" name="灯片编号占位符 5"/>
          <p:cNvSpPr>
            <a:spLocks noGrp="1"/>
          </p:cNvSpPr>
          <p:nvPr>
            <p:ph type="sldNum" sz="quarter" idx="12"/>
          </p:nvPr>
        </p:nvSpPr>
        <p:spPr/>
        <p:txBody>
          <a:bodyPr/>
          <a:lstStyle>
            <a:lvl1pPr>
              <a:defRPr/>
            </a:lvl1pPr>
          </a:lstStyle>
          <a:p>
            <a:pPr>
              <a:defRPr/>
            </a:pPr>
            <a:fld id="{53C85CF6-7A98-4199-AEA6-6309CE72A298}" type="slidenum">
              <a:rPr lang="en-US" altLang="zh-CN" smtClean="0"/>
              <a:pPr>
                <a:defRPr/>
              </a:pPr>
              <a:t>‹#›</a:t>
            </a:fld>
            <a:endParaRPr lang="en-US" altLang="zh-CN"/>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A920E716-B79A-4DA4-8B02-1C816EB51F8B}" type="slidenum">
              <a:rPr lang="en-US" altLang="zh-CN" smtClean="0"/>
              <a:pPr>
                <a:defRPr/>
              </a:pPr>
              <a:t>‹#›</a:t>
            </a:fld>
            <a:endParaRPr lang="en-US" altLang="zh-CN"/>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endParaRPr lang="en-US" altLang="zh-CN"/>
          </a:p>
        </p:txBody>
      </p:sp>
      <p:sp>
        <p:nvSpPr>
          <p:cNvPr id="6" name="页脚占位符 4"/>
          <p:cNvSpPr>
            <a:spLocks noGrp="1"/>
          </p:cNvSpPr>
          <p:nvPr>
            <p:ph type="ftr" sz="quarter" idx="11"/>
          </p:nvPr>
        </p:nvSpPr>
        <p:spPr/>
        <p:txBody>
          <a:bodyPr/>
          <a:lstStyle>
            <a:lvl1pPr>
              <a:defRPr/>
            </a:lvl1pPr>
          </a:lstStyle>
          <a:p>
            <a:pPr>
              <a:defRPr/>
            </a:pP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ED7A0563-8B27-4A55-9D33-B237E42AF7DF}" type="slidenum">
              <a:rPr lang="en-US" altLang="zh-CN" smtClean="0"/>
              <a:pPr>
                <a:defRPr/>
              </a:pPr>
              <a:t>‹#›</a:t>
            </a:fld>
            <a:endParaRPr lang="en-US" altLang="zh-CN"/>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endParaRPr lang="en-US" altLang="zh-CN"/>
          </a:p>
        </p:txBody>
      </p:sp>
      <p:sp>
        <p:nvSpPr>
          <p:cNvPr id="8" name="页脚占位符 4"/>
          <p:cNvSpPr>
            <a:spLocks noGrp="1"/>
          </p:cNvSpPr>
          <p:nvPr>
            <p:ph type="ftr" sz="quarter" idx="11"/>
          </p:nvPr>
        </p:nvSpPr>
        <p:spPr/>
        <p:txBody>
          <a:bodyPr/>
          <a:lstStyle>
            <a:lvl1pPr>
              <a:defRPr/>
            </a:lvl1pPr>
          </a:lstStyle>
          <a:p>
            <a:pPr>
              <a:defRPr/>
            </a:pPr>
            <a:endParaRPr lang="en-US" altLang="zh-CN"/>
          </a:p>
        </p:txBody>
      </p:sp>
      <p:sp>
        <p:nvSpPr>
          <p:cNvPr id="9" name="灯片编号占位符 5"/>
          <p:cNvSpPr>
            <a:spLocks noGrp="1"/>
          </p:cNvSpPr>
          <p:nvPr>
            <p:ph type="sldNum" sz="quarter" idx="12"/>
          </p:nvPr>
        </p:nvSpPr>
        <p:spPr/>
        <p:txBody>
          <a:bodyPr/>
          <a:lstStyle>
            <a:lvl1pPr>
              <a:defRPr/>
            </a:lvl1pPr>
          </a:lstStyle>
          <a:p>
            <a:pPr>
              <a:defRPr/>
            </a:pPr>
            <a:fld id="{4CE58033-C211-43F7-86E5-2C9F51C2E8D0}" type="slidenum">
              <a:rPr lang="en-US" altLang="zh-CN" smtClean="0"/>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endParaRPr lang="en-US" altLang="zh-CN"/>
          </a:p>
        </p:txBody>
      </p:sp>
      <p:sp>
        <p:nvSpPr>
          <p:cNvPr id="4" name="页脚占位符 4"/>
          <p:cNvSpPr>
            <a:spLocks noGrp="1"/>
          </p:cNvSpPr>
          <p:nvPr>
            <p:ph type="ftr" sz="quarter" idx="11"/>
          </p:nvPr>
        </p:nvSpPr>
        <p:spPr/>
        <p:txBody>
          <a:bodyPr/>
          <a:lstStyle>
            <a:lvl1pPr>
              <a:defRPr/>
            </a:lvl1pPr>
          </a:lstStyle>
          <a:p>
            <a:pPr>
              <a:defRPr/>
            </a:pPr>
            <a:endParaRPr lang="en-US" altLang="zh-CN"/>
          </a:p>
        </p:txBody>
      </p:sp>
      <p:sp>
        <p:nvSpPr>
          <p:cNvPr id="5" name="灯片编号占位符 5"/>
          <p:cNvSpPr>
            <a:spLocks noGrp="1"/>
          </p:cNvSpPr>
          <p:nvPr>
            <p:ph type="sldNum" sz="quarter" idx="12"/>
          </p:nvPr>
        </p:nvSpPr>
        <p:spPr/>
        <p:txBody>
          <a:bodyPr/>
          <a:lstStyle>
            <a:lvl1pPr>
              <a:defRPr/>
            </a:lvl1pPr>
          </a:lstStyle>
          <a:p>
            <a:pPr>
              <a:defRPr/>
            </a:pPr>
            <a:fld id="{2D946443-82F9-4ACF-89A7-95BD02D3DF19}" type="slidenum">
              <a:rPr lang="en-US" altLang="zh-CN" smtClean="0"/>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endParaRPr lang="en-US" altLang="zh-CN"/>
          </a:p>
        </p:txBody>
      </p:sp>
      <p:sp>
        <p:nvSpPr>
          <p:cNvPr id="3" name="页脚占位符 4"/>
          <p:cNvSpPr>
            <a:spLocks noGrp="1"/>
          </p:cNvSpPr>
          <p:nvPr>
            <p:ph type="ftr" sz="quarter" idx="11"/>
          </p:nvPr>
        </p:nvSpPr>
        <p:spPr/>
        <p:txBody>
          <a:bodyPr/>
          <a:lstStyle>
            <a:lvl1pPr>
              <a:defRPr/>
            </a:lvl1pPr>
          </a:lstStyle>
          <a:p>
            <a:pPr>
              <a:defRPr/>
            </a:pPr>
            <a:endParaRPr lang="en-US" altLang="zh-CN"/>
          </a:p>
        </p:txBody>
      </p:sp>
      <p:sp>
        <p:nvSpPr>
          <p:cNvPr id="4" name="灯片编号占位符 5"/>
          <p:cNvSpPr>
            <a:spLocks noGrp="1"/>
          </p:cNvSpPr>
          <p:nvPr>
            <p:ph type="sldNum" sz="quarter" idx="12"/>
          </p:nvPr>
        </p:nvSpPr>
        <p:spPr/>
        <p:txBody>
          <a:bodyPr/>
          <a:lstStyle>
            <a:lvl1pPr>
              <a:defRPr/>
            </a:lvl1pPr>
          </a:lstStyle>
          <a:p>
            <a:pPr>
              <a:defRPr/>
            </a:pPr>
            <a:fld id="{1EB6DC2D-38D7-4BC5-9149-FD58D523C2F2}" type="slidenum">
              <a:rPr lang="en-US" altLang="zh-CN" smtClean="0"/>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endParaRPr lang="en-US" altLang="zh-CN"/>
          </a:p>
        </p:txBody>
      </p:sp>
      <p:sp>
        <p:nvSpPr>
          <p:cNvPr id="6" name="页脚占位符 4"/>
          <p:cNvSpPr>
            <a:spLocks noGrp="1"/>
          </p:cNvSpPr>
          <p:nvPr>
            <p:ph type="ftr" sz="quarter" idx="11"/>
          </p:nvPr>
        </p:nvSpPr>
        <p:spPr/>
        <p:txBody>
          <a:bodyPr/>
          <a:lstStyle>
            <a:lvl1pPr>
              <a:defRPr/>
            </a:lvl1pPr>
          </a:lstStyle>
          <a:p>
            <a:pPr>
              <a:defRPr/>
            </a:pP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48C70892-4E4D-4B72-891B-A561DC57BFBE}" type="slidenum">
              <a:rPr lang="en-US" altLang="zh-CN" smtClean="0"/>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endParaRPr lang="en-US" altLang="zh-CN"/>
          </a:p>
        </p:txBody>
      </p:sp>
      <p:sp>
        <p:nvSpPr>
          <p:cNvPr id="6" name="页脚占位符 4"/>
          <p:cNvSpPr>
            <a:spLocks noGrp="1"/>
          </p:cNvSpPr>
          <p:nvPr>
            <p:ph type="ftr" sz="quarter" idx="11"/>
          </p:nvPr>
        </p:nvSpPr>
        <p:spPr/>
        <p:txBody>
          <a:bodyPr/>
          <a:lstStyle>
            <a:lvl1pPr>
              <a:defRPr/>
            </a:lvl1pPr>
          </a:lstStyle>
          <a:p>
            <a:pPr>
              <a:defRPr/>
            </a:pP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F0BF41E9-125D-49FD-9E96-ADCF9DBC32A5}" type="slidenum">
              <a:rPr lang="en-US" altLang="zh-CN" smtClean="0"/>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1BC8169B-CEED-4181-8B1F-84352171E54C}" type="slidenum">
              <a:rPr lang="en-US" altLang="zh-CN" smtClean="0"/>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42C44A08-038E-4E03-B25B-66737764DED3}" type="slidenum">
              <a:rPr lang="en-US" altLang="zh-CN" smtClean="0"/>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5E9EFF"/>
            </a:gs>
            <a:gs pos="999">
              <a:srgbClr val="5E9EFF"/>
            </a:gs>
            <a:gs pos="39999">
              <a:srgbClr val="85C2FF"/>
            </a:gs>
            <a:gs pos="70000">
              <a:srgbClr val="C4D6EB"/>
            </a:gs>
            <a:gs pos="100000">
              <a:srgbClr val="FFEBFA"/>
            </a:gs>
          </a:gsLst>
          <a:lin ang="5400000"/>
        </a:gradFill>
        <a:effectLst/>
      </p:bgPr>
    </p:bg>
    <p:spTree>
      <p:nvGrpSpPr>
        <p:cNvPr id="1" name=""/>
        <p:cNvGrpSpPr/>
        <p:nvPr/>
      </p:nvGrpSpPr>
      <p:grpSpPr>
        <a:xfrm>
          <a:off x="0" y="0"/>
          <a:ext cx="0" cy="0"/>
          <a:chOff x="0" y="0"/>
          <a:chExt cx="0" cy="0"/>
        </a:xfrm>
      </p:grpSpPr>
      <p:sp>
        <p:nvSpPr>
          <p:cNvPr id="37890" name="标题占位符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37891" name="文本占位符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ea typeface="宋体" pitchFamily="2" charset="-122"/>
              </a:defRPr>
            </a:lvl1pPr>
          </a:lstStyle>
          <a:p>
            <a:pPr>
              <a:defRPr/>
            </a:pPr>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ea typeface="宋体" pitchFamily="2" charset="-122"/>
              </a:defRPr>
            </a:lvl1pPr>
          </a:lstStyle>
          <a:p>
            <a:pPr>
              <a:defRPr/>
            </a:pPr>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ea typeface="宋体" pitchFamily="2" charset="-122"/>
              </a:defRPr>
            </a:lvl1pPr>
          </a:lstStyle>
          <a:p>
            <a:pPr>
              <a:defRPr/>
            </a:pPr>
            <a:fld id="{53C85CF6-7A98-4199-AEA6-6309CE72A298}" type="slidenum">
              <a:rPr lang="en-US" altLang="zh-CN" smtClean="0"/>
              <a:pPr>
                <a:defRPr/>
              </a:pPr>
              <a:t>‹#›</a:t>
            </a:fld>
            <a:endParaRPr lang="en-US" altLang="zh-CN"/>
          </a:p>
        </p:txBody>
      </p:sp>
      <p:pic>
        <p:nvPicPr>
          <p:cNvPr id="37895" name="Picture 12" descr="xh"/>
          <p:cNvPicPr>
            <a:picLocks noChangeAspect="1" noChangeArrowheads="1"/>
          </p:cNvPicPr>
          <p:nvPr/>
        </p:nvPicPr>
        <p:blipFill>
          <a:blip r:embed="rId14">
            <a:lum bright="54000" contrast="-6000"/>
          </a:blip>
          <a:srcRect/>
          <a:stretch>
            <a:fillRect/>
          </a:stretch>
        </p:blipFill>
        <p:spPr bwMode="auto">
          <a:xfrm>
            <a:off x="179388" y="188913"/>
            <a:ext cx="682625" cy="666750"/>
          </a:xfrm>
          <a:prstGeom prst="rect">
            <a:avLst/>
          </a:prstGeom>
          <a:noFill/>
          <a:ln w="9525">
            <a:noFill/>
            <a:miter lim="800000"/>
            <a:headEnd/>
            <a:tailEnd/>
          </a:ln>
        </p:spPr>
      </p:pic>
      <p:pic>
        <p:nvPicPr>
          <p:cNvPr id="37896" name="Picture 9" descr="buaa2"/>
          <p:cNvPicPr>
            <a:picLocks noChangeAspect="1" noChangeArrowheads="1"/>
          </p:cNvPicPr>
          <p:nvPr/>
        </p:nvPicPr>
        <p:blipFill>
          <a:blip r:embed="rId15">
            <a:lum bright="48000"/>
          </a:blip>
          <a:srcRect/>
          <a:stretch>
            <a:fillRect/>
          </a:stretch>
        </p:blipFill>
        <p:spPr bwMode="auto">
          <a:xfrm>
            <a:off x="1000125" y="285750"/>
            <a:ext cx="2560638" cy="360363"/>
          </a:xfrm>
          <a:prstGeom prst="rect">
            <a:avLst/>
          </a:prstGeom>
          <a:noFill/>
          <a:ln w="9525">
            <a:noFill/>
            <a:miter lim="800000"/>
            <a:headEnd/>
            <a:tailEnd/>
          </a:ln>
        </p:spPr>
      </p:pic>
      <p:pic>
        <p:nvPicPr>
          <p:cNvPr id="9" name="Picture 12" descr="xh"/>
          <p:cNvPicPr>
            <a:picLocks noChangeAspect="1" noChangeArrowheads="1"/>
          </p:cNvPicPr>
          <p:nvPr userDrawn="1"/>
        </p:nvPicPr>
        <p:blipFill>
          <a:blip r:embed="rId14">
            <a:lum bright="54000" contrast="-6000"/>
          </a:blip>
          <a:srcRect/>
          <a:stretch>
            <a:fillRect/>
          </a:stretch>
        </p:blipFill>
        <p:spPr bwMode="auto">
          <a:xfrm>
            <a:off x="179388" y="188913"/>
            <a:ext cx="682625" cy="666750"/>
          </a:xfrm>
          <a:prstGeom prst="rect">
            <a:avLst/>
          </a:prstGeom>
          <a:noFill/>
          <a:ln w="9525">
            <a:noFill/>
            <a:miter lim="800000"/>
            <a:headEnd/>
            <a:tailEnd/>
          </a:ln>
        </p:spPr>
      </p:pic>
      <p:pic>
        <p:nvPicPr>
          <p:cNvPr id="10" name="Picture 9" descr="buaa2"/>
          <p:cNvPicPr>
            <a:picLocks noChangeAspect="1" noChangeArrowheads="1"/>
          </p:cNvPicPr>
          <p:nvPr userDrawn="1"/>
        </p:nvPicPr>
        <p:blipFill>
          <a:blip r:embed="rId15">
            <a:lum bright="48000"/>
          </a:blip>
          <a:srcRect/>
          <a:stretch>
            <a:fillRect/>
          </a:stretch>
        </p:blipFill>
        <p:spPr bwMode="auto">
          <a:xfrm>
            <a:off x="1000125" y="285750"/>
            <a:ext cx="2560638" cy="360363"/>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Lst>
  <p:timing>
    <p:tnLst>
      <p:par>
        <p:cTn id="1" dur="indefinite" restart="never" nodeType="tmRoot"/>
      </p:par>
    </p:tnLst>
  </p:timing>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ea typeface="宋体" pitchFamily="2" charset="-122"/>
        </a:defRPr>
      </a:lvl2pPr>
      <a:lvl3pPr algn="ctr" rtl="0" eaLnBrk="1" fontAlgn="base" hangingPunct="1">
        <a:spcBef>
          <a:spcPct val="0"/>
        </a:spcBef>
        <a:spcAft>
          <a:spcPct val="0"/>
        </a:spcAft>
        <a:defRPr sz="4400">
          <a:solidFill>
            <a:schemeClr val="tx1"/>
          </a:solidFill>
          <a:latin typeface="Calibri" pitchFamily="34" charset="0"/>
          <a:ea typeface="宋体" pitchFamily="2" charset="-122"/>
        </a:defRPr>
      </a:lvl3pPr>
      <a:lvl4pPr algn="ctr" rtl="0" eaLnBrk="1" fontAlgn="base" hangingPunct="1">
        <a:spcBef>
          <a:spcPct val="0"/>
        </a:spcBef>
        <a:spcAft>
          <a:spcPct val="0"/>
        </a:spcAft>
        <a:defRPr sz="4400">
          <a:solidFill>
            <a:schemeClr val="tx1"/>
          </a:solidFill>
          <a:latin typeface="Calibri" pitchFamily="34" charset="0"/>
          <a:ea typeface="宋体" pitchFamily="2" charset="-122"/>
        </a:defRPr>
      </a:lvl4pPr>
      <a:lvl5pPr algn="ctr" rtl="0" eaLnBrk="1" fontAlgn="base" hangingPunct="1">
        <a:spcBef>
          <a:spcPct val="0"/>
        </a:spcBef>
        <a:spcAft>
          <a:spcPct val="0"/>
        </a:spcAft>
        <a:defRPr sz="4400">
          <a:solidFill>
            <a:schemeClr val="tx1"/>
          </a:solidFill>
          <a:latin typeface="Calibri" pitchFamily="34" charset="0"/>
          <a:ea typeface="宋体" pitchFamily="2" charset="-122"/>
        </a:defRPr>
      </a:lvl5pPr>
      <a:lvl6pPr marL="457200" algn="ctr" rtl="0" eaLnBrk="1" fontAlgn="base" hangingPunct="1">
        <a:spcBef>
          <a:spcPct val="0"/>
        </a:spcBef>
        <a:spcAft>
          <a:spcPct val="0"/>
        </a:spcAft>
        <a:defRPr sz="4400">
          <a:solidFill>
            <a:schemeClr val="tx1"/>
          </a:solidFill>
          <a:latin typeface="Calibri" pitchFamily="34" charset="0"/>
          <a:ea typeface="宋体" pitchFamily="2" charset="-122"/>
        </a:defRPr>
      </a:lvl6pPr>
      <a:lvl7pPr marL="914400" algn="ctr" rtl="0" eaLnBrk="1" fontAlgn="base" hangingPunct="1">
        <a:spcBef>
          <a:spcPct val="0"/>
        </a:spcBef>
        <a:spcAft>
          <a:spcPct val="0"/>
        </a:spcAft>
        <a:defRPr sz="4400">
          <a:solidFill>
            <a:schemeClr val="tx1"/>
          </a:solidFill>
          <a:latin typeface="Calibri" pitchFamily="34" charset="0"/>
          <a:ea typeface="宋体" pitchFamily="2" charset="-122"/>
        </a:defRPr>
      </a:lvl7pPr>
      <a:lvl8pPr marL="1371600" algn="ctr" rtl="0" eaLnBrk="1" fontAlgn="base" hangingPunct="1">
        <a:spcBef>
          <a:spcPct val="0"/>
        </a:spcBef>
        <a:spcAft>
          <a:spcPct val="0"/>
        </a:spcAft>
        <a:defRPr sz="4400">
          <a:solidFill>
            <a:schemeClr val="tx1"/>
          </a:solidFill>
          <a:latin typeface="Calibri" pitchFamily="34" charset="0"/>
          <a:ea typeface="宋体" pitchFamily="2" charset="-122"/>
        </a:defRPr>
      </a:lvl8pPr>
      <a:lvl9pPr marL="1828800" algn="ctr" rtl="0" eaLnBrk="1" fontAlgn="base" hangingPunct="1">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oleObject" Target="../embeddings/oleObject8.bin"/></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oleObject" Target="../embeddings/oleObject10.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oleObject" Target="../embeddings/oleObject11.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071563" y="1857375"/>
            <a:ext cx="6572250" cy="862013"/>
          </a:xfrm>
        </p:spPr>
        <p:txBody>
          <a:bodyPr anchor="b"/>
          <a:lstStyle/>
          <a:p>
            <a:r>
              <a:rPr lang="zh-CN" altLang="en-US" sz="5400" b="1" dirty="0" smtClean="0">
                <a:solidFill>
                  <a:srgbClr val="FF0000"/>
                </a:solidFill>
                <a:latin typeface="黑体" pitchFamily="49" charset="-122"/>
                <a:ea typeface="黑体" pitchFamily="49" charset="-122"/>
              </a:rPr>
              <a:t>第</a:t>
            </a:r>
            <a:r>
              <a:rPr lang="en-US" altLang="zh-CN" sz="5400" b="1" dirty="0" smtClean="0">
                <a:solidFill>
                  <a:srgbClr val="FF0000"/>
                </a:solidFill>
                <a:latin typeface="黑体" pitchFamily="49" charset="-122"/>
                <a:ea typeface="黑体" pitchFamily="49" charset="-122"/>
              </a:rPr>
              <a:t>7</a:t>
            </a:r>
            <a:r>
              <a:rPr lang="zh-CN" altLang="en-US" sz="5400" b="1" dirty="0" smtClean="0">
                <a:solidFill>
                  <a:srgbClr val="FF0000"/>
                </a:solidFill>
                <a:latin typeface="黑体" pitchFamily="49" charset="-122"/>
                <a:ea typeface="黑体" pitchFamily="49" charset="-122"/>
              </a:rPr>
              <a:t>章</a:t>
            </a:r>
            <a:r>
              <a:rPr lang="zh-CN" altLang="en-US" sz="5400" b="1" dirty="0" smtClean="0">
                <a:latin typeface="黑体" pitchFamily="49" charset="-122"/>
                <a:ea typeface="黑体" pitchFamily="49" charset="-122"/>
              </a:rPr>
              <a:t> 压电式传感器</a:t>
            </a:r>
          </a:p>
        </p:txBody>
      </p:sp>
      <p:sp>
        <p:nvSpPr>
          <p:cNvPr id="6" name="Rectangle 5"/>
          <p:cNvSpPr>
            <a:spLocks noGrp="1" noChangeArrowheads="1"/>
          </p:cNvSpPr>
          <p:nvPr>
            <p:ph idx="1"/>
          </p:nvPr>
        </p:nvSpPr>
        <p:spPr>
          <a:xfrm>
            <a:off x="857250" y="3429000"/>
            <a:ext cx="7772400" cy="2451100"/>
          </a:xfrm>
        </p:spPr>
        <p:txBody>
          <a:bodyPr rtlCol="0">
            <a:normAutofit fontScale="70000" lnSpcReduction="20000"/>
          </a:bodyPr>
          <a:lstStyle/>
          <a:p>
            <a:pPr eaLnBrk="1" fontAlgn="auto" hangingPunct="1">
              <a:spcAft>
                <a:spcPts val="0"/>
              </a:spcAft>
              <a:buFont typeface="Wingdings" pitchFamily="2" charset="2"/>
              <a:buNone/>
              <a:defRPr/>
            </a:pPr>
            <a:endParaRPr lang="en-US" altLang="zh-CN" sz="6400" b="1" dirty="0">
              <a:latin typeface="黑体" pitchFamily="49" charset="-122"/>
              <a:ea typeface="黑体" pitchFamily="49" charset="-122"/>
              <a:cs typeface="+mj-cs"/>
            </a:endParaRPr>
          </a:p>
          <a:p>
            <a:pPr algn="ctr" eaLnBrk="1" fontAlgn="auto" hangingPunct="1">
              <a:spcAft>
                <a:spcPts val="0"/>
              </a:spcAft>
              <a:buFont typeface="Arial" pitchFamily="34" charset="0"/>
              <a:buNone/>
              <a:defRPr/>
            </a:pPr>
            <a:r>
              <a:rPr lang="zh-CN" altLang="en-US" sz="3900" b="1" dirty="0" smtClean="0">
                <a:solidFill>
                  <a:srgbClr val="0033CC"/>
                </a:solidFill>
                <a:effectLst>
                  <a:outerShdw blurRad="38100" dist="38100" dir="2700000" algn="tl">
                    <a:srgbClr val="C0C0C0"/>
                  </a:outerShdw>
                </a:effectLst>
              </a:rPr>
              <a:t>主讲教师：徐 平</a:t>
            </a:r>
          </a:p>
          <a:p>
            <a:pPr algn="ctr" eaLnBrk="1" fontAlgn="auto" hangingPunct="1">
              <a:lnSpc>
                <a:spcPct val="160000"/>
              </a:lnSpc>
              <a:spcBef>
                <a:spcPct val="50000"/>
              </a:spcBef>
              <a:spcAft>
                <a:spcPts val="0"/>
              </a:spcAft>
              <a:buFontTx/>
              <a:buNone/>
              <a:defRPr/>
            </a:pPr>
            <a:r>
              <a:rPr lang="en-US" altLang="zh-CN" b="1" dirty="0" smtClean="0">
                <a:solidFill>
                  <a:srgbClr val="660066"/>
                </a:solidFill>
                <a:latin typeface="Times New Roman" pitchFamily="18" charset="0"/>
                <a:ea typeface="楷体_GB2312" pitchFamily="49" charset="-122"/>
                <a:cs typeface="Times New Roman" pitchFamily="18" charset="0"/>
              </a:rPr>
              <a:t>xuping@buaa.edu.cn</a:t>
            </a:r>
          </a:p>
          <a:p>
            <a:pPr algn="ctr" eaLnBrk="1" fontAlgn="auto" hangingPunct="1">
              <a:lnSpc>
                <a:spcPct val="160000"/>
              </a:lnSpc>
              <a:spcAft>
                <a:spcPts val="0"/>
              </a:spcAft>
              <a:buFont typeface="Arial" pitchFamily="34" charset="0"/>
              <a:buNone/>
              <a:defRPr/>
            </a:pPr>
            <a:r>
              <a:rPr lang="zh-CN" altLang="en-US" sz="4000" b="1" dirty="0">
                <a:solidFill>
                  <a:srgbClr val="0033CC"/>
                </a:solidFill>
                <a:effectLst>
                  <a:outerShdw blurRad="38100" dist="38100" dir="2700000" algn="tl">
                    <a:srgbClr val="C0C0C0"/>
                  </a:outerShdw>
                </a:effectLst>
                <a:latin typeface="华文行楷" pitchFamily="2" charset="-122"/>
                <a:ea typeface="华文行楷" pitchFamily="2" charset="-122"/>
              </a:rPr>
              <a:t>物理科学与核能工程</a:t>
            </a:r>
            <a:r>
              <a:rPr lang="zh-CN" altLang="en-US" sz="4000" b="1" dirty="0" smtClean="0">
                <a:solidFill>
                  <a:srgbClr val="0033CC"/>
                </a:solidFill>
                <a:effectLst>
                  <a:outerShdw blurRad="38100" dist="38100" dir="2700000" algn="tl">
                    <a:srgbClr val="C0C0C0"/>
                  </a:outerShdw>
                </a:effectLst>
                <a:latin typeface="华文行楷" pitchFamily="2" charset="-122"/>
                <a:ea typeface="华文行楷" pitchFamily="2" charset="-122"/>
              </a:rPr>
              <a:t>学院</a:t>
            </a:r>
            <a:endParaRPr lang="en-US" altLang="zh-CN" sz="2800" dirty="0">
              <a:solidFill>
                <a:srgbClr val="0099FF"/>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7"/>
          <p:cNvSpPr>
            <a:spLocks noGrp="1" noChangeArrowheads="1"/>
          </p:cNvSpPr>
          <p:nvPr>
            <p:ph type="title"/>
          </p:nvPr>
        </p:nvSpPr>
        <p:spPr bwMode="auto">
          <a:xfrm>
            <a:off x="785786"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zh-CN" altLang="en-US" b="1" dirty="0" smtClean="0">
                <a:solidFill>
                  <a:schemeClr val="tx2"/>
                </a:solidFill>
                <a:latin typeface="黑体" pitchFamily="49" charset="-122"/>
                <a:ea typeface="黑体" pitchFamily="49" charset="-122"/>
              </a:rPr>
              <a:t>第</a:t>
            </a:r>
            <a:r>
              <a:rPr lang="en-US" altLang="zh-CN" b="1" dirty="0" smtClean="0">
                <a:solidFill>
                  <a:schemeClr val="tx2"/>
                </a:solidFill>
                <a:latin typeface="黑体" pitchFamily="49" charset="-122"/>
                <a:ea typeface="黑体" pitchFamily="49" charset="-122"/>
              </a:rPr>
              <a:t>7</a:t>
            </a:r>
            <a:r>
              <a:rPr lang="zh-CN" altLang="en-US" b="1" dirty="0" smtClean="0">
                <a:solidFill>
                  <a:schemeClr val="tx2"/>
                </a:solidFill>
                <a:latin typeface="黑体" pitchFamily="49" charset="-122"/>
                <a:ea typeface="黑体" pitchFamily="49" charset="-122"/>
              </a:rPr>
              <a:t>章 压电式传感器</a:t>
            </a:r>
            <a:endParaRPr lang="zh-CN" altLang="en-US" dirty="0" smtClean="0">
              <a:solidFill>
                <a:srgbClr val="F84D08"/>
              </a:solidFill>
              <a:latin typeface="黑体" pitchFamily="2" charset="-122"/>
              <a:ea typeface="黑体" pitchFamily="2" charset="-122"/>
            </a:endParaRPr>
          </a:p>
        </p:txBody>
      </p:sp>
      <p:sp>
        <p:nvSpPr>
          <p:cNvPr id="13316" name="Text Box 8"/>
          <p:cNvSpPr txBox="1">
            <a:spLocks noChangeArrowheads="1"/>
          </p:cNvSpPr>
          <p:nvPr/>
        </p:nvSpPr>
        <p:spPr bwMode="auto">
          <a:xfrm>
            <a:off x="285720" y="1643050"/>
            <a:ext cx="8572560" cy="2763834"/>
          </a:xfrm>
          <a:prstGeom prst="rect">
            <a:avLst/>
          </a:prstGeom>
          <a:noFill/>
          <a:ln w="9525" algn="ctr">
            <a:noFill/>
            <a:miter lim="800000"/>
            <a:headEnd/>
            <a:tailEnd/>
          </a:ln>
        </p:spPr>
        <p:txBody>
          <a:bodyPr wrap="square">
            <a:spAutoFit/>
          </a:bodyPr>
          <a:lstStyle/>
          <a:p>
            <a:pPr indent="352425">
              <a:lnSpc>
                <a:spcPct val="120000"/>
              </a:lnSpc>
              <a:spcBef>
                <a:spcPct val="20000"/>
              </a:spcBef>
              <a:buClr>
                <a:schemeClr val="folHlink"/>
              </a:buClr>
              <a:buFont typeface="Wingdings" pitchFamily="2" charset="2"/>
              <a:buNone/>
            </a:pPr>
            <a:r>
              <a:rPr kumimoji="0" lang="zh-CN" altLang="en-US" b="1" dirty="0" smtClean="0">
                <a:solidFill>
                  <a:schemeClr val="tx1"/>
                </a:solidFill>
                <a:latin typeface="宋体" pitchFamily="2" charset="-122"/>
                <a:ea typeface="宋体" pitchFamily="2" charset="-122"/>
              </a:rPr>
              <a:t>压电式传感器是一种</a:t>
            </a:r>
            <a:r>
              <a:rPr kumimoji="0" lang="zh-CN" altLang="en-US" b="1" u="sng" dirty="0" smtClean="0">
                <a:solidFill>
                  <a:srgbClr val="002060"/>
                </a:solidFill>
                <a:latin typeface="宋体" pitchFamily="2" charset="-122"/>
                <a:ea typeface="宋体" pitchFamily="2" charset="-122"/>
              </a:rPr>
              <a:t>有源</a:t>
            </a:r>
            <a:r>
              <a:rPr kumimoji="0" lang="zh-CN" altLang="en-US" b="1" dirty="0" smtClean="0">
                <a:solidFill>
                  <a:schemeClr val="tx1"/>
                </a:solidFill>
                <a:latin typeface="宋体" pitchFamily="2" charset="-122"/>
                <a:ea typeface="宋体" pitchFamily="2" charset="-122"/>
              </a:rPr>
              <a:t>的</a:t>
            </a:r>
            <a:r>
              <a:rPr kumimoji="0" lang="zh-CN" altLang="en-US" b="1" u="sng" dirty="0" smtClean="0">
                <a:solidFill>
                  <a:srgbClr val="002060"/>
                </a:solidFill>
                <a:latin typeface="宋体" pitchFamily="2" charset="-122"/>
                <a:ea typeface="宋体" pitchFamily="2" charset="-122"/>
              </a:rPr>
              <a:t>双向</a:t>
            </a:r>
            <a:r>
              <a:rPr kumimoji="0" lang="zh-CN" altLang="en-US" b="1" dirty="0" smtClean="0">
                <a:solidFill>
                  <a:schemeClr val="tx1"/>
                </a:solidFill>
                <a:latin typeface="宋体" pitchFamily="2" charset="-122"/>
                <a:ea typeface="宋体" pitchFamily="2" charset="-122"/>
              </a:rPr>
              <a:t>机电传感器。它的工作原理是基于压电材料的</a:t>
            </a:r>
            <a:r>
              <a:rPr kumimoji="0" lang="zh-CN" altLang="en-US" b="1" dirty="0" smtClean="0">
                <a:solidFill>
                  <a:srgbClr val="C00000"/>
                </a:solidFill>
                <a:latin typeface="黑体" pitchFamily="49" charset="-122"/>
                <a:ea typeface="黑体" pitchFamily="49" charset="-122"/>
              </a:rPr>
              <a:t>压电效应</a:t>
            </a:r>
            <a:r>
              <a:rPr kumimoji="0" lang="zh-CN" altLang="en-US" b="1" dirty="0" smtClean="0">
                <a:solidFill>
                  <a:schemeClr val="tx1"/>
                </a:solidFill>
                <a:latin typeface="宋体" pitchFamily="2" charset="-122"/>
                <a:ea typeface="宋体" pitchFamily="2" charset="-122"/>
              </a:rPr>
              <a:t>。</a:t>
            </a:r>
            <a:endParaRPr kumimoji="0" lang="en-US" altLang="zh-CN" b="1" dirty="0" smtClean="0">
              <a:solidFill>
                <a:schemeClr val="tx1"/>
              </a:solidFill>
              <a:latin typeface="宋体" pitchFamily="2" charset="-122"/>
              <a:ea typeface="宋体" pitchFamily="2" charset="-122"/>
            </a:endParaRPr>
          </a:p>
          <a:p>
            <a:pPr indent="352425">
              <a:lnSpc>
                <a:spcPct val="120000"/>
              </a:lnSpc>
              <a:spcBef>
                <a:spcPct val="20000"/>
              </a:spcBef>
              <a:buClr>
                <a:schemeClr val="folHlink"/>
              </a:buClr>
              <a:buFont typeface="Wingdings" pitchFamily="2" charset="2"/>
              <a:buNone/>
            </a:pPr>
            <a:r>
              <a:rPr kumimoji="0" lang="zh-CN" altLang="en-US" b="1" dirty="0" smtClean="0">
                <a:solidFill>
                  <a:schemeClr val="tx1"/>
                </a:solidFill>
                <a:latin typeface="宋体" pitchFamily="2" charset="-122"/>
                <a:ea typeface="宋体" pitchFamily="2" charset="-122"/>
              </a:rPr>
              <a:t>石英晶体的压电效应早在</a:t>
            </a:r>
            <a:r>
              <a:rPr kumimoji="0" lang="en-US" altLang="zh-CN" b="1" dirty="0" smtClean="0">
                <a:solidFill>
                  <a:schemeClr val="tx1"/>
                </a:solidFill>
                <a:latin typeface="宋体" pitchFamily="2" charset="-122"/>
                <a:ea typeface="宋体" pitchFamily="2" charset="-122"/>
              </a:rPr>
              <a:t>1680</a:t>
            </a:r>
            <a:r>
              <a:rPr kumimoji="0" lang="zh-CN" altLang="en-US" b="1" dirty="0" smtClean="0">
                <a:solidFill>
                  <a:schemeClr val="tx1"/>
                </a:solidFill>
                <a:latin typeface="宋体" pitchFamily="2" charset="-122"/>
                <a:ea typeface="宋体" pitchFamily="2" charset="-122"/>
              </a:rPr>
              <a:t>年即已发现，</a:t>
            </a:r>
            <a:r>
              <a:rPr kumimoji="0" lang="en-US" altLang="zh-CN" b="1" dirty="0" smtClean="0">
                <a:solidFill>
                  <a:schemeClr val="tx1"/>
                </a:solidFill>
                <a:latin typeface="宋体" pitchFamily="2" charset="-122"/>
                <a:ea typeface="宋体" pitchFamily="2" charset="-122"/>
              </a:rPr>
              <a:t>1948</a:t>
            </a:r>
            <a:r>
              <a:rPr kumimoji="0" lang="zh-CN" altLang="en-US" b="1" dirty="0" smtClean="0">
                <a:solidFill>
                  <a:schemeClr val="tx1"/>
                </a:solidFill>
                <a:latin typeface="宋体" pitchFamily="2" charset="-122"/>
                <a:ea typeface="宋体" pitchFamily="2" charset="-122"/>
              </a:rPr>
              <a:t>年制作出第一个石英传感器。</a:t>
            </a:r>
          </a:p>
          <a:p>
            <a:pPr indent="536575" algn="just">
              <a:spcBef>
                <a:spcPct val="20000"/>
              </a:spcBef>
              <a:buClr>
                <a:schemeClr val="folHlink"/>
              </a:buClr>
              <a:buFont typeface="Wingdings" pitchFamily="2" charset="2"/>
              <a:buNone/>
            </a:pPr>
            <a:endParaRPr kumimoji="0" lang="en-US" altLang="zh-CN" b="1" dirty="0" smtClean="0">
              <a:solidFill>
                <a:schemeClr val="tx1"/>
              </a:solidFill>
              <a:latin typeface="宋体" pitchFamily="2" charset="-122"/>
              <a:ea typeface="宋体" pitchFamily="2" charset="-122"/>
            </a:endParaRPr>
          </a:p>
        </p:txBody>
      </p:sp>
      <p:cxnSp>
        <p:nvCxnSpPr>
          <p:cNvPr id="5" name="直接连接符 4"/>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8" name="TextBox 7"/>
          <p:cNvSpPr txBox="1"/>
          <p:nvPr/>
        </p:nvSpPr>
        <p:spPr>
          <a:xfrm>
            <a:off x="1571604" y="4357694"/>
            <a:ext cx="1643074" cy="523220"/>
          </a:xfrm>
          <a:prstGeom prst="rect">
            <a:avLst/>
          </a:prstGeom>
          <a:noFill/>
        </p:spPr>
        <p:txBody>
          <a:bodyPr wrap="square" rtlCol="0">
            <a:spAutoFit/>
          </a:bodyPr>
          <a:lstStyle/>
          <a:p>
            <a:r>
              <a:rPr lang="zh-CN" altLang="en-US" dirty="0" smtClean="0">
                <a:solidFill>
                  <a:srgbClr val="C00000"/>
                </a:solidFill>
              </a:rPr>
              <a:t>基础研究</a:t>
            </a:r>
            <a:endParaRPr lang="zh-CN" altLang="en-US" dirty="0">
              <a:solidFill>
                <a:srgbClr val="C00000"/>
              </a:solidFill>
            </a:endParaRPr>
          </a:p>
        </p:txBody>
      </p:sp>
      <p:sp>
        <p:nvSpPr>
          <p:cNvPr id="9" name="右箭头 8"/>
          <p:cNvSpPr/>
          <p:nvPr/>
        </p:nvSpPr>
        <p:spPr bwMode="auto">
          <a:xfrm>
            <a:off x="3357554" y="4572008"/>
            <a:ext cx="428628" cy="285752"/>
          </a:xfrm>
          <a:prstGeom prst="rightArrow">
            <a:avLst/>
          </a:prstGeom>
          <a:solidFill>
            <a:srgbClr val="FFFFFF"/>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838200" marR="0" indent="-838200" algn="l" defTabSz="914400" rtl="0" eaLnBrk="1" fontAlgn="base" latinLnBrk="0" hangingPunct="1">
              <a:lnSpc>
                <a:spcPct val="100000"/>
              </a:lnSpc>
              <a:spcBef>
                <a:spcPct val="0"/>
              </a:spcBef>
              <a:spcAft>
                <a:spcPct val="0"/>
              </a:spcAft>
              <a:buClrTx/>
              <a:buSzTx/>
              <a:buFontTx/>
              <a:buNone/>
              <a:tabLst/>
            </a:pPr>
            <a:endParaRPr kumimoji="1" lang="zh-CN" altLang="en-US" sz="2800" b="0" i="0" u="none" strike="noStrike" cap="none" normalizeH="0" baseline="0" smtClean="0">
              <a:ln>
                <a:noFill/>
              </a:ln>
              <a:solidFill>
                <a:schemeClr val="tx2"/>
              </a:solidFill>
              <a:effectLst/>
              <a:latin typeface="黑体" pitchFamily="2" charset="-122"/>
              <a:ea typeface="黑体" pitchFamily="2" charset="-122"/>
            </a:endParaRPr>
          </a:p>
        </p:txBody>
      </p:sp>
      <p:sp>
        <p:nvSpPr>
          <p:cNvPr id="10" name="TextBox 9"/>
          <p:cNvSpPr txBox="1"/>
          <p:nvPr/>
        </p:nvSpPr>
        <p:spPr>
          <a:xfrm>
            <a:off x="3929058" y="4357694"/>
            <a:ext cx="1643074" cy="523220"/>
          </a:xfrm>
          <a:prstGeom prst="rect">
            <a:avLst/>
          </a:prstGeom>
          <a:noFill/>
        </p:spPr>
        <p:txBody>
          <a:bodyPr wrap="square" rtlCol="0">
            <a:spAutoFit/>
          </a:bodyPr>
          <a:lstStyle/>
          <a:p>
            <a:r>
              <a:rPr lang="zh-CN" altLang="en-US" dirty="0" smtClean="0">
                <a:solidFill>
                  <a:srgbClr val="C00000"/>
                </a:solidFill>
              </a:rPr>
              <a:t>应用研究</a:t>
            </a:r>
            <a:endParaRPr lang="zh-CN" altLang="en-US" dirty="0">
              <a:solidFill>
                <a:srgbClr val="C00000"/>
              </a:solidFill>
            </a:endParaRPr>
          </a:p>
        </p:txBody>
      </p:sp>
      <p:sp>
        <p:nvSpPr>
          <p:cNvPr id="11" name="右箭头 10"/>
          <p:cNvSpPr/>
          <p:nvPr/>
        </p:nvSpPr>
        <p:spPr bwMode="auto">
          <a:xfrm>
            <a:off x="5572132" y="4572008"/>
            <a:ext cx="428628" cy="285752"/>
          </a:xfrm>
          <a:prstGeom prst="rightArrow">
            <a:avLst/>
          </a:prstGeom>
          <a:solidFill>
            <a:srgbClr val="FFFFFF"/>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838200" marR="0" indent="-838200" algn="l" defTabSz="914400" rtl="0" eaLnBrk="1" fontAlgn="base" latinLnBrk="0" hangingPunct="1">
              <a:lnSpc>
                <a:spcPct val="100000"/>
              </a:lnSpc>
              <a:spcBef>
                <a:spcPct val="0"/>
              </a:spcBef>
              <a:spcAft>
                <a:spcPct val="0"/>
              </a:spcAft>
              <a:buClrTx/>
              <a:buSzTx/>
              <a:buFontTx/>
              <a:buNone/>
              <a:tabLst/>
            </a:pPr>
            <a:endParaRPr kumimoji="1" lang="zh-CN" altLang="en-US" sz="2800" b="0" i="0" u="none" strike="noStrike" cap="none" normalizeH="0" baseline="0" smtClean="0">
              <a:ln>
                <a:noFill/>
              </a:ln>
              <a:solidFill>
                <a:schemeClr val="tx2"/>
              </a:solidFill>
              <a:effectLst/>
              <a:latin typeface="黑体" pitchFamily="2" charset="-122"/>
              <a:ea typeface="黑体" pitchFamily="2" charset="-122"/>
            </a:endParaRPr>
          </a:p>
        </p:txBody>
      </p:sp>
      <p:sp>
        <p:nvSpPr>
          <p:cNvPr id="12" name="TextBox 11"/>
          <p:cNvSpPr txBox="1"/>
          <p:nvPr/>
        </p:nvSpPr>
        <p:spPr>
          <a:xfrm>
            <a:off x="6215074" y="4357694"/>
            <a:ext cx="1643074" cy="523220"/>
          </a:xfrm>
          <a:prstGeom prst="rect">
            <a:avLst/>
          </a:prstGeom>
          <a:noFill/>
        </p:spPr>
        <p:txBody>
          <a:bodyPr wrap="square" rtlCol="0">
            <a:spAutoFit/>
          </a:bodyPr>
          <a:lstStyle/>
          <a:p>
            <a:r>
              <a:rPr lang="zh-CN" altLang="en-US" dirty="0" smtClean="0">
                <a:solidFill>
                  <a:srgbClr val="C00000"/>
                </a:solidFill>
              </a:rPr>
              <a:t>实际应用</a:t>
            </a:r>
            <a:endParaRPr lang="zh-CN" altLang="en-US"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linds(horizontal)">
                                      <p:cBhvr>
                                        <p:cTn id="10" dur="500"/>
                                        <p:tgtEl>
                                          <p:spTgt spid="9"/>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linds(horizontal)">
                                      <p:cBhvr>
                                        <p:cTn id="13" dur="500"/>
                                        <p:tgtEl>
                                          <p:spTgt spid="10"/>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linds(horizontal)">
                                      <p:cBhvr>
                                        <p:cTn id="16" dur="500"/>
                                        <p:tgtEl>
                                          <p:spTgt spid="11"/>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blinds(horizontal)">
                                      <p:cBhvr>
                                        <p:cTn id="1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p:bldP spid="11" grpId="0" animBg="1"/>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7"/>
          <p:cNvSpPr>
            <a:spLocks noGrp="1" noChangeArrowheads="1"/>
          </p:cNvSpPr>
          <p:nvPr>
            <p:ph type="title"/>
          </p:nvPr>
        </p:nvSpPr>
        <p:spPr bwMode="auto">
          <a:xfrm>
            <a:off x="785786"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zh-CN" altLang="en-US" b="1" dirty="0" smtClean="0">
                <a:solidFill>
                  <a:schemeClr val="tx2"/>
                </a:solidFill>
                <a:latin typeface="黑体" pitchFamily="49" charset="-122"/>
                <a:ea typeface="黑体" pitchFamily="49" charset="-122"/>
              </a:rPr>
              <a:t>第</a:t>
            </a:r>
            <a:r>
              <a:rPr lang="en-US" altLang="zh-CN" b="1" dirty="0" smtClean="0">
                <a:solidFill>
                  <a:schemeClr val="tx2"/>
                </a:solidFill>
                <a:latin typeface="黑体" pitchFamily="49" charset="-122"/>
                <a:ea typeface="黑体" pitchFamily="49" charset="-122"/>
              </a:rPr>
              <a:t>7</a:t>
            </a:r>
            <a:r>
              <a:rPr lang="zh-CN" altLang="en-US" b="1" dirty="0" smtClean="0">
                <a:solidFill>
                  <a:schemeClr val="tx2"/>
                </a:solidFill>
                <a:latin typeface="黑体" pitchFamily="49" charset="-122"/>
                <a:ea typeface="黑体" pitchFamily="49" charset="-122"/>
              </a:rPr>
              <a:t>章 压电式传感器</a:t>
            </a:r>
            <a:endParaRPr lang="zh-CN" altLang="en-US" dirty="0" smtClean="0">
              <a:solidFill>
                <a:srgbClr val="F84D08"/>
              </a:solidFill>
              <a:latin typeface="黑体" pitchFamily="2" charset="-122"/>
              <a:ea typeface="黑体" pitchFamily="2" charset="-122"/>
            </a:endParaRPr>
          </a:p>
        </p:txBody>
      </p:sp>
      <p:sp>
        <p:nvSpPr>
          <p:cNvPr id="13316" name="Text Box 8"/>
          <p:cNvSpPr txBox="1">
            <a:spLocks noChangeArrowheads="1"/>
          </p:cNvSpPr>
          <p:nvPr/>
        </p:nvSpPr>
        <p:spPr bwMode="auto">
          <a:xfrm>
            <a:off x="285720" y="1643050"/>
            <a:ext cx="8572560" cy="3884140"/>
          </a:xfrm>
          <a:prstGeom prst="rect">
            <a:avLst/>
          </a:prstGeom>
          <a:noFill/>
          <a:ln w="9525" algn="ctr">
            <a:noFill/>
            <a:miter lim="800000"/>
            <a:headEnd/>
            <a:tailEnd/>
          </a:ln>
        </p:spPr>
        <p:txBody>
          <a:bodyPr wrap="square">
            <a:spAutoFit/>
          </a:bodyPr>
          <a:lstStyle/>
          <a:p>
            <a:pPr indent="352425">
              <a:lnSpc>
                <a:spcPct val="120000"/>
              </a:lnSpc>
              <a:spcBef>
                <a:spcPct val="20000"/>
              </a:spcBef>
              <a:buClr>
                <a:schemeClr val="folHlink"/>
              </a:buClr>
              <a:buFont typeface="Wingdings" pitchFamily="2" charset="2"/>
              <a:buNone/>
            </a:pPr>
            <a:r>
              <a:rPr kumimoji="0" lang="zh-CN" altLang="en-US" b="1" dirty="0" smtClean="0">
                <a:solidFill>
                  <a:schemeClr val="tx1"/>
                </a:solidFill>
                <a:latin typeface="宋体" pitchFamily="2" charset="-122"/>
                <a:ea typeface="宋体" pitchFamily="2" charset="-122"/>
              </a:rPr>
              <a:t>继发现石英晶体的压电效应后，又发现一系列的单晶、多晶陶瓷材料和高分子聚合材料，也具有相当强的压电效应。</a:t>
            </a:r>
            <a:endParaRPr kumimoji="0" lang="en-US" altLang="zh-CN" b="1" dirty="0" smtClean="0">
              <a:solidFill>
                <a:schemeClr val="tx1"/>
              </a:solidFill>
              <a:latin typeface="宋体" pitchFamily="2" charset="-122"/>
              <a:ea typeface="宋体" pitchFamily="2" charset="-122"/>
            </a:endParaRPr>
          </a:p>
          <a:p>
            <a:pPr indent="352425">
              <a:lnSpc>
                <a:spcPct val="120000"/>
              </a:lnSpc>
              <a:spcBef>
                <a:spcPct val="20000"/>
              </a:spcBef>
              <a:buClr>
                <a:schemeClr val="folHlink"/>
              </a:buClr>
            </a:pPr>
            <a:r>
              <a:rPr lang="zh-CN" altLang="en-US" b="1" dirty="0" smtClean="0">
                <a:solidFill>
                  <a:schemeClr val="tx1"/>
                </a:solidFill>
                <a:ea typeface="宋体" pitchFamily="2" charset="-122"/>
              </a:rPr>
              <a:t>压电效应自发现以来，在电子、超声、通信、引爆等许多技术领域均得到广泛的应用。在冲击、振动等动态参数测试中，压电式传感器是主要的传感器品种。</a:t>
            </a:r>
            <a:endParaRPr lang="en-US" altLang="zh-CN" b="1" dirty="0" smtClean="0">
              <a:solidFill>
                <a:schemeClr val="tx1"/>
              </a:solidFill>
              <a:ea typeface="宋体" pitchFamily="2" charset="-122"/>
            </a:endParaRPr>
          </a:p>
          <a:p>
            <a:pPr indent="352425">
              <a:lnSpc>
                <a:spcPct val="120000"/>
              </a:lnSpc>
              <a:spcBef>
                <a:spcPct val="20000"/>
              </a:spcBef>
              <a:buClr>
                <a:schemeClr val="folHlink"/>
              </a:buClr>
              <a:buFont typeface="Wingdings" pitchFamily="2" charset="2"/>
              <a:buNone/>
            </a:pPr>
            <a:endParaRPr kumimoji="0" lang="en-US" altLang="zh-CN" b="1" dirty="0" smtClean="0">
              <a:solidFill>
                <a:schemeClr val="tx1"/>
              </a:solidFill>
              <a:latin typeface="宋体" pitchFamily="2" charset="-122"/>
              <a:ea typeface="宋体" pitchFamily="2" charset="-122"/>
            </a:endParaRPr>
          </a:p>
        </p:txBody>
      </p:sp>
      <p:cxnSp>
        <p:nvCxnSpPr>
          <p:cNvPr id="5" name="直接连接符 4"/>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316">
                                            <p:txEl>
                                              <p:pRg st="1" end="1"/>
                                            </p:txEl>
                                          </p:spTgt>
                                        </p:tgtEl>
                                        <p:attrNameLst>
                                          <p:attrName>style.visibility</p:attrName>
                                        </p:attrNameLst>
                                      </p:cBhvr>
                                      <p:to>
                                        <p:strVal val="visible"/>
                                      </p:to>
                                    </p:set>
                                    <p:animEffect transition="in" filter="blinds(horizontal)">
                                      <p:cBhvr>
                                        <p:cTn id="7" dur="500"/>
                                        <p:tgtEl>
                                          <p:spTgt spid="1331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7"/>
          <p:cNvSpPr>
            <a:spLocks noGrp="1" noChangeArrowheads="1"/>
          </p:cNvSpPr>
          <p:nvPr>
            <p:ph type="title"/>
          </p:nvPr>
        </p:nvSpPr>
        <p:spPr bwMode="auto">
          <a:xfrm>
            <a:off x="785786"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zh-CN" altLang="en-US" b="1" dirty="0" smtClean="0">
                <a:solidFill>
                  <a:schemeClr val="tx2"/>
                </a:solidFill>
                <a:latin typeface="黑体" pitchFamily="49" charset="-122"/>
                <a:ea typeface="黑体" pitchFamily="49" charset="-122"/>
              </a:rPr>
              <a:t>第</a:t>
            </a:r>
            <a:r>
              <a:rPr lang="en-US" altLang="zh-CN" b="1" dirty="0" smtClean="0">
                <a:solidFill>
                  <a:schemeClr val="tx2"/>
                </a:solidFill>
                <a:latin typeface="黑体" pitchFamily="49" charset="-122"/>
                <a:ea typeface="黑体" pitchFamily="49" charset="-122"/>
              </a:rPr>
              <a:t>7</a:t>
            </a:r>
            <a:r>
              <a:rPr lang="zh-CN" altLang="en-US" b="1" dirty="0" smtClean="0">
                <a:solidFill>
                  <a:schemeClr val="tx2"/>
                </a:solidFill>
                <a:latin typeface="黑体" pitchFamily="49" charset="-122"/>
                <a:ea typeface="黑体" pitchFamily="49" charset="-122"/>
              </a:rPr>
              <a:t>章 压电式传感器</a:t>
            </a:r>
            <a:endParaRPr lang="zh-CN" altLang="en-US" dirty="0" smtClean="0">
              <a:solidFill>
                <a:srgbClr val="F84D08"/>
              </a:solidFill>
              <a:latin typeface="黑体" pitchFamily="2" charset="-122"/>
              <a:ea typeface="黑体" pitchFamily="2" charset="-122"/>
            </a:endParaRPr>
          </a:p>
        </p:txBody>
      </p:sp>
      <p:sp>
        <p:nvSpPr>
          <p:cNvPr id="13316" name="Text Box 8"/>
          <p:cNvSpPr txBox="1">
            <a:spLocks noChangeArrowheads="1"/>
          </p:cNvSpPr>
          <p:nvPr/>
        </p:nvSpPr>
        <p:spPr bwMode="auto">
          <a:xfrm>
            <a:off x="285720" y="1643050"/>
            <a:ext cx="8572560" cy="4918269"/>
          </a:xfrm>
          <a:prstGeom prst="rect">
            <a:avLst/>
          </a:prstGeom>
          <a:noFill/>
          <a:ln w="9525" algn="ctr">
            <a:noFill/>
            <a:miter lim="800000"/>
            <a:headEnd/>
            <a:tailEnd/>
          </a:ln>
        </p:spPr>
        <p:txBody>
          <a:bodyPr wrap="square">
            <a:spAutoFit/>
          </a:bodyPr>
          <a:lstStyle/>
          <a:p>
            <a:pPr indent="352425">
              <a:lnSpc>
                <a:spcPct val="120000"/>
              </a:lnSpc>
              <a:spcBef>
                <a:spcPct val="20000"/>
              </a:spcBef>
              <a:buClr>
                <a:schemeClr val="folHlink"/>
              </a:buClr>
            </a:pPr>
            <a:r>
              <a:rPr lang="zh-CN" altLang="en-US" b="1" dirty="0" smtClean="0">
                <a:solidFill>
                  <a:schemeClr val="tx1"/>
                </a:solidFill>
                <a:ea typeface="宋体" pitchFamily="2" charset="-122"/>
              </a:rPr>
              <a:t>电子技术飞速发展，与之配套的二次仪表，以及低噪声、小电容、高绝缘电阻电缆的出现，使压电传感器使用更为方便，集成化、智能化的新型压电传感器也正在被开发出来。</a:t>
            </a:r>
            <a:endParaRPr lang="en-US" altLang="zh-CN" b="1" dirty="0" smtClean="0">
              <a:solidFill>
                <a:schemeClr val="tx1"/>
              </a:solidFill>
              <a:ea typeface="宋体" pitchFamily="2" charset="-122"/>
            </a:endParaRPr>
          </a:p>
          <a:p>
            <a:pPr indent="352425">
              <a:lnSpc>
                <a:spcPct val="120000"/>
              </a:lnSpc>
              <a:spcBef>
                <a:spcPct val="20000"/>
              </a:spcBef>
              <a:buClr>
                <a:schemeClr val="folHlink"/>
              </a:buClr>
            </a:pPr>
            <a:r>
              <a:rPr lang="zh-CN" altLang="en-US" b="1" dirty="0" smtClean="0">
                <a:solidFill>
                  <a:srgbClr val="C00000"/>
                </a:solidFill>
                <a:ea typeface="宋体" pitchFamily="2" charset="-122"/>
              </a:rPr>
              <a:t>优点</a:t>
            </a:r>
            <a:r>
              <a:rPr lang="zh-CN" altLang="en-US" b="1" dirty="0" smtClean="0">
                <a:solidFill>
                  <a:schemeClr val="tx1"/>
                </a:solidFill>
                <a:ea typeface="宋体" pitchFamily="2" charset="-122"/>
              </a:rPr>
              <a:t>：压电式传感器具有使用频带宽、灵敏度高、信噪比高、结构简单、工作可靠、质量轻、测量范围广等。</a:t>
            </a:r>
          </a:p>
          <a:p>
            <a:pPr indent="352425">
              <a:lnSpc>
                <a:spcPct val="120000"/>
              </a:lnSpc>
              <a:spcBef>
                <a:spcPct val="20000"/>
              </a:spcBef>
              <a:buClr>
                <a:schemeClr val="folHlink"/>
              </a:buClr>
            </a:pPr>
            <a:r>
              <a:rPr lang="zh-CN" altLang="en-US" b="1" dirty="0" smtClean="0">
                <a:solidFill>
                  <a:srgbClr val="C00000"/>
                </a:solidFill>
                <a:ea typeface="宋体" pitchFamily="2" charset="-122"/>
              </a:rPr>
              <a:t>缺点</a:t>
            </a:r>
            <a:r>
              <a:rPr lang="zh-CN" altLang="en-US" b="1" dirty="0" smtClean="0">
                <a:solidFill>
                  <a:schemeClr val="tx1"/>
                </a:solidFill>
                <a:ea typeface="宋体" pitchFamily="2" charset="-122"/>
              </a:rPr>
              <a:t>：主要是无静态输出，对转换信号输出接口要求高。</a:t>
            </a:r>
            <a:endParaRPr kumimoji="0" lang="en-US" altLang="zh-CN" b="1" dirty="0" smtClean="0">
              <a:solidFill>
                <a:schemeClr val="tx1"/>
              </a:solidFill>
              <a:latin typeface="宋体" pitchFamily="2" charset="-122"/>
              <a:ea typeface="宋体" pitchFamily="2" charset="-122"/>
            </a:endParaRPr>
          </a:p>
        </p:txBody>
      </p:sp>
      <p:cxnSp>
        <p:nvCxnSpPr>
          <p:cNvPr id="5" name="直接连接符 4"/>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316">
                                            <p:txEl>
                                              <p:pRg st="1" end="1"/>
                                            </p:txEl>
                                          </p:spTgt>
                                        </p:tgtEl>
                                        <p:attrNameLst>
                                          <p:attrName>style.visibility</p:attrName>
                                        </p:attrNameLst>
                                      </p:cBhvr>
                                      <p:to>
                                        <p:strVal val="visible"/>
                                      </p:to>
                                    </p:set>
                                    <p:animEffect transition="in" filter="blinds(horizontal)">
                                      <p:cBhvr>
                                        <p:cTn id="7" dur="500"/>
                                        <p:tgtEl>
                                          <p:spTgt spid="1331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316">
                                            <p:txEl>
                                              <p:pRg st="2" end="2"/>
                                            </p:txEl>
                                          </p:spTgt>
                                        </p:tgtEl>
                                        <p:attrNameLst>
                                          <p:attrName>style.visibility</p:attrName>
                                        </p:attrNameLst>
                                      </p:cBhvr>
                                      <p:to>
                                        <p:strVal val="visible"/>
                                      </p:to>
                                    </p:set>
                                    <p:animEffect transition="in" filter="blinds(horizontal)">
                                      <p:cBhvr>
                                        <p:cTn id="12" dur="500"/>
                                        <p:tgtEl>
                                          <p:spTgt spid="1331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7.1 </a:t>
            </a:r>
            <a:r>
              <a:rPr lang="zh-CN" altLang="en-US" b="1" dirty="0" smtClean="0">
                <a:solidFill>
                  <a:schemeClr val="tx2"/>
                </a:solidFill>
                <a:latin typeface="黑体" pitchFamily="49" charset="-122"/>
                <a:ea typeface="黑体" pitchFamily="49" charset="-122"/>
              </a:rPr>
              <a:t>压电效应</a:t>
            </a:r>
          </a:p>
        </p:txBody>
      </p:sp>
      <p:sp>
        <p:nvSpPr>
          <p:cNvPr id="14340" name="Text Box 4"/>
          <p:cNvSpPr txBox="1">
            <a:spLocks noChangeArrowheads="1"/>
          </p:cNvSpPr>
          <p:nvPr/>
        </p:nvSpPr>
        <p:spPr bwMode="auto">
          <a:xfrm>
            <a:off x="214282" y="1643050"/>
            <a:ext cx="8643998" cy="5258876"/>
          </a:xfrm>
          <a:prstGeom prst="rect">
            <a:avLst/>
          </a:prstGeom>
          <a:noFill/>
          <a:ln w="9525" algn="ctr">
            <a:noFill/>
            <a:miter lim="800000"/>
            <a:headEnd/>
            <a:tailEnd/>
          </a:ln>
        </p:spPr>
        <p:txBody>
          <a:bodyPr wrap="square">
            <a:spAutoFit/>
          </a:bodyPr>
          <a:lstStyle/>
          <a:p>
            <a:pPr indent="352425">
              <a:lnSpc>
                <a:spcPct val="120000"/>
              </a:lnSpc>
              <a:spcBef>
                <a:spcPct val="20000"/>
              </a:spcBef>
              <a:buClr>
                <a:schemeClr val="folHlink"/>
              </a:buClr>
              <a:buFont typeface="Wingdings" pitchFamily="2" charset="2"/>
              <a:buNone/>
            </a:pPr>
            <a:r>
              <a:rPr kumimoji="0" lang="zh-CN" altLang="en-US" b="1" dirty="0" smtClean="0">
                <a:solidFill>
                  <a:schemeClr val="tx1"/>
                </a:solidFill>
                <a:latin typeface="Times New Roman" pitchFamily="18" charset="0"/>
                <a:ea typeface="宋体" pitchFamily="2" charset="-122"/>
              </a:rPr>
              <a:t>某些晶体或多晶陶瓷，当沿着一定方向受到外力作用时，内部会产生极化现象，同时在某两个表面上产生符号相反的电荷；</a:t>
            </a:r>
            <a:endParaRPr kumimoji="0" lang="en-US" altLang="zh-CN" b="1" dirty="0" smtClean="0">
              <a:solidFill>
                <a:schemeClr val="tx1"/>
              </a:solidFill>
              <a:latin typeface="Times New Roman" pitchFamily="18" charset="0"/>
              <a:ea typeface="宋体" pitchFamily="2" charset="-122"/>
            </a:endParaRPr>
          </a:p>
          <a:p>
            <a:pPr lvl="1" indent="538163">
              <a:lnSpc>
                <a:spcPct val="120000"/>
              </a:lnSpc>
              <a:spcBef>
                <a:spcPct val="20000"/>
              </a:spcBef>
              <a:buFont typeface="Wingdings" pitchFamily="2" charset="2"/>
              <a:buChar char="u"/>
            </a:pPr>
            <a:r>
              <a:rPr kumimoji="0" lang="zh-CN" altLang="en-US" b="1" dirty="0" smtClean="0">
                <a:solidFill>
                  <a:schemeClr val="tx1"/>
                </a:solidFill>
                <a:latin typeface="Times New Roman" pitchFamily="18" charset="0"/>
                <a:ea typeface="宋体" pitchFamily="2" charset="-122"/>
              </a:rPr>
              <a:t>当外力去掉后，又恢复到不带电状态；</a:t>
            </a:r>
            <a:endParaRPr kumimoji="0" lang="en-US" altLang="zh-CN" b="1" dirty="0" smtClean="0">
              <a:solidFill>
                <a:schemeClr val="tx1"/>
              </a:solidFill>
              <a:latin typeface="Times New Roman" pitchFamily="18" charset="0"/>
              <a:ea typeface="宋体" pitchFamily="2" charset="-122"/>
            </a:endParaRPr>
          </a:p>
          <a:p>
            <a:pPr lvl="1" indent="538163">
              <a:lnSpc>
                <a:spcPct val="120000"/>
              </a:lnSpc>
              <a:spcBef>
                <a:spcPct val="20000"/>
              </a:spcBef>
              <a:buFont typeface="Wingdings" pitchFamily="2" charset="2"/>
              <a:buChar char="u"/>
            </a:pPr>
            <a:r>
              <a:rPr kumimoji="0" lang="zh-CN" altLang="en-US" b="1" dirty="0" smtClean="0">
                <a:solidFill>
                  <a:schemeClr val="tx1"/>
                </a:solidFill>
                <a:latin typeface="Times New Roman" pitchFamily="18" charset="0"/>
                <a:ea typeface="宋体" pitchFamily="2" charset="-122"/>
              </a:rPr>
              <a:t>当作用力方向改变时，电荷的极性也随着改变；</a:t>
            </a:r>
            <a:endParaRPr kumimoji="0" lang="en-US" altLang="zh-CN" b="1" dirty="0" smtClean="0">
              <a:solidFill>
                <a:schemeClr val="tx1"/>
              </a:solidFill>
              <a:latin typeface="Times New Roman" pitchFamily="18" charset="0"/>
              <a:ea typeface="宋体" pitchFamily="2" charset="-122"/>
            </a:endParaRPr>
          </a:p>
          <a:p>
            <a:pPr lvl="1" indent="538163">
              <a:lnSpc>
                <a:spcPct val="120000"/>
              </a:lnSpc>
              <a:spcBef>
                <a:spcPct val="20000"/>
              </a:spcBef>
              <a:buFont typeface="Wingdings" pitchFamily="2" charset="2"/>
              <a:buChar char="u"/>
            </a:pPr>
            <a:r>
              <a:rPr kumimoji="0" lang="zh-CN" altLang="en-US" b="1" dirty="0" smtClean="0">
                <a:solidFill>
                  <a:schemeClr val="tx1"/>
                </a:solidFill>
                <a:latin typeface="Times New Roman" pitchFamily="18" charset="0"/>
                <a:ea typeface="宋体" pitchFamily="2" charset="-122"/>
              </a:rPr>
              <a:t>晶体受力所产生的电荷量与外力的大小成正比。</a:t>
            </a:r>
            <a:endParaRPr kumimoji="0" lang="en-US" altLang="zh-CN" b="1" dirty="0" smtClean="0">
              <a:solidFill>
                <a:schemeClr val="tx1"/>
              </a:solidFill>
              <a:latin typeface="Times New Roman" pitchFamily="18" charset="0"/>
              <a:ea typeface="宋体" pitchFamily="2" charset="-122"/>
            </a:endParaRPr>
          </a:p>
          <a:p>
            <a:pPr indent="352425" algn="ctr">
              <a:lnSpc>
                <a:spcPct val="120000"/>
              </a:lnSpc>
              <a:spcBef>
                <a:spcPct val="20000"/>
              </a:spcBef>
              <a:buClr>
                <a:schemeClr val="folHlink"/>
              </a:buClr>
              <a:buFont typeface="Wingdings" pitchFamily="2" charset="2"/>
              <a:buNone/>
            </a:pPr>
            <a:r>
              <a:rPr kumimoji="0" lang="zh-CN" altLang="en-US" b="1" dirty="0" smtClean="0">
                <a:solidFill>
                  <a:srgbClr val="FF0000"/>
                </a:solidFill>
                <a:latin typeface="黑体" pitchFamily="49" charset="-122"/>
                <a:ea typeface="黑体" pitchFamily="49" charset="-122"/>
              </a:rPr>
              <a:t>正压电效应   </a:t>
            </a:r>
            <a:endParaRPr kumimoji="0" lang="en-US" altLang="zh-CN" b="1" dirty="0" smtClean="0">
              <a:solidFill>
                <a:srgbClr val="FF0000"/>
              </a:solidFill>
              <a:latin typeface="黑体" pitchFamily="49" charset="-122"/>
              <a:ea typeface="黑体" pitchFamily="49" charset="-122"/>
            </a:endParaRPr>
          </a:p>
          <a:p>
            <a:pPr indent="352425" algn="ctr">
              <a:lnSpc>
                <a:spcPct val="120000"/>
              </a:lnSpc>
              <a:spcBef>
                <a:spcPct val="20000"/>
              </a:spcBef>
              <a:buClr>
                <a:schemeClr val="folHlink"/>
              </a:buClr>
              <a:buFont typeface="Wingdings" pitchFamily="2" charset="2"/>
              <a:buNone/>
            </a:pPr>
            <a:r>
              <a:rPr kumimoji="0" lang="zh-CN" altLang="en-US" b="1" dirty="0" smtClean="0">
                <a:solidFill>
                  <a:srgbClr val="FF0000"/>
                </a:solidFill>
                <a:latin typeface="黑体" pitchFamily="49" charset="-122"/>
                <a:ea typeface="黑体" pitchFamily="49" charset="-122"/>
              </a:rPr>
              <a:t>力      电</a:t>
            </a:r>
            <a:endParaRPr kumimoji="0" lang="zh-CN" altLang="en-US" dirty="0" smtClean="0"/>
          </a:p>
          <a:p>
            <a:pPr indent="536575" algn="just">
              <a:lnSpc>
                <a:spcPts val="4000"/>
              </a:lnSpc>
              <a:spcBef>
                <a:spcPct val="20000"/>
              </a:spcBef>
              <a:buClr>
                <a:schemeClr val="folHlink"/>
              </a:buClr>
              <a:buFont typeface="Wingdings" pitchFamily="2" charset="2"/>
              <a:buNone/>
            </a:pPr>
            <a:endParaRPr kumimoji="0" lang="zh-CN" altLang="en-US" b="1" dirty="0">
              <a:solidFill>
                <a:schemeClr val="tx1"/>
              </a:solidFill>
              <a:latin typeface="宋体" pitchFamily="2" charset="-122"/>
              <a:ea typeface="宋体" pitchFamily="2" charset="-122"/>
            </a:endParaRP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7" name="右箭头 6"/>
          <p:cNvSpPr/>
          <p:nvPr/>
        </p:nvSpPr>
        <p:spPr>
          <a:xfrm>
            <a:off x="4286248" y="5715016"/>
            <a:ext cx="857256" cy="4286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7"/>
          <p:cNvSpPr txBox="1"/>
          <p:nvPr/>
        </p:nvSpPr>
        <p:spPr>
          <a:xfrm>
            <a:off x="214282" y="6215082"/>
            <a:ext cx="8643998" cy="523220"/>
          </a:xfrm>
          <a:prstGeom prst="rect">
            <a:avLst/>
          </a:prstGeom>
          <a:noFill/>
        </p:spPr>
        <p:txBody>
          <a:bodyPr wrap="square" rtlCol="0">
            <a:spAutoFit/>
          </a:bodyPr>
          <a:lstStyle/>
          <a:p>
            <a:r>
              <a:rPr kumimoji="0" lang="zh-CN" altLang="en-US" b="1" dirty="0" smtClean="0">
                <a:solidFill>
                  <a:schemeClr val="tx1"/>
                </a:solidFill>
                <a:latin typeface="宋体" pitchFamily="2" charset="-122"/>
                <a:ea typeface="宋体" pitchFamily="2" charset="-122"/>
              </a:rPr>
              <a:t>  压电式传感器大都是利用压电材料的压电效应制成。</a:t>
            </a:r>
            <a:endParaRPr lang="zh-CN" alt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7.1 </a:t>
            </a:r>
            <a:r>
              <a:rPr lang="zh-CN" altLang="en-US" b="1" dirty="0" smtClean="0">
                <a:solidFill>
                  <a:schemeClr val="tx2"/>
                </a:solidFill>
                <a:latin typeface="黑体" pitchFamily="49" charset="-122"/>
                <a:ea typeface="黑体" pitchFamily="49" charset="-122"/>
              </a:rPr>
              <a:t>压电效应</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8" name="TextBox 7"/>
          <p:cNvSpPr txBox="1"/>
          <p:nvPr/>
        </p:nvSpPr>
        <p:spPr>
          <a:xfrm>
            <a:off x="285720" y="1571612"/>
            <a:ext cx="8643998" cy="523220"/>
          </a:xfrm>
          <a:prstGeom prst="rect">
            <a:avLst/>
          </a:prstGeom>
          <a:noFill/>
        </p:spPr>
        <p:txBody>
          <a:bodyPr wrap="square" rtlCol="0">
            <a:spAutoFit/>
          </a:bodyPr>
          <a:lstStyle/>
          <a:p>
            <a:r>
              <a:rPr kumimoji="0" lang="zh-CN" altLang="en-US" b="1" dirty="0" smtClean="0">
                <a:solidFill>
                  <a:schemeClr val="tx1"/>
                </a:solidFill>
                <a:latin typeface="宋体" pitchFamily="2" charset="-122"/>
                <a:ea typeface="宋体" pitchFamily="2" charset="-122"/>
              </a:rPr>
              <a:t>  压电式传感器大都是利用压电材料的压电效应制成。</a:t>
            </a:r>
            <a:endParaRPr lang="zh-CN" altLang="en-US" dirty="0"/>
          </a:p>
        </p:txBody>
      </p:sp>
      <p:pic>
        <p:nvPicPr>
          <p:cNvPr id="9" name="Picture 6"/>
          <p:cNvPicPr>
            <a:picLocks noChangeAspect="1" noChangeArrowheads="1"/>
          </p:cNvPicPr>
          <p:nvPr/>
        </p:nvPicPr>
        <p:blipFill>
          <a:blip r:embed="rId2"/>
          <a:srcRect/>
          <a:stretch>
            <a:fillRect/>
          </a:stretch>
        </p:blipFill>
        <p:spPr bwMode="auto">
          <a:xfrm>
            <a:off x="2214546" y="2285992"/>
            <a:ext cx="4714908" cy="3880099"/>
          </a:xfrm>
          <a:prstGeom prst="rect">
            <a:avLst/>
          </a:prstGeom>
          <a:noFill/>
          <a:ln w="9525" cap="flat" cmpd="sng" algn="ctr">
            <a:noFill/>
            <a:prstDash val="solid"/>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7.1 </a:t>
            </a:r>
            <a:r>
              <a:rPr lang="zh-CN" altLang="en-US" b="1" dirty="0" smtClean="0">
                <a:solidFill>
                  <a:schemeClr val="tx2"/>
                </a:solidFill>
                <a:latin typeface="黑体" pitchFamily="49" charset="-122"/>
                <a:ea typeface="黑体" pitchFamily="49" charset="-122"/>
              </a:rPr>
              <a:t>压电效应</a:t>
            </a:r>
          </a:p>
        </p:txBody>
      </p:sp>
      <p:sp>
        <p:nvSpPr>
          <p:cNvPr id="14340" name="Text Box 4"/>
          <p:cNvSpPr txBox="1">
            <a:spLocks noChangeArrowheads="1"/>
          </p:cNvSpPr>
          <p:nvPr/>
        </p:nvSpPr>
        <p:spPr bwMode="auto">
          <a:xfrm>
            <a:off x="214282" y="1643050"/>
            <a:ext cx="8643998" cy="3535327"/>
          </a:xfrm>
          <a:prstGeom prst="rect">
            <a:avLst/>
          </a:prstGeom>
          <a:noFill/>
          <a:ln w="9525" algn="ctr">
            <a:noFill/>
            <a:miter lim="800000"/>
            <a:headEnd/>
            <a:tailEnd/>
          </a:ln>
        </p:spPr>
        <p:txBody>
          <a:bodyPr wrap="square">
            <a:spAutoFit/>
          </a:bodyPr>
          <a:lstStyle/>
          <a:p>
            <a:pPr indent="352425">
              <a:lnSpc>
                <a:spcPct val="120000"/>
              </a:lnSpc>
              <a:spcBef>
                <a:spcPct val="20000"/>
              </a:spcBef>
              <a:buClr>
                <a:schemeClr val="folHlink"/>
              </a:buClr>
              <a:buFont typeface="Wingdings" pitchFamily="2" charset="2"/>
              <a:buNone/>
            </a:pPr>
            <a:r>
              <a:rPr kumimoji="0" lang="zh-CN" altLang="en-US" b="1" dirty="0" smtClean="0">
                <a:solidFill>
                  <a:schemeClr val="tx1"/>
                </a:solidFill>
                <a:latin typeface="Times New Roman" pitchFamily="18" charset="0"/>
                <a:ea typeface="宋体" pitchFamily="2" charset="-122"/>
              </a:rPr>
              <a:t>对晶体施加一定变电场，晶体本身将产生机械变形，外电场撤离，变形也随着消失。</a:t>
            </a:r>
            <a:endParaRPr kumimoji="0" lang="en-US" altLang="zh-CN" b="1" dirty="0" smtClean="0">
              <a:solidFill>
                <a:schemeClr val="tx1"/>
              </a:solidFill>
              <a:latin typeface="Times New Roman" pitchFamily="18" charset="0"/>
              <a:ea typeface="宋体" pitchFamily="2" charset="-122"/>
            </a:endParaRPr>
          </a:p>
          <a:p>
            <a:pPr indent="352425" algn="ctr">
              <a:lnSpc>
                <a:spcPct val="120000"/>
              </a:lnSpc>
              <a:spcBef>
                <a:spcPct val="20000"/>
              </a:spcBef>
              <a:buClr>
                <a:schemeClr val="folHlink"/>
              </a:buClr>
              <a:buFont typeface="Wingdings" pitchFamily="2" charset="2"/>
              <a:buNone/>
            </a:pPr>
            <a:r>
              <a:rPr kumimoji="0" lang="zh-CN" altLang="en-US" b="1" dirty="0" smtClean="0">
                <a:solidFill>
                  <a:srgbClr val="FF0000"/>
                </a:solidFill>
                <a:latin typeface="黑体" pitchFamily="49" charset="-122"/>
                <a:ea typeface="黑体" pitchFamily="49" charset="-122"/>
              </a:rPr>
              <a:t>逆压电效应</a:t>
            </a:r>
            <a:endParaRPr kumimoji="0" lang="en-US" altLang="zh-CN" b="1" dirty="0" smtClean="0">
              <a:solidFill>
                <a:srgbClr val="FF0000"/>
              </a:solidFill>
              <a:latin typeface="黑体" pitchFamily="49" charset="-122"/>
              <a:ea typeface="黑体" pitchFamily="49" charset="-122"/>
            </a:endParaRPr>
          </a:p>
          <a:p>
            <a:pPr indent="352425" algn="ctr">
              <a:lnSpc>
                <a:spcPct val="120000"/>
              </a:lnSpc>
              <a:spcBef>
                <a:spcPct val="20000"/>
              </a:spcBef>
              <a:buClr>
                <a:schemeClr val="folHlink"/>
              </a:buClr>
              <a:buFont typeface="Wingdings" pitchFamily="2" charset="2"/>
              <a:buNone/>
            </a:pPr>
            <a:r>
              <a:rPr kumimoji="0" lang="zh-CN" altLang="en-US" b="1" dirty="0" smtClean="0">
                <a:solidFill>
                  <a:srgbClr val="FF0000"/>
                </a:solidFill>
                <a:latin typeface="黑体" pitchFamily="49" charset="-122"/>
                <a:ea typeface="黑体" pitchFamily="49" charset="-122"/>
              </a:rPr>
              <a:t>电      形变， 力？</a:t>
            </a:r>
            <a:endParaRPr kumimoji="0" lang="en-US" altLang="zh-CN" b="1" dirty="0" smtClean="0">
              <a:solidFill>
                <a:srgbClr val="FF0000"/>
              </a:solidFill>
              <a:latin typeface="黑体" pitchFamily="49" charset="-122"/>
              <a:ea typeface="黑体" pitchFamily="49" charset="-122"/>
            </a:endParaRPr>
          </a:p>
          <a:p>
            <a:pPr indent="352425">
              <a:lnSpc>
                <a:spcPct val="120000"/>
              </a:lnSpc>
              <a:spcBef>
                <a:spcPct val="20000"/>
              </a:spcBef>
              <a:buClr>
                <a:schemeClr val="folHlink"/>
              </a:buClr>
              <a:buFont typeface="Wingdings" pitchFamily="2" charset="2"/>
              <a:buNone/>
            </a:pPr>
            <a:endParaRPr kumimoji="0" lang="zh-CN" altLang="en-US" dirty="0" smtClean="0"/>
          </a:p>
          <a:p>
            <a:pPr indent="536575" algn="just">
              <a:lnSpc>
                <a:spcPts val="4000"/>
              </a:lnSpc>
              <a:spcBef>
                <a:spcPct val="20000"/>
              </a:spcBef>
              <a:buClr>
                <a:schemeClr val="folHlink"/>
              </a:buClr>
              <a:buFont typeface="Wingdings" pitchFamily="2" charset="2"/>
              <a:buNone/>
            </a:pPr>
            <a:endParaRPr kumimoji="0" lang="zh-CN" altLang="en-US" b="1" dirty="0">
              <a:solidFill>
                <a:schemeClr val="tx1"/>
              </a:solidFill>
              <a:latin typeface="宋体" pitchFamily="2" charset="-122"/>
              <a:ea typeface="宋体" pitchFamily="2" charset="-122"/>
            </a:endParaRP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7" name="右箭头 6"/>
          <p:cNvSpPr/>
          <p:nvPr/>
        </p:nvSpPr>
        <p:spPr>
          <a:xfrm>
            <a:off x="3428992" y="3429000"/>
            <a:ext cx="857256" cy="4286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7.1 </a:t>
            </a:r>
            <a:r>
              <a:rPr lang="zh-CN" altLang="en-US" b="1" dirty="0" smtClean="0">
                <a:solidFill>
                  <a:schemeClr val="tx2"/>
                </a:solidFill>
                <a:latin typeface="黑体" pitchFamily="49" charset="-122"/>
                <a:ea typeface="黑体" pitchFamily="49" charset="-122"/>
              </a:rPr>
              <a:t>压电效应</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pic>
        <p:nvPicPr>
          <p:cNvPr id="115714" name="Picture 2" descr="世界首款机器苍蝇面世。"/>
          <p:cNvPicPr>
            <a:picLocks noChangeAspect="1" noChangeArrowheads="1"/>
          </p:cNvPicPr>
          <p:nvPr/>
        </p:nvPicPr>
        <p:blipFill>
          <a:blip r:embed="rId2"/>
          <a:srcRect/>
          <a:stretch>
            <a:fillRect/>
          </a:stretch>
        </p:blipFill>
        <p:spPr bwMode="auto">
          <a:xfrm>
            <a:off x="6072198" y="1643050"/>
            <a:ext cx="2857500" cy="2057401"/>
          </a:xfrm>
          <a:prstGeom prst="rect">
            <a:avLst/>
          </a:prstGeom>
          <a:noFill/>
        </p:spPr>
      </p:pic>
      <p:sp>
        <p:nvSpPr>
          <p:cNvPr id="8" name="TextBox 7"/>
          <p:cNvSpPr txBox="1"/>
          <p:nvPr/>
        </p:nvSpPr>
        <p:spPr>
          <a:xfrm>
            <a:off x="285720" y="1571612"/>
            <a:ext cx="5786478" cy="5262979"/>
          </a:xfrm>
          <a:prstGeom prst="rect">
            <a:avLst/>
          </a:prstGeom>
          <a:noFill/>
        </p:spPr>
        <p:txBody>
          <a:bodyPr wrap="square" rtlCol="0">
            <a:spAutoFit/>
          </a:bodyPr>
          <a:lstStyle/>
          <a:p>
            <a:r>
              <a:rPr lang="zh-CN" altLang="en-US" sz="2400" b="1" dirty="0" smtClean="0">
                <a:latin typeface="+mn-ea"/>
                <a:ea typeface="+mn-ea"/>
              </a:rPr>
              <a:t>   哈佛大学的研究人员</a:t>
            </a:r>
            <a:r>
              <a:rPr lang="en-US" altLang="zh-CN" sz="2400" b="1" dirty="0" smtClean="0">
                <a:latin typeface="+mn-ea"/>
                <a:ea typeface="+mn-ea"/>
              </a:rPr>
              <a:t>2013</a:t>
            </a:r>
            <a:r>
              <a:rPr lang="zh-CN" altLang="en-US" sz="2400" b="1" dirty="0" smtClean="0">
                <a:latin typeface="+mn-ea"/>
                <a:ea typeface="+mn-ea"/>
              </a:rPr>
              <a:t>年</a:t>
            </a:r>
            <a:r>
              <a:rPr lang="en-US" altLang="zh-CN" sz="2400" b="1" dirty="0" smtClean="0">
                <a:latin typeface="+mn-ea"/>
                <a:ea typeface="+mn-ea"/>
              </a:rPr>
              <a:t>5</a:t>
            </a:r>
            <a:r>
              <a:rPr lang="zh-CN" altLang="en-US" sz="2400" b="1" dirty="0" smtClean="0">
                <a:latin typeface="+mn-ea"/>
                <a:ea typeface="+mn-ea"/>
              </a:rPr>
              <a:t>月</a:t>
            </a:r>
            <a:r>
              <a:rPr lang="en-US" altLang="zh-CN" sz="2400" b="1" dirty="0" smtClean="0">
                <a:latin typeface="+mn-ea"/>
                <a:ea typeface="+mn-ea"/>
              </a:rPr>
              <a:t>2</a:t>
            </a:r>
            <a:r>
              <a:rPr lang="zh-CN" altLang="en-US" sz="2400" b="1" dirty="0" smtClean="0">
                <a:latin typeface="+mn-ea"/>
                <a:ea typeface="+mn-ea"/>
              </a:rPr>
              <a:t>日宣布，他们经过十多年研制，终于开发出世界上第一款机器苍蝇。　　</a:t>
            </a:r>
          </a:p>
          <a:p>
            <a:r>
              <a:rPr lang="zh-CN" altLang="en-US" sz="2400" b="1" dirty="0" smtClean="0">
                <a:latin typeface="+mn-ea"/>
                <a:ea typeface="+mn-ea"/>
              </a:rPr>
              <a:t>　　机器苍蝇主体用碳纤维制成，体重只有</a:t>
            </a:r>
            <a:r>
              <a:rPr lang="en-US" altLang="zh-CN" sz="2400" b="1" dirty="0" smtClean="0">
                <a:latin typeface="+mn-ea"/>
                <a:ea typeface="+mn-ea"/>
              </a:rPr>
              <a:t>80</a:t>
            </a:r>
            <a:r>
              <a:rPr lang="zh-CN" altLang="en-US" sz="2400" b="1" dirty="0" smtClean="0">
                <a:latin typeface="+mn-ea"/>
                <a:ea typeface="+mn-ea"/>
              </a:rPr>
              <a:t>毫克，翼展</a:t>
            </a:r>
            <a:r>
              <a:rPr lang="en-US" altLang="zh-CN" sz="2400" b="1" dirty="0" smtClean="0">
                <a:latin typeface="+mn-ea"/>
                <a:ea typeface="+mn-ea"/>
              </a:rPr>
              <a:t>3</a:t>
            </a:r>
            <a:r>
              <a:rPr lang="zh-CN" altLang="en-US" sz="2400" b="1" dirty="0" smtClean="0">
                <a:latin typeface="+mn-ea"/>
                <a:ea typeface="+mn-ea"/>
              </a:rPr>
              <a:t>厘米。飞行时，它每秒振翅</a:t>
            </a:r>
            <a:r>
              <a:rPr lang="en-US" altLang="zh-CN" sz="2400" b="1" dirty="0" smtClean="0">
                <a:latin typeface="+mn-ea"/>
                <a:ea typeface="+mn-ea"/>
              </a:rPr>
              <a:t>120</a:t>
            </a:r>
            <a:r>
              <a:rPr lang="zh-CN" altLang="en-US" sz="2400" b="1" dirty="0" smtClean="0">
                <a:latin typeface="+mn-ea"/>
                <a:ea typeface="+mn-ea"/>
              </a:rPr>
              <a:t>次，频率几乎接近真苍蝇。机器苍蝇的一对超薄微型翅膀，是用一种能将外加电压转变为某种机械应力的</a:t>
            </a:r>
            <a:r>
              <a:rPr lang="zh-CN" altLang="en-US" sz="2400" b="1" dirty="0" smtClean="0">
                <a:solidFill>
                  <a:srgbClr val="FF0000"/>
                </a:solidFill>
                <a:latin typeface="+mn-ea"/>
                <a:ea typeface="+mn-ea"/>
              </a:rPr>
              <a:t>压电材料</a:t>
            </a:r>
            <a:r>
              <a:rPr lang="zh-CN" altLang="en-US" sz="2400" b="1" dirty="0" smtClean="0">
                <a:latin typeface="+mn-ea"/>
                <a:ea typeface="+mn-ea"/>
              </a:rPr>
              <a:t>制成。</a:t>
            </a:r>
          </a:p>
          <a:p>
            <a:r>
              <a:rPr lang="zh-CN" altLang="en-US" sz="2400" b="1" dirty="0" smtClean="0">
                <a:latin typeface="+mn-ea"/>
                <a:ea typeface="+mn-ea"/>
              </a:rPr>
              <a:t>　　在实验室飞行测试中，机器苍蝇展示了稳定、可控的飞行性能，目前能连续飞行超过</a:t>
            </a:r>
            <a:r>
              <a:rPr lang="en-US" altLang="zh-CN" sz="2400" b="1" dirty="0" smtClean="0">
                <a:latin typeface="+mn-ea"/>
                <a:ea typeface="+mn-ea"/>
              </a:rPr>
              <a:t>20</a:t>
            </a:r>
            <a:r>
              <a:rPr lang="zh-CN" altLang="en-US" sz="2400" b="1" dirty="0" smtClean="0">
                <a:latin typeface="+mn-ea"/>
                <a:ea typeface="+mn-ea"/>
              </a:rPr>
              <a:t>秒。而且有趣的是，它飞行时的消耗功率大约</a:t>
            </a:r>
            <a:r>
              <a:rPr lang="en-US" altLang="zh-CN" sz="2400" b="1" dirty="0" smtClean="0">
                <a:latin typeface="+mn-ea"/>
                <a:ea typeface="+mn-ea"/>
              </a:rPr>
              <a:t>19</a:t>
            </a:r>
            <a:r>
              <a:rPr lang="zh-CN" altLang="en-US" sz="2400" b="1" dirty="0" smtClean="0">
                <a:latin typeface="+mn-ea"/>
                <a:ea typeface="+mn-ea"/>
              </a:rPr>
              <a:t>毫瓦，经折算与真苍蝇的消耗大体一致。</a:t>
            </a:r>
            <a:endParaRPr lang="zh-CN" altLang="en-US" b="1" dirty="0">
              <a:latin typeface="+mn-ea"/>
              <a:ea typeface="+mn-ea"/>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7.1 </a:t>
            </a:r>
            <a:r>
              <a:rPr lang="zh-CN" altLang="en-US" b="1" dirty="0" smtClean="0">
                <a:solidFill>
                  <a:schemeClr val="tx2"/>
                </a:solidFill>
                <a:latin typeface="黑体" pitchFamily="49" charset="-122"/>
                <a:ea typeface="黑体" pitchFamily="49" charset="-122"/>
              </a:rPr>
              <a:t>压电效应</a:t>
            </a:r>
          </a:p>
        </p:txBody>
      </p:sp>
      <p:sp>
        <p:nvSpPr>
          <p:cNvPr id="14340" name="Text Box 4"/>
          <p:cNvSpPr txBox="1">
            <a:spLocks noChangeArrowheads="1"/>
          </p:cNvSpPr>
          <p:nvPr/>
        </p:nvSpPr>
        <p:spPr bwMode="auto">
          <a:xfrm>
            <a:off x="214282" y="1643050"/>
            <a:ext cx="8643998" cy="540725"/>
          </a:xfrm>
          <a:prstGeom prst="rect">
            <a:avLst/>
          </a:prstGeom>
          <a:noFill/>
          <a:ln w="9525" algn="ctr">
            <a:noFill/>
            <a:miter lim="800000"/>
            <a:headEnd/>
            <a:tailEnd/>
          </a:ln>
        </p:spPr>
        <p:txBody>
          <a:bodyPr wrap="square">
            <a:spAutoFit/>
          </a:bodyPr>
          <a:lstStyle/>
          <a:p>
            <a:pPr indent="352425">
              <a:lnSpc>
                <a:spcPct val="120000"/>
              </a:lnSpc>
              <a:buClr>
                <a:schemeClr val="folHlink"/>
              </a:buClr>
              <a:buFont typeface="Wingdings" pitchFamily="2" charset="2"/>
              <a:buNone/>
            </a:pPr>
            <a:r>
              <a:rPr lang="zh-CN" altLang="en-US" b="1" dirty="0" smtClean="0">
                <a:solidFill>
                  <a:srgbClr val="F84D08"/>
                </a:solidFill>
                <a:latin typeface="黑体" pitchFamily="49" charset="-122"/>
                <a:ea typeface="黑体" pitchFamily="49" charset="-122"/>
                <a:cs typeface="+mj-cs"/>
              </a:rPr>
              <a:t>石英晶体的压电效应</a:t>
            </a:r>
            <a:endParaRPr kumimoji="0" lang="zh-CN" altLang="en-US" b="1" dirty="0">
              <a:solidFill>
                <a:schemeClr val="tx1"/>
              </a:solidFill>
              <a:latin typeface="宋体" pitchFamily="2" charset="-122"/>
              <a:ea typeface="宋体" pitchFamily="2" charset="-122"/>
            </a:endParaRP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pic>
        <p:nvPicPr>
          <p:cNvPr id="8" name="Picture 7"/>
          <p:cNvPicPr>
            <a:picLocks noChangeAspect="1" noChangeArrowheads="1"/>
          </p:cNvPicPr>
          <p:nvPr/>
        </p:nvPicPr>
        <p:blipFill>
          <a:blip r:embed="rId2"/>
          <a:srcRect/>
          <a:stretch>
            <a:fillRect/>
          </a:stretch>
        </p:blipFill>
        <p:spPr bwMode="auto">
          <a:xfrm>
            <a:off x="285720" y="2357430"/>
            <a:ext cx="4667250" cy="3257550"/>
          </a:xfrm>
          <a:prstGeom prst="rect">
            <a:avLst/>
          </a:prstGeom>
          <a:noFill/>
          <a:ln w="9525">
            <a:noFill/>
            <a:miter lim="800000"/>
            <a:headEnd/>
            <a:tailEnd/>
          </a:ln>
        </p:spPr>
      </p:pic>
      <p:sp>
        <p:nvSpPr>
          <p:cNvPr id="9" name="圆角矩形标注 8"/>
          <p:cNvSpPr/>
          <p:nvPr/>
        </p:nvSpPr>
        <p:spPr bwMode="auto">
          <a:xfrm>
            <a:off x="1530302" y="2363774"/>
            <a:ext cx="1000132" cy="500066"/>
          </a:xfrm>
          <a:prstGeom prst="wedgeRoundRectCallout">
            <a:avLst>
              <a:gd name="adj1" fmla="val 62432"/>
              <a:gd name="adj2" fmla="val 321546"/>
              <a:gd name="adj3" fmla="val 16667"/>
            </a:avLst>
          </a:prstGeom>
          <a:solidFill>
            <a:srgbClr val="92D050"/>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838200" indent="-838200">
              <a:spcBef>
                <a:spcPct val="50000"/>
              </a:spcBef>
            </a:pPr>
            <a:r>
              <a:rPr lang="zh-CN" altLang="en-US" sz="2400" b="1" dirty="0" smtClean="0">
                <a:solidFill>
                  <a:schemeClr val="tx1"/>
                </a:solidFill>
                <a:latin typeface="楷体_GB2312" pitchFamily="49" charset="-122"/>
                <a:ea typeface="楷体_GB2312" pitchFamily="49" charset="-122"/>
              </a:rPr>
              <a:t>光轴</a:t>
            </a:r>
            <a:endParaRPr lang="zh-CN" altLang="en-US" sz="2400" b="1" dirty="0">
              <a:solidFill>
                <a:schemeClr val="tx1"/>
              </a:solidFill>
              <a:latin typeface="楷体_GB2312" pitchFamily="49" charset="-122"/>
              <a:ea typeface="楷体_GB2312" pitchFamily="49" charset="-122"/>
            </a:endParaRPr>
          </a:p>
        </p:txBody>
      </p:sp>
      <p:sp>
        <p:nvSpPr>
          <p:cNvPr id="10" name="圆角矩形标注 9"/>
          <p:cNvSpPr/>
          <p:nvPr/>
        </p:nvSpPr>
        <p:spPr bwMode="auto">
          <a:xfrm>
            <a:off x="530170" y="5578484"/>
            <a:ext cx="1785950" cy="642942"/>
          </a:xfrm>
          <a:prstGeom prst="wedgeRoundRectCallout">
            <a:avLst>
              <a:gd name="adj1" fmla="val 50220"/>
              <a:gd name="adj2" fmla="val -203702"/>
              <a:gd name="adj3" fmla="val 16667"/>
            </a:avLst>
          </a:prstGeom>
          <a:solidFill>
            <a:srgbClr val="92D050"/>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838200" indent="-838200">
              <a:spcBef>
                <a:spcPct val="50000"/>
              </a:spcBef>
            </a:pPr>
            <a:r>
              <a:rPr lang="zh-CN" altLang="en-US" sz="2400" b="1" dirty="0" smtClean="0">
                <a:solidFill>
                  <a:schemeClr val="tx1"/>
                </a:solidFill>
                <a:latin typeface="楷体_GB2312" pitchFamily="49" charset="-122"/>
                <a:ea typeface="楷体_GB2312" pitchFamily="49" charset="-122"/>
              </a:rPr>
              <a:t>电轴（</a:t>
            </a:r>
            <a:r>
              <a:rPr lang="en-US" altLang="zh-CN" sz="2400" b="1" dirty="0" smtClean="0">
                <a:solidFill>
                  <a:schemeClr val="tx1"/>
                </a:solidFill>
                <a:latin typeface="楷体_GB2312" pitchFamily="49" charset="-122"/>
                <a:ea typeface="楷体_GB2312" pitchFamily="49" charset="-122"/>
              </a:rPr>
              <a:t>3</a:t>
            </a:r>
            <a:r>
              <a:rPr lang="zh-CN" altLang="en-US" sz="2400" b="1" dirty="0" smtClean="0">
                <a:solidFill>
                  <a:schemeClr val="tx1"/>
                </a:solidFill>
                <a:latin typeface="楷体_GB2312" pitchFamily="49" charset="-122"/>
                <a:ea typeface="楷体_GB2312" pitchFamily="49" charset="-122"/>
              </a:rPr>
              <a:t>个）</a:t>
            </a:r>
            <a:endParaRPr lang="zh-CN" altLang="en-US" sz="2400" b="1" dirty="0">
              <a:solidFill>
                <a:schemeClr val="tx1"/>
              </a:solidFill>
              <a:latin typeface="楷体_GB2312" pitchFamily="49" charset="-122"/>
              <a:ea typeface="楷体_GB2312" pitchFamily="49" charset="-122"/>
            </a:endParaRPr>
          </a:p>
        </p:txBody>
      </p:sp>
      <p:sp>
        <p:nvSpPr>
          <p:cNvPr id="11" name="圆角矩形标注 10"/>
          <p:cNvSpPr/>
          <p:nvPr/>
        </p:nvSpPr>
        <p:spPr bwMode="auto">
          <a:xfrm>
            <a:off x="3214678" y="6072206"/>
            <a:ext cx="1785950" cy="571504"/>
          </a:xfrm>
          <a:prstGeom prst="wedgeRoundRectCallout">
            <a:avLst>
              <a:gd name="adj1" fmla="val -22922"/>
              <a:gd name="adj2" fmla="val -284654"/>
              <a:gd name="adj3" fmla="val 16667"/>
            </a:avLst>
          </a:prstGeom>
          <a:solidFill>
            <a:srgbClr val="92D050"/>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838200" indent="-838200">
              <a:spcBef>
                <a:spcPct val="50000"/>
              </a:spcBef>
            </a:pPr>
            <a:r>
              <a:rPr lang="zh-CN" altLang="en-US" sz="2400" b="1" dirty="0" smtClean="0">
                <a:solidFill>
                  <a:schemeClr val="tx1"/>
                </a:solidFill>
                <a:latin typeface="楷体_GB2312" pitchFamily="49" charset="-122"/>
                <a:ea typeface="楷体_GB2312" pitchFamily="49" charset="-122"/>
              </a:rPr>
              <a:t>力轴（</a:t>
            </a:r>
            <a:r>
              <a:rPr lang="en-US" altLang="zh-CN" sz="2400" b="1" dirty="0" smtClean="0">
                <a:solidFill>
                  <a:schemeClr val="tx1"/>
                </a:solidFill>
                <a:latin typeface="楷体_GB2312" pitchFamily="49" charset="-122"/>
                <a:ea typeface="楷体_GB2312" pitchFamily="49" charset="-122"/>
              </a:rPr>
              <a:t>3</a:t>
            </a:r>
            <a:r>
              <a:rPr lang="zh-CN" altLang="en-US" sz="2400" b="1" dirty="0" smtClean="0">
                <a:solidFill>
                  <a:schemeClr val="tx1"/>
                </a:solidFill>
                <a:latin typeface="楷体_GB2312" pitchFamily="49" charset="-122"/>
                <a:ea typeface="楷体_GB2312" pitchFamily="49" charset="-122"/>
              </a:rPr>
              <a:t>个）</a:t>
            </a:r>
            <a:endParaRPr lang="en-US" altLang="zh-CN" sz="2400" b="1" dirty="0" smtClean="0">
              <a:solidFill>
                <a:schemeClr val="tx1"/>
              </a:solidFill>
              <a:latin typeface="楷体_GB2312" pitchFamily="49" charset="-122"/>
              <a:ea typeface="楷体_GB2312" pitchFamily="49" charset="-122"/>
            </a:endParaRPr>
          </a:p>
        </p:txBody>
      </p:sp>
      <p:sp>
        <p:nvSpPr>
          <p:cNvPr id="16" name="Text Box 4"/>
          <p:cNvSpPr txBox="1">
            <a:spLocks noChangeArrowheads="1"/>
          </p:cNvSpPr>
          <p:nvPr/>
        </p:nvSpPr>
        <p:spPr bwMode="auto">
          <a:xfrm>
            <a:off x="5357818" y="1643050"/>
            <a:ext cx="3529012" cy="4832092"/>
          </a:xfrm>
          <a:prstGeom prst="rect">
            <a:avLst/>
          </a:prstGeom>
          <a:noFill/>
          <a:ln w="9525" algn="ctr">
            <a:noFill/>
            <a:miter lim="800000"/>
            <a:headEnd/>
            <a:tailEnd/>
          </a:ln>
        </p:spPr>
        <p:txBody>
          <a:bodyPr>
            <a:spAutoFit/>
          </a:bodyPr>
          <a:lstStyle/>
          <a:p>
            <a:pPr indent="352425">
              <a:lnSpc>
                <a:spcPct val="120000"/>
              </a:lnSpc>
              <a:spcBef>
                <a:spcPct val="20000"/>
              </a:spcBef>
              <a:buClr>
                <a:schemeClr val="folHlink"/>
              </a:buClr>
              <a:buFont typeface="Wingdings" pitchFamily="2" charset="2"/>
              <a:buNone/>
            </a:pPr>
            <a:r>
              <a:rPr kumimoji="0" lang="zh-CN" altLang="en-US" b="1" dirty="0" smtClean="0">
                <a:solidFill>
                  <a:schemeClr val="tx1"/>
                </a:solidFill>
                <a:latin typeface="宋体" pitchFamily="2" charset="-122"/>
                <a:ea typeface="宋体" pitchFamily="2" charset="-122"/>
              </a:rPr>
              <a:t>由于</a:t>
            </a:r>
            <a:r>
              <a:rPr kumimoji="0" lang="zh-CN" altLang="en-US" b="1" dirty="0">
                <a:solidFill>
                  <a:schemeClr val="tx1"/>
                </a:solidFill>
                <a:latin typeface="宋体" pitchFamily="2" charset="-122"/>
                <a:ea typeface="宋体" pitchFamily="2" charset="-122"/>
              </a:rPr>
              <a:t>压电晶体的各向异性，并不是所有的压电晶体都能</a:t>
            </a:r>
            <a:r>
              <a:rPr kumimoji="0" lang="zh-CN" altLang="en-US" b="1" dirty="0" smtClean="0">
                <a:solidFill>
                  <a:schemeClr val="tx1"/>
                </a:solidFill>
                <a:latin typeface="宋体" pitchFamily="2" charset="-122"/>
                <a:ea typeface="宋体" pitchFamily="2" charset="-122"/>
              </a:rPr>
              <a:t>在各种</a:t>
            </a:r>
            <a:r>
              <a:rPr kumimoji="0" lang="zh-CN" altLang="en-US" b="1" dirty="0">
                <a:solidFill>
                  <a:schemeClr val="tx1"/>
                </a:solidFill>
                <a:latin typeface="宋体" pitchFamily="2" charset="-122"/>
                <a:ea typeface="宋体" pitchFamily="2" charset="-122"/>
              </a:rPr>
              <a:t>变形状态下产生压电效应</a:t>
            </a:r>
            <a:r>
              <a:rPr kumimoji="0" lang="zh-CN" altLang="en-US" b="1" dirty="0" smtClean="0">
                <a:solidFill>
                  <a:schemeClr val="tx1"/>
                </a:solidFill>
                <a:latin typeface="宋体" pitchFamily="2" charset="-122"/>
                <a:ea typeface="宋体" pitchFamily="2" charset="-122"/>
              </a:rPr>
              <a:t>。</a:t>
            </a:r>
            <a:endParaRPr kumimoji="0" lang="en-US" altLang="zh-CN" b="1" dirty="0" smtClean="0">
              <a:solidFill>
                <a:schemeClr val="tx1"/>
              </a:solidFill>
              <a:latin typeface="宋体" pitchFamily="2" charset="-122"/>
              <a:ea typeface="宋体" pitchFamily="2" charset="-122"/>
            </a:endParaRPr>
          </a:p>
          <a:p>
            <a:pPr indent="352425">
              <a:lnSpc>
                <a:spcPct val="120000"/>
              </a:lnSpc>
              <a:spcBef>
                <a:spcPct val="20000"/>
              </a:spcBef>
              <a:buClr>
                <a:schemeClr val="folHlink"/>
              </a:buClr>
              <a:buFont typeface="Wingdings" pitchFamily="2" charset="2"/>
              <a:buNone/>
            </a:pPr>
            <a:r>
              <a:rPr kumimoji="0" lang="zh-CN" altLang="en-US" b="1" dirty="0" smtClean="0">
                <a:solidFill>
                  <a:schemeClr val="tx1"/>
                </a:solidFill>
                <a:latin typeface="宋体" pitchFamily="2" charset="-122"/>
                <a:ea typeface="宋体" pitchFamily="2" charset="-122"/>
              </a:rPr>
              <a:t>石英晶体没有</a:t>
            </a:r>
            <a:r>
              <a:rPr kumimoji="0" lang="zh-CN" altLang="en-US" b="1" dirty="0">
                <a:solidFill>
                  <a:schemeClr val="tx1"/>
                </a:solidFill>
                <a:latin typeface="宋体" pitchFamily="2" charset="-122"/>
                <a:ea typeface="宋体" pitchFamily="2" charset="-122"/>
              </a:rPr>
              <a:t>体积变形压电效应。但它具有良好的厚度变形和长度变形压电效应</a:t>
            </a:r>
            <a:r>
              <a:rPr kumimoji="0" lang="zh-CN" altLang="en-US" b="1" dirty="0">
                <a:solidFill>
                  <a:schemeClr val="tx1"/>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childTnLst>
                          </p:cTn>
                        </p:par>
                        <p:par>
                          <p:cTn id="18" fill="hold">
                            <p:stCondLst>
                              <p:cond delay="500"/>
                            </p:stCondLst>
                            <p:childTnLst>
                              <p:par>
                                <p:cTn id="19" presetID="3" presetClass="entr" presetSubtype="10" fill="hold" grpId="0" nodeType="afterEffect">
                                  <p:stCondLst>
                                    <p:cond delay="0"/>
                                  </p:stCondLst>
                                  <p:childTnLst>
                                    <p:set>
                                      <p:cBhvr>
                                        <p:cTn id="20" dur="1" fill="hold">
                                          <p:stCondLst>
                                            <p:cond delay="0"/>
                                          </p:stCondLst>
                                        </p:cTn>
                                        <p:tgtEl>
                                          <p:spTgt spid="16">
                                            <p:txEl>
                                              <p:pRg st="0" end="0"/>
                                            </p:txEl>
                                          </p:spTgt>
                                        </p:tgtEl>
                                        <p:attrNameLst>
                                          <p:attrName>style.visibility</p:attrName>
                                        </p:attrNameLst>
                                      </p:cBhvr>
                                      <p:to>
                                        <p:strVal val="visible"/>
                                      </p:to>
                                    </p:set>
                                    <p:animEffect transition="in" filter="blinds(horizontal)">
                                      <p:cBhvr>
                                        <p:cTn id="21" dur="500"/>
                                        <p:tgtEl>
                                          <p:spTgt spid="16">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6">
                                            <p:txEl>
                                              <p:pRg st="1" end="1"/>
                                            </p:txEl>
                                          </p:spTgt>
                                        </p:tgtEl>
                                        <p:attrNameLst>
                                          <p:attrName>style.visibility</p:attrName>
                                        </p:attrNameLst>
                                      </p:cBhvr>
                                      <p:to>
                                        <p:strVal val="visible"/>
                                      </p:to>
                                    </p:set>
                                    <p:animEffect transition="in" filter="blinds(horizontal)">
                                      <p:cBhvr>
                                        <p:cTn id="26" dur="500"/>
                                        <p:tgtEl>
                                          <p:spTgt spid="1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6"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7.1 </a:t>
            </a:r>
            <a:r>
              <a:rPr lang="zh-CN" altLang="en-US" b="1" dirty="0" smtClean="0">
                <a:solidFill>
                  <a:schemeClr val="tx2"/>
                </a:solidFill>
                <a:latin typeface="黑体" pitchFamily="49" charset="-122"/>
                <a:ea typeface="黑体" pitchFamily="49" charset="-122"/>
              </a:rPr>
              <a:t>压电效应</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2" name="Text Box 4"/>
          <p:cNvSpPr txBox="1">
            <a:spLocks noChangeArrowheads="1"/>
          </p:cNvSpPr>
          <p:nvPr/>
        </p:nvSpPr>
        <p:spPr bwMode="auto">
          <a:xfrm>
            <a:off x="785786" y="5143512"/>
            <a:ext cx="2305050" cy="604837"/>
          </a:xfrm>
          <a:prstGeom prst="rect">
            <a:avLst/>
          </a:prstGeom>
          <a:noFill/>
          <a:ln w="9525" algn="ctr">
            <a:noFill/>
            <a:miter lim="800000"/>
            <a:headEnd/>
            <a:tailEnd/>
          </a:ln>
        </p:spPr>
        <p:txBody>
          <a:bodyPr>
            <a:spAutoFit/>
          </a:bodyPr>
          <a:lstStyle/>
          <a:p>
            <a:pPr indent="352425">
              <a:lnSpc>
                <a:spcPct val="120000"/>
              </a:lnSpc>
              <a:spcBef>
                <a:spcPct val="20000"/>
              </a:spcBef>
              <a:buClr>
                <a:schemeClr val="folHlink"/>
              </a:buClr>
              <a:buFont typeface="Wingdings" pitchFamily="2" charset="2"/>
              <a:buNone/>
            </a:pPr>
            <a:r>
              <a:rPr kumimoji="0" lang="en-US" altLang="zh-CN" b="1" i="1" dirty="0">
                <a:solidFill>
                  <a:srgbClr val="CC3300"/>
                </a:solidFill>
                <a:latin typeface="Times New Roman" pitchFamily="18" charset="0"/>
                <a:ea typeface="宋体" pitchFamily="2" charset="-122"/>
              </a:rPr>
              <a:t>p</a:t>
            </a:r>
            <a:r>
              <a:rPr kumimoji="0" lang="en-US" altLang="zh-CN" b="1" i="1" baseline="-25000" dirty="0">
                <a:solidFill>
                  <a:srgbClr val="CC3300"/>
                </a:solidFill>
                <a:latin typeface="Times New Roman" pitchFamily="18" charset="0"/>
                <a:ea typeface="宋体" pitchFamily="2" charset="-122"/>
              </a:rPr>
              <a:t>1</a:t>
            </a:r>
            <a:r>
              <a:rPr kumimoji="0" lang="en-US" altLang="zh-CN" b="1" i="1" dirty="0">
                <a:solidFill>
                  <a:srgbClr val="CC3300"/>
                </a:solidFill>
                <a:latin typeface="Times New Roman" pitchFamily="18" charset="0"/>
                <a:ea typeface="宋体" pitchFamily="2" charset="-122"/>
              </a:rPr>
              <a:t>+p</a:t>
            </a:r>
            <a:r>
              <a:rPr kumimoji="0" lang="en-US" altLang="zh-CN" b="1" i="1" baseline="-25000" dirty="0">
                <a:solidFill>
                  <a:srgbClr val="CC3300"/>
                </a:solidFill>
                <a:latin typeface="Times New Roman" pitchFamily="18" charset="0"/>
                <a:ea typeface="宋体" pitchFamily="2" charset="-122"/>
              </a:rPr>
              <a:t>2</a:t>
            </a:r>
            <a:r>
              <a:rPr kumimoji="0" lang="en-US" altLang="zh-CN" b="1" i="1" dirty="0">
                <a:solidFill>
                  <a:srgbClr val="CC3300"/>
                </a:solidFill>
                <a:latin typeface="Times New Roman" pitchFamily="18" charset="0"/>
                <a:ea typeface="宋体" pitchFamily="2" charset="-122"/>
              </a:rPr>
              <a:t>+p</a:t>
            </a:r>
            <a:r>
              <a:rPr kumimoji="0" lang="en-US" altLang="zh-CN" b="1" i="1" baseline="-25000" dirty="0">
                <a:solidFill>
                  <a:srgbClr val="CC3300"/>
                </a:solidFill>
                <a:latin typeface="Times New Roman" pitchFamily="18" charset="0"/>
                <a:ea typeface="宋体" pitchFamily="2" charset="-122"/>
              </a:rPr>
              <a:t>3</a:t>
            </a:r>
            <a:r>
              <a:rPr kumimoji="0" lang="en-US" altLang="zh-CN" b="1" i="1" dirty="0">
                <a:solidFill>
                  <a:srgbClr val="CC3300"/>
                </a:solidFill>
                <a:latin typeface="Times New Roman" pitchFamily="18" charset="0"/>
                <a:ea typeface="宋体" pitchFamily="2" charset="-122"/>
              </a:rPr>
              <a:t>=0</a:t>
            </a:r>
            <a:endParaRPr kumimoji="0" lang="en-US" altLang="zh-CN" b="1" i="1" dirty="0">
              <a:solidFill>
                <a:srgbClr val="CC3300"/>
              </a:solidFill>
              <a:latin typeface="Times New Roman" pitchFamily="18" charset="0"/>
            </a:endParaRPr>
          </a:p>
        </p:txBody>
      </p:sp>
      <p:graphicFrame>
        <p:nvGraphicFramePr>
          <p:cNvPr id="13" name="Object 6"/>
          <p:cNvGraphicFramePr>
            <a:graphicFrameLocks noGrp="1" noChangeAspect="1"/>
          </p:cNvGraphicFramePr>
          <p:nvPr>
            <p:ph idx="1"/>
          </p:nvPr>
        </p:nvGraphicFramePr>
        <p:xfrm>
          <a:off x="914400" y="2060575"/>
          <a:ext cx="8229600" cy="3086100"/>
        </p:xfrm>
        <a:graphic>
          <a:graphicData uri="http://schemas.openxmlformats.org/presentationml/2006/ole">
            <p:oleObj spid="_x0000_s73730" name="Image" r:id="rId3" imgW="27771429" imgH="10413061" progId="">
              <p:embed/>
            </p:oleObj>
          </a:graphicData>
        </a:graphic>
      </p:graphicFrame>
      <p:sp>
        <p:nvSpPr>
          <p:cNvPr id="14" name="TextBox 13"/>
          <p:cNvSpPr txBox="1"/>
          <p:nvPr/>
        </p:nvSpPr>
        <p:spPr>
          <a:xfrm>
            <a:off x="1214414" y="1500174"/>
            <a:ext cx="7000924" cy="523220"/>
          </a:xfrm>
          <a:prstGeom prst="rect">
            <a:avLst/>
          </a:prstGeom>
          <a:noFill/>
        </p:spPr>
        <p:txBody>
          <a:bodyPr wrap="square" rtlCol="0">
            <a:spAutoFit/>
          </a:bodyPr>
          <a:lstStyle/>
          <a:p>
            <a:r>
              <a:rPr lang="en-US" altLang="zh-CN" b="1" dirty="0" smtClean="0">
                <a:solidFill>
                  <a:schemeClr val="tx1"/>
                </a:solidFill>
                <a:latin typeface="Times New Roman" pitchFamily="18" charset="0"/>
                <a:cs typeface="Times New Roman" pitchFamily="18" charset="0"/>
              </a:rPr>
              <a:t>SiO</a:t>
            </a:r>
            <a:r>
              <a:rPr lang="en-US" altLang="zh-CN" b="1" baseline="-25000" dirty="0" smtClean="0">
                <a:solidFill>
                  <a:schemeClr val="tx1"/>
                </a:solidFill>
                <a:latin typeface="Times New Roman" pitchFamily="18" charset="0"/>
                <a:cs typeface="Times New Roman" pitchFamily="18" charset="0"/>
              </a:rPr>
              <a:t>2</a:t>
            </a:r>
            <a:r>
              <a:rPr lang="zh-CN" altLang="en-US" b="1" dirty="0" smtClean="0">
                <a:solidFill>
                  <a:schemeClr val="tx1"/>
                </a:solidFill>
                <a:latin typeface="Times New Roman" pitchFamily="18" charset="0"/>
                <a:cs typeface="Times New Roman" pitchFamily="18" charset="0"/>
              </a:rPr>
              <a:t>，</a:t>
            </a:r>
            <a:r>
              <a:rPr lang="zh-CN" altLang="en-US" b="1" dirty="0" smtClean="0">
                <a:solidFill>
                  <a:schemeClr val="tx1"/>
                </a:solidFill>
                <a:latin typeface="+mn-ea"/>
                <a:ea typeface="+mn-ea"/>
                <a:cs typeface="Times New Roman" pitchFamily="18" charset="0"/>
              </a:rPr>
              <a:t>三个硅离子，六个氧离子；</a:t>
            </a:r>
            <a:endParaRPr lang="zh-CN" altLang="en-US" b="1" dirty="0">
              <a:solidFill>
                <a:schemeClr val="tx1"/>
              </a:solidFill>
              <a:latin typeface="+mn-ea"/>
              <a:ea typeface="+mn-ea"/>
              <a:cs typeface="Times New Roman" pitchFamily="18" charset="0"/>
            </a:endParaRPr>
          </a:p>
        </p:txBody>
      </p:sp>
      <p:sp>
        <p:nvSpPr>
          <p:cNvPr id="15" name="矩形 14"/>
          <p:cNvSpPr/>
          <p:nvPr/>
        </p:nvSpPr>
        <p:spPr bwMode="auto">
          <a:xfrm>
            <a:off x="1571604" y="4714884"/>
            <a:ext cx="6072230" cy="428628"/>
          </a:xfrm>
          <a:prstGeom prst="rect">
            <a:avLst/>
          </a:prstGeom>
          <a:solidFill>
            <a:srgbClr val="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838200" marR="0" indent="-8382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smtClean="0">
                <a:ln>
                  <a:noFill/>
                </a:ln>
                <a:solidFill>
                  <a:schemeClr val="tx1"/>
                </a:solidFill>
                <a:effectLst/>
                <a:latin typeface="Times New Roman" pitchFamily="18" charset="0"/>
                <a:ea typeface="华文楷体" pitchFamily="2" charset="-122"/>
                <a:cs typeface="Times New Roman" pitchFamily="18" charset="0"/>
              </a:rPr>
              <a:t>Z</a:t>
            </a:r>
            <a:r>
              <a:rPr kumimoji="1" lang="zh-CN" altLang="en-US" sz="2400" b="1" i="0" u="none" strike="noStrike" cap="none" normalizeH="0" baseline="0" dirty="0" smtClean="0">
                <a:ln>
                  <a:noFill/>
                </a:ln>
                <a:solidFill>
                  <a:schemeClr val="tx1"/>
                </a:solidFill>
                <a:effectLst/>
                <a:latin typeface="Times New Roman" pitchFamily="18" charset="0"/>
                <a:ea typeface="华文楷体" pitchFamily="2" charset="-122"/>
                <a:cs typeface="Times New Roman" pitchFamily="18" charset="0"/>
              </a:rPr>
              <a:t>平面投影</a:t>
            </a:r>
          </a:p>
        </p:txBody>
      </p:sp>
      <p:sp>
        <p:nvSpPr>
          <p:cNvPr id="17" name="圆角矩形标注 16"/>
          <p:cNvSpPr/>
          <p:nvPr/>
        </p:nvSpPr>
        <p:spPr bwMode="auto">
          <a:xfrm>
            <a:off x="0" y="4572008"/>
            <a:ext cx="1571604" cy="571504"/>
          </a:xfrm>
          <a:prstGeom prst="wedgeRoundRectCallout">
            <a:avLst>
              <a:gd name="adj1" fmla="val 63324"/>
              <a:gd name="adj2" fmla="val -189366"/>
              <a:gd name="adj3" fmla="val 16667"/>
            </a:avLst>
          </a:prstGeom>
          <a:solidFill>
            <a:srgbClr val="92D050"/>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838200" marR="0" indent="-83820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smtClean="0">
                <a:ln>
                  <a:noFill/>
                </a:ln>
                <a:solidFill>
                  <a:schemeClr val="tx1"/>
                </a:solidFill>
                <a:effectLst/>
                <a:latin typeface="+mn-ea"/>
                <a:ea typeface="+mn-ea"/>
              </a:rPr>
              <a:t>电偶极距</a:t>
            </a:r>
          </a:p>
        </p:txBody>
      </p:sp>
      <p:sp>
        <p:nvSpPr>
          <p:cNvPr id="18" name="圆角矩形标注 17"/>
          <p:cNvSpPr/>
          <p:nvPr/>
        </p:nvSpPr>
        <p:spPr bwMode="auto">
          <a:xfrm>
            <a:off x="5214942" y="2071678"/>
            <a:ext cx="3071834" cy="571504"/>
          </a:xfrm>
          <a:prstGeom prst="wedgeRoundRectCallout">
            <a:avLst>
              <a:gd name="adj1" fmla="val -73676"/>
              <a:gd name="adj2" fmla="val 133489"/>
              <a:gd name="adj3" fmla="val 16667"/>
            </a:avLst>
          </a:prstGeom>
          <a:solidFill>
            <a:srgbClr val="92D050"/>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838200" marR="0" indent="-83820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dirty="0" smtClean="0">
                <a:ln>
                  <a:noFill/>
                </a:ln>
                <a:solidFill>
                  <a:schemeClr val="tx1"/>
                </a:solidFill>
                <a:effectLst/>
                <a:latin typeface="+mn-ea"/>
                <a:ea typeface="+mn-ea"/>
              </a:rPr>
              <a:t>键长不变，键角改变</a:t>
            </a:r>
          </a:p>
        </p:txBody>
      </p:sp>
      <p:grpSp>
        <p:nvGrpSpPr>
          <p:cNvPr id="19" name="组合 15"/>
          <p:cNvGrpSpPr/>
          <p:nvPr/>
        </p:nvGrpSpPr>
        <p:grpSpPr>
          <a:xfrm>
            <a:off x="3071802" y="5143512"/>
            <a:ext cx="2491596" cy="1166162"/>
            <a:chOff x="3071802" y="5143512"/>
            <a:chExt cx="2491596" cy="1166162"/>
          </a:xfrm>
        </p:grpSpPr>
        <p:sp>
          <p:nvSpPr>
            <p:cNvPr id="20" name="Text Box 8"/>
            <p:cNvSpPr txBox="1">
              <a:spLocks noChangeArrowheads="1"/>
            </p:cNvSpPr>
            <p:nvPr/>
          </p:nvSpPr>
          <p:spPr bwMode="auto">
            <a:xfrm>
              <a:off x="3071802" y="5143512"/>
              <a:ext cx="2305050" cy="604837"/>
            </a:xfrm>
            <a:prstGeom prst="rect">
              <a:avLst/>
            </a:prstGeom>
            <a:noFill/>
            <a:ln w="9525" algn="ctr">
              <a:noFill/>
              <a:miter lim="800000"/>
              <a:headEnd/>
              <a:tailEnd/>
            </a:ln>
          </p:spPr>
          <p:txBody>
            <a:bodyPr>
              <a:spAutoFit/>
            </a:bodyPr>
            <a:lstStyle/>
            <a:p>
              <a:pPr indent="352425">
                <a:lnSpc>
                  <a:spcPct val="120000"/>
                </a:lnSpc>
                <a:spcBef>
                  <a:spcPct val="20000"/>
                </a:spcBef>
                <a:buClr>
                  <a:schemeClr val="folHlink"/>
                </a:buClr>
                <a:buFont typeface="Wingdings" pitchFamily="2" charset="2"/>
                <a:buNone/>
              </a:pPr>
              <a:r>
                <a:rPr kumimoji="0" lang="en-US" altLang="zh-CN" b="1" i="1" dirty="0">
                  <a:solidFill>
                    <a:srgbClr val="CC3300"/>
                  </a:solidFill>
                  <a:latin typeface="Times New Roman" pitchFamily="18" charset="0"/>
                  <a:ea typeface="宋体" pitchFamily="2" charset="-122"/>
                </a:rPr>
                <a:t>p</a:t>
              </a:r>
              <a:r>
                <a:rPr kumimoji="0" lang="en-US" altLang="zh-CN" b="1" i="1" baseline="-25000" dirty="0">
                  <a:solidFill>
                    <a:srgbClr val="CC3300"/>
                  </a:solidFill>
                  <a:latin typeface="Times New Roman" pitchFamily="18" charset="0"/>
                  <a:ea typeface="宋体" pitchFamily="2" charset="-122"/>
                </a:rPr>
                <a:t>1</a:t>
              </a:r>
              <a:r>
                <a:rPr kumimoji="0" lang="en-US" altLang="zh-CN" b="1" i="1" dirty="0">
                  <a:solidFill>
                    <a:srgbClr val="CC3300"/>
                  </a:solidFill>
                  <a:latin typeface="Times New Roman" pitchFamily="18" charset="0"/>
                  <a:ea typeface="宋体" pitchFamily="2" charset="-122"/>
                </a:rPr>
                <a:t>+p</a:t>
              </a:r>
              <a:r>
                <a:rPr kumimoji="0" lang="en-US" altLang="zh-CN" b="1" i="1" baseline="-25000" dirty="0">
                  <a:solidFill>
                    <a:srgbClr val="CC3300"/>
                  </a:solidFill>
                  <a:latin typeface="Times New Roman" pitchFamily="18" charset="0"/>
                  <a:ea typeface="宋体" pitchFamily="2" charset="-122"/>
                </a:rPr>
                <a:t>2</a:t>
              </a:r>
              <a:r>
                <a:rPr kumimoji="0" lang="en-US" altLang="zh-CN" b="1" i="1" dirty="0">
                  <a:solidFill>
                    <a:srgbClr val="CC3300"/>
                  </a:solidFill>
                  <a:latin typeface="Times New Roman" pitchFamily="18" charset="0"/>
                  <a:ea typeface="宋体" pitchFamily="2" charset="-122"/>
                </a:rPr>
                <a:t>+p</a:t>
              </a:r>
              <a:r>
                <a:rPr kumimoji="0" lang="en-US" altLang="zh-CN" b="1" i="1" baseline="-25000" dirty="0">
                  <a:solidFill>
                    <a:srgbClr val="CC3300"/>
                  </a:solidFill>
                  <a:latin typeface="Times New Roman" pitchFamily="18" charset="0"/>
                  <a:ea typeface="宋体" pitchFamily="2" charset="-122"/>
                </a:rPr>
                <a:t>3</a:t>
              </a:r>
              <a:r>
                <a:rPr kumimoji="0" lang="en-US" altLang="zh-CN" b="1" i="1" dirty="0">
                  <a:solidFill>
                    <a:srgbClr val="CC3300"/>
                  </a:solidFill>
                  <a:latin typeface="Times New Roman" pitchFamily="18" charset="0"/>
                  <a:ea typeface="宋体" pitchFamily="2" charset="-122"/>
                </a:rPr>
                <a:t>&gt;0</a:t>
              </a:r>
              <a:endParaRPr kumimoji="0" lang="en-US" altLang="zh-CN" b="1" i="1" dirty="0">
                <a:solidFill>
                  <a:srgbClr val="CC3300"/>
                </a:solidFill>
                <a:latin typeface="Times New Roman" pitchFamily="18" charset="0"/>
              </a:endParaRPr>
            </a:p>
          </p:txBody>
        </p:sp>
        <p:sp>
          <p:nvSpPr>
            <p:cNvPr id="21" name="矩形 20"/>
            <p:cNvSpPr/>
            <p:nvPr/>
          </p:nvSpPr>
          <p:spPr>
            <a:xfrm>
              <a:off x="3214678" y="5786454"/>
              <a:ext cx="2348720" cy="523220"/>
            </a:xfrm>
            <a:prstGeom prst="rect">
              <a:avLst/>
            </a:prstGeom>
          </p:spPr>
          <p:txBody>
            <a:bodyPr wrap="none">
              <a:spAutoFit/>
            </a:bodyPr>
            <a:lstStyle/>
            <a:p>
              <a:r>
                <a:rPr lang="zh-CN" altLang="en-US" b="1" dirty="0" smtClean="0">
                  <a:solidFill>
                    <a:schemeClr val="tx1"/>
                  </a:solidFill>
                  <a:latin typeface="宋体" pitchFamily="2" charset="-122"/>
                  <a:ea typeface="宋体" pitchFamily="2" charset="-122"/>
                </a:rPr>
                <a:t>纵向压电效应</a:t>
              </a:r>
              <a:endParaRPr lang="zh-CN" altLang="en-US" dirty="0">
                <a:solidFill>
                  <a:schemeClr val="tx1"/>
                </a:solidFill>
              </a:endParaRPr>
            </a:p>
          </p:txBody>
        </p:sp>
      </p:grpSp>
      <p:grpSp>
        <p:nvGrpSpPr>
          <p:cNvPr id="22" name="组合 16"/>
          <p:cNvGrpSpPr/>
          <p:nvPr/>
        </p:nvGrpSpPr>
        <p:grpSpPr>
          <a:xfrm>
            <a:off x="5867400" y="5157788"/>
            <a:ext cx="2553518" cy="1151886"/>
            <a:chOff x="5867400" y="5157788"/>
            <a:chExt cx="2553518" cy="1151886"/>
          </a:xfrm>
        </p:grpSpPr>
        <p:sp>
          <p:nvSpPr>
            <p:cNvPr id="23" name="Text Box 9"/>
            <p:cNvSpPr txBox="1">
              <a:spLocks noChangeArrowheads="1"/>
            </p:cNvSpPr>
            <p:nvPr/>
          </p:nvSpPr>
          <p:spPr bwMode="auto">
            <a:xfrm>
              <a:off x="5867400" y="5157788"/>
              <a:ext cx="2305050" cy="604837"/>
            </a:xfrm>
            <a:prstGeom prst="rect">
              <a:avLst/>
            </a:prstGeom>
            <a:noFill/>
            <a:ln w="9525" algn="ctr">
              <a:noFill/>
              <a:miter lim="800000"/>
              <a:headEnd/>
              <a:tailEnd/>
            </a:ln>
          </p:spPr>
          <p:txBody>
            <a:bodyPr>
              <a:spAutoFit/>
            </a:bodyPr>
            <a:lstStyle/>
            <a:p>
              <a:pPr indent="352425">
                <a:lnSpc>
                  <a:spcPct val="120000"/>
                </a:lnSpc>
                <a:spcBef>
                  <a:spcPct val="20000"/>
                </a:spcBef>
                <a:buClr>
                  <a:schemeClr val="folHlink"/>
                </a:buClr>
                <a:buFont typeface="Wingdings" pitchFamily="2" charset="2"/>
                <a:buNone/>
              </a:pPr>
              <a:r>
                <a:rPr kumimoji="0" lang="en-US" altLang="zh-CN" b="1" i="1" dirty="0">
                  <a:solidFill>
                    <a:srgbClr val="CC3300"/>
                  </a:solidFill>
                  <a:latin typeface="Times New Roman" pitchFamily="18" charset="0"/>
                  <a:ea typeface="宋体" pitchFamily="2" charset="-122"/>
                </a:rPr>
                <a:t>p</a:t>
              </a:r>
              <a:r>
                <a:rPr kumimoji="0" lang="en-US" altLang="zh-CN" b="1" i="1" baseline="-25000" dirty="0">
                  <a:solidFill>
                    <a:srgbClr val="CC3300"/>
                  </a:solidFill>
                  <a:latin typeface="Times New Roman" pitchFamily="18" charset="0"/>
                  <a:ea typeface="宋体" pitchFamily="2" charset="-122"/>
                </a:rPr>
                <a:t>1</a:t>
              </a:r>
              <a:r>
                <a:rPr kumimoji="0" lang="en-US" altLang="zh-CN" b="1" i="1" dirty="0">
                  <a:solidFill>
                    <a:srgbClr val="CC3300"/>
                  </a:solidFill>
                  <a:latin typeface="Times New Roman" pitchFamily="18" charset="0"/>
                  <a:ea typeface="宋体" pitchFamily="2" charset="-122"/>
                </a:rPr>
                <a:t>+p</a:t>
              </a:r>
              <a:r>
                <a:rPr kumimoji="0" lang="en-US" altLang="zh-CN" b="1" i="1" baseline="-25000" dirty="0">
                  <a:solidFill>
                    <a:srgbClr val="CC3300"/>
                  </a:solidFill>
                  <a:latin typeface="Times New Roman" pitchFamily="18" charset="0"/>
                  <a:ea typeface="宋体" pitchFamily="2" charset="-122"/>
                </a:rPr>
                <a:t>2</a:t>
              </a:r>
              <a:r>
                <a:rPr kumimoji="0" lang="en-US" altLang="zh-CN" b="1" i="1" dirty="0">
                  <a:solidFill>
                    <a:srgbClr val="CC3300"/>
                  </a:solidFill>
                  <a:latin typeface="Times New Roman" pitchFamily="18" charset="0"/>
                  <a:ea typeface="宋体" pitchFamily="2" charset="-122"/>
                </a:rPr>
                <a:t>+p</a:t>
              </a:r>
              <a:r>
                <a:rPr kumimoji="0" lang="en-US" altLang="zh-CN" b="1" i="1" baseline="-25000" dirty="0">
                  <a:solidFill>
                    <a:srgbClr val="CC3300"/>
                  </a:solidFill>
                  <a:latin typeface="Times New Roman" pitchFamily="18" charset="0"/>
                  <a:ea typeface="宋体" pitchFamily="2" charset="-122"/>
                </a:rPr>
                <a:t>3</a:t>
              </a:r>
              <a:r>
                <a:rPr kumimoji="0" lang="en-US" altLang="zh-CN" b="1" i="1" dirty="0">
                  <a:solidFill>
                    <a:srgbClr val="CC3300"/>
                  </a:solidFill>
                  <a:latin typeface="Times New Roman" pitchFamily="18" charset="0"/>
                  <a:ea typeface="宋体" pitchFamily="2" charset="-122"/>
                </a:rPr>
                <a:t>&lt;0</a:t>
              </a:r>
              <a:endParaRPr kumimoji="0" lang="en-US" altLang="zh-CN" b="1" i="1" dirty="0">
                <a:solidFill>
                  <a:srgbClr val="CC3300"/>
                </a:solidFill>
                <a:latin typeface="Times New Roman" pitchFamily="18" charset="0"/>
              </a:endParaRPr>
            </a:p>
          </p:txBody>
        </p:sp>
        <p:sp>
          <p:nvSpPr>
            <p:cNvPr id="24" name="矩形 23"/>
            <p:cNvSpPr/>
            <p:nvPr/>
          </p:nvSpPr>
          <p:spPr>
            <a:xfrm>
              <a:off x="6072198" y="5786454"/>
              <a:ext cx="2348720" cy="523220"/>
            </a:xfrm>
            <a:prstGeom prst="rect">
              <a:avLst/>
            </a:prstGeom>
          </p:spPr>
          <p:txBody>
            <a:bodyPr wrap="none">
              <a:spAutoFit/>
            </a:bodyPr>
            <a:lstStyle/>
            <a:p>
              <a:r>
                <a:rPr lang="zh-CN" altLang="en-US" b="1" dirty="0" smtClean="0">
                  <a:solidFill>
                    <a:schemeClr val="tx1"/>
                  </a:solidFill>
                  <a:latin typeface="宋体" pitchFamily="2" charset="-122"/>
                  <a:ea typeface="宋体" pitchFamily="2" charset="-122"/>
                </a:rPr>
                <a:t>横向压电效应</a:t>
              </a:r>
              <a:endParaRPr lang="zh-CN" altLang="en-US" dirty="0">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trips(downRigh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linds(horizontal)">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xit" presetSubtype="10" fill="hold" grpId="1" nodeType="clickEffect">
                                  <p:stCondLst>
                                    <p:cond delay="0"/>
                                  </p:stCondLst>
                                  <p:childTnLst>
                                    <p:animEffect transition="out" filter="blinds(horizontal)">
                                      <p:cBhvr>
                                        <p:cTn id="16" dur="500"/>
                                        <p:tgtEl>
                                          <p:spTgt spid="17"/>
                                        </p:tgtEl>
                                      </p:cBhvr>
                                    </p:animEffect>
                                    <p:set>
                                      <p:cBhvr>
                                        <p:cTn id="17" dur="1" fill="hold">
                                          <p:stCondLst>
                                            <p:cond delay="499"/>
                                          </p:stCondLst>
                                        </p:cTn>
                                        <p:tgtEl>
                                          <p:spTgt spid="1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linds(horizont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blinds(horizontal)">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xit" presetSubtype="10" fill="hold" grpId="1" nodeType="clickEffect">
                                  <p:stCondLst>
                                    <p:cond delay="0"/>
                                  </p:stCondLst>
                                  <p:childTnLst>
                                    <p:animEffect transition="out" filter="blinds(horizontal)">
                                      <p:cBhvr>
                                        <p:cTn id="31" dur="500"/>
                                        <p:tgtEl>
                                          <p:spTgt spid="18"/>
                                        </p:tgtEl>
                                      </p:cBhvr>
                                    </p:animEffect>
                                    <p:set>
                                      <p:cBhvr>
                                        <p:cTn id="32" dur="1" fill="hold">
                                          <p:stCondLst>
                                            <p:cond delay="499"/>
                                          </p:stCondLst>
                                        </p:cTn>
                                        <p:tgtEl>
                                          <p:spTgt spid="18"/>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blinds(horizontal)">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blinds(horizontal)">
                                      <p:cBhvr>
                                        <p:cTn id="4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7" grpId="0" animBg="1"/>
      <p:bldP spid="17" grpId="1" animBg="1"/>
      <p:bldP spid="18" grpId="0" animBg="1"/>
      <p:bldP spid="18"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7.1 </a:t>
            </a:r>
            <a:r>
              <a:rPr lang="zh-CN" altLang="en-US" b="1" dirty="0" smtClean="0">
                <a:solidFill>
                  <a:schemeClr val="tx2"/>
                </a:solidFill>
                <a:latin typeface="黑体" pitchFamily="49" charset="-122"/>
                <a:ea typeface="黑体" pitchFamily="49" charset="-122"/>
              </a:rPr>
              <a:t>压电效应</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graphicFrame>
        <p:nvGraphicFramePr>
          <p:cNvPr id="19" name="Object 6"/>
          <p:cNvGraphicFramePr>
            <a:graphicFrameLocks noGrp="1" noChangeAspect="1"/>
          </p:cNvGraphicFramePr>
          <p:nvPr>
            <p:ph idx="1"/>
          </p:nvPr>
        </p:nvGraphicFramePr>
        <p:xfrm>
          <a:off x="500034" y="1571612"/>
          <a:ext cx="8229600" cy="3086100"/>
        </p:xfrm>
        <a:graphic>
          <a:graphicData uri="http://schemas.openxmlformats.org/presentationml/2006/ole">
            <p:oleObj spid="_x0000_s74755" name="Image" r:id="rId3" imgW="27771429" imgH="10413061" progId="">
              <p:embed/>
            </p:oleObj>
          </a:graphicData>
        </a:graphic>
      </p:graphicFrame>
      <p:sp>
        <p:nvSpPr>
          <p:cNvPr id="22" name="Text Box 10"/>
          <p:cNvSpPr txBox="1">
            <a:spLocks noChangeArrowheads="1"/>
          </p:cNvSpPr>
          <p:nvPr/>
        </p:nvSpPr>
        <p:spPr bwMode="auto">
          <a:xfrm>
            <a:off x="928662" y="4786322"/>
            <a:ext cx="7488238" cy="1169551"/>
          </a:xfrm>
          <a:prstGeom prst="rect">
            <a:avLst/>
          </a:prstGeom>
          <a:noFill/>
          <a:ln w="9525" algn="ctr">
            <a:noFill/>
            <a:miter lim="800000"/>
            <a:headEnd/>
            <a:tailEnd/>
          </a:ln>
        </p:spPr>
        <p:txBody>
          <a:bodyPr wrap="square">
            <a:spAutoFit/>
          </a:bodyPr>
          <a:lstStyle/>
          <a:p>
            <a:pPr marL="838200" indent="-838200">
              <a:spcBef>
                <a:spcPct val="50000"/>
              </a:spcBef>
              <a:buFont typeface="Wingdings" pitchFamily="2" charset="2"/>
              <a:buChar char="l"/>
            </a:pPr>
            <a:r>
              <a:rPr lang="en-US" altLang="zh-CN" b="1" dirty="0" smtClean="0">
                <a:solidFill>
                  <a:schemeClr val="tx1"/>
                </a:solidFill>
                <a:latin typeface="Times New Roman" pitchFamily="18" charset="0"/>
                <a:ea typeface="宋体" pitchFamily="2" charset="-122"/>
                <a:cs typeface="Times New Roman" pitchFamily="18" charset="0"/>
              </a:rPr>
              <a:t>X</a:t>
            </a:r>
            <a:r>
              <a:rPr lang="zh-CN" altLang="en-US" b="1" dirty="0" smtClean="0">
                <a:solidFill>
                  <a:schemeClr val="tx1"/>
                </a:solidFill>
                <a:latin typeface="Times New Roman" pitchFamily="18" charset="0"/>
                <a:ea typeface="宋体" pitchFamily="2" charset="-122"/>
                <a:cs typeface="Times New Roman" pitchFamily="18" charset="0"/>
              </a:rPr>
              <a:t>方向切应力：切</a:t>
            </a:r>
            <a:r>
              <a:rPr lang="zh-CN" altLang="en-US" b="1" dirty="0">
                <a:solidFill>
                  <a:schemeClr val="tx1"/>
                </a:solidFill>
                <a:latin typeface="Times New Roman" pitchFamily="18" charset="0"/>
                <a:ea typeface="宋体" pitchFamily="2" charset="-122"/>
                <a:cs typeface="Times New Roman" pitchFamily="18" charset="0"/>
              </a:rPr>
              <a:t>向</a:t>
            </a:r>
            <a:r>
              <a:rPr lang="zh-CN" altLang="en-US" b="1" dirty="0" smtClean="0">
                <a:solidFill>
                  <a:schemeClr val="tx1"/>
                </a:solidFill>
                <a:latin typeface="Times New Roman" pitchFamily="18" charset="0"/>
                <a:ea typeface="宋体" pitchFamily="2" charset="-122"/>
                <a:cs typeface="Times New Roman" pitchFamily="18" charset="0"/>
              </a:rPr>
              <a:t>压电效应；</a:t>
            </a:r>
            <a:endParaRPr lang="en-US" altLang="zh-CN" b="1" dirty="0" smtClean="0">
              <a:solidFill>
                <a:schemeClr val="tx1"/>
              </a:solidFill>
              <a:latin typeface="Times New Roman" pitchFamily="18" charset="0"/>
              <a:ea typeface="宋体" pitchFamily="2" charset="-122"/>
              <a:cs typeface="Times New Roman" pitchFamily="18" charset="0"/>
            </a:endParaRPr>
          </a:p>
          <a:p>
            <a:pPr marL="838200" indent="-838200">
              <a:spcBef>
                <a:spcPct val="50000"/>
              </a:spcBef>
              <a:buFont typeface="Wingdings" pitchFamily="2" charset="2"/>
              <a:buChar char="l"/>
            </a:pPr>
            <a:r>
              <a:rPr lang="en-US" altLang="zh-CN" b="1" dirty="0" smtClean="0">
                <a:solidFill>
                  <a:schemeClr val="tx1"/>
                </a:solidFill>
                <a:latin typeface="Times New Roman" pitchFamily="18" charset="0"/>
                <a:ea typeface="宋体" pitchFamily="2" charset="-122"/>
                <a:cs typeface="Times New Roman" pitchFamily="18" charset="0"/>
              </a:rPr>
              <a:t>Z</a:t>
            </a:r>
            <a:r>
              <a:rPr lang="zh-CN" altLang="en-US" b="1" dirty="0" smtClean="0">
                <a:solidFill>
                  <a:schemeClr val="tx1"/>
                </a:solidFill>
                <a:latin typeface="Times New Roman" pitchFamily="18" charset="0"/>
                <a:ea typeface="宋体" pitchFamily="2" charset="-122"/>
                <a:cs typeface="Times New Roman" pitchFamily="18" charset="0"/>
              </a:rPr>
              <a:t>方向应力：无压电效应；</a:t>
            </a:r>
            <a:endParaRPr lang="zh-CN" altLang="en-US" b="1" dirty="0">
              <a:solidFill>
                <a:schemeClr val="tx1"/>
              </a:solidFill>
              <a:latin typeface="宋体" pitchFamily="2" charset="-122"/>
              <a:ea typeface="宋体" pitchFamily="2" charset="-122"/>
            </a:endParaRPr>
          </a:p>
        </p:txBody>
      </p:sp>
      <p:sp>
        <p:nvSpPr>
          <p:cNvPr id="25" name="矩形 24"/>
          <p:cNvSpPr/>
          <p:nvPr/>
        </p:nvSpPr>
        <p:spPr bwMode="auto">
          <a:xfrm>
            <a:off x="714348" y="4214818"/>
            <a:ext cx="6072230" cy="428628"/>
          </a:xfrm>
          <a:prstGeom prst="rect">
            <a:avLst/>
          </a:prstGeom>
          <a:solidFill>
            <a:srgbClr val="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838200" marR="0" indent="-838200" algn="ctr" defTabSz="914400" rtl="0" eaLnBrk="1" fontAlgn="base" latinLnBrk="0" hangingPunct="1">
              <a:lnSpc>
                <a:spcPct val="100000"/>
              </a:lnSpc>
              <a:spcBef>
                <a:spcPct val="0"/>
              </a:spcBef>
              <a:spcAft>
                <a:spcPct val="0"/>
              </a:spcAft>
              <a:buClrTx/>
              <a:buSzTx/>
              <a:buFontTx/>
              <a:buNone/>
              <a:tabLst/>
            </a:pPr>
            <a:r>
              <a:rPr kumimoji="1" lang="en-US" altLang="zh-CN" sz="2400" b="1" i="0" u="none" strike="noStrike" cap="none" normalizeH="0" baseline="0" dirty="0" smtClean="0">
                <a:ln>
                  <a:noFill/>
                </a:ln>
                <a:solidFill>
                  <a:schemeClr val="tx1"/>
                </a:solidFill>
                <a:effectLst/>
                <a:latin typeface="Times New Roman" pitchFamily="18" charset="0"/>
                <a:ea typeface="华文楷体" pitchFamily="2" charset="-122"/>
                <a:cs typeface="Times New Roman" pitchFamily="18" charset="0"/>
              </a:rPr>
              <a:t>Z</a:t>
            </a:r>
            <a:r>
              <a:rPr kumimoji="1" lang="zh-CN" altLang="en-US" sz="2400" b="1" i="0" u="none" strike="noStrike" cap="none" normalizeH="0" baseline="0" dirty="0" smtClean="0">
                <a:ln>
                  <a:noFill/>
                </a:ln>
                <a:solidFill>
                  <a:schemeClr val="tx1"/>
                </a:solidFill>
                <a:effectLst/>
                <a:latin typeface="Times New Roman" pitchFamily="18" charset="0"/>
                <a:ea typeface="华文楷体" pitchFamily="2" charset="-122"/>
                <a:cs typeface="Times New Roman" pitchFamily="18" charset="0"/>
              </a:rPr>
              <a:t>平面投影</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strips(downRight)">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7.1 </a:t>
            </a:r>
            <a:r>
              <a:rPr lang="zh-CN" altLang="en-US" b="1" dirty="0" smtClean="0">
                <a:solidFill>
                  <a:schemeClr val="tx2"/>
                </a:solidFill>
                <a:latin typeface="黑体" pitchFamily="49" charset="-122"/>
                <a:ea typeface="黑体" pitchFamily="49" charset="-122"/>
              </a:rPr>
              <a:t>压电效应</a:t>
            </a:r>
          </a:p>
        </p:txBody>
      </p:sp>
      <p:sp>
        <p:nvSpPr>
          <p:cNvPr id="14340" name="Text Box 4"/>
          <p:cNvSpPr txBox="1">
            <a:spLocks noChangeArrowheads="1"/>
          </p:cNvSpPr>
          <p:nvPr/>
        </p:nvSpPr>
        <p:spPr bwMode="auto">
          <a:xfrm>
            <a:off x="214282" y="1643050"/>
            <a:ext cx="8643998" cy="540725"/>
          </a:xfrm>
          <a:prstGeom prst="rect">
            <a:avLst/>
          </a:prstGeom>
          <a:noFill/>
          <a:ln w="9525" algn="ctr">
            <a:noFill/>
            <a:miter lim="800000"/>
            <a:headEnd/>
            <a:tailEnd/>
          </a:ln>
        </p:spPr>
        <p:txBody>
          <a:bodyPr wrap="square">
            <a:spAutoFit/>
          </a:bodyPr>
          <a:lstStyle/>
          <a:p>
            <a:pPr indent="352425">
              <a:lnSpc>
                <a:spcPct val="120000"/>
              </a:lnSpc>
              <a:buClr>
                <a:schemeClr val="folHlink"/>
              </a:buClr>
              <a:buFont typeface="Wingdings" pitchFamily="2" charset="2"/>
              <a:buNone/>
            </a:pPr>
            <a:r>
              <a:rPr lang="zh-CN" altLang="en-US" b="1" dirty="0" smtClean="0">
                <a:solidFill>
                  <a:srgbClr val="F84D08"/>
                </a:solidFill>
                <a:latin typeface="黑体" pitchFamily="49" charset="-122"/>
                <a:ea typeface="黑体" pitchFamily="49" charset="-122"/>
                <a:cs typeface="+mj-cs"/>
              </a:rPr>
              <a:t>压电陶瓷的压电效应</a:t>
            </a:r>
            <a:endParaRPr kumimoji="0" lang="zh-CN" altLang="en-US" b="1" dirty="0">
              <a:solidFill>
                <a:schemeClr val="tx1"/>
              </a:solidFill>
              <a:latin typeface="宋体" pitchFamily="2" charset="-122"/>
              <a:ea typeface="宋体" pitchFamily="2" charset="-122"/>
            </a:endParaRP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2" name="Text Box 10"/>
          <p:cNvSpPr txBox="1">
            <a:spLocks noChangeArrowheads="1"/>
          </p:cNvSpPr>
          <p:nvPr/>
        </p:nvSpPr>
        <p:spPr bwMode="auto">
          <a:xfrm>
            <a:off x="214282" y="2214554"/>
            <a:ext cx="8643998" cy="3970318"/>
          </a:xfrm>
          <a:prstGeom prst="rect">
            <a:avLst/>
          </a:prstGeom>
          <a:noFill/>
          <a:ln w="9525" algn="ctr">
            <a:noFill/>
            <a:miter lim="800000"/>
            <a:headEnd/>
            <a:tailEnd/>
          </a:ln>
        </p:spPr>
        <p:txBody>
          <a:bodyPr wrap="square">
            <a:spAutoFit/>
          </a:bodyPr>
          <a:lstStyle/>
          <a:p>
            <a:pPr indent="546100"/>
            <a:r>
              <a:rPr lang="zh-CN" altLang="en-US" b="1" dirty="0">
                <a:solidFill>
                  <a:schemeClr val="tx1"/>
                </a:solidFill>
                <a:latin typeface="宋体" pitchFamily="2" charset="-122"/>
                <a:ea typeface="宋体" pitchFamily="2" charset="-122"/>
              </a:rPr>
              <a:t>压电陶瓷是一种多晶铁电体。原始的压电陶瓷</a:t>
            </a:r>
            <a:r>
              <a:rPr lang="zh-CN" altLang="en-US" b="1" dirty="0" smtClean="0">
                <a:solidFill>
                  <a:schemeClr val="tx1"/>
                </a:solidFill>
                <a:latin typeface="宋体" pitchFamily="2" charset="-122"/>
                <a:ea typeface="宋体" pitchFamily="2" charset="-122"/>
              </a:rPr>
              <a:t>材料不</a:t>
            </a:r>
            <a:r>
              <a:rPr lang="zh-CN" altLang="en-US" b="1" dirty="0">
                <a:solidFill>
                  <a:schemeClr val="tx1"/>
                </a:solidFill>
                <a:latin typeface="宋体" pitchFamily="2" charset="-122"/>
                <a:ea typeface="宋体" pitchFamily="2" charset="-122"/>
              </a:rPr>
              <a:t>具有压电性</a:t>
            </a:r>
            <a:r>
              <a:rPr lang="zh-CN" altLang="en-US" b="1" dirty="0" smtClean="0">
                <a:solidFill>
                  <a:schemeClr val="tx1"/>
                </a:solidFill>
                <a:latin typeface="宋体" pitchFamily="2" charset="-122"/>
                <a:ea typeface="宋体" pitchFamily="2" charset="-122"/>
              </a:rPr>
              <a:t>。</a:t>
            </a:r>
            <a:endParaRPr lang="en-US" altLang="zh-CN" b="1" dirty="0" smtClean="0">
              <a:solidFill>
                <a:schemeClr val="tx1"/>
              </a:solidFill>
              <a:latin typeface="宋体" pitchFamily="2" charset="-122"/>
              <a:ea typeface="宋体" pitchFamily="2" charset="-122"/>
            </a:endParaRPr>
          </a:p>
          <a:p>
            <a:pPr indent="546100"/>
            <a:endParaRPr lang="en-US" altLang="zh-CN" b="1" dirty="0" smtClean="0">
              <a:solidFill>
                <a:schemeClr val="tx1"/>
              </a:solidFill>
              <a:latin typeface="宋体" pitchFamily="2" charset="-122"/>
              <a:ea typeface="宋体" pitchFamily="2" charset="-122"/>
            </a:endParaRPr>
          </a:p>
          <a:p>
            <a:pPr indent="546100"/>
            <a:endParaRPr lang="en-US" altLang="zh-CN" b="1" dirty="0" smtClean="0">
              <a:solidFill>
                <a:schemeClr val="tx1"/>
              </a:solidFill>
              <a:latin typeface="宋体" pitchFamily="2" charset="-122"/>
              <a:ea typeface="宋体" pitchFamily="2" charset="-122"/>
            </a:endParaRPr>
          </a:p>
          <a:p>
            <a:pPr indent="546100"/>
            <a:endParaRPr lang="en-US" altLang="zh-CN" b="1" dirty="0" smtClean="0">
              <a:solidFill>
                <a:schemeClr val="tx1"/>
              </a:solidFill>
              <a:latin typeface="宋体" pitchFamily="2" charset="-122"/>
              <a:ea typeface="宋体" pitchFamily="2" charset="-122"/>
            </a:endParaRPr>
          </a:p>
          <a:p>
            <a:pPr indent="546100"/>
            <a:endParaRPr lang="en-US" altLang="zh-CN" b="1" dirty="0" smtClean="0">
              <a:solidFill>
                <a:schemeClr val="tx1"/>
              </a:solidFill>
              <a:latin typeface="宋体" pitchFamily="2" charset="-122"/>
              <a:ea typeface="宋体" pitchFamily="2" charset="-122"/>
            </a:endParaRPr>
          </a:p>
          <a:p>
            <a:pPr indent="546100"/>
            <a:endParaRPr lang="en-US" altLang="zh-CN" b="1" dirty="0" smtClean="0">
              <a:solidFill>
                <a:schemeClr val="tx1"/>
              </a:solidFill>
              <a:latin typeface="宋体" pitchFamily="2" charset="-122"/>
              <a:ea typeface="宋体" pitchFamily="2" charset="-122"/>
            </a:endParaRPr>
          </a:p>
          <a:p>
            <a:pPr indent="546100"/>
            <a:r>
              <a:rPr lang="zh-CN" altLang="en-US" b="1" dirty="0" smtClean="0">
                <a:solidFill>
                  <a:schemeClr val="tx1"/>
                </a:solidFill>
                <a:latin typeface="宋体" pitchFamily="2" charset="-122"/>
                <a:ea typeface="宋体" pitchFamily="2" charset="-122"/>
              </a:rPr>
              <a:t>为</a:t>
            </a:r>
            <a:r>
              <a:rPr lang="zh-CN" altLang="en-US" b="1" dirty="0">
                <a:solidFill>
                  <a:schemeClr val="tx1"/>
                </a:solidFill>
                <a:latin typeface="宋体" pitchFamily="2" charset="-122"/>
                <a:ea typeface="宋体" pitchFamily="2" charset="-122"/>
              </a:rPr>
              <a:t>使其具有压电性，就必须在一定温度下做极化处理</a:t>
            </a:r>
            <a:r>
              <a:rPr lang="zh-CN" altLang="en-US" b="1" dirty="0" smtClean="0">
                <a:solidFill>
                  <a:schemeClr val="tx1"/>
                </a:solidFill>
                <a:latin typeface="宋体" pitchFamily="2" charset="-122"/>
                <a:ea typeface="宋体" pitchFamily="2" charset="-122"/>
              </a:rPr>
              <a:t>。</a:t>
            </a:r>
            <a:endParaRPr lang="en-US" altLang="zh-CN" b="1" dirty="0" smtClean="0">
              <a:solidFill>
                <a:schemeClr val="tx1"/>
              </a:solidFill>
              <a:latin typeface="宋体" pitchFamily="2" charset="-122"/>
              <a:ea typeface="宋体" pitchFamily="2" charset="-122"/>
            </a:endParaRPr>
          </a:p>
        </p:txBody>
      </p:sp>
      <p:pic>
        <p:nvPicPr>
          <p:cNvPr id="13" name="Picture 6"/>
          <p:cNvPicPr>
            <a:picLocks noChangeAspect="1" noChangeArrowheads="1"/>
          </p:cNvPicPr>
          <p:nvPr/>
        </p:nvPicPr>
        <p:blipFill>
          <a:blip r:embed="rId2"/>
          <a:srcRect/>
          <a:stretch>
            <a:fillRect/>
          </a:stretch>
        </p:blipFill>
        <p:spPr bwMode="auto">
          <a:xfrm>
            <a:off x="3357554" y="2786058"/>
            <a:ext cx="2214578" cy="2455770"/>
          </a:xfrm>
          <a:prstGeom prst="rect">
            <a:avLst/>
          </a:prstGeom>
          <a:noFill/>
          <a:ln w="9525" cap="flat" cmpd="sng" algn="ctr">
            <a:noFill/>
            <a:prstDash val="solid"/>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7.1 </a:t>
            </a:r>
            <a:r>
              <a:rPr lang="zh-CN" altLang="en-US" b="1" dirty="0" smtClean="0">
                <a:solidFill>
                  <a:schemeClr val="tx2"/>
                </a:solidFill>
                <a:latin typeface="黑体" pitchFamily="49" charset="-122"/>
                <a:ea typeface="黑体" pitchFamily="49" charset="-122"/>
              </a:rPr>
              <a:t>压电效应</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7" name="矩形 6"/>
          <p:cNvSpPr/>
          <p:nvPr/>
        </p:nvSpPr>
        <p:spPr>
          <a:xfrm>
            <a:off x="285720" y="1643050"/>
            <a:ext cx="8572560" cy="1384995"/>
          </a:xfrm>
          <a:prstGeom prst="rect">
            <a:avLst/>
          </a:prstGeom>
        </p:spPr>
        <p:txBody>
          <a:bodyPr wrap="square">
            <a:spAutoFit/>
          </a:bodyPr>
          <a:lstStyle/>
          <a:p>
            <a:pPr indent="546100"/>
            <a:r>
              <a:rPr lang="zh-CN" altLang="en-US" b="1" dirty="0" smtClean="0">
                <a:solidFill>
                  <a:schemeClr val="tx1"/>
                </a:solidFill>
                <a:latin typeface="宋体" pitchFamily="2" charset="-122"/>
                <a:ea typeface="宋体" pitchFamily="2" charset="-122"/>
              </a:rPr>
              <a:t>以强电场使“电畴”规则排列，呈现出压电性。在极化电场除去后，电畴基本保持不变，余下了很强的剩余极化。</a:t>
            </a:r>
            <a:endParaRPr lang="en-US" altLang="zh-CN" b="1" dirty="0" smtClean="0">
              <a:solidFill>
                <a:schemeClr val="tx1"/>
              </a:solidFill>
              <a:latin typeface="宋体" pitchFamily="2" charset="-122"/>
              <a:ea typeface="宋体" pitchFamily="2" charset="-122"/>
            </a:endParaRPr>
          </a:p>
        </p:txBody>
      </p:sp>
      <p:pic>
        <p:nvPicPr>
          <p:cNvPr id="8" name="Picture 5"/>
          <p:cNvPicPr>
            <a:picLocks noChangeAspect="1" noChangeArrowheads="1"/>
          </p:cNvPicPr>
          <p:nvPr/>
        </p:nvPicPr>
        <p:blipFill>
          <a:blip r:embed="rId2"/>
          <a:srcRect/>
          <a:stretch>
            <a:fillRect/>
          </a:stretch>
        </p:blipFill>
        <p:spPr bwMode="auto">
          <a:xfrm>
            <a:off x="1785918" y="3143248"/>
            <a:ext cx="5364344" cy="2428892"/>
          </a:xfrm>
          <a:prstGeom prst="rect">
            <a:avLst/>
          </a:prstGeom>
          <a:noFill/>
          <a:ln w="9525" cap="flat" cmpd="sng" algn="ctr">
            <a:noFill/>
            <a:prstDash val="solid"/>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7.1 </a:t>
            </a:r>
            <a:r>
              <a:rPr lang="zh-CN" altLang="en-US" b="1" dirty="0" smtClean="0">
                <a:solidFill>
                  <a:schemeClr val="tx2"/>
                </a:solidFill>
                <a:latin typeface="黑体" pitchFamily="49" charset="-122"/>
                <a:ea typeface="黑体" pitchFamily="49" charset="-122"/>
              </a:rPr>
              <a:t>压电效应</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9" name="矩形 8"/>
          <p:cNvSpPr/>
          <p:nvPr/>
        </p:nvSpPr>
        <p:spPr>
          <a:xfrm>
            <a:off x="285720" y="4286256"/>
            <a:ext cx="8572560" cy="1384995"/>
          </a:xfrm>
          <a:prstGeom prst="rect">
            <a:avLst/>
          </a:prstGeom>
        </p:spPr>
        <p:txBody>
          <a:bodyPr wrap="square">
            <a:spAutoFit/>
          </a:bodyPr>
          <a:lstStyle/>
          <a:p>
            <a:pPr indent="546100">
              <a:buFont typeface="Wingdings" pitchFamily="2" charset="2"/>
              <a:buChar char="l"/>
            </a:pPr>
            <a:r>
              <a:rPr lang="zh-CN" altLang="en-US" b="1" dirty="0" smtClean="0">
                <a:solidFill>
                  <a:schemeClr val="tx1"/>
                </a:solidFill>
                <a:latin typeface="宋体" pitchFamily="2" charset="-122"/>
                <a:ea typeface="宋体" pitchFamily="2" charset="-122"/>
              </a:rPr>
              <a:t>压电陶瓷在极化方向上压电效应最明显。</a:t>
            </a:r>
          </a:p>
          <a:p>
            <a:pPr indent="546100">
              <a:buFont typeface="Wingdings" pitchFamily="2" charset="2"/>
              <a:buChar char="l"/>
            </a:pPr>
            <a:r>
              <a:rPr lang="zh-CN" altLang="en-US" b="1" dirty="0" smtClean="0">
                <a:solidFill>
                  <a:schemeClr val="tx1"/>
                </a:solidFill>
                <a:latin typeface="宋体" pitchFamily="2" charset="-122"/>
                <a:ea typeface="宋体" pitchFamily="2" charset="-122"/>
              </a:rPr>
              <a:t>铁电体的参数会随时间发生变化，即老化，铁电体老化将使压电效应减弱。</a:t>
            </a:r>
            <a:endParaRPr lang="zh-CN" altLang="en-US" b="1" dirty="0">
              <a:solidFill>
                <a:schemeClr val="tx1"/>
              </a:solidFill>
              <a:latin typeface="宋体" pitchFamily="2" charset="-122"/>
              <a:ea typeface="宋体" pitchFamily="2" charset="-122"/>
            </a:endParaRPr>
          </a:p>
        </p:txBody>
      </p:sp>
      <p:pic>
        <p:nvPicPr>
          <p:cNvPr id="10" name="Picture 2"/>
          <p:cNvPicPr>
            <a:picLocks noChangeAspect="1" noChangeArrowheads="1"/>
          </p:cNvPicPr>
          <p:nvPr/>
        </p:nvPicPr>
        <p:blipFill>
          <a:blip r:embed="rId2"/>
          <a:srcRect/>
          <a:stretch>
            <a:fillRect/>
          </a:stretch>
        </p:blipFill>
        <p:spPr bwMode="auto">
          <a:xfrm>
            <a:off x="928662" y="2000240"/>
            <a:ext cx="7736653" cy="2000264"/>
          </a:xfrm>
          <a:prstGeom prst="rect">
            <a:avLst/>
          </a:prstGeom>
          <a:noFill/>
          <a:ln w="9525" cap="flat" cmpd="sng" algn="ctr">
            <a:noFill/>
            <a:prstDash val="solid"/>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blinds(horizontal)">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blinds(horizontal)">
                                      <p:cBhvr>
                                        <p:cTn id="12"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7.1 </a:t>
            </a:r>
            <a:r>
              <a:rPr lang="zh-CN" altLang="en-US" b="1" dirty="0" smtClean="0">
                <a:solidFill>
                  <a:schemeClr val="tx2"/>
                </a:solidFill>
                <a:latin typeface="黑体" pitchFamily="49" charset="-122"/>
                <a:ea typeface="黑体" pitchFamily="49" charset="-122"/>
              </a:rPr>
              <a:t>压电效应</a:t>
            </a:r>
          </a:p>
        </p:txBody>
      </p:sp>
      <p:sp>
        <p:nvSpPr>
          <p:cNvPr id="14340" name="Text Box 4"/>
          <p:cNvSpPr txBox="1">
            <a:spLocks noChangeArrowheads="1"/>
          </p:cNvSpPr>
          <p:nvPr/>
        </p:nvSpPr>
        <p:spPr bwMode="auto">
          <a:xfrm>
            <a:off x="214282" y="1643050"/>
            <a:ext cx="8643998" cy="540725"/>
          </a:xfrm>
          <a:prstGeom prst="rect">
            <a:avLst/>
          </a:prstGeom>
          <a:noFill/>
          <a:ln w="9525" algn="ctr">
            <a:noFill/>
            <a:miter lim="800000"/>
            <a:headEnd/>
            <a:tailEnd/>
          </a:ln>
        </p:spPr>
        <p:txBody>
          <a:bodyPr wrap="square">
            <a:spAutoFit/>
          </a:bodyPr>
          <a:lstStyle/>
          <a:p>
            <a:pPr indent="352425">
              <a:lnSpc>
                <a:spcPct val="120000"/>
              </a:lnSpc>
              <a:buClr>
                <a:schemeClr val="folHlink"/>
              </a:buClr>
              <a:buFont typeface="Wingdings" pitchFamily="2" charset="2"/>
              <a:buNone/>
            </a:pPr>
            <a:r>
              <a:rPr lang="zh-CN" altLang="en-US" b="1" dirty="0" smtClean="0">
                <a:solidFill>
                  <a:srgbClr val="F84D08"/>
                </a:solidFill>
                <a:latin typeface="黑体" pitchFamily="49" charset="-122"/>
                <a:ea typeface="黑体" pitchFamily="49" charset="-122"/>
                <a:cs typeface="+mj-cs"/>
              </a:rPr>
              <a:t>高分子材料的压电效应</a:t>
            </a:r>
            <a:endParaRPr kumimoji="0" lang="zh-CN" altLang="en-US" b="1" dirty="0">
              <a:solidFill>
                <a:schemeClr val="tx1"/>
              </a:solidFill>
              <a:latin typeface="宋体" pitchFamily="2" charset="-122"/>
              <a:ea typeface="宋体" pitchFamily="2" charset="-122"/>
            </a:endParaRP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7" name="Text Box 9"/>
          <p:cNvSpPr txBox="1">
            <a:spLocks noChangeArrowheads="1"/>
          </p:cNvSpPr>
          <p:nvPr/>
        </p:nvSpPr>
        <p:spPr bwMode="auto">
          <a:xfrm>
            <a:off x="214282" y="2214554"/>
            <a:ext cx="5030796" cy="3539430"/>
          </a:xfrm>
          <a:prstGeom prst="rect">
            <a:avLst/>
          </a:prstGeom>
          <a:noFill/>
          <a:ln w="9525" algn="ctr">
            <a:noFill/>
            <a:miter lim="800000"/>
            <a:headEnd/>
            <a:tailEnd/>
          </a:ln>
        </p:spPr>
        <p:txBody>
          <a:bodyPr wrap="square">
            <a:spAutoFit/>
          </a:bodyPr>
          <a:lstStyle/>
          <a:p>
            <a:pPr indent="365125">
              <a:spcBef>
                <a:spcPct val="50000"/>
              </a:spcBef>
            </a:pPr>
            <a:r>
              <a:rPr lang="zh-CN" altLang="en-US" b="1" dirty="0">
                <a:solidFill>
                  <a:schemeClr val="tx1"/>
                </a:solidFill>
                <a:latin typeface="宋体" pitchFamily="2" charset="-122"/>
                <a:ea typeface="宋体" pitchFamily="2" charset="-122"/>
              </a:rPr>
              <a:t>高分子材料属于有机分子半结晶或结晶的</a:t>
            </a:r>
            <a:r>
              <a:rPr lang="zh-CN" altLang="en-US" b="1" dirty="0" smtClean="0">
                <a:solidFill>
                  <a:schemeClr val="tx1"/>
                </a:solidFill>
                <a:latin typeface="宋体" pitchFamily="2" charset="-122"/>
                <a:ea typeface="宋体" pitchFamily="2" charset="-122"/>
              </a:rPr>
              <a:t>聚合物，压电效应</a:t>
            </a:r>
            <a:r>
              <a:rPr lang="zh-CN" altLang="en-US" b="1" dirty="0">
                <a:solidFill>
                  <a:schemeClr val="tx1"/>
                </a:solidFill>
                <a:latin typeface="宋体" pitchFamily="2" charset="-122"/>
                <a:ea typeface="宋体" pitchFamily="2" charset="-122"/>
              </a:rPr>
              <a:t>比较复杂</a:t>
            </a:r>
            <a:r>
              <a:rPr lang="zh-CN" altLang="en-US" b="1" dirty="0" smtClean="0">
                <a:solidFill>
                  <a:schemeClr val="tx1"/>
                </a:solidFill>
                <a:latin typeface="宋体" pitchFamily="2" charset="-122"/>
                <a:ea typeface="宋体" pitchFamily="2" charset="-122"/>
              </a:rPr>
              <a:t>，需要考虑：</a:t>
            </a:r>
            <a:endParaRPr lang="en-US" altLang="zh-CN" b="1" dirty="0" smtClean="0">
              <a:solidFill>
                <a:schemeClr val="tx1"/>
              </a:solidFill>
              <a:latin typeface="宋体" pitchFamily="2" charset="-122"/>
              <a:ea typeface="宋体" pitchFamily="2" charset="-122"/>
            </a:endParaRPr>
          </a:p>
          <a:p>
            <a:pPr indent="365125">
              <a:spcBef>
                <a:spcPct val="50000"/>
              </a:spcBef>
              <a:buFont typeface="Wingdings" pitchFamily="2" charset="2"/>
              <a:buChar char="l"/>
            </a:pPr>
            <a:r>
              <a:rPr lang="zh-CN" altLang="en-US" b="1" dirty="0" smtClean="0">
                <a:solidFill>
                  <a:schemeClr val="tx1"/>
                </a:solidFill>
                <a:latin typeface="宋体" pitchFamily="2" charset="-122"/>
                <a:ea typeface="宋体" pitchFamily="2" charset="-122"/>
              </a:rPr>
              <a:t>晶格</a:t>
            </a:r>
            <a:r>
              <a:rPr lang="zh-CN" altLang="en-US" b="1" dirty="0">
                <a:solidFill>
                  <a:schemeClr val="tx1"/>
                </a:solidFill>
                <a:latin typeface="宋体" pitchFamily="2" charset="-122"/>
                <a:ea typeface="宋体" pitchFamily="2" charset="-122"/>
              </a:rPr>
              <a:t>中均匀的内</a:t>
            </a:r>
            <a:r>
              <a:rPr lang="zh-CN" altLang="en-US" b="1" dirty="0" smtClean="0">
                <a:solidFill>
                  <a:schemeClr val="tx1"/>
                </a:solidFill>
                <a:latin typeface="宋体" pitchFamily="2" charset="-122"/>
                <a:ea typeface="宋体" pitchFamily="2" charset="-122"/>
              </a:rPr>
              <a:t>应变；</a:t>
            </a:r>
            <a:endParaRPr lang="en-US" altLang="zh-CN" b="1" dirty="0" smtClean="0">
              <a:solidFill>
                <a:schemeClr val="tx1"/>
              </a:solidFill>
              <a:latin typeface="宋体" pitchFamily="2" charset="-122"/>
              <a:ea typeface="宋体" pitchFamily="2" charset="-122"/>
            </a:endParaRPr>
          </a:p>
          <a:p>
            <a:pPr indent="365125">
              <a:spcBef>
                <a:spcPct val="50000"/>
              </a:spcBef>
              <a:buFont typeface="Wingdings" pitchFamily="2" charset="2"/>
              <a:buChar char="l"/>
            </a:pPr>
            <a:r>
              <a:rPr lang="zh-CN" altLang="en-US" b="1" dirty="0" smtClean="0">
                <a:solidFill>
                  <a:schemeClr val="tx1"/>
                </a:solidFill>
                <a:latin typeface="宋体" pitchFamily="2" charset="-122"/>
                <a:ea typeface="宋体" pitchFamily="2" charset="-122"/>
              </a:rPr>
              <a:t>非</a:t>
            </a:r>
            <a:r>
              <a:rPr lang="zh-CN" altLang="en-US" b="1" dirty="0">
                <a:solidFill>
                  <a:schemeClr val="tx1"/>
                </a:solidFill>
                <a:ea typeface="宋体" pitchFamily="2" charset="-122"/>
              </a:rPr>
              <a:t>均匀内应变产生的各种高次效应以及同平均变形无关的电荷位移呈现的压电性。</a:t>
            </a:r>
          </a:p>
        </p:txBody>
      </p:sp>
      <p:sp>
        <p:nvSpPr>
          <p:cNvPr id="8" name="Text Box 8"/>
          <p:cNvSpPr txBox="1">
            <a:spLocks noChangeArrowheads="1"/>
          </p:cNvSpPr>
          <p:nvPr/>
        </p:nvSpPr>
        <p:spPr bwMode="auto">
          <a:xfrm>
            <a:off x="5045070" y="5214950"/>
            <a:ext cx="3455988" cy="830997"/>
          </a:xfrm>
          <a:prstGeom prst="rect">
            <a:avLst/>
          </a:prstGeom>
          <a:noFill/>
          <a:ln w="9525">
            <a:noFill/>
            <a:miter lim="800000"/>
            <a:headEnd/>
            <a:tailEnd/>
          </a:ln>
        </p:spPr>
        <p:txBody>
          <a:bodyPr>
            <a:spAutoFit/>
          </a:bodyPr>
          <a:lstStyle/>
          <a:p>
            <a:pPr algn="ctr"/>
            <a:r>
              <a:rPr lang="zh-CN" altLang="en-US" sz="2400" b="1" dirty="0">
                <a:solidFill>
                  <a:schemeClr val="tx1"/>
                </a:solidFill>
                <a:latin typeface="Times New Roman" pitchFamily="18" charset="0"/>
                <a:ea typeface="宋体" pitchFamily="2" charset="-122"/>
              </a:rPr>
              <a:t>聚</a:t>
            </a:r>
            <a:r>
              <a:rPr lang="zh-CN" altLang="en-US" sz="2400" b="1" dirty="0" smtClean="0">
                <a:solidFill>
                  <a:schemeClr val="tx1"/>
                </a:solidFill>
                <a:latin typeface="Times New Roman" pitchFamily="18" charset="0"/>
                <a:ea typeface="宋体" pitchFamily="2" charset="-122"/>
              </a:rPr>
              <a:t>偏二氟乙烯</a:t>
            </a:r>
            <a:r>
              <a:rPr lang="en-US" altLang="zh-CN" sz="2400" b="1" dirty="0" smtClean="0">
                <a:solidFill>
                  <a:schemeClr val="tx1"/>
                </a:solidFill>
                <a:latin typeface="Times New Roman" pitchFamily="18" charset="0"/>
                <a:ea typeface="宋体" pitchFamily="2" charset="-122"/>
              </a:rPr>
              <a:t>(PVDF)</a:t>
            </a:r>
            <a:r>
              <a:rPr lang="zh-CN" altLang="en-US" sz="2400" b="1" dirty="0" smtClean="0">
                <a:solidFill>
                  <a:schemeClr val="tx1"/>
                </a:solidFill>
                <a:latin typeface="Times New Roman" pitchFamily="18" charset="0"/>
                <a:ea typeface="宋体" pitchFamily="2" charset="-122"/>
              </a:rPr>
              <a:t>压电效应</a:t>
            </a:r>
            <a:endParaRPr lang="zh-CN" altLang="en-US" sz="2400" b="1" dirty="0">
              <a:solidFill>
                <a:schemeClr val="tx1"/>
              </a:solidFill>
              <a:latin typeface="Times New Roman" pitchFamily="18" charset="0"/>
              <a:ea typeface="宋体" pitchFamily="2" charset="-122"/>
            </a:endParaRPr>
          </a:p>
        </p:txBody>
      </p:sp>
      <p:pic>
        <p:nvPicPr>
          <p:cNvPr id="9" name="Picture 7"/>
          <p:cNvPicPr>
            <a:picLocks noGrp="1" noChangeAspect="1" noChangeArrowheads="1"/>
          </p:cNvPicPr>
          <p:nvPr>
            <p:ph idx="1"/>
          </p:nvPr>
        </p:nvPicPr>
        <p:blipFill>
          <a:blip r:embed="rId2"/>
          <a:srcRect/>
          <a:stretch>
            <a:fillRect/>
          </a:stretch>
        </p:blipFill>
        <p:spPr bwMode="auto">
          <a:xfrm>
            <a:off x="5286380" y="2214554"/>
            <a:ext cx="2971800" cy="2933700"/>
          </a:xfrm>
          <a:prstGeom prst="rect">
            <a:avLst/>
          </a:prstGeom>
          <a:noFill/>
          <a:ln w="9525" cap="flat" cmpd="sng" algn="ctr">
            <a:noFill/>
            <a:prstDash val="solid"/>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7.2 </a:t>
            </a:r>
            <a:r>
              <a:rPr lang="zh-CN" altLang="en-US" b="1" dirty="0" smtClean="0">
                <a:solidFill>
                  <a:schemeClr val="tx2"/>
                </a:solidFill>
                <a:latin typeface="黑体" pitchFamily="49" charset="-122"/>
                <a:ea typeface="黑体" pitchFamily="49" charset="-122"/>
              </a:rPr>
              <a:t>压电材料</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1" name="Text Box 16"/>
          <p:cNvSpPr txBox="1">
            <a:spLocks noChangeArrowheads="1"/>
          </p:cNvSpPr>
          <p:nvPr/>
        </p:nvSpPr>
        <p:spPr bwMode="auto">
          <a:xfrm>
            <a:off x="214282" y="1714488"/>
            <a:ext cx="8643998" cy="3530903"/>
          </a:xfrm>
          <a:prstGeom prst="rect">
            <a:avLst/>
          </a:prstGeom>
          <a:noFill/>
          <a:ln w="9525" algn="ctr">
            <a:noFill/>
            <a:miter lim="800000"/>
            <a:headEnd/>
            <a:tailEnd/>
          </a:ln>
        </p:spPr>
        <p:txBody>
          <a:bodyPr wrap="square">
            <a:spAutoFit/>
          </a:bodyPr>
          <a:lstStyle/>
          <a:p>
            <a:pPr indent="365125">
              <a:lnSpc>
                <a:spcPct val="114000"/>
              </a:lnSpc>
            </a:pPr>
            <a:r>
              <a:rPr lang="en-US" altLang="zh-CN" b="1" dirty="0">
                <a:solidFill>
                  <a:schemeClr val="tx1"/>
                </a:solidFill>
              </a:rPr>
              <a:t> </a:t>
            </a:r>
            <a:r>
              <a:rPr lang="zh-CN" altLang="en-US" b="1" dirty="0">
                <a:solidFill>
                  <a:schemeClr val="tx1"/>
                </a:solidFill>
                <a:latin typeface="宋体" pitchFamily="2" charset="-122"/>
                <a:ea typeface="宋体" pitchFamily="2" charset="-122"/>
              </a:rPr>
              <a:t>选用合适的压电材料是设计高性能传感器的</a:t>
            </a:r>
            <a:r>
              <a:rPr lang="zh-CN" altLang="en-US" b="1" dirty="0" smtClean="0">
                <a:solidFill>
                  <a:schemeClr val="tx1"/>
                </a:solidFill>
                <a:latin typeface="宋体" pitchFamily="2" charset="-122"/>
                <a:ea typeface="宋体" pitchFamily="2" charset="-122"/>
              </a:rPr>
              <a:t>关键，一般</a:t>
            </a:r>
            <a:r>
              <a:rPr lang="zh-CN" altLang="en-US" b="1" dirty="0">
                <a:solidFill>
                  <a:schemeClr val="tx1"/>
                </a:solidFill>
                <a:latin typeface="宋体" pitchFamily="2" charset="-122"/>
                <a:ea typeface="宋体" pitchFamily="2" charset="-122"/>
              </a:rPr>
              <a:t>应考虑以下几个方面： </a:t>
            </a:r>
          </a:p>
          <a:p>
            <a:pPr indent="365125">
              <a:lnSpc>
                <a:spcPct val="114000"/>
              </a:lnSpc>
            </a:pPr>
            <a:r>
              <a:rPr lang="zh-CN" altLang="en-US" b="1" dirty="0">
                <a:solidFill>
                  <a:schemeClr val="tx1"/>
                </a:solidFill>
                <a:latin typeface="宋体" pitchFamily="2" charset="-122"/>
                <a:ea typeface="宋体" pitchFamily="2" charset="-122"/>
              </a:rPr>
              <a:t>①转换性能：具有较高的耦合系数或具有较大的压电常数；   </a:t>
            </a:r>
          </a:p>
          <a:p>
            <a:pPr indent="365125">
              <a:lnSpc>
                <a:spcPct val="114000"/>
              </a:lnSpc>
            </a:pPr>
            <a:r>
              <a:rPr lang="zh-CN" altLang="en-US" b="1" dirty="0">
                <a:solidFill>
                  <a:schemeClr val="tx1"/>
                </a:solidFill>
                <a:latin typeface="宋体" pitchFamily="2" charset="-122"/>
                <a:ea typeface="宋体" pitchFamily="2" charset="-122"/>
              </a:rPr>
              <a:t>②机械性能：压电元件作为受力元件，希望它的机械强度高、机械刚度大。以期获得宽的线性范围和高的固有振动频率</a:t>
            </a:r>
            <a:r>
              <a:rPr lang="zh-CN" altLang="en-US" b="1" dirty="0" smtClean="0">
                <a:solidFill>
                  <a:schemeClr val="tx1"/>
                </a:solidFill>
                <a:latin typeface="宋体" pitchFamily="2" charset="-122"/>
                <a:ea typeface="宋体" pitchFamily="2" charset="-122"/>
              </a:rPr>
              <a:t>；</a:t>
            </a:r>
            <a:endParaRPr lang="zh-CN" altLang="en-US" b="1" dirty="0">
              <a:solidFill>
                <a:schemeClr val="tx1"/>
              </a:solidFill>
              <a:latin typeface="宋体" pitchFamily="2" charset="-122"/>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blinds(horizontal)">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blinds(horizontal)">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blinds(horizontal)">
                                      <p:cBhvr>
                                        <p:cTn id="17"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7.2 </a:t>
            </a:r>
            <a:r>
              <a:rPr lang="zh-CN" altLang="en-US" b="1" dirty="0" smtClean="0">
                <a:solidFill>
                  <a:schemeClr val="tx2"/>
                </a:solidFill>
                <a:latin typeface="黑体" pitchFamily="49" charset="-122"/>
                <a:ea typeface="黑体" pitchFamily="49" charset="-122"/>
              </a:rPr>
              <a:t>压电材料</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5" name="Text Box 16"/>
          <p:cNvSpPr txBox="1">
            <a:spLocks noChangeArrowheads="1"/>
          </p:cNvSpPr>
          <p:nvPr/>
        </p:nvSpPr>
        <p:spPr bwMode="auto">
          <a:xfrm>
            <a:off x="285720" y="1643050"/>
            <a:ext cx="8602696" cy="2548455"/>
          </a:xfrm>
          <a:prstGeom prst="rect">
            <a:avLst/>
          </a:prstGeom>
          <a:noFill/>
          <a:ln w="9525" algn="ctr">
            <a:noFill/>
            <a:miter lim="800000"/>
            <a:headEnd/>
            <a:tailEnd/>
          </a:ln>
        </p:spPr>
        <p:txBody>
          <a:bodyPr wrap="square">
            <a:spAutoFit/>
          </a:bodyPr>
          <a:lstStyle/>
          <a:p>
            <a:pPr indent="365125">
              <a:lnSpc>
                <a:spcPct val="114000"/>
              </a:lnSpc>
            </a:pPr>
            <a:r>
              <a:rPr lang="zh-CN" altLang="en-US" b="1" dirty="0">
                <a:solidFill>
                  <a:schemeClr val="tx1"/>
                </a:solidFill>
                <a:latin typeface="宋体" pitchFamily="2" charset="-122"/>
                <a:ea typeface="宋体" pitchFamily="2" charset="-122"/>
              </a:rPr>
              <a:t>③电性能：希望具有高的电阻率和大的介电常数，</a:t>
            </a:r>
            <a:r>
              <a:rPr lang="zh-CN" altLang="en-US" b="1" dirty="0" smtClean="0">
                <a:solidFill>
                  <a:schemeClr val="tx1"/>
                </a:solidFill>
                <a:latin typeface="宋体" pitchFamily="2" charset="-122"/>
                <a:ea typeface="宋体" pitchFamily="2" charset="-122"/>
              </a:rPr>
              <a:t>以减弱</a:t>
            </a:r>
            <a:r>
              <a:rPr lang="zh-CN" altLang="en-US" b="1" dirty="0">
                <a:solidFill>
                  <a:schemeClr val="tx1"/>
                </a:solidFill>
                <a:latin typeface="宋体" pitchFamily="2" charset="-122"/>
                <a:ea typeface="宋体" pitchFamily="2" charset="-122"/>
              </a:rPr>
              <a:t>外部分布电容的</a:t>
            </a:r>
            <a:r>
              <a:rPr lang="zh-CN" altLang="en-US" b="1" dirty="0" smtClean="0">
                <a:solidFill>
                  <a:schemeClr val="tx1"/>
                </a:solidFill>
                <a:latin typeface="宋体" pitchFamily="2" charset="-122"/>
                <a:ea typeface="宋体" pitchFamily="2" charset="-122"/>
              </a:rPr>
              <a:t>影响，并</a:t>
            </a:r>
            <a:r>
              <a:rPr lang="zh-CN" altLang="en-US" b="1" dirty="0">
                <a:solidFill>
                  <a:schemeClr val="tx1"/>
                </a:solidFill>
                <a:latin typeface="宋体" pitchFamily="2" charset="-122"/>
                <a:ea typeface="宋体" pitchFamily="2" charset="-122"/>
              </a:rPr>
              <a:t>获得良好的低频特性； </a:t>
            </a:r>
          </a:p>
          <a:p>
            <a:pPr indent="365125">
              <a:lnSpc>
                <a:spcPct val="114000"/>
              </a:lnSpc>
            </a:pPr>
            <a:r>
              <a:rPr lang="zh-CN" altLang="en-US" b="1" dirty="0">
                <a:solidFill>
                  <a:schemeClr val="tx1"/>
                </a:solidFill>
                <a:latin typeface="宋体" pitchFamily="2" charset="-122"/>
                <a:ea typeface="宋体" pitchFamily="2" charset="-122"/>
              </a:rPr>
              <a:t>④温度和湿度稳定性要好：具有较高的居里点、以期望得到宽的工作温度范围；</a:t>
            </a:r>
          </a:p>
          <a:p>
            <a:pPr indent="365125">
              <a:lnSpc>
                <a:spcPct val="114000"/>
              </a:lnSpc>
            </a:pPr>
            <a:r>
              <a:rPr lang="zh-CN" altLang="en-US" b="1" dirty="0">
                <a:solidFill>
                  <a:schemeClr val="tx1"/>
                </a:solidFill>
                <a:latin typeface="宋体" pitchFamily="2" charset="-122"/>
                <a:ea typeface="宋体" pitchFamily="2" charset="-122"/>
              </a:rPr>
              <a:t>⑤时间稳定性：压电特性不随时间蜕变。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linds(horizontal)">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7.3 </a:t>
            </a:r>
            <a:r>
              <a:rPr lang="zh-CN" altLang="en-US" b="1" dirty="0" smtClean="0">
                <a:solidFill>
                  <a:schemeClr val="tx2"/>
                </a:solidFill>
                <a:latin typeface="黑体" pitchFamily="49" charset="-122"/>
                <a:ea typeface="黑体" pitchFamily="49" charset="-122"/>
              </a:rPr>
              <a:t>等效电路</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graphicFrame>
        <p:nvGraphicFramePr>
          <p:cNvPr id="7" name="Object 4"/>
          <p:cNvGraphicFramePr>
            <a:graphicFrameLocks noChangeAspect="1"/>
          </p:cNvGraphicFramePr>
          <p:nvPr/>
        </p:nvGraphicFramePr>
        <p:xfrm>
          <a:off x="3500430" y="3500438"/>
          <a:ext cx="2209800" cy="1143000"/>
        </p:xfrm>
        <a:graphic>
          <a:graphicData uri="http://schemas.openxmlformats.org/presentationml/2006/ole">
            <p:oleObj spid="_x0000_s75778" name="Flash Movie" r:id="rId3" imgW="5598000" imgH="2291760" progId="">
              <p:embed/>
            </p:oleObj>
          </a:graphicData>
        </a:graphic>
      </p:graphicFrame>
      <p:sp>
        <p:nvSpPr>
          <p:cNvPr id="8" name="Text Box 19"/>
          <p:cNvSpPr txBox="1">
            <a:spLocks noChangeArrowheads="1"/>
          </p:cNvSpPr>
          <p:nvPr/>
        </p:nvSpPr>
        <p:spPr bwMode="auto">
          <a:xfrm>
            <a:off x="214282" y="1571612"/>
            <a:ext cx="8643998" cy="1815882"/>
          </a:xfrm>
          <a:prstGeom prst="rect">
            <a:avLst/>
          </a:prstGeom>
          <a:noFill/>
          <a:ln w="9525" algn="ctr">
            <a:noFill/>
            <a:miter lim="800000"/>
            <a:headEnd/>
            <a:tailEnd/>
          </a:ln>
        </p:spPr>
        <p:txBody>
          <a:bodyPr wrap="square">
            <a:spAutoFit/>
          </a:bodyPr>
          <a:lstStyle/>
          <a:p>
            <a:pPr indent="725488"/>
            <a:r>
              <a:rPr lang="zh-CN" altLang="en-US" b="1" dirty="0">
                <a:solidFill>
                  <a:schemeClr val="tx1"/>
                </a:solidFill>
                <a:latin typeface="宋体" pitchFamily="2" charset="-122"/>
                <a:ea typeface="宋体" pitchFamily="2" charset="-122"/>
              </a:rPr>
              <a:t>压电式传感器对被测量的</a:t>
            </a:r>
            <a:r>
              <a:rPr lang="zh-CN" altLang="en-US" b="1" dirty="0" smtClean="0">
                <a:solidFill>
                  <a:schemeClr val="tx1"/>
                </a:solidFill>
                <a:latin typeface="宋体" pitchFamily="2" charset="-122"/>
                <a:ea typeface="宋体" pitchFamily="2" charset="-122"/>
              </a:rPr>
              <a:t>变化通过压电</a:t>
            </a:r>
            <a:r>
              <a:rPr lang="zh-CN" altLang="en-US" b="1" dirty="0">
                <a:solidFill>
                  <a:schemeClr val="tx1"/>
                </a:solidFill>
                <a:latin typeface="宋体" pitchFamily="2" charset="-122"/>
                <a:ea typeface="宋体" pitchFamily="2" charset="-122"/>
              </a:rPr>
              <a:t>元件产生电荷量的大小来</a:t>
            </a:r>
            <a:r>
              <a:rPr lang="zh-CN" altLang="en-US" b="1" dirty="0" smtClean="0">
                <a:solidFill>
                  <a:schemeClr val="tx1"/>
                </a:solidFill>
                <a:latin typeface="宋体" pitchFamily="2" charset="-122"/>
                <a:ea typeface="宋体" pitchFamily="2" charset="-122"/>
              </a:rPr>
              <a:t>反映 </a:t>
            </a:r>
            <a:r>
              <a:rPr lang="en-US" altLang="zh-CN" b="1" dirty="0" smtClean="0">
                <a:solidFill>
                  <a:schemeClr val="tx1"/>
                </a:solidFill>
                <a:latin typeface="宋体" pitchFamily="2" charset="-122"/>
                <a:ea typeface="宋体" pitchFamily="2" charset="-122"/>
              </a:rPr>
              <a:t>,</a:t>
            </a:r>
            <a:r>
              <a:rPr lang="zh-CN" altLang="en-US" b="1" dirty="0" smtClean="0">
                <a:solidFill>
                  <a:schemeClr val="tx1"/>
                </a:solidFill>
                <a:latin typeface="宋体" pitchFamily="2" charset="-122"/>
                <a:ea typeface="宋体" pitchFamily="2" charset="-122"/>
              </a:rPr>
              <a:t>相当于</a:t>
            </a:r>
            <a:r>
              <a:rPr lang="zh-CN" altLang="en-US" b="1" dirty="0">
                <a:solidFill>
                  <a:schemeClr val="tx1"/>
                </a:solidFill>
                <a:latin typeface="宋体" pitchFamily="2" charset="-122"/>
                <a:ea typeface="宋体" pitchFamily="2" charset="-122"/>
              </a:rPr>
              <a:t>一个电荷源。</a:t>
            </a:r>
          </a:p>
          <a:p>
            <a:pPr indent="630238"/>
            <a:r>
              <a:rPr lang="zh-CN" altLang="en-US" b="1" dirty="0" smtClean="0">
                <a:solidFill>
                  <a:schemeClr val="tx1"/>
                </a:solidFill>
                <a:latin typeface="宋体" pitchFamily="2" charset="-122"/>
                <a:ea typeface="宋体" pitchFamily="2" charset="-122"/>
              </a:rPr>
              <a:t>压电</a:t>
            </a:r>
            <a:r>
              <a:rPr lang="zh-CN" altLang="en-US" b="1" dirty="0">
                <a:solidFill>
                  <a:schemeClr val="tx1"/>
                </a:solidFill>
                <a:latin typeface="宋体" pitchFamily="2" charset="-122"/>
                <a:ea typeface="宋体" pitchFamily="2" charset="-122"/>
              </a:rPr>
              <a:t>元件电极表面聚集电荷时</a:t>
            </a:r>
            <a:r>
              <a:rPr lang="zh-CN" altLang="en-US" b="1" dirty="0" smtClean="0">
                <a:solidFill>
                  <a:schemeClr val="tx1"/>
                </a:solidFill>
                <a:latin typeface="宋体" pitchFamily="2" charset="-122"/>
                <a:ea typeface="宋体" pitchFamily="2" charset="-122"/>
              </a:rPr>
              <a:t>，又</a:t>
            </a:r>
            <a:r>
              <a:rPr lang="zh-CN" altLang="en-US" b="1" dirty="0">
                <a:solidFill>
                  <a:schemeClr val="tx1"/>
                </a:solidFill>
                <a:latin typeface="宋体" pitchFamily="2" charset="-122"/>
                <a:ea typeface="宋体" pitchFamily="2" charset="-122"/>
              </a:rPr>
              <a:t>相当于一个以压电材料为电介质的电容器，其电容量为：</a:t>
            </a:r>
          </a:p>
        </p:txBody>
      </p:sp>
      <p:sp>
        <p:nvSpPr>
          <p:cNvPr id="9" name="Text Box 21"/>
          <p:cNvSpPr txBox="1">
            <a:spLocks noChangeArrowheads="1"/>
          </p:cNvSpPr>
          <p:nvPr/>
        </p:nvSpPr>
        <p:spPr bwMode="auto">
          <a:xfrm>
            <a:off x="2000232" y="4500570"/>
            <a:ext cx="5072098" cy="1815882"/>
          </a:xfrm>
          <a:prstGeom prst="rect">
            <a:avLst/>
          </a:prstGeom>
          <a:noFill/>
          <a:ln w="9525" algn="ctr">
            <a:noFill/>
            <a:miter lim="800000"/>
            <a:headEnd/>
            <a:tailEnd/>
          </a:ln>
        </p:spPr>
        <p:txBody>
          <a:bodyPr wrap="square">
            <a:spAutoFit/>
          </a:bodyPr>
          <a:lstStyle/>
          <a:p>
            <a:pPr marL="838200" indent="-838200"/>
            <a:r>
              <a:rPr kumimoji="0" lang="en-US" altLang="zh-CN" b="1" i="1" dirty="0" smtClean="0">
                <a:solidFill>
                  <a:srgbClr val="CC3300"/>
                </a:solidFill>
                <a:latin typeface="Times New Roman" pitchFamily="18" charset="0"/>
                <a:ea typeface="宋体" pitchFamily="2" charset="-122"/>
              </a:rPr>
              <a:t>s</a:t>
            </a:r>
            <a:r>
              <a:rPr kumimoji="0" lang="en-US" altLang="zh-CN" b="1" dirty="0" smtClean="0">
                <a:latin typeface="宋体" pitchFamily="2" charset="-122"/>
                <a:ea typeface="宋体" pitchFamily="2" charset="-122"/>
              </a:rPr>
              <a:t>-</a:t>
            </a:r>
            <a:r>
              <a:rPr kumimoji="0" lang="en-US" altLang="zh-CN" b="1" dirty="0">
                <a:latin typeface="宋体" pitchFamily="2" charset="-122"/>
                <a:ea typeface="宋体" pitchFamily="2" charset="-122"/>
              </a:rPr>
              <a:t>-</a:t>
            </a:r>
            <a:r>
              <a:rPr kumimoji="0" lang="zh-CN" altLang="en-US" b="1" dirty="0">
                <a:latin typeface="宋体" pitchFamily="2" charset="-122"/>
                <a:ea typeface="宋体" pitchFamily="2" charset="-122"/>
              </a:rPr>
              <a:t>极板面积  </a:t>
            </a:r>
            <a:endParaRPr kumimoji="0" lang="en-US" altLang="zh-CN" b="1" dirty="0" smtClean="0">
              <a:latin typeface="宋体" pitchFamily="2" charset="-122"/>
              <a:ea typeface="宋体" pitchFamily="2" charset="-122"/>
            </a:endParaRPr>
          </a:p>
          <a:p>
            <a:pPr marL="838200" indent="-838200"/>
            <a:r>
              <a:rPr kumimoji="0" lang="en-US" altLang="zh-CN" b="1" i="1" dirty="0" err="1" smtClean="0">
                <a:solidFill>
                  <a:srgbClr val="CC3300"/>
                </a:solidFill>
                <a:latin typeface="Times New Roman" pitchFamily="18" charset="0"/>
                <a:ea typeface="宋体" pitchFamily="2" charset="-122"/>
              </a:rPr>
              <a:t>ε</a:t>
            </a:r>
            <a:r>
              <a:rPr kumimoji="0" lang="en-US" altLang="zh-CN" b="1" i="1" baseline="-25000" dirty="0" err="1" smtClean="0">
                <a:solidFill>
                  <a:srgbClr val="CC3300"/>
                </a:solidFill>
                <a:latin typeface="Times New Roman" pitchFamily="18" charset="0"/>
                <a:ea typeface="宋体" pitchFamily="2" charset="-122"/>
              </a:rPr>
              <a:t>r</a:t>
            </a:r>
            <a:r>
              <a:rPr kumimoji="0" lang="en-US" altLang="zh-CN" b="1" dirty="0" smtClean="0">
                <a:latin typeface="宋体" pitchFamily="2" charset="-122"/>
                <a:ea typeface="宋体" pitchFamily="2" charset="-122"/>
              </a:rPr>
              <a:t>-</a:t>
            </a:r>
            <a:r>
              <a:rPr kumimoji="0" lang="en-US" altLang="zh-CN" b="1" dirty="0">
                <a:latin typeface="宋体" pitchFamily="2" charset="-122"/>
                <a:ea typeface="宋体" pitchFamily="2" charset="-122"/>
              </a:rPr>
              <a:t>-</a:t>
            </a:r>
            <a:r>
              <a:rPr kumimoji="0" lang="zh-CN" altLang="en-US" b="1" dirty="0">
                <a:latin typeface="宋体" pitchFamily="2" charset="-122"/>
                <a:ea typeface="宋体" pitchFamily="2" charset="-122"/>
              </a:rPr>
              <a:t>压电材料相对介电常数 </a:t>
            </a:r>
          </a:p>
          <a:p>
            <a:pPr marL="838200" indent="-838200"/>
            <a:r>
              <a:rPr kumimoji="0" lang="zh-CN" altLang="en-US" b="1" i="1" dirty="0" smtClean="0">
                <a:solidFill>
                  <a:srgbClr val="CC3300"/>
                </a:solidFill>
                <a:latin typeface="Times New Roman" pitchFamily="18" charset="0"/>
                <a:ea typeface="宋体" pitchFamily="2" charset="-122"/>
                <a:sym typeface="Symbol" pitchFamily="18" charset="2"/>
              </a:rPr>
              <a:t></a:t>
            </a:r>
            <a:r>
              <a:rPr kumimoji="0" lang="en-US" altLang="zh-CN" b="1" i="1" baseline="-25000" dirty="0">
                <a:solidFill>
                  <a:srgbClr val="CC3300"/>
                </a:solidFill>
                <a:latin typeface="Times New Roman" pitchFamily="18" charset="0"/>
                <a:ea typeface="宋体" pitchFamily="2" charset="-122"/>
                <a:sym typeface="Symbol" pitchFamily="18" charset="2"/>
              </a:rPr>
              <a:t>0</a:t>
            </a:r>
            <a:r>
              <a:rPr kumimoji="0" lang="en-US" altLang="zh-CN" b="1" dirty="0">
                <a:latin typeface="宋体" pitchFamily="2" charset="-122"/>
                <a:ea typeface="宋体" pitchFamily="2" charset="-122"/>
                <a:sym typeface="Symbol" pitchFamily="18" charset="2"/>
              </a:rPr>
              <a:t> </a:t>
            </a:r>
            <a:r>
              <a:rPr kumimoji="0" lang="en-US" altLang="zh-CN" b="1" dirty="0">
                <a:latin typeface="宋体" pitchFamily="2" charset="-122"/>
                <a:ea typeface="宋体" pitchFamily="2" charset="-122"/>
              </a:rPr>
              <a:t>--</a:t>
            </a:r>
            <a:r>
              <a:rPr kumimoji="0" lang="zh-CN" altLang="en-US" b="1" dirty="0">
                <a:latin typeface="宋体" pitchFamily="2" charset="-122"/>
                <a:ea typeface="宋体" pitchFamily="2" charset="-122"/>
              </a:rPr>
              <a:t>真空介电常数 </a:t>
            </a:r>
            <a:endParaRPr kumimoji="0" lang="en-US" altLang="zh-CN" b="1" dirty="0" smtClean="0">
              <a:latin typeface="宋体" pitchFamily="2" charset="-122"/>
              <a:ea typeface="宋体" pitchFamily="2" charset="-122"/>
            </a:endParaRPr>
          </a:p>
          <a:p>
            <a:pPr marL="838200" indent="-838200"/>
            <a:r>
              <a:rPr kumimoji="0" lang="en-US" altLang="zh-CN" b="1" i="1" dirty="0" smtClean="0">
                <a:solidFill>
                  <a:srgbClr val="CC3300"/>
                </a:solidFill>
                <a:latin typeface="Times New Roman" pitchFamily="18" charset="0"/>
                <a:ea typeface="宋体" pitchFamily="2" charset="-122"/>
              </a:rPr>
              <a:t>δ</a:t>
            </a:r>
            <a:r>
              <a:rPr kumimoji="0" lang="en-US" altLang="zh-CN" b="1" dirty="0" smtClean="0">
                <a:latin typeface="宋体" pitchFamily="2" charset="-122"/>
                <a:ea typeface="宋体" pitchFamily="2" charset="-122"/>
              </a:rPr>
              <a:t>-</a:t>
            </a:r>
            <a:r>
              <a:rPr kumimoji="0" lang="en-US" altLang="zh-CN" b="1" dirty="0">
                <a:latin typeface="宋体" pitchFamily="2" charset="-122"/>
                <a:ea typeface="宋体" pitchFamily="2" charset="-122"/>
              </a:rPr>
              <a:t>-</a:t>
            </a:r>
            <a:r>
              <a:rPr kumimoji="0" lang="zh-CN" altLang="en-US" b="1" dirty="0">
                <a:latin typeface="宋体" pitchFamily="2" charset="-122"/>
                <a:ea typeface="宋体" pitchFamily="2" charset="-122"/>
              </a:rPr>
              <a:t>压电元件厚度</a:t>
            </a:r>
            <a:endParaRPr lang="zh-CN" altLang="en-US" dirty="0">
              <a:latin typeface="宋体" pitchFamily="2" charset="-122"/>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blinds(horizontal)">
                                      <p:cBhvr>
                                        <p:cTn id="7" dur="500"/>
                                        <p:tgtEl>
                                          <p:spTgt spid="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7.3 </a:t>
            </a:r>
            <a:r>
              <a:rPr lang="zh-CN" altLang="en-US" b="1" dirty="0" smtClean="0">
                <a:solidFill>
                  <a:schemeClr val="tx2"/>
                </a:solidFill>
                <a:latin typeface="黑体" pitchFamily="49" charset="-122"/>
                <a:ea typeface="黑体" pitchFamily="49" charset="-122"/>
              </a:rPr>
              <a:t>等效电路</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8" name="Text Box 19"/>
          <p:cNvSpPr txBox="1">
            <a:spLocks noChangeArrowheads="1"/>
          </p:cNvSpPr>
          <p:nvPr/>
        </p:nvSpPr>
        <p:spPr bwMode="auto">
          <a:xfrm>
            <a:off x="214282" y="1571612"/>
            <a:ext cx="8643998" cy="540725"/>
          </a:xfrm>
          <a:prstGeom prst="rect">
            <a:avLst/>
          </a:prstGeom>
          <a:noFill/>
          <a:ln w="9525" algn="ctr">
            <a:noFill/>
            <a:miter lim="800000"/>
            <a:headEnd/>
            <a:tailEnd/>
          </a:ln>
        </p:spPr>
        <p:txBody>
          <a:bodyPr wrap="square">
            <a:spAutoFit/>
          </a:bodyPr>
          <a:lstStyle/>
          <a:p>
            <a:pPr indent="352425">
              <a:lnSpc>
                <a:spcPct val="120000"/>
              </a:lnSpc>
              <a:buClr>
                <a:schemeClr val="folHlink"/>
              </a:buClr>
            </a:pPr>
            <a:r>
              <a:rPr lang="zh-CN" altLang="en-US" b="1" dirty="0" smtClean="0">
                <a:solidFill>
                  <a:srgbClr val="F84D08"/>
                </a:solidFill>
                <a:latin typeface="黑体" pitchFamily="49" charset="-122"/>
                <a:ea typeface="黑体" pitchFamily="49" charset="-122"/>
                <a:cs typeface="+mj-cs"/>
              </a:rPr>
              <a:t>电荷等效电路</a:t>
            </a:r>
            <a:endParaRPr lang="zh-CN" altLang="en-US" b="1" dirty="0">
              <a:solidFill>
                <a:srgbClr val="F84D08"/>
              </a:solidFill>
              <a:latin typeface="黑体" pitchFamily="49" charset="-122"/>
              <a:ea typeface="黑体" pitchFamily="49" charset="-122"/>
              <a:cs typeface="+mj-cs"/>
            </a:endParaRPr>
          </a:p>
        </p:txBody>
      </p:sp>
      <p:graphicFrame>
        <p:nvGraphicFramePr>
          <p:cNvPr id="10" name="Object 4"/>
          <p:cNvGraphicFramePr>
            <a:graphicFrameLocks noChangeAspect="1"/>
          </p:cNvGraphicFramePr>
          <p:nvPr/>
        </p:nvGraphicFramePr>
        <p:xfrm>
          <a:off x="3571868" y="3071810"/>
          <a:ext cx="1371600" cy="1066800"/>
        </p:xfrm>
        <a:graphic>
          <a:graphicData uri="http://schemas.openxmlformats.org/presentationml/2006/ole">
            <p:oleObj spid="_x0000_s76803" name="Flash Movie" r:id="rId3" imgW="1585080" imgH="801360" progId="">
              <p:embed/>
            </p:oleObj>
          </a:graphicData>
        </a:graphic>
      </p:graphicFrame>
      <p:sp>
        <p:nvSpPr>
          <p:cNvPr id="11" name="Text Box 20"/>
          <p:cNvSpPr txBox="1">
            <a:spLocks noChangeArrowheads="1"/>
          </p:cNvSpPr>
          <p:nvPr/>
        </p:nvSpPr>
        <p:spPr bwMode="auto">
          <a:xfrm>
            <a:off x="285720" y="2052621"/>
            <a:ext cx="8643998" cy="954107"/>
          </a:xfrm>
          <a:prstGeom prst="rect">
            <a:avLst/>
          </a:prstGeom>
          <a:noFill/>
          <a:ln w="9525" algn="ctr">
            <a:noFill/>
            <a:miter lim="800000"/>
            <a:headEnd/>
            <a:tailEnd/>
          </a:ln>
        </p:spPr>
        <p:txBody>
          <a:bodyPr wrap="square">
            <a:spAutoFit/>
          </a:bodyPr>
          <a:lstStyle/>
          <a:p>
            <a:pPr indent="439738">
              <a:spcBef>
                <a:spcPct val="50000"/>
              </a:spcBef>
            </a:pPr>
            <a:r>
              <a:rPr lang="zh-CN" altLang="en-US" b="1" dirty="0">
                <a:solidFill>
                  <a:schemeClr val="tx1"/>
                </a:solidFill>
                <a:latin typeface="宋体" pitchFamily="2" charset="-122"/>
                <a:ea typeface="宋体" pitchFamily="2" charset="-122"/>
              </a:rPr>
              <a:t>当压电元件受外力作用时，两表面产生等量的正、负电荷</a:t>
            </a:r>
            <a:r>
              <a:rPr lang="en-US" altLang="zh-CN" b="1" dirty="0">
                <a:solidFill>
                  <a:schemeClr val="tx1"/>
                </a:solidFill>
                <a:latin typeface="宋体" pitchFamily="2" charset="-122"/>
                <a:ea typeface="宋体" pitchFamily="2" charset="-122"/>
              </a:rPr>
              <a:t>Q</a:t>
            </a:r>
            <a:r>
              <a:rPr lang="zh-CN" altLang="en-US" b="1" dirty="0">
                <a:solidFill>
                  <a:schemeClr val="tx1"/>
                </a:solidFill>
                <a:latin typeface="宋体" pitchFamily="2" charset="-122"/>
                <a:ea typeface="宋体" pitchFamily="2" charset="-122"/>
              </a:rPr>
              <a:t>，压电元件的</a:t>
            </a:r>
            <a:r>
              <a:rPr lang="zh-CN" altLang="en-US" b="1" dirty="0" smtClean="0">
                <a:solidFill>
                  <a:schemeClr val="tx1"/>
                </a:solidFill>
                <a:latin typeface="宋体" pitchFamily="2" charset="-122"/>
                <a:ea typeface="宋体" pitchFamily="2" charset="-122"/>
              </a:rPr>
              <a:t>开路电压为</a:t>
            </a:r>
            <a:endParaRPr lang="zh-CN" altLang="en-US" b="1" dirty="0">
              <a:solidFill>
                <a:schemeClr val="tx1"/>
              </a:solidFill>
              <a:latin typeface="宋体" pitchFamily="2" charset="-122"/>
              <a:ea typeface="宋体" pitchFamily="2" charset="-122"/>
            </a:endParaRPr>
          </a:p>
        </p:txBody>
      </p:sp>
      <p:sp>
        <p:nvSpPr>
          <p:cNvPr id="12" name="Text Box 22"/>
          <p:cNvSpPr txBox="1">
            <a:spLocks noChangeArrowheads="1"/>
          </p:cNvSpPr>
          <p:nvPr/>
        </p:nvSpPr>
        <p:spPr bwMode="auto">
          <a:xfrm>
            <a:off x="214282" y="4143380"/>
            <a:ext cx="4286280" cy="1578894"/>
          </a:xfrm>
          <a:prstGeom prst="rect">
            <a:avLst/>
          </a:prstGeom>
          <a:noFill/>
          <a:ln w="9525" algn="ctr">
            <a:noFill/>
            <a:miter lim="800000"/>
            <a:headEnd/>
            <a:tailEnd/>
          </a:ln>
        </p:spPr>
        <p:txBody>
          <a:bodyPr wrap="square">
            <a:spAutoFit/>
          </a:bodyPr>
          <a:lstStyle/>
          <a:p>
            <a:pPr indent="439738">
              <a:lnSpc>
                <a:spcPct val="115000"/>
              </a:lnSpc>
              <a:spcBef>
                <a:spcPct val="20000"/>
              </a:spcBef>
              <a:buClr>
                <a:schemeClr val="folHlink"/>
              </a:buClr>
              <a:buSzPct val="60000"/>
              <a:buFont typeface="Wingdings" pitchFamily="2" charset="2"/>
              <a:buNone/>
            </a:pPr>
            <a:r>
              <a:rPr lang="zh-CN" altLang="en-US" b="1" dirty="0" smtClean="0">
                <a:solidFill>
                  <a:schemeClr val="tx1"/>
                </a:solidFill>
                <a:latin typeface="宋体" pitchFamily="2" charset="-122"/>
                <a:ea typeface="宋体" pitchFamily="2" charset="-122"/>
              </a:rPr>
              <a:t>可以</a:t>
            </a:r>
            <a:r>
              <a:rPr lang="zh-CN" altLang="en-US" b="1" dirty="0">
                <a:solidFill>
                  <a:schemeClr val="tx1"/>
                </a:solidFill>
                <a:latin typeface="宋体" pitchFamily="2" charset="-122"/>
                <a:ea typeface="宋体" pitchFamily="2" charset="-122"/>
              </a:rPr>
              <a:t>把压电元件等效为一个电荷源</a:t>
            </a:r>
            <a:r>
              <a:rPr lang="en-US" altLang="zh-CN" b="1" i="1" dirty="0">
                <a:solidFill>
                  <a:schemeClr val="tx1"/>
                </a:solidFill>
                <a:latin typeface="Times New Roman" pitchFamily="18" charset="0"/>
                <a:ea typeface="宋体" pitchFamily="2" charset="-122"/>
              </a:rPr>
              <a:t>Q</a:t>
            </a:r>
            <a:r>
              <a:rPr lang="zh-CN" altLang="en-US" b="1" dirty="0">
                <a:solidFill>
                  <a:schemeClr val="tx1"/>
                </a:solidFill>
                <a:latin typeface="宋体" pitchFamily="2" charset="-122"/>
                <a:ea typeface="宋体" pitchFamily="2" charset="-122"/>
              </a:rPr>
              <a:t>和一个电容器</a:t>
            </a:r>
            <a:r>
              <a:rPr lang="en-US" altLang="zh-CN" b="1" i="1" dirty="0">
                <a:solidFill>
                  <a:schemeClr val="tx1"/>
                </a:solidFill>
                <a:latin typeface="Times New Roman" pitchFamily="18" charset="0"/>
                <a:ea typeface="宋体" pitchFamily="2" charset="-122"/>
              </a:rPr>
              <a:t>C</a:t>
            </a:r>
            <a:r>
              <a:rPr lang="en-US" altLang="zh-CN" b="1" i="1" baseline="-25000" dirty="0">
                <a:solidFill>
                  <a:schemeClr val="tx1"/>
                </a:solidFill>
                <a:latin typeface="Times New Roman" pitchFamily="18" charset="0"/>
                <a:ea typeface="宋体" pitchFamily="2" charset="-122"/>
              </a:rPr>
              <a:t>a</a:t>
            </a:r>
            <a:r>
              <a:rPr lang="zh-CN" altLang="en-US" b="1" dirty="0">
                <a:solidFill>
                  <a:schemeClr val="tx1"/>
                </a:solidFill>
                <a:latin typeface="宋体" pitchFamily="2" charset="-122"/>
                <a:ea typeface="宋体" pitchFamily="2" charset="-122"/>
              </a:rPr>
              <a:t>的等效电路。</a:t>
            </a:r>
            <a:endParaRPr lang="zh-CN" altLang="en-US" dirty="0">
              <a:solidFill>
                <a:schemeClr val="tx1"/>
              </a:solidFill>
            </a:endParaRPr>
          </a:p>
        </p:txBody>
      </p:sp>
      <p:pic>
        <p:nvPicPr>
          <p:cNvPr id="13" name="Picture 7"/>
          <p:cNvPicPr>
            <a:picLocks noChangeAspect="1" noChangeArrowheads="1"/>
          </p:cNvPicPr>
          <p:nvPr/>
        </p:nvPicPr>
        <p:blipFill>
          <a:blip r:embed="rId4"/>
          <a:srcRect/>
          <a:stretch>
            <a:fillRect/>
          </a:stretch>
        </p:blipFill>
        <p:spPr bwMode="auto">
          <a:xfrm>
            <a:off x="4929190" y="4143380"/>
            <a:ext cx="2928958" cy="2447925"/>
          </a:xfrm>
          <a:prstGeom prst="rect">
            <a:avLst/>
          </a:prstGeom>
          <a:noFill/>
          <a:ln w="9525" cap="flat" cmpd="sng" algn="ctr">
            <a:noFill/>
            <a:prstDash val="solid"/>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7.3 </a:t>
            </a:r>
            <a:r>
              <a:rPr lang="zh-CN" altLang="en-US" b="1" dirty="0" smtClean="0">
                <a:solidFill>
                  <a:schemeClr val="tx2"/>
                </a:solidFill>
                <a:latin typeface="黑体" pitchFamily="49" charset="-122"/>
                <a:ea typeface="黑体" pitchFamily="49" charset="-122"/>
              </a:rPr>
              <a:t>等效电路</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8" name="Text Box 19"/>
          <p:cNvSpPr txBox="1">
            <a:spLocks noChangeArrowheads="1"/>
          </p:cNvSpPr>
          <p:nvPr/>
        </p:nvSpPr>
        <p:spPr bwMode="auto">
          <a:xfrm>
            <a:off x="214282" y="1571612"/>
            <a:ext cx="8643998" cy="540725"/>
          </a:xfrm>
          <a:prstGeom prst="rect">
            <a:avLst/>
          </a:prstGeom>
          <a:noFill/>
          <a:ln w="9525" algn="ctr">
            <a:noFill/>
            <a:miter lim="800000"/>
            <a:headEnd/>
            <a:tailEnd/>
          </a:ln>
        </p:spPr>
        <p:txBody>
          <a:bodyPr wrap="square">
            <a:spAutoFit/>
          </a:bodyPr>
          <a:lstStyle/>
          <a:p>
            <a:pPr indent="352425">
              <a:lnSpc>
                <a:spcPct val="120000"/>
              </a:lnSpc>
              <a:buClr>
                <a:schemeClr val="folHlink"/>
              </a:buClr>
            </a:pPr>
            <a:r>
              <a:rPr lang="zh-CN" altLang="en-US" b="1" dirty="0" smtClean="0">
                <a:solidFill>
                  <a:srgbClr val="F84D08"/>
                </a:solidFill>
                <a:latin typeface="黑体" pitchFamily="49" charset="-122"/>
                <a:ea typeface="黑体" pitchFamily="49" charset="-122"/>
                <a:cs typeface="+mj-cs"/>
              </a:rPr>
              <a:t>电压等效电路</a:t>
            </a:r>
            <a:endParaRPr lang="zh-CN" altLang="en-US" b="1" dirty="0">
              <a:solidFill>
                <a:srgbClr val="F84D08"/>
              </a:solidFill>
              <a:latin typeface="黑体" pitchFamily="49" charset="-122"/>
              <a:ea typeface="黑体" pitchFamily="49" charset="-122"/>
              <a:cs typeface="+mj-cs"/>
            </a:endParaRPr>
          </a:p>
        </p:txBody>
      </p:sp>
      <p:sp>
        <p:nvSpPr>
          <p:cNvPr id="9" name="Text Box 5"/>
          <p:cNvSpPr txBox="1">
            <a:spLocks noChangeArrowheads="1"/>
          </p:cNvSpPr>
          <p:nvPr/>
        </p:nvSpPr>
        <p:spPr bwMode="auto">
          <a:xfrm>
            <a:off x="755650" y="4941888"/>
            <a:ext cx="8101013" cy="1083374"/>
          </a:xfrm>
          <a:prstGeom prst="rect">
            <a:avLst/>
          </a:prstGeom>
          <a:noFill/>
          <a:ln w="9525" algn="ctr">
            <a:noFill/>
            <a:miter lim="800000"/>
            <a:headEnd/>
            <a:tailEnd/>
          </a:ln>
        </p:spPr>
        <p:txBody>
          <a:bodyPr>
            <a:spAutoFit/>
          </a:bodyPr>
          <a:lstStyle/>
          <a:p>
            <a:pPr indent="439738">
              <a:lnSpc>
                <a:spcPct val="115000"/>
              </a:lnSpc>
              <a:spcBef>
                <a:spcPct val="20000"/>
              </a:spcBef>
              <a:buClr>
                <a:schemeClr val="folHlink"/>
              </a:buClr>
              <a:buSzPct val="60000"/>
              <a:buFont typeface="Wingdings" pitchFamily="2" charset="2"/>
              <a:buNone/>
            </a:pPr>
            <a:r>
              <a:rPr lang="zh-CN" altLang="en-US" b="1" dirty="0" smtClean="0">
                <a:solidFill>
                  <a:schemeClr val="tx1"/>
                </a:solidFill>
                <a:latin typeface="宋体" pitchFamily="2" charset="-122"/>
                <a:ea typeface="宋体" pitchFamily="2" charset="-122"/>
              </a:rPr>
              <a:t>也</a:t>
            </a:r>
            <a:r>
              <a:rPr lang="zh-CN" altLang="en-US" b="1" dirty="0">
                <a:solidFill>
                  <a:schemeClr val="tx1"/>
                </a:solidFill>
                <a:latin typeface="宋体" pitchFamily="2" charset="-122"/>
                <a:ea typeface="宋体" pitchFamily="2" charset="-122"/>
              </a:rPr>
              <a:t>等效为一个</a:t>
            </a:r>
            <a:r>
              <a:rPr lang="zh-CN" altLang="en-US" b="1" dirty="0" smtClean="0">
                <a:solidFill>
                  <a:schemeClr val="tx1"/>
                </a:solidFill>
                <a:latin typeface="宋体" pitchFamily="2" charset="-122"/>
                <a:ea typeface="宋体" pitchFamily="2" charset="-122"/>
              </a:rPr>
              <a:t>电压源</a:t>
            </a:r>
            <a:r>
              <a:rPr lang="en-US" altLang="zh-CN" b="1" i="1" dirty="0" smtClean="0">
                <a:solidFill>
                  <a:schemeClr val="tx1"/>
                </a:solidFill>
                <a:latin typeface="Times New Roman" pitchFamily="18" charset="0"/>
                <a:ea typeface="宋体" pitchFamily="2" charset="-122"/>
                <a:cs typeface="Times New Roman" pitchFamily="18" charset="0"/>
              </a:rPr>
              <a:t>u</a:t>
            </a:r>
            <a:r>
              <a:rPr lang="zh-CN" altLang="en-US" b="1" dirty="0" smtClean="0">
                <a:solidFill>
                  <a:schemeClr val="tx1"/>
                </a:solidFill>
                <a:latin typeface="宋体" pitchFamily="2" charset="-122"/>
                <a:ea typeface="宋体" pitchFamily="2" charset="-122"/>
              </a:rPr>
              <a:t>和</a:t>
            </a:r>
            <a:r>
              <a:rPr lang="zh-CN" altLang="en-US" b="1" dirty="0">
                <a:solidFill>
                  <a:schemeClr val="tx1"/>
                </a:solidFill>
                <a:latin typeface="宋体" pitchFamily="2" charset="-122"/>
                <a:ea typeface="宋体" pitchFamily="2" charset="-122"/>
              </a:rPr>
              <a:t>一个</a:t>
            </a:r>
            <a:r>
              <a:rPr lang="zh-CN" altLang="en-US" b="1" dirty="0" smtClean="0">
                <a:solidFill>
                  <a:schemeClr val="tx1"/>
                </a:solidFill>
                <a:latin typeface="宋体" pitchFamily="2" charset="-122"/>
                <a:ea typeface="宋体" pitchFamily="2" charset="-122"/>
              </a:rPr>
              <a:t>电容器</a:t>
            </a:r>
            <a:r>
              <a:rPr lang="en-US" altLang="zh-CN" b="1" i="1" dirty="0" smtClean="0">
                <a:solidFill>
                  <a:schemeClr val="tx1"/>
                </a:solidFill>
                <a:latin typeface="Times New Roman" pitchFamily="18" charset="0"/>
                <a:ea typeface="宋体" pitchFamily="2" charset="-122"/>
              </a:rPr>
              <a:t>C</a:t>
            </a:r>
            <a:r>
              <a:rPr lang="en-US" altLang="zh-CN" b="1" i="1" baseline="-25000" dirty="0" smtClean="0">
                <a:solidFill>
                  <a:schemeClr val="tx1"/>
                </a:solidFill>
                <a:latin typeface="Times New Roman" pitchFamily="18" charset="0"/>
                <a:ea typeface="宋体" pitchFamily="2" charset="-122"/>
              </a:rPr>
              <a:t>a</a:t>
            </a:r>
            <a:r>
              <a:rPr lang="zh-CN" altLang="en-US" b="1" dirty="0" smtClean="0">
                <a:solidFill>
                  <a:schemeClr val="tx1"/>
                </a:solidFill>
                <a:latin typeface="宋体" pitchFamily="2" charset="-122"/>
                <a:ea typeface="宋体" pitchFamily="2" charset="-122"/>
              </a:rPr>
              <a:t>串联</a:t>
            </a:r>
            <a:r>
              <a:rPr lang="zh-CN" altLang="en-US" b="1" dirty="0">
                <a:solidFill>
                  <a:schemeClr val="tx1"/>
                </a:solidFill>
                <a:latin typeface="宋体" pitchFamily="2" charset="-122"/>
                <a:ea typeface="宋体" pitchFamily="2" charset="-122"/>
              </a:rPr>
              <a:t>的等效电路</a:t>
            </a:r>
            <a:r>
              <a:rPr lang="zh-CN" altLang="en-US" b="1" dirty="0" smtClean="0">
                <a:solidFill>
                  <a:schemeClr val="tx1"/>
                </a:solidFill>
                <a:latin typeface="宋体" pitchFamily="2" charset="-122"/>
                <a:ea typeface="宋体" pitchFamily="2" charset="-122"/>
              </a:rPr>
              <a:t>，其中</a:t>
            </a:r>
            <a:r>
              <a:rPr lang="en-US" altLang="zh-CN" b="1" i="1" dirty="0">
                <a:solidFill>
                  <a:schemeClr val="tx1"/>
                </a:solidFill>
                <a:latin typeface="宋体" pitchFamily="2" charset="-122"/>
                <a:ea typeface="宋体" pitchFamily="2" charset="-122"/>
              </a:rPr>
              <a:t>R</a:t>
            </a:r>
            <a:r>
              <a:rPr lang="en-US" altLang="zh-CN" b="1" i="1" baseline="-25000" dirty="0">
                <a:solidFill>
                  <a:schemeClr val="tx1"/>
                </a:solidFill>
                <a:latin typeface="Times New Roman" pitchFamily="18" charset="0"/>
                <a:ea typeface="宋体" pitchFamily="2" charset="-122"/>
              </a:rPr>
              <a:t>a</a:t>
            </a:r>
            <a:r>
              <a:rPr lang="zh-CN" altLang="en-US" b="1" dirty="0">
                <a:solidFill>
                  <a:schemeClr val="tx1"/>
                </a:solidFill>
                <a:latin typeface="宋体" pitchFamily="2" charset="-122"/>
                <a:ea typeface="宋体" pitchFamily="2" charset="-122"/>
              </a:rPr>
              <a:t>为压电元件的漏电阻。</a:t>
            </a:r>
            <a:endParaRPr lang="zh-CN" altLang="en-US" dirty="0">
              <a:solidFill>
                <a:schemeClr val="tx1"/>
              </a:solidFill>
            </a:endParaRPr>
          </a:p>
        </p:txBody>
      </p:sp>
      <p:pic>
        <p:nvPicPr>
          <p:cNvPr id="14" name="Picture 7"/>
          <p:cNvPicPr>
            <a:picLocks noChangeAspect="1" noChangeArrowheads="1"/>
          </p:cNvPicPr>
          <p:nvPr/>
        </p:nvPicPr>
        <p:blipFill>
          <a:blip r:embed="rId2"/>
          <a:srcRect/>
          <a:stretch>
            <a:fillRect/>
          </a:stretch>
        </p:blipFill>
        <p:spPr bwMode="auto">
          <a:xfrm>
            <a:off x="2738439" y="2209800"/>
            <a:ext cx="3333760" cy="2438400"/>
          </a:xfrm>
          <a:prstGeom prst="rect">
            <a:avLst/>
          </a:prstGeom>
          <a:noFill/>
          <a:ln w="9525" cap="flat" cmpd="sng" algn="ctr">
            <a:noFill/>
            <a:prstDash val="solid"/>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7.4 </a:t>
            </a:r>
            <a:r>
              <a:rPr lang="zh-CN" altLang="en-US" b="1" dirty="0" smtClean="0">
                <a:solidFill>
                  <a:schemeClr val="tx2"/>
                </a:solidFill>
                <a:latin typeface="黑体" pitchFamily="49" charset="-122"/>
                <a:ea typeface="黑体" pitchFamily="49" charset="-122"/>
              </a:rPr>
              <a:t>测量电路</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7" name="Text Box 18"/>
          <p:cNvSpPr txBox="1">
            <a:spLocks noChangeArrowheads="1"/>
          </p:cNvSpPr>
          <p:nvPr/>
        </p:nvSpPr>
        <p:spPr bwMode="auto">
          <a:xfrm>
            <a:off x="285720" y="1571612"/>
            <a:ext cx="8643998" cy="1074781"/>
          </a:xfrm>
          <a:prstGeom prst="rect">
            <a:avLst/>
          </a:prstGeom>
          <a:noFill/>
          <a:ln w="9525" algn="ctr">
            <a:noFill/>
            <a:miter lim="800000"/>
            <a:headEnd/>
            <a:tailEnd/>
          </a:ln>
        </p:spPr>
        <p:txBody>
          <a:bodyPr wrap="square">
            <a:spAutoFit/>
          </a:bodyPr>
          <a:lstStyle/>
          <a:p>
            <a:pPr indent="544513">
              <a:lnSpc>
                <a:spcPct val="114000"/>
              </a:lnSpc>
            </a:pPr>
            <a:r>
              <a:rPr lang="zh-CN" altLang="en-US" b="1" dirty="0">
                <a:solidFill>
                  <a:schemeClr val="tx1"/>
                </a:solidFill>
                <a:latin typeface="宋体" pitchFamily="2" charset="-122"/>
                <a:ea typeface="宋体" pitchFamily="2" charset="-122"/>
              </a:rPr>
              <a:t>根据压电元件的工作原理</a:t>
            </a:r>
            <a:r>
              <a:rPr lang="zh-CN" altLang="en-US" b="1" dirty="0" smtClean="0">
                <a:solidFill>
                  <a:schemeClr val="tx1"/>
                </a:solidFill>
                <a:latin typeface="宋体" pitchFamily="2" charset="-122"/>
                <a:ea typeface="宋体" pitchFamily="2" charset="-122"/>
              </a:rPr>
              <a:t>及两种</a:t>
            </a:r>
            <a:r>
              <a:rPr lang="zh-CN" altLang="en-US" b="1" dirty="0">
                <a:solidFill>
                  <a:schemeClr val="tx1"/>
                </a:solidFill>
                <a:latin typeface="宋体" pitchFamily="2" charset="-122"/>
                <a:ea typeface="宋体" pitchFamily="2" charset="-122"/>
              </a:rPr>
              <a:t>等效电路，与压电元件配套的测量电路的</a:t>
            </a:r>
            <a:r>
              <a:rPr lang="zh-CN" altLang="en-US" b="1" dirty="0" smtClean="0">
                <a:solidFill>
                  <a:schemeClr val="tx1"/>
                </a:solidFill>
                <a:latin typeface="宋体" pitchFamily="2" charset="-122"/>
                <a:ea typeface="宋体" pitchFamily="2" charset="-122"/>
              </a:rPr>
              <a:t>前置放大器主要有</a:t>
            </a:r>
            <a:r>
              <a:rPr lang="zh-CN" altLang="en-US" b="1" dirty="0">
                <a:solidFill>
                  <a:schemeClr val="tx1"/>
                </a:solidFill>
                <a:latin typeface="宋体" pitchFamily="2" charset="-122"/>
                <a:ea typeface="宋体" pitchFamily="2" charset="-122"/>
              </a:rPr>
              <a:t>两种形式：</a:t>
            </a:r>
          </a:p>
        </p:txBody>
      </p:sp>
      <p:sp>
        <p:nvSpPr>
          <p:cNvPr id="10" name="矩形 9"/>
          <p:cNvSpPr>
            <a:spLocks noChangeArrowheads="1"/>
          </p:cNvSpPr>
          <p:nvPr/>
        </p:nvSpPr>
        <p:spPr bwMode="auto">
          <a:xfrm>
            <a:off x="214282" y="2786058"/>
            <a:ext cx="8643998" cy="2246769"/>
          </a:xfrm>
          <a:prstGeom prst="rect">
            <a:avLst/>
          </a:prstGeom>
          <a:noFill/>
          <a:ln w="9525">
            <a:noFill/>
            <a:miter lim="800000"/>
            <a:headEnd/>
            <a:tailEnd/>
          </a:ln>
        </p:spPr>
        <p:txBody>
          <a:bodyPr wrap="square">
            <a:spAutoFit/>
          </a:bodyPr>
          <a:lstStyle/>
          <a:p>
            <a:pPr marL="993775" lvl="1" indent="-363538">
              <a:buFontTx/>
              <a:buChar char="-"/>
            </a:pPr>
            <a:r>
              <a:rPr lang="zh-CN" altLang="en-US" b="1" dirty="0" smtClean="0">
                <a:solidFill>
                  <a:srgbClr val="F84D08"/>
                </a:solidFill>
                <a:latin typeface="黑体" pitchFamily="49" charset="-122"/>
                <a:ea typeface="黑体" pitchFamily="49" charset="-122"/>
              </a:rPr>
              <a:t>电压放大器</a:t>
            </a:r>
            <a:endParaRPr lang="en-US" altLang="zh-CN" b="1" dirty="0" smtClean="0">
              <a:solidFill>
                <a:srgbClr val="F84D08"/>
              </a:solidFill>
              <a:latin typeface="黑体" pitchFamily="49" charset="-122"/>
              <a:ea typeface="黑体" pitchFamily="49" charset="-122"/>
            </a:endParaRPr>
          </a:p>
          <a:p>
            <a:pPr marL="993775" lvl="1" indent="77788"/>
            <a:r>
              <a:rPr lang="zh-CN" altLang="en-US" b="1" dirty="0" smtClean="0">
                <a:solidFill>
                  <a:schemeClr val="tx1"/>
                </a:solidFill>
                <a:latin typeface="宋体" pitchFamily="2" charset="-122"/>
                <a:ea typeface="宋体" pitchFamily="2" charset="-122"/>
              </a:rPr>
              <a:t>输出</a:t>
            </a:r>
            <a:r>
              <a:rPr lang="zh-CN" altLang="en-US" b="1" dirty="0">
                <a:solidFill>
                  <a:schemeClr val="tx1"/>
                </a:solidFill>
                <a:latin typeface="宋体" pitchFamily="2" charset="-122"/>
                <a:ea typeface="宋体" pitchFamily="2" charset="-122"/>
              </a:rPr>
              <a:t>电压与输入电压</a:t>
            </a:r>
            <a:r>
              <a:rPr lang="en-US" altLang="zh-CN" b="1" dirty="0">
                <a:solidFill>
                  <a:schemeClr val="tx1"/>
                </a:solidFill>
                <a:latin typeface="宋体" pitchFamily="2" charset="-122"/>
                <a:ea typeface="宋体" pitchFamily="2" charset="-122"/>
              </a:rPr>
              <a:t>(</a:t>
            </a:r>
            <a:r>
              <a:rPr lang="zh-CN" altLang="en-US" b="1" dirty="0">
                <a:solidFill>
                  <a:schemeClr val="tx1"/>
                </a:solidFill>
                <a:latin typeface="宋体" pitchFamily="2" charset="-122"/>
                <a:ea typeface="宋体" pitchFamily="2" charset="-122"/>
              </a:rPr>
              <a:t>压电元件的输出电压</a:t>
            </a:r>
            <a:r>
              <a:rPr lang="en-US" altLang="zh-CN" b="1" dirty="0">
                <a:solidFill>
                  <a:schemeClr val="tx1"/>
                </a:solidFill>
                <a:latin typeface="宋体" pitchFamily="2" charset="-122"/>
                <a:ea typeface="宋体" pitchFamily="2" charset="-122"/>
              </a:rPr>
              <a:t>)</a:t>
            </a:r>
            <a:r>
              <a:rPr lang="zh-CN" altLang="en-US" b="1" dirty="0" smtClean="0">
                <a:solidFill>
                  <a:schemeClr val="tx1"/>
                </a:solidFill>
                <a:latin typeface="宋体" pitchFamily="2" charset="-122"/>
                <a:ea typeface="宋体" pitchFamily="2" charset="-122"/>
              </a:rPr>
              <a:t>成正比</a:t>
            </a:r>
            <a:endParaRPr lang="zh-CN" altLang="en-US" b="1" dirty="0">
              <a:solidFill>
                <a:schemeClr val="tx1"/>
              </a:solidFill>
              <a:latin typeface="宋体" pitchFamily="2" charset="-122"/>
              <a:ea typeface="宋体" pitchFamily="2" charset="-122"/>
            </a:endParaRPr>
          </a:p>
          <a:p>
            <a:pPr marL="993775" lvl="1" indent="-363538">
              <a:buFontTx/>
              <a:buChar char="-"/>
            </a:pPr>
            <a:r>
              <a:rPr lang="zh-CN" altLang="en-US" b="1" dirty="0" smtClean="0">
                <a:solidFill>
                  <a:srgbClr val="F84D08"/>
                </a:solidFill>
                <a:latin typeface="黑体" pitchFamily="49" charset="-122"/>
                <a:ea typeface="黑体" pitchFamily="49" charset="-122"/>
              </a:rPr>
              <a:t>电荷放大器</a:t>
            </a:r>
            <a:endParaRPr lang="en-US" altLang="zh-CN" b="1" dirty="0" smtClean="0">
              <a:solidFill>
                <a:srgbClr val="F84D08"/>
              </a:solidFill>
              <a:latin typeface="黑体" pitchFamily="49" charset="-122"/>
              <a:ea typeface="黑体" pitchFamily="49" charset="-122"/>
            </a:endParaRPr>
          </a:p>
          <a:p>
            <a:pPr marL="993775" lvl="1" indent="-363538"/>
            <a:r>
              <a:rPr lang="zh-CN" altLang="en-US" b="1" dirty="0" smtClean="0">
                <a:solidFill>
                  <a:schemeClr val="tx1"/>
                </a:solidFill>
                <a:latin typeface="宋体" pitchFamily="2" charset="-122"/>
                <a:ea typeface="宋体" pitchFamily="2" charset="-122"/>
              </a:rPr>
              <a:t> </a:t>
            </a:r>
            <a:r>
              <a:rPr lang="zh-CN" altLang="en-US" b="1" dirty="0" smtClean="0">
                <a:solidFill>
                  <a:schemeClr val="tx1"/>
                </a:solidFill>
                <a:latin typeface="宋体" pitchFamily="2" charset="-122"/>
                <a:ea typeface="宋体" pitchFamily="2" charset="-122"/>
              </a:rPr>
              <a:t> </a:t>
            </a:r>
            <a:r>
              <a:rPr lang="zh-CN" altLang="en-US" b="1" dirty="0" smtClean="0">
                <a:solidFill>
                  <a:schemeClr val="tx1"/>
                </a:solidFill>
                <a:latin typeface="宋体" pitchFamily="2" charset="-122"/>
                <a:ea typeface="宋体" pitchFamily="2" charset="-122"/>
              </a:rPr>
              <a:t>输出</a:t>
            </a:r>
            <a:r>
              <a:rPr lang="zh-CN" altLang="en-US" b="1" dirty="0">
                <a:solidFill>
                  <a:schemeClr val="tx1"/>
                </a:solidFill>
                <a:latin typeface="宋体" pitchFamily="2" charset="-122"/>
                <a:ea typeface="宋体" pitchFamily="2" charset="-122"/>
              </a:rPr>
              <a:t>电压与输入电荷</a:t>
            </a:r>
            <a:r>
              <a:rPr lang="zh-CN" altLang="en-US" b="1" dirty="0" smtClean="0">
                <a:solidFill>
                  <a:schemeClr val="tx1"/>
                </a:solidFill>
                <a:latin typeface="宋体" pitchFamily="2" charset="-122"/>
                <a:ea typeface="宋体" pitchFamily="2" charset="-122"/>
              </a:rPr>
              <a:t>成正比</a:t>
            </a:r>
            <a:endParaRPr lang="zh-CN" altLang="en-US"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blinds(horizontal)">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blinds(horizontal)">
                                      <p:cBhvr>
                                        <p:cTn id="12" dur="500"/>
                                        <p:tgtEl>
                                          <p:spTgt spid="10">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animEffect transition="in" filter="blinds(horizontal)">
                                      <p:cBhvr>
                                        <p:cTn id="15" dur="500"/>
                                        <p:tgtEl>
                                          <p:spTgt spid="10">
                                            <p:txEl>
                                              <p:pRg st="2" end="2"/>
                                            </p:txEl>
                                          </p:spTgt>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0">
                                            <p:txEl>
                                              <p:pRg st="3" end="3"/>
                                            </p:txEl>
                                          </p:spTgt>
                                        </p:tgtEl>
                                        <p:attrNameLst>
                                          <p:attrName>style.visibility</p:attrName>
                                        </p:attrNameLst>
                                      </p:cBhvr>
                                      <p:to>
                                        <p:strVal val="visible"/>
                                      </p:to>
                                    </p:set>
                                    <p:animEffect transition="in" filter="blinds(horizontal)">
                                      <p:cBhvr>
                                        <p:cTn id="18" dur="5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7.4 </a:t>
            </a:r>
            <a:r>
              <a:rPr lang="zh-CN" altLang="en-US" b="1" dirty="0" smtClean="0">
                <a:solidFill>
                  <a:schemeClr val="tx2"/>
                </a:solidFill>
                <a:latin typeface="黑体" pitchFamily="49" charset="-122"/>
                <a:ea typeface="黑体" pitchFamily="49" charset="-122"/>
              </a:rPr>
              <a:t>测量电路</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8" name="Text Box 19"/>
          <p:cNvSpPr txBox="1">
            <a:spLocks noChangeArrowheads="1"/>
          </p:cNvSpPr>
          <p:nvPr/>
        </p:nvSpPr>
        <p:spPr bwMode="auto">
          <a:xfrm>
            <a:off x="214282" y="1571612"/>
            <a:ext cx="8643998" cy="540725"/>
          </a:xfrm>
          <a:prstGeom prst="rect">
            <a:avLst/>
          </a:prstGeom>
          <a:noFill/>
          <a:ln w="9525" algn="ctr">
            <a:noFill/>
            <a:miter lim="800000"/>
            <a:headEnd/>
            <a:tailEnd/>
          </a:ln>
        </p:spPr>
        <p:txBody>
          <a:bodyPr wrap="square">
            <a:spAutoFit/>
          </a:bodyPr>
          <a:lstStyle/>
          <a:p>
            <a:pPr indent="352425">
              <a:lnSpc>
                <a:spcPct val="120000"/>
              </a:lnSpc>
              <a:buClr>
                <a:schemeClr val="folHlink"/>
              </a:buClr>
            </a:pPr>
            <a:r>
              <a:rPr lang="zh-CN" altLang="en-US" b="1" dirty="0" smtClean="0">
                <a:solidFill>
                  <a:srgbClr val="F84D08"/>
                </a:solidFill>
                <a:latin typeface="黑体" pitchFamily="49" charset="-122"/>
                <a:ea typeface="黑体" pitchFamily="49" charset="-122"/>
                <a:cs typeface="+mj-cs"/>
              </a:rPr>
              <a:t>电压放大器</a:t>
            </a:r>
            <a:endParaRPr lang="zh-CN" altLang="en-US" b="1" dirty="0">
              <a:solidFill>
                <a:srgbClr val="F84D08"/>
              </a:solidFill>
              <a:latin typeface="黑体" pitchFamily="49" charset="-122"/>
              <a:ea typeface="黑体" pitchFamily="49" charset="-122"/>
              <a:cs typeface="+mj-cs"/>
            </a:endParaRPr>
          </a:p>
        </p:txBody>
      </p:sp>
      <p:sp>
        <p:nvSpPr>
          <p:cNvPr id="9" name="Text Box 21"/>
          <p:cNvSpPr txBox="1">
            <a:spLocks noChangeArrowheads="1"/>
          </p:cNvSpPr>
          <p:nvPr/>
        </p:nvSpPr>
        <p:spPr bwMode="auto">
          <a:xfrm>
            <a:off x="214282" y="4572008"/>
            <a:ext cx="8528054" cy="1600438"/>
          </a:xfrm>
          <a:prstGeom prst="rect">
            <a:avLst/>
          </a:prstGeom>
          <a:noFill/>
          <a:ln w="9525" algn="ctr">
            <a:noFill/>
            <a:miter lim="800000"/>
            <a:headEnd/>
            <a:tailEnd/>
          </a:ln>
        </p:spPr>
        <p:txBody>
          <a:bodyPr wrap="square">
            <a:spAutoFit/>
          </a:bodyPr>
          <a:lstStyle/>
          <a:p>
            <a:pPr indent="352425">
              <a:spcBef>
                <a:spcPct val="50000"/>
              </a:spcBef>
            </a:pPr>
            <a:r>
              <a:rPr lang="zh-CN" altLang="en-US" b="1" dirty="0" smtClean="0">
                <a:solidFill>
                  <a:schemeClr val="tx1"/>
                </a:solidFill>
                <a:latin typeface="宋体" pitchFamily="2" charset="-122"/>
                <a:ea typeface="宋体" pitchFamily="2" charset="-122"/>
              </a:rPr>
              <a:t>将</a:t>
            </a:r>
            <a:r>
              <a:rPr lang="zh-CN" altLang="en-US" b="1" dirty="0">
                <a:solidFill>
                  <a:schemeClr val="tx1"/>
                </a:solidFill>
                <a:latin typeface="宋体" pitchFamily="2" charset="-122"/>
                <a:ea typeface="宋体" pitchFamily="2" charset="-122"/>
              </a:rPr>
              <a:t>压电式传感器的高输出阻抗经放大器变换为低阻抗输出，并将微弱的电压信号进行适当放大</a:t>
            </a:r>
            <a:r>
              <a:rPr lang="zh-CN" altLang="en-US" b="1" dirty="0" smtClean="0">
                <a:solidFill>
                  <a:schemeClr val="tx1"/>
                </a:solidFill>
                <a:latin typeface="宋体" pitchFamily="2" charset="-122"/>
                <a:ea typeface="宋体" pitchFamily="2" charset="-122"/>
              </a:rPr>
              <a:t>。</a:t>
            </a:r>
            <a:endParaRPr lang="en-US" altLang="zh-CN" b="1" dirty="0" smtClean="0">
              <a:solidFill>
                <a:schemeClr val="tx1"/>
              </a:solidFill>
              <a:latin typeface="宋体" pitchFamily="2" charset="-122"/>
              <a:ea typeface="宋体" pitchFamily="2" charset="-122"/>
            </a:endParaRPr>
          </a:p>
          <a:p>
            <a:pPr indent="352425">
              <a:spcBef>
                <a:spcPct val="50000"/>
              </a:spcBef>
            </a:pPr>
            <a:r>
              <a:rPr lang="zh-CN" altLang="en-US" b="1" dirty="0" smtClean="0">
                <a:solidFill>
                  <a:schemeClr val="tx1"/>
                </a:solidFill>
                <a:latin typeface="宋体" pitchFamily="2" charset="-122"/>
                <a:ea typeface="宋体" pitchFamily="2" charset="-122"/>
              </a:rPr>
              <a:t>这种</a:t>
            </a:r>
            <a:r>
              <a:rPr lang="zh-CN" altLang="en-US" b="1" dirty="0">
                <a:solidFill>
                  <a:schemeClr val="tx1"/>
                </a:solidFill>
                <a:latin typeface="宋体" pitchFamily="2" charset="-122"/>
                <a:ea typeface="宋体" pitchFamily="2" charset="-122"/>
              </a:rPr>
              <a:t>测量电路称为阻抗变换器。</a:t>
            </a:r>
          </a:p>
        </p:txBody>
      </p:sp>
      <p:graphicFrame>
        <p:nvGraphicFramePr>
          <p:cNvPr id="11" name="Object 22"/>
          <p:cNvGraphicFramePr>
            <a:graphicFrameLocks noGrp="1" noChangeAspect="1"/>
          </p:cNvGraphicFramePr>
          <p:nvPr>
            <p:ph idx="1"/>
          </p:nvPr>
        </p:nvGraphicFramePr>
        <p:xfrm>
          <a:off x="2143108" y="2214554"/>
          <a:ext cx="4021148" cy="2165409"/>
        </p:xfrm>
        <a:graphic>
          <a:graphicData uri="http://schemas.openxmlformats.org/presentationml/2006/ole">
            <p:oleObj spid="_x0000_s78850" name="Image" r:id="rId3" imgW="15046531" imgH="8101224" progId="">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trips(downRigh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7.4 </a:t>
            </a:r>
            <a:r>
              <a:rPr lang="zh-CN" altLang="en-US" b="1" dirty="0" smtClean="0">
                <a:solidFill>
                  <a:schemeClr val="tx2"/>
                </a:solidFill>
                <a:latin typeface="黑体" pitchFamily="49" charset="-122"/>
                <a:ea typeface="黑体" pitchFamily="49" charset="-122"/>
              </a:rPr>
              <a:t>测量电路</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8" name="Text Box 19"/>
          <p:cNvSpPr txBox="1">
            <a:spLocks noChangeArrowheads="1"/>
          </p:cNvSpPr>
          <p:nvPr/>
        </p:nvSpPr>
        <p:spPr bwMode="auto">
          <a:xfrm>
            <a:off x="214282" y="1571612"/>
            <a:ext cx="8643998" cy="540725"/>
          </a:xfrm>
          <a:prstGeom prst="rect">
            <a:avLst/>
          </a:prstGeom>
          <a:noFill/>
          <a:ln w="9525" algn="ctr">
            <a:noFill/>
            <a:miter lim="800000"/>
            <a:headEnd/>
            <a:tailEnd/>
          </a:ln>
        </p:spPr>
        <p:txBody>
          <a:bodyPr wrap="square">
            <a:spAutoFit/>
          </a:bodyPr>
          <a:lstStyle/>
          <a:p>
            <a:pPr indent="352425">
              <a:lnSpc>
                <a:spcPct val="120000"/>
              </a:lnSpc>
              <a:buClr>
                <a:schemeClr val="folHlink"/>
              </a:buClr>
            </a:pPr>
            <a:r>
              <a:rPr lang="zh-CN" altLang="en-US" b="1" dirty="0" smtClean="0">
                <a:solidFill>
                  <a:srgbClr val="F84D08"/>
                </a:solidFill>
                <a:latin typeface="黑体" pitchFamily="49" charset="-122"/>
                <a:ea typeface="黑体" pitchFamily="49" charset="-122"/>
                <a:cs typeface="+mj-cs"/>
              </a:rPr>
              <a:t>电压放大器</a:t>
            </a:r>
            <a:endParaRPr lang="zh-CN" altLang="en-US" b="1" dirty="0">
              <a:solidFill>
                <a:srgbClr val="F84D08"/>
              </a:solidFill>
              <a:latin typeface="黑体" pitchFamily="49" charset="-122"/>
              <a:ea typeface="黑体" pitchFamily="49" charset="-122"/>
              <a:cs typeface="+mj-cs"/>
            </a:endParaRPr>
          </a:p>
        </p:txBody>
      </p:sp>
      <p:graphicFrame>
        <p:nvGraphicFramePr>
          <p:cNvPr id="11" name="Object 22"/>
          <p:cNvGraphicFramePr>
            <a:graphicFrameLocks noGrp="1" noChangeAspect="1"/>
          </p:cNvGraphicFramePr>
          <p:nvPr>
            <p:ph idx="1"/>
          </p:nvPr>
        </p:nvGraphicFramePr>
        <p:xfrm>
          <a:off x="4786314" y="1643050"/>
          <a:ext cx="4021148" cy="2165409"/>
        </p:xfrm>
        <a:graphic>
          <a:graphicData uri="http://schemas.openxmlformats.org/presentationml/2006/ole">
            <p:oleObj spid="_x0000_s79874" name="Image" r:id="rId3" imgW="15046531" imgH="8101224" progId="">
              <p:embed/>
            </p:oleObj>
          </a:graphicData>
        </a:graphic>
      </p:graphicFrame>
      <p:sp>
        <p:nvSpPr>
          <p:cNvPr id="7" name="矩形 6"/>
          <p:cNvSpPr/>
          <p:nvPr/>
        </p:nvSpPr>
        <p:spPr>
          <a:xfrm>
            <a:off x="285720" y="2143116"/>
            <a:ext cx="4429156" cy="1815882"/>
          </a:xfrm>
          <a:prstGeom prst="rect">
            <a:avLst/>
          </a:prstGeom>
        </p:spPr>
        <p:txBody>
          <a:bodyPr wrap="square">
            <a:spAutoFit/>
          </a:bodyPr>
          <a:lstStyle/>
          <a:p>
            <a:pPr>
              <a:buFont typeface="Wingdings" pitchFamily="2" charset="2"/>
              <a:buChar char="l"/>
            </a:pPr>
            <a:r>
              <a:rPr lang="zh-CN" altLang="en-US" b="1" dirty="0" smtClean="0">
                <a:solidFill>
                  <a:schemeClr val="tx1"/>
                </a:solidFill>
                <a:latin typeface="宋体" pitchFamily="2" charset="-122"/>
                <a:ea typeface="宋体" pitchFamily="2" charset="-122"/>
              </a:rPr>
              <a:t> 压电式传感器的电压灵敏度随电缆分布电容及传感器自身电容的变化而变化；</a:t>
            </a:r>
            <a:endParaRPr lang="zh-CN" altLang="en-US" dirty="0">
              <a:solidFill>
                <a:schemeClr val="tx1"/>
              </a:solidFill>
            </a:endParaRPr>
          </a:p>
        </p:txBody>
      </p:sp>
      <p:sp>
        <p:nvSpPr>
          <p:cNvPr id="10" name="矩形 9"/>
          <p:cNvSpPr/>
          <p:nvPr/>
        </p:nvSpPr>
        <p:spPr>
          <a:xfrm>
            <a:off x="214282" y="4071942"/>
            <a:ext cx="8429684" cy="523220"/>
          </a:xfrm>
          <a:prstGeom prst="rect">
            <a:avLst/>
          </a:prstGeom>
        </p:spPr>
        <p:txBody>
          <a:bodyPr wrap="square">
            <a:spAutoFit/>
          </a:bodyPr>
          <a:lstStyle/>
          <a:p>
            <a:pPr>
              <a:buFont typeface="Wingdings" pitchFamily="2" charset="2"/>
              <a:buChar char="l"/>
            </a:pPr>
            <a:r>
              <a:rPr lang="zh-CN" altLang="en-US" b="1" dirty="0" smtClean="0">
                <a:solidFill>
                  <a:schemeClr val="tx1"/>
                </a:solidFill>
                <a:latin typeface="宋体" pitchFamily="2" charset="-122"/>
                <a:ea typeface="宋体" pitchFamily="2" charset="-122"/>
              </a:rPr>
              <a:t> 电缆</a:t>
            </a:r>
            <a:r>
              <a:rPr lang="zh-CN" altLang="en-US" b="1" dirty="0">
                <a:solidFill>
                  <a:schemeClr val="tx1"/>
                </a:solidFill>
                <a:latin typeface="宋体" pitchFamily="2" charset="-122"/>
                <a:ea typeface="宋体" pitchFamily="2" charset="-122"/>
              </a:rPr>
              <a:t>的更换需要重新标定</a:t>
            </a:r>
            <a:r>
              <a:rPr lang="zh-CN" altLang="en-US" b="1" dirty="0" smtClean="0">
                <a:solidFill>
                  <a:schemeClr val="tx1"/>
                </a:solidFill>
                <a:latin typeface="宋体" pitchFamily="2" charset="-122"/>
                <a:ea typeface="宋体" pitchFamily="2" charset="-122"/>
              </a:rPr>
              <a:t>传感器。</a:t>
            </a:r>
            <a:endParaRPr lang="zh-CN" altLang="en-US" b="1" dirty="0">
              <a:solidFill>
                <a:schemeClr val="tx1"/>
              </a:solidFill>
              <a:latin typeface="宋体" pitchFamily="2" charset="-122"/>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trips(downRigh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7.4 </a:t>
            </a:r>
            <a:r>
              <a:rPr lang="zh-CN" altLang="en-US" b="1" dirty="0" smtClean="0">
                <a:solidFill>
                  <a:schemeClr val="tx2"/>
                </a:solidFill>
                <a:latin typeface="黑体" pitchFamily="49" charset="-122"/>
                <a:ea typeface="黑体" pitchFamily="49" charset="-122"/>
              </a:rPr>
              <a:t>测量电路</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8" name="Text Box 19"/>
          <p:cNvSpPr txBox="1">
            <a:spLocks noChangeArrowheads="1"/>
          </p:cNvSpPr>
          <p:nvPr/>
        </p:nvSpPr>
        <p:spPr bwMode="auto">
          <a:xfrm>
            <a:off x="214282" y="1571612"/>
            <a:ext cx="8643998" cy="540725"/>
          </a:xfrm>
          <a:prstGeom prst="rect">
            <a:avLst/>
          </a:prstGeom>
          <a:noFill/>
          <a:ln w="9525" algn="ctr">
            <a:noFill/>
            <a:miter lim="800000"/>
            <a:headEnd/>
            <a:tailEnd/>
          </a:ln>
        </p:spPr>
        <p:txBody>
          <a:bodyPr wrap="square">
            <a:spAutoFit/>
          </a:bodyPr>
          <a:lstStyle/>
          <a:p>
            <a:pPr indent="352425">
              <a:lnSpc>
                <a:spcPct val="120000"/>
              </a:lnSpc>
              <a:buClr>
                <a:schemeClr val="folHlink"/>
              </a:buClr>
            </a:pPr>
            <a:r>
              <a:rPr lang="zh-CN" altLang="en-US" b="1" dirty="0" smtClean="0">
                <a:solidFill>
                  <a:srgbClr val="F84D08"/>
                </a:solidFill>
                <a:latin typeface="黑体" pitchFamily="49" charset="-122"/>
                <a:ea typeface="黑体" pitchFamily="49" charset="-122"/>
                <a:cs typeface="+mj-cs"/>
              </a:rPr>
              <a:t>电荷放大器</a:t>
            </a:r>
            <a:endParaRPr lang="zh-CN" altLang="en-US" b="1" dirty="0">
              <a:solidFill>
                <a:srgbClr val="F84D08"/>
              </a:solidFill>
              <a:latin typeface="黑体" pitchFamily="49" charset="-122"/>
              <a:ea typeface="黑体" pitchFamily="49" charset="-122"/>
              <a:cs typeface="+mj-cs"/>
            </a:endParaRPr>
          </a:p>
        </p:txBody>
      </p:sp>
      <p:sp>
        <p:nvSpPr>
          <p:cNvPr id="12" name="Text Box 20"/>
          <p:cNvSpPr txBox="1">
            <a:spLocks noChangeArrowheads="1"/>
          </p:cNvSpPr>
          <p:nvPr/>
        </p:nvSpPr>
        <p:spPr bwMode="auto">
          <a:xfrm>
            <a:off x="571472" y="4286256"/>
            <a:ext cx="8318530" cy="2246769"/>
          </a:xfrm>
          <a:prstGeom prst="rect">
            <a:avLst/>
          </a:prstGeom>
          <a:noFill/>
          <a:ln w="9525" algn="ctr">
            <a:noFill/>
            <a:miter lim="800000"/>
            <a:headEnd/>
            <a:tailEnd/>
          </a:ln>
        </p:spPr>
        <p:txBody>
          <a:bodyPr wrap="square">
            <a:spAutoFit/>
          </a:bodyPr>
          <a:lstStyle/>
          <a:p>
            <a:pPr indent="439738">
              <a:lnSpc>
                <a:spcPct val="120000"/>
              </a:lnSpc>
              <a:spcBef>
                <a:spcPct val="20000"/>
              </a:spcBef>
              <a:buClr>
                <a:schemeClr val="folHlink"/>
              </a:buClr>
              <a:buSzPct val="60000"/>
            </a:pPr>
            <a:r>
              <a:rPr lang="zh-CN" altLang="en-US" b="1" dirty="0" smtClean="0">
                <a:solidFill>
                  <a:schemeClr val="tx1"/>
                </a:solidFill>
                <a:latin typeface="宋体" pitchFamily="2" charset="-122"/>
                <a:ea typeface="宋体" pitchFamily="2" charset="-122"/>
              </a:rPr>
              <a:t>实际上是一种具有深度电容负反馈的高增益运算放大器。</a:t>
            </a:r>
            <a:endParaRPr lang="zh-CN" altLang="en-US" dirty="0" smtClean="0">
              <a:solidFill>
                <a:schemeClr val="tx1"/>
              </a:solidFill>
            </a:endParaRPr>
          </a:p>
          <a:p>
            <a:pPr indent="439738">
              <a:lnSpc>
                <a:spcPct val="120000"/>
              </a:lnSpc>
              <a:spcBef>
                <a:spcPct val="20000"/>
              </a:spcBef>
              <a:buClr>
                <a:schemeClr val="folHlink"/>
              </a:buClr>
              <a:buSzPct val="60000"/>
              <a:buFont typeface="Wingdings" pitchFamily="2" charset="2"/>
              <a:buNone/>
            </a:pPr>
            <a:r>
              <a:rPr lang="zh-CN" altLang="en-US" b="1" dirty="0" smtClean="0">
                <a:solidFill>
                  <a:schemeClr val="tx1"/>
                </a:solidFill>
                <a:latin typeface="宋体" pitchFamily="2" charset="-122"/>
                <a:ea typeface="宋体" pitchFamily="2" charset="-122"/>
              </a:rPr>
              <a:t>便于</a:t>
            </a:r>
            <a:r>
              <a:rPr lang="zh-CN" altLang="en-US" b="1" dirty="0">
                <a:solidFill>
                  <a:schemeClr val="tx1"/>
                </a:solidFill>
                <a:latin typeface="宋体" pitchFamily="2" charset="-122"/>
                <a:ea typeface="宋体" pitchFamily="2" charset="-122"/>
              </a:rPr>
              <a:t>远</a:t>
            </a:r>
            <a:r>
              <a:rPr lang="zh-CN" altLang="en-US" b="1" dirty="0" smtClean="0">
                <a:solidFill>
                  <a:schemeClr val="tx1"/>
                </a:solidFill>
                <a:latin typeface="宋体" pitchFamily="2" charset="-122"/>
                <a:ea typeface="宋体" pitchFamily="2" charset="-122"/>
              </a:rPr>
              <a:t>距离测量，目前被</a:t>
            </a:r>
            <a:r>
              <a:rPr lang="zh-CN" altLang="en-US" b="1" dirty="0">
                <a:solidFill>
                  <a:schemeClr val="tx1"/>
                </a:solidFill>
                <a:latin typeface="宋体" pitchFamily="2" charset="-122"/>
                <a:ea typeface="宋体" pitchFamily="2" charset="-122"/>
              </a:rPr>
              <a:t>公认是一种较好的冲击测量放大器</a:t>
            </a:r>
            <a:r>
              <a:rPr lang="zh-CN" altLang="en-US" b="1" dirty="0" smtClean="0">
                <a:solidFill>
                  <a:schemeClr val="tx1"/>
                </a:solidFill>
                <a:latin typeface="宋体" pitchFamily="2" charset="-122"/>
                <a:ea typeface="宋体" pitchFamily="2" charset="-122"/>
              </a:rPr>
              <a:t>。</a:t>
            </a:r>
            <a:endParaRPr lang="en-US" altLang="zh-CN" b="1" dirty="0" smtClean="0">
              <a:solidFill>
                <a:schemeClr val="tx1"/>
              </a:solidFill>
              <a:latin typeface="宋体" pitchFamily="2" charset="-122"/>
              <a:ea typeface="宋体" pitchFamily="2" charset="-122"/>
            </a:endParaRPr>
          </a:p>
        </p:txBody>
      </p:sp>
      <p:pic>
        <p:nvPicPr>
          <p:cNvPr id="13" name="Picture 7"/>
          <p:cNvPicPr>
            <a:picLocks noChangeAspect="1" noChangeArrowheads="1"/>
          </p:cNvPicPr>
          <p:nvPr/>
        </p:nvPicPr>
        <p:blipFill>
          <a:blip r:embed="rId2"/>
          <a:srcRect/>
          <a:stretch>
            <a:fillRect/>
          </a:stretch>
        </p:blipFill>
        <p:spPr bwMode="auto">
          <a:xfrm>
            <a:off x="2571736" y="2071678"/>
            <a:ext cx="3686175" cy="2114550"/>
          </a:xfrm>
          <a:prstGeom prst="rect">
            <a:avLst/>
          </a:prstGeom>
          <a:noFill/>
          <a:ln w="9525" cap="flat" cmpd="sng" algn="ctr">
            <a:noFill/>
            <a:prstDash val="solid"/>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7.5 </a:t>
            </a:r>
            <a:r>
              <a:rPr lang="zh-CN" altLang="en-US" b="1" dirty="0" smtClean="0">
                <a:solidFill>
                  <a:schemeClr val="tx2"/>
                </a:solidFill>
                <a:latin typeface="黑体" pitchFamily="49" charset="-122"/>
                <a:ea typeface="黑体" pitchFamily="49" charset="-122"/>
              </a:rPr>
              <a:t>应用</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graphicFrame>
        <p:nvGraphicFramePr>
          <p:cNvPr id="7" name="Object 20"/>
          <p:cNvGraphicFramePr>
            <a:graphicFrameLocks noGrp="1" noChangeAspect="1"/>
          </p:cNvGraphicFramePr>
          <p:nvPr>
            <p:ph sz="half" idx="1"/>
          </p:nvPr>
        </p:nvGraphicFramePr>
        <p:xfrm>
          <a:off x="465140" y="4076699"/>
          <a:ext cx="4392612" cy="2043113"/>
        </p:xfrm>
        <a:graphic>
          <a:graphicData uri="http://schemas.openxmlformats.org/presentationml/2006/ole">
            <p:oleObj spid="_x0000_s81922" name="Image" r:id="rId3" imgW="18514286" imgH="8610612" progId="">
              <p:embed/>
            </p:oleObj>
          </a:graphicData>
        </a:graphic>
      </p:graphicFrame>
      <p:sp>
        <p:nvSpPr>
          <p:cNvPr id="9" name="Text Box 19"/>
          <p:cNvSpPr txBox="1">
            <a:spLocks noChangeArrowheads="1"/>
          </p:cNvSpPr>
          <p:nvPr/>
        </p:nvSpPr>
        <p:spPr bwMode="auto">
          <a:xfrm>
            <a:off x="214282" y="1714488"/>
            <a:ext cx="8643998" cy="1373187"/>
          </a:xfrm>
          <a:prstGeom prst="rect">
            <a:avLst/>
          </a:prstGeom>
          <a:noFill/>
          <a:ln w="9525" algn="ctr">
            <a:noFill/>
            <a:miter lim="800000"/>
            <a:headEnd/>
            <a:tailEnd/>
          </a:ln>
        </p:spPr>
        <p:txBody>
          <a:bodyPr wrap="square">
            <a:spAutoFit/>
          </a:bodyPr>
          <a:lstStyle/>
          <a:p>
            <a:pPr indent="365125"/>
            <a:r>
              <a:rPr lang="zh-CN" altLang="en-US" b="1" dirty="0">
                <a:solidFill>
                  <a:schemeClr val="tx1"/>
                </a:solidFill>
                <a:latin typeface="宋体" pitchFamily="2" charset="-122"/>
                <a:ea typeface="宋体" pitchFamily="2" charset="-122"/>
              </a:rPr>
              <a:t>压电元件是一种典型的力</a:t>
            </a:r>
            <a:r>
              <a:rPr lang="zh-CN" altLang="en-US" b="1" dirty="0" smtClean="0">
                <a:solidFill>
                  <a:schemeClr val="tx1"/>
                </a:solidFill>
                <a:latin typeface="宋体" pitchFamily="2" charset="-122"/>
                <a:ea typeface="宋体" pitchFamily="2" charset="-122"/>
              </a:rPr>
              <a:t>敏感元件，可用</a:t>
            </a:r>
            <a:r>
              <a:rPr lang="zh-CN" altLang="en-US" b="1" dirty="0">
                <a:solidFill>
                  <a:schemeClr val="tx1"/>
                </a:solidFill>
                <a:latin typeface="宋体" pitchFamily="2" charset="-122"/>
                <a:ea typeface="宋体" pitchFamily="2" charset="-122"/>
              </a:rPr>
              <a:t>来测量最终能转换为力的多种物理量</a:t>
            </a:r>
            <a:r>
              <a:rPr lang="zh-CN" altLang="en-US" b="1" dirty="0" smtClean="0">
                <a:solidFill>
                  <a:schemeClr val="tx1"/>
                </a:solidFill>
                <a:latin typeface="宋体" pitchFamily="2" charset="-122"/>
                <a:ea typeface="宋体" pitchFamily="2" charset="-122"/>
              </a:rPr>
              <a:t>。</a:t>
            </a:r>
            <a:endParaRPr lang="en-US" altLang="zh-CN" b="1" dirty="0" smtClean="0">
              <a:solidFill>
                <a:schemeClr val="tx1"/>
              </a:solidFill>
              <a:latin typeface="宋体" pitchFamily="2" charset="-122"/>
              <a:ea typeface="宋体" pitchFamily="2" charset="-122"/>
            </a:endParaRPr>
          </a:p>
          <a:p>
            <a:pPr indent="365125"/>
            <a:r>
              <a:rPr lang="zh-CN" altLang="en-US" b="1" dirty="0" smtClean="0">
                <a:solidFill>
                  <a:schemeClr val="tx1"/>
                </a:solidFill>
                <a:latin typeface="宋体" pitchFamily="2" charset="-122"/>
                <a:ea typeface="宋体" pitchFamily="2" charset="-122"/>
              </a:rPr>
              <a:t>在</a:t>
            </a:r>
            <a:r>
              <a:rPr lang="zh-CN" altLang="en-US" b="1" dirty="0">
                <a:solidFill>
                  <a:schemeClr val="tx1"/>
                </a:solidFill>
                <a:latin typeface="宋体" pitchFamily="2" charset="-122"/>
                <a:ea typeface="宋体" pitchFamily="2" charset="-122"/>
              </a:rPr>
              <a:t>检测技术中，常用来测量力和加速度。</a:t>
            </a:r>
          </a:p>
        </p:txBody>
      </p:sp>
      <p:sp>
        <p:nvSpPr>
          <p:cNvPr id="10" name="Text Box 22"/>
          <p:cNvSpPr txBox="1">
            <a:spLocks noChangeArrowheads="1"/>
          </p:cNvSpPr>
          <p:nvPr/>
        </p:nvSpPr>
        <p:spPr bwMode="auto">
          <a:xfrm>
            <a:off x="823915" y="6184899"/>
            <a:ext cx="3240087" cy="457200"/>
          </a:xfrm>
          <a:prstGeom prst="rect">
            <a:avLst/>
          </a:prstGeom>
          <a:noFill/>
          <a:ln w="9525">
            <a:noFill/>
            <a:miter lim="800000"/>
            <a:headEnd/>
            <a:tailEnd/>
          </a:ln>
        </p:spPr>
        <p:txBody>
          <a:bodyPr>
            <a:spAutoFit/>
          </a:bodyPr>
          <a:lstStyle/>
          <a:p>
            <a:r>
              <a:rPr lang="zh-CN" altLang="en-US" sz="2400">
                <a:solidFill>
                  <a:srgbClr val="CC3300"/>
                </a:solidFill>
                <a:latin typeface="Times New Roman" pitchFamily="18" charset="0"/>
                <a:ea typeface="楷体_GB2312" pitchFamily="49" charset="-122"/>
              </a:rPr>
              <a:t>压电式单向测力传感器</a:t>
            </a:r>
          </a:p>
        </p:txBody>
      </p:sp>
      <p:graphicFrame>
        <p:nvGraphicFramePr>
          <p:cNvPr id="11" name="Object 23"/>
          <p:cNvGraphicFramePr>
            <a:graphicFrameLocks noGrp="1" noChangeAspect="1"/>
          </p:cNvGraphicFramePr>
          <p:nvPr/>
        </p:nvGraphicFramePr>
        <p:xfrm>
          <a:off x="4929190" y="3357562"/>
          <a:ext cx="3752850" cy="2825750"/>
        </p:xfrm>
        <a:graphic>
          <a:graphicData uri="http://schemas.openxmlformats.org/presentationml/2006/ole">
            <p:oleObj spid="_x0000_s81923" name="Image" r:id="rId4" imgW="16202449" imgH="12205714" progId="">
              <p:embed/>
            </p:oleObj>
          </a:graphicData>
        </a:graphic>
      </p:graphicFrame>
      <p:sp>
        <p:nvSpPr>
          <p:cNvPr id="14" name="Text Box 25"/>
          <p:cNvSpPr txBox="1">
            <a:spLocks noChangeArrowheads="1"/>
          </p:cNvSpPr>
          <p:nvPr/>
        </p:nvSpPr>
        <p:spPr bwMode="auto">
          <a:xfrm>
            <a:off x="5576890" y="6184899"/>
            <a:ext cx="2735262" cy="457200"/>
          </a:xfrm>
          <a:prstGeom prst="rect">
            <a:avLst/>
          </a:prstGeom>
          <a:noFill/>
          <a:ln w="9525">
            <a:noFill/>
            <a:miter lim="800000"/>
            <a:headEnd/>
            <a:tailEnd/>
          </a:ln>
        </p:spPr>
        <p:txBody>
          <a:bodyPr>
            <a:spAutoFit/>
          </a:bodyPr>
          <a:lstStyle/>
          <a:p>
            <a:r>
              <a:rPr lang="zh-CN" altLang="en-US" sz="2400">
                <a:solidFill>
                  <a:srgbClr val="CC3300"/>
                </a:solidFill>
                <a:latin typeface="Times New Roman" pitchFamily="18" charset="0"/>
                <a:ea typeface="楷体_GB2312" pitchFamily="49" charset="-122"/>
              </a:rPr>
              <a:t>压电式压力传感器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trips(downRight)">
                                      <p:cBhvr>
                                        <p:cTn id="7" dur="500"/>
                                        <p:tgtEl>
                                          <p:spTgt spid="7"/>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0-#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linds(horizontal)">
                                      <p:cBhvr>
                                        <p:cTn id="17" dur="500"/>
                                        <p:tgtEl>
                                          <p:spTgt spid="11"/>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blinds(horizontal)">
                                      <p:cBhvr>
                                        <p:cTn id="2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utoUpdateAnimBg="0"/>
      <p:bldP spid="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7.5 </a:t>
            </a:r>
            <a:r>
              <a:rPr lang="zh-CN" altLang="en-US" b="1" dirty="0" smtClean="0">
                <a:solidFill>
                  <a:schemeClr val="tx2"/>
                </a:solidFill>
                <a:latin typeface="黑体" pitchFamily="49" charset="-122"/>
                <a:ea typeface="黑体" pitchFamily="49" charset="-122"/>
              </a:rPr>
              <a:t>应用</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3" name="Text Box 18"/>
          <p:cNvSpPr txBox="1">
            <a:spLocks noChangeArrowheads="1"/>
          </p:cNvSpPr>
          <p:nvPr/>
        </p:nvSpPr>
        <p:spPr bwMode="auto">
          <a:xfrm>
            <a:off x="611188" y="4808528"/>
            <a:ext cx="3671887" cy="822325"/>
          </a:xfrm>
          <a:prstGeom prst="rect">
            <a:avLst/>
          </a:prstGeom>
          <a:noFill/>
          <a:ln w="9525">
            <a:noFill/>
            <a:miter lim="800000"/>
            <a:headEnd/>
            <a:tailEnd/>
          </a:ln>
        </p:spPr>
        <p:txBody>
          <a:bodyPr>
            <a:spAutoFit/>
          </a:bodyPr>
          <a:lstStyle/>
          <a:p>
            <a:r>
              <a:rPr lang="zh-CN" altLang="en-US" sz="2400">
                <a:solidFill>
                  <a:srgbClr val="CC3300"/>
                </a:solidFill>
                <a:latin typeface="Times New Roman" pitchFamily="18" charset="0"/>
                <a:ea typeface="楷体_GB2312" pitchFamily="49" charset="-122"/>
              </a:rPr>
              <a:t>消除振动加速度影响的压电式压力传感器的结构</a:t>
            </a:r>
          </a:p>
        </p:txBody>
      </p:sp>
      <p:graphicFrame>
        <p:nvGraphicFramePr>
          <p:cNvPr id="15" name="Object 19"/>
          <p:cNvGraphicFramePr>
            <a:graphicFrameLocks noChangeAspect="1"/>
          </p:cNvGraphicFramePr>
          <p:nvPr/>
        </p:nvGraphicFramePr>
        <p:xfrm>
          <a:off x="357158" y="1928802"/>
          <a:ext cx="3024187" cy="2463800"/>
        </p:xfrm>
        <a:graphic>
          <a:graphicData uri="http://schemas.openxmlformats.org/presentationml/2006/ole">
            <p:oleObj spid="_x0000_s82948" name="Flash 影片" r:id="rId3" imgW="5090760" imgH="4732560" progId="">
              <p:embed/>
            </p:oleObj>
          </a:graphicData>
        </a:graphic>
      </p:graphicFrame>
      <p:graphicFrame>
        <p:nvGraphicFramePr>
          <p:cNvPr id="16" name="Object 22"/>
          <p:cNvGraphicFramePr>
            <a:graphicFrameLocks noGrp="1" noChangeAspect="1"/>
          </p:cNvGraphicFramePr>
          <p:nvPr/>
        </p:nvGraphicFramePr>
        <p:xfrm>
          <a:off x="3643306" y="1714488"/>
          <a:ext cx="5219700" cy="2959100"/>
        </p:xfrm>
        <a:graphic>
          <a:graphicData uri="http://schemas.openxmlformats.org/presentationml/2006/ole">
            <p:oleObj spid="_x0000_s82949" name="Flash 影片" r:id="rId4" imgW="6256080" imgH="4731840" progId="">
              <p:embed/>
            </p:oleObj>
          </a:graphicData>
        </a:graphic>
      </p:graphicFrame>
      <p:sp>
        <p:nvSpPr>
          <p:cNvPr id="17" name="Text Box 24"/>
          <p:cNvSpPr txBox="1">
            <a:spLocks noChangeArrowheads="1"/>
          </p:cNvSpPr>
          <p:nvPr/>
        </p:nvSpPr>
        <p:spPr bwMode="auto">
          <a:xfrm>
            <a:off x="4500563" y="4952990"/>
            <a:ext cx="4643437" cy="457200"/>
          </a:xfrm>
          <a:prstGeom prst="rect">
            <a:avLst/>
          </a:prstGeom>
          <a:noFill/>
          <a:ln w="9525" algn="ctr">
            <a:noFill/>
            <a:miter lim="800000"/>
            <a:headEnd/>
            <a:tailEnd/>
          </a:ln>
        </p:spPr>
        <p:txBody>
          <a:bodyPr>
            <a:spAutoFit/>
          </a:bodyPr>
          <a:lstStyle/>
          <a:p>
            <a:pPr marL="838200" indent="-838200">
              <a:spcBef>
                <a:spcPct val="50000"/>
              </a:spcBef>
            </a:pPr>
            <a:r>
              <a:rPr lang="zh-CN" altLang="en-US" sz="2400" dirty="0">
                <a:solidFill>
                  <a:srgbClr val="CC3300"/>
                </a:solidFill>
                <a:latin typeface="楷体_GB2312" pitchFamily="49" charset="-122"/>
                <a:ea typeface="楷体_GB2312" pitchFamily="49" charset="-122"/>
              </a:rPr>
              <a:t>压电式加速度传感器结构原理图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trips(downRight)">
                                      <p:cBhvr>
                                        <p:cTn id="7" dur="500"/>
                                        <p:tgtEl>
                                          <p:spTgt spid="15"/>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0-#ppt_w/2"/>
                                          </p:val>
                                        </p:tav>
                                        <p:tav tm="100000">
                                          <p:val>
                                            <p:strVal val="#ppt_x"/>
                                          </p:val>
                                        </p:tav>
                                      </p:tavLst>
                                    </p:anim>
                                    <p:anim calcmode="lin" valueType="num">
                                      <p:cBhvr additive="base">
                                        <p:cTn id="12"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linds(horizontal)">
                                      <p:cBhvr>
                                        <p:cTn id="17" dur="500"/>
                                        <p:tgtEl>
                                          <p:spTgt spid="17"/>
                                        </p:tgtEl>
                                      </p:cBhvr>
                                    </p:animEffect>
                                  </p:childTnLst>
                                </p:cTn>
                              </p:par>
                              <p:par>
                                <p:cTn id="18" presetID="3" presetClass="entr" presetSubtype="10" fill="hold"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blinds(horizontal)">
                                      <p:cBhvr>
                                        <p:cTn id="2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P spid="1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7.6 </a:t>
            </a:r>
            <a:r>
              <a:rPr lang="zh-CN" altLang="en-US" b="1" dirty="0" smtClean="0">
                <a:solidFill>
                  <a:schemeClr val="tx2"/>
                </a:solidFill>
                <a:latin typeface="黑体" pitchFamily="49" charset="-122"/>
                <a:ea typeface="黑体" pitchFamily="49" charset="-122"/>
              </a:rPr>
              <a:t>影响精度的因素</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8" name="Text Box 19"/>
          <p:cNvSpPr txBox="1">
            <a:spLocks noChangeArrowheads="1"/>
          </p:cNvSpPr>
          <p:nvPr/>
        </p:nvSpPr>
        <p:spPr bwMode="auto">
          <a:xfrm>
            <a:off x="214282" y="1928802"/>
            <a:ext cx="8636004" cy="3539430"/>
          </a:xfrm>
          <a:prstGeom prst="rect">
            <a:avLst/>
          </a:prstGeom>
          <a:noFill/>
          <a:ln w="9525" algn="ctr">
            <a:noFill/>
            <a:miter lim="800000"/>
            <a:headEnd/>
            <a:tailEnd/>
          </a:ln>
        </p:spPr>
        <p:txBody>
          <a:bodyPr wrap="square">
            <a:spAutoFit/>
          </a:bodyPr>
          <a:lstStyle/>
          <a:p>
            <a:pPr marL="352425" indent="-352425"/>
            <a:r>
              <a:rPr lang="en-US" altLang="zh-CN" b="1" dirty="0">
                <a:solidFill>
                  <a:schemeClr val="tx1"/>
                </a:solidFill>
                <a:latin typeface="宋体" pitchFamily="2" charset="-122"/>
                <a:ea typeface="宋体" pitchFamily="2" charset="-122"/>
              </a:rPr>
              <a:t>1)</a:t>
            </a:r>
            <a:r>
              <a:rPr lang="zh-CN" altLang="en-US" b="1" dirty="0">
                <a:solidFill>
                  <a:schemeClr val="tx1"/>
                </a:solidFill>
                <a:latin typeface="宋体" pitchFamily="2" charset="-122"/>
                <a:ea typeface="宋体" pitchFamily="2" charset="-122"/>
              </a:rPr>
              <a:t>非线性 </a:t>
            </a:r>
          </a:p>
          <a:p>
            <a:pPr marL="352425" indent="-352425"/>
            <a:r>
              <a:rPr lang="zh-CN" altLang="en-US" b="1" dirty="0">
                <a:solidFill>
                  <a:schemeClr val="tx1"/>
                </a:solidFill>
                <a:latin typeface="宋体" pitchFamily="2" charset="-122"/>
                <a:ea typeface="宋体" pitchFamily="2" charset="-122"/>
              </a:rPr>
              <a:t>    压电传感器的幅值线性度是指被测物理量</a:t>
            </a:r>
            <a:r>
              <a:rPr lang="en-US" altLang="zh-CN" b="1" dirty="0">
                <a:solidFill>
                  <a:schemeClr val="tx1"/>
                </a:solidFill>
                <a:latin typeface="宋体" pitchFamily="2" charset="-122"/>
                <a:ea typeface="宋体" pitchFamily="2" charset="-122"/>
              </a:rPr>
              <a:t>(</a:t>
            </a:r>
            <a:r>
              <a:rPr lang="zh-CN" altLang="en-US" b="1" dirty="0">
                <a:solidFill>
                  <a:schemeClr val="tx1"/>
                </a:solidFill>
                <a:latin typeface="宋体" pitchFamily="2" charset="-122"/>
                <a:ea typeface="宋体" pitchFamily="2" charset="-122"/>
              </a:rPr>
              <a:t>如力、压力、加速度等</a:t>
            </a:r>
            <a:r>
              <a:rPr lang="en-US" altLang="zh-CN" b="1" dirty="0">
                <a:solidFill>
                  <a:schemeClr val="tx1"/>
                </a:solidFill>
                <a:latin typeface="宋体" pitchFamily="2" charset="-122"/>
                <a:ea typeface="宋体" pitchFamily="2" charset="-122"/>
              </a:rPr>
              <a:t>)</a:t>
            </a:r>
            <a:r>
              <a:rPr lang="zh-CN" altLang="en-US" b="1" dirty="0">
                <a:solidFill>
                  <a:schemeClr val="tx1"/>
                </a:solidFill>
                <a:latin typeface="宋体" pitchFamily="2" charset="-122"/>
                <a:ea typeface="宋体" pitchFamily="2" charset="-122"/>
              </a:rPr>
              <a:t>的增加，其灵敏度的变化程度。</a:t>
            </a:r>
          </a:p>
          <a:p>
            <a:pPr marL="352425" indent="-352425"/>
            <a:r>
              <a:rPr lang="en-US" altLang="zh-CN" b="1" dirty="0">
                <a:solidFill>
                  <a:schemeClr val="tx1"/>
                </a:solidFill>
                <a:latin typeface="宋体" pitchFamily="2" charset="-122"/>
                <a:ea typeface="宋体" pitchFamily="2" charset="-122"/>
              </a:rPr>
              <a:t>2)</a:t>
            </a:r>
            <a:r>
              <a:rPr lang="zh-CN" altLang="en-US" b="1" dirty="0">
                <a:solidFill>
                  <a:schemeClr val="tx1"/>
                </a:solidFill>
                <a:latin typeface="宋体" pitchFamily="2" charset="-122"/>
                <a:ea typeface="宋体" pitchFamily="2" charset="-122"/>
              </a:rPr>
              <a:t>横向灵敏度</a:t>
            </a:r>
          </a:p>
          <a:p>
            <a:pPr marL="352425" indent="-352425"/>
            <a:r>
              <a:rPr lang="zh-CN" altLang="en-US" b="1" dirty="0">
                <a:solidFill>
                  <a:schemeClr val="tx1"/>
                </a:solidFill>
                <a:latin typeface="宋体" pitchFamily="2" charset="-122"/>
                <a:ea typeface="宋体" pitchFamily="2" charset="-122"/>
              </a:rPr>
              <a:t>    压电加速度传感器的横向灵敏度是指当加速度传感器感受到与其主轴向</a:t>
            </a:r>
            <a:r>
              <a:rPr lang="en-US" altLang="zh-CN" b="1" dirty="0">
                <a:solidFill>
                  <a:schemeClr val="tx1"/>
                </a:solidFill>
                <a:latin typeface="宋体" pitchFamily="2" charset="-122"/>
                <a:ea typeface="宋体" pitchFamily="2" charset="-122"/>
              </a:rPr>
              <a:t>(</a:t>
            </a:r>
            <a:r>
              <a:rPr lang="zh-CN" altLang="en-US" b="1" dirty="0">
                <a:solidFill>
                  <a:schemeClr val="tx1"/>
                </a:solidFill>
                <a:latin typeface="宋体" pitchFamily="2" charset="-122"/>
                <a:ea typeface="宋体" pitchFamily="2" charset="-122"/>
              </a:rPr>
              <a:t>轴向灵敏度方向</a:t>
            </a:r>
            <a:r>
              <a:rPr lang="en-US" altLang="zh-CN" b="1" dirty="0">
                <a:solidFill>
                  <a:schemeClr val="tx1"/>
                </a:solidFill>
                <a:latin typeface="宋体" pitchFamily="2" charset="-122"/>
                <a:ea typeface="宋体" pitchFamily="2" charset="-122"/>
              </a:rPr>
              <a:t>)</a:t>
            </a:r>
            <a:r>
              <a:rPr lang="zh-CN" altLang="en-US" b="1" dirty="0">
                <a:solidFill>
                  <a:schemeClr val="tx1"/>
                </a:solidFill>
                <a:latin typeface="宋体" pitchFamily="2" charset="-122"/>
                <a:ea typeface="宋体" pitchFamily="2" charset="-122"/>
              </a:rPr>
              <a:t>垂直的单位加速度振动时的灵敏度，一般用它与主轴向灵敏度的百分比来表示，称为横向灵敏度比。</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blinds(horizontal)">
                                      <p:cBhvr>
                                        <p:cTn id="7" dur="500"/>
                                        <p:tgtEl>
                                          <p:spTgt spid="8">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8">
                                            <p:txEl>
                                              <p:pRg st="3" end="3"/>
                                            </p:txEl>
                                          </p:spTgt>
                                        </p:tgtEl>
                                        <p:attrNameLst>
                                          <p:attrName>style.visibility</p:attrName>
                                        </p:attrNameLst>
                                      </p:cBhvr>
                                      <p:to>
                                        <p:strVal val="visible"/>
                                      </p:to>
                                    </p:set>
                                    <p:animEffect transition="in" filter="blinds(horizontal)">
                                      <p:cBhvr>
                                        <p:cTn id="10"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7.6 </a:t>
            </a:r>
            <a:r>
              <a:rPr lang="zh-CN" altLang="en-US" b="1" dirty="0" smtClean="0">
                <a:solidFill>
                  <a:schemeClr val="tx2"/>
                </a:solidFill>
                <a:latin typeface="黑体" pitchFamily="49" charset="-122"/>
                <a:ea typeface="黑体" pitchFamily="49" charset="-122"/>
              </a:rPr>
              <a:t>影响精度的因素</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pic>
        <p:nvPicPr>
          <p:cNvPr id="5" name="Picture 5"/>
          <p:cNvPicPr>
            <a:picLocks noChangeAspect="1" noChangeArrowheads="1"/>
          </p:cNvPicPr>
          <p:nvPr/>
        </p:nvPicPr>
        <p:blipFill>
          <a:blip r:embed="rId3"/>
          <a:srcRect/>
          <a:stretch>
            <a:fillRect/>
          </a:stretch>
        </p:blipFill>
        <p:spPr bwMode="auto">
          <a:xfrm>
            <a:off x="971550" y="2565400"/>
            <a:ext cx="3295650" cy="3076575"/>
          </a:xfrm>
          <a:prstGeom prst="rect">
            <a:avLst/>
          </a:prstGeom>
          <a:noFill/>
          <a:ln w="9525">
            <a:noFill/>
            <a:miter lim="800000"/>
            <a:headEnd/>
            <a:tailEnd/>
          </a:ln>
        </p:spPr>
      </p:pic>
      <p:graphicFrame>
        <p:nvGraphicFramePr>
          <p:cNvPr id="7" name="Object 6"/>
          <p:cNvGraphicFramePr>
            <a:graphicFrameLocks noGrp="1" noChangeAspect="1"/>
          </p:cNvGraphicFramePr>
          <p:nvPr>
            <p:ph idx="1"/>
          </p:nvPr>
        </p:nvGraphicFramePr>
        <p:xfrm>
          <a:off x="4932363" y="1844675"/>
          <a:ext cx="3846512" cy="3846513"/>
        </p:xfrm>
        <a:graphic>
          <a:graphicData uri="http://schemas.openxmlformats.org/presentationml/2006/ole">
            <p:oleObj spid="_x0000_s84994" name="Flash 影片" r:id="rId4" imgW="4541400" imgH="4541400" progId="">
              <p:embed/>
            </p:oleObj>
          </a:graphicData>
        </a:graphic>
      </p:graphicFrame>
      <p:sp>
        <p:nvSpPr>
          <p:cNvPr id="9" name="Text Box 8"/>
          <p:cNvSpPr txBox="1">
            <a:spLocks noChangeArrowheads="1"/>
          </p:cNvSpPr>
          <p:nvPr/>
        </p:nvSpPr>
        <p:spPr bwMode="auto">
          <a:xfrm>
            <a:off x="5148263" y="5661025"/>
            <a:ext cx="3384550" cy="822325"/>
          </a:xfrm>
          <a:prstGeom prst="rect">
            <a:avLst/>
          </a:prstGeom>
          <a:noFill/>
          <a:ln w="9525">
            <a:noFill/>
            <a:miter lim="800000"/>
            <a:headEnd/>
            <a:tailEnd/>
          </a:ln>
        </p:spPr>
        <p:txBody>
          <a:bodyPr>
            <a:spAutoFit/>
          </a:bodyPr>
          <a:lstStyle/>
          <a:p>
            <a:r>
              <a:rPr lang="zh-CN" altLang="en-US" sz="2400">
                <a:solidFill>
                  <a:srgbClr val="CC3300"/>
                </a:solidFill>
                <a:latin typeface="Times New Roman" pitchFamily="18" charset="0"/>
                <a:ea typeface="楷体_GB2312" pitchFamily="49" charset="-122"/>
              </a:rPr>
              <a:t>压电加速度传感器的横向灵敏度极坐标曲线</a:t>
            </a:r>
          </a:p>
        </p:txBody>
      </p:sp>
      <p:sp>
        <p:nvSpPr>
          <p:cNvPr id="10" name="Text Box 9"/>
          <p:cNvSpPr txBox="1">
            <a:spLocks noChangeArrowheads="1"/>
          </p:cNvSpPr>
          <p:nvPr/>
        </p:nvSpPr>
        <p:spPr bwMode="auto">
          <a:xfrm>
            <a:off x="1214414" y="5643578"/>
            <a:ext cx="3024188" cy="457200"/>
          </a:xfrm>
          <a:prstGeom prst="rect">
            <a:avLst/>
          </a:prstGeom>
          <a:noFill/>
          <a:ln w="9525" algn="ctr">
            <a:noFill/>
            <a:miter lim="800000"/>
            <a:headEnd/>
            <a:tailEnd/>
          </a:ln>
        </p:spPr>
        <p:txBody>
          <a:bodyPr>
            <a:spAutoFit/>
          </a:bodyPr>
          <a:lstStyle/>
          <a:p>
            <a:pPr marL="838200" indent="-838200">
              <a:spcBef>
                <a:spcPct val="50000"/>
              </a:spcBef>
            </a:pPr>
            <a:r>
              <a:rPr lang="zh-CN" altLang="en-US" sz="2400" dirty="0">
                <a:solidFill>
                  <a:srgbClr val="CC3300"/>
                </a:solidFill>
                <a:latin typeface="Times New Roman" pitchFamily="18" charset="0"/>
                <a:ea typeface="楷体_GB2312" pitchFamily="49" charset="-122"/>
              </a:rPr>
              <a:t>横向灵敏度图解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trips(downRight)">
                                      <p:cBhvr>
                                        <p:cTn id="7" dur="500"/>
                                        <p:tgtEl>
                                          <p:spTgt spid="7"/>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0-#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7.6 </a:t>
            </a:r>
            <a:r>
              <a:rPr lang="zh-CN" altLang="en-US" b="1" dirty="0" smtClean="0">
                <a:solidFill>
                  <a:schemeClr val="tx2"/>
                </a:solidFill>
                <a:latin typeface="黑体" pitchFamily="49" charset="-122"/>
                <a:ea typeface="黑体" pitchFamily="49" charset="-122"/>
              </a:rPr>
              <a:t>影响精度的因素</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12" name="Text Box 19"/>
          <p:cNvSpPr txBox="1">
            <a:spLocks noChangeArrowheads="1"/>
          </p:cNvSpPr>
          <p:nvPr/>
        </p:nvSpPr>
        <p:spPr bwMode="auto">
          <a:xfrm>
            <a:off x="214282" y="1643050"/>
            <a:ext cx="8601077" cy="4315027"/>
          </a:xfrm>
          <a:prstGeom prst="rect">
            <a:avLst/>
          </a:prstGeom>
          <a:noFill/>
          <a:ln w="9525" algn="ctr">
            <a:noFill/>
            <a:miter lim="800000"/>
            <a:headEnd/>
            <a:tailEnd/>
          </a:ln>
        </p:spPr>
        <p:txBody>
          <a:bodyPr wrap="square">
            <a:spAutoFit/>
          </a:bodyPr>
          <a:lstStyle/>
          <a:p>
            <a:pPr marL="352425" indent="-352425"/>
            <a:r>
              <a:rPr lang="en-US" altLang="zh-CN" b="1" dirty="0">
                <a:solidFill>
                  <a:schemeClr val="tx1"/>
                </a:solidFill>
                <a:latin typeface="宋体" pitchFamily="2" charset="-122"/>
                <a:ea typeface="宋体" pitchFamily="2" charset="-122"/>
              </a:rPr>
              <a:t>3)</a:t>
            </a:r>
            <a:r>
              <a:rPr lang="zh-CN" altLang="en-US" b="1" dirty="0">
                <a:solidFill>
                  <a:schemeClr val="tx1"/>
                </a:solidFill>
                <a:latin typeface="宋体" pitchFamily="2" charset="-122"/>
                <a:ea typeface="宋体" pitchFamily="2" charset="-122"/>
              </a:rPr>
              <a:t>环境温度的影响  </a:t>
            </a:r>
          </a:p>
          <a:p>
            <a:pPr marL="352425" indent="-352425">
              <a:lnSpc>
                <a:spcPct val="120000"/>
              </a:lnSpc>
            </a:pPr>
            <a:r>
              <a:rPr lang="zh-CN" altLang="en-US" b="1" dirty="0">
                <a:solidFill>
                  <a:schemeClr val="tx1"/>
                </a:solidFill>
                <a:latin typeface="宋体" pitchFamily="2" charset="-122"/>
                <a:ea typeface="宋体" pitchFamily="2" charset="-122"/>
              </a:rPr>
              <a:t>     环境温度的变化对压电材料的压电常数和介电常数的影响都很大，它将使传感器灵敏度发生变化，压电材料不同，温度影响的程度也不同。当温度低于</a:t>
            </a:r>
            <a:r>
              <a:rPr lang="en-US" altLang="zh-CN" b="1" dirty="0">
                <a:solidFill>
                  <a:schemeClr val="tx1"/>
                </a:solidFill>
                <a:latin typeface="宋体" pitchFamily="2" charset="-122"/>
                <a:ea typeface="宋体" pitchFamily="2" charset="-122"/>
              </a:rPr>
              <a:t>400℃</a:t>
            </a:r>
            <a:r>
              <a:rPr lang="zh-CN" altLang="en-US" b="1" dirty="0">
                <a:solidFill>
                  <a:schemeClr val="tx1"/>
                </a:solidFill>
                <a:latin typeface="宋体" pitchFamily="2" charset="-122"/>
                <a:ea typeface="宋体" pitchFamily="2" charset="-122"/>
              </a:rPr>
              <a:t>时，其压电常数和介电常数都很稳定</a:t>
            </a:r>
            <a:r>
              <a:rPr lang="zh-CN" altLang="en-US" b="1" dirty="0" smtClean="0">
                <a:solidFill>
                  <a:schemeClr val="tx1"/>
                </a:solidFill>
                <a:latin typeface="宋体" pitchFamily="2" charset="-122"/>
                <a:ea typeface="宋体" pitchFamily="2" charset="-122"/>
              </a:rPr>
              <a:t>。</a:t>
            </a:r>
            <a:endParaRPr lang="en-US" altLang="zh-CN" b="1" dirty="0" smtClean="0">
              <a:solidFill>
                <a:schemeClr val="tx1"/>
              </a:solidFill>
              <a:latin typeface="宋体" pitchFamily="2" charset="-122"/>
              <a:ea typeface="宋体" pitchFamily="2" charset="-122"/>
            </a:endParaRPr>
          </a:p>
          <a:p>
            <a:pPr marL="352425" indent="-352425"/>
            <a:r>
              <a:rPr lang="en-US" altLang="zh-CN" b="1" dirty="0" smtClean="0">
                <a:solidFill>
                  <a:schemeClr val="tx1"/>
                </a:solidFill>
                <a:latin typeface="宋体" pitchFamily="2" charset="-122"/>
                <a:ea typeface="宋体" pitchFamily="2" charset="-122"/>
              </a:rPr>
              <a:t>4)</a:t>
            </a:r>
            <a:r>
              <a:rPr lang="zh-CN" altLang="en-US" b="1" dirty="0" smtClean="0">
                <a:solidFill>
                  <a:schemeClr val="tx1"/>
                </a:solidFill>
                <a:latin typeface="宋体" pitchFamily="2" charset="-122"/>
                <a:ea typeface="宋体" pitchFamily="2" charset="-122"/>
              </a:rPr>
              <a:t>湿度的影响  </a:t>
            </a:r>
          </a:p>
          <a:p>
            <a:pPr marL="352425" indent="-352425"/>
            <a:r>
              <a:rPr lang="zh-CN" altLang="en-US" b="1" dirty="0" smtClean="0">
                <a:solidFill>
                  <a:schemeClr val="tx1"/>
                </a:solidFill>
                <a:latin typeface="宋体" pitchFamily="2" charset="-122"/>
                <a:ea typeface="宋体" pitchFamily="2" charset="-122"/>
              </a:rPr>
              <a:t>    环境湿度对压电式传感器性能的影响也很大。如果传感器长期在高湿度环境下工作，其绝缘电阻将会减小，低频响应变坏</a:t>
            </a:r>
            <a:r>
              <a:rPr lang="zh-CN" altLang="en-US" b="1" dirty="0" smtClean="0">
                <a:solidFill>
                  <a:schemeClr val="tx1"/>
                </a:solidFill>
              </a:rPr>
              <a:t>。</a:t>
            </a:r>
            <a:endParaRPr lang="zh-CN" altLang="en-US" b="1" dirty="0">
              <a:solidFill>
                <a:schemeClr val="tx1"/>
              </a:solidFill>
              <a:latin typeface="宋体" pitchFamily="2" charset="-122"/>
              <a:ea typeface="宋体" pitchFamily="2"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bwMode="auto">
          <a:xfrm>
            <a:off x="1000100" y="642918"/>
            <a:ext cx="7812087" cy="719137"/>
          </a:xfrm>
          <a:noFill/>
          <a:ln>
            <a:miter lim="800000"/>
            <a:headEnd/>
            <a:tailEnd/>
          </a:ln>
        </p:spPr>
        <p:txBody>
          <a:bodyPr vert="horz" wrap="square" lIns="91440" tIns="45720" rIns="91440" bIns="45720" numCol="1" anchor="t" anchorCtr="0" compatLnSpc="1">
            <a:prstTxWarp prst="textNoShape">
              <a:avLst/>
            </a:prstTxWarp>
          </a:bodyPr>
          <a:lstStyle/>
          <a:p>
            <a:r>
              <a:rPr lang="en-US" altLang="zh-CN" b="1" dirty="0" smtClean="0">
                <a:solidFill>
                  <a:schemeClr val="tx2"/>
                </a:solidFill>
                <a:latin typeface="黑体" pitchFamily="49" charset="-122"/>
                <a:ea typeface="黑体" pitchFamily="49" charset="-122"/>
              </a:rPr>
              <a:t>7.6 </a:t>
            </a:r>
            <a:r>
              <a:rPr lang="zh-CN" altLang="en-US" b="1" dirty="0" smtClean="0">
                <a:solidFill>
                  <a:schemeClr val="tx2"/>
                </a:solidFill>
                <a:latin typeface="黑体" pitchFamily="49" charset="-122"/>
                <a:ea typeface="黑体" pitchFamily="49" charset="-122"/>
              </a:rPr>
              <a:t>影响精度的因素</a:t>
            </a: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
        <p:nvSpPr>
          <p:cNvPr id="5" name="Text Box 21"/>
          <p:cNvSpPr txBox="1">
            <a:spLocks noChangeArrowheads="1"/>
          </p:cNvSpPr>
          <p:nvPr/>
        </p:nvSpPr>
        <p:spPr bwMode="auto">
          <a:xfrm>
            <a:off x="214282" y="1571612"/>
            <a:ext cx="8674102" cy="3539430"/>
          </a:xfrm>
          <a:prstGeom prst="rect">
            <a:avLst/>
          </a:prstGeom>
          <a:noFill/>
          <a:ln w="9525" algn="ctr">
            <a:noFill/>
            <a:miter lim="800000"/>
            <a:headEnd/>
            <a:tailEnd/>
          </a:ln>
        </p:spPr>
        <p:txBody>
          <a:bodyPr wrap="square">
            <a:spAutoFit/>
          </a:bodyPr>
          <a:lstStyle/>
          <a:p>
            <a:pPr marL="263525" indent="-263525"/>
            <a:r>
              <a:rPr lang="en-US" altLang="zh-CN" b="1" dirty="0">
                <a:solidFill>
                  <a:schemeClr val="tx1"/>
                </a:solidFill>
                <a:latin typeface="宋体" pitchFamily="2" charset="-122"/>
                <a:ea typeface="宋体" pitchFamily="2" charset="-122"/>
              </a:rPr>
              <a:t>5)</a:t>
            </a:r>
            <a:r>
              <a:rPr lang="zh-CN" altLang="en-US" b="1" dirty="0">
                <a:solidFill>
                  <a:schemeClr val="tx1"/>
                </a:solidFill>
                <a:latin typeface="宋体" pitchFamily="2" charset="-122"/>
                <a:ea typeface="宋体" pitchFamily="2" charset="-122"/>
              </a:rPr>
              <a:t>电缆噪声</a:t>
            </a:r>
          </a:p>
          <a:p>
            <a:pPr marL="263525" indent="-263525"/>
            <a:r>
              <a:rPr lang="zh-CN" altLang="en-US" b="1" dirty="0">
                <a:latin typeface="宋体" pitchFamily="2" charset="-122"/>
                <a:ea typeface="宋体" pitchFamily="2" charset="-122"/>
              </a:rPr>
              <a:t>    </a:t>
            </a:r>
            <a:r>
              <a:rPr lang="zh-CN" altLang="en-US" b="1" dirty="0">
                <a:solidFill>
                  <a:schemeClr val="tx1"/>
                </a:solidFill>
                <a:latin typeface="宋体" pitchFamily="2" charset="-122"/>
                <a:ea typeface="宋体" pitchFamily="2" charset="-122"/>
              </a:rPr>
              <a:t>为了减小这种</a:t>
            </a:r>
            <a:r>
              <a:rPr lang="zh-CN" altLang="en-US" b="1" dirty="0" smtClean="0">
                <a:solidFill>
                  <a:schemeClr val="tx1"/>
                </a:solidFill>
                <a:latin typeface="宋体" pitchFamily="2" charset="-122"/>
                <a:ea typeface="宋体" pitchFamily="2" charset="-122"/>
              </a:rPr>
              <a:t>噪声，可</a:t>
            </a:r>
            <a:r>
              <a:rPr lang="zh-CN" altLang="en-US" b="1" dirty="0">
                <a:solidFill>
                  <a:schemeClr val="tx1"/>
                </a:solidFill>
                <a:latin typeface="宋体" pitchFamily="2" charset="-122"/>
                <a:ea typeface="宋体" pitchFamily="2" charset="-122"/>
              </a:rPr>
              <a:t>使用特制的低噪声电缆，同时将电缆固紧，以免产生相对运动。</a:t>
            </a:r>
          </a:p>
          <a:p>
            <a:pPr marL="263525" indent="-263525"/>
            <a:r>
              <a:rPr lang="en-US" altLang="zh-CN" b="1" dirty="0">
                <a:solidFill>
                  <a:schemeClr val="tx1"/>
                </a:solidFill>
                <a:latin typeface="宋体" pitchFamily="2" charset="-122"/>
                <a:ea typeface="宋体" pitchFamily="2" charset="-122"/>
              </a:rPr>
              <a:t>6)</a:t>
            </a:r>
            <a:r>
              <a:rPr lang="zh-CN" altLang="en-US" b="1" dirty="0">
                <a:solidFill>
                  <a:schemeClr val="tx1"/>
                </a:solidFill>
                <a:latin typeface="宋体" pitchFamily="2" charset="-122"/>
                <a:ea typeface="宋体" pitchFamily="2" charset="-122"/>
              </a:rPr>
              <a:t>接地回路噪声 </a:t>
            </a:r>
          </a:p>
          <a:p>
            <a:pPr marL="263525" indent="-263525"/>
            <a:r>
              <a:rPr lang="zh-CN" altLang="en-US" b="1" dirty="0" smtClean="0">
                <a:solidFill>
                  <a:schemeClr val="tx1"/>
                </a:solidFill>
                <a:latin typeface="宋体" pitchFamily="2" charset="-122"/>
                <a:ea typeface="宋体" pitchFamily="2" charset="-122"/>
              </a:rPr>
              <a:t>    如多种</a:t>
            </a:r>
            <a:r>
              <a:rPr lang="zh-CN" altLang="en-US" b="1" dirty="0">
                <a:solidFill>
                  <a:schemeClr val="tx1"/>
                </a:solidFill>
                <a:latin typeface="宋体" pitchFamily="2" charset="-122"/>
                <a:ea typeface="宋体" pitchFamily="2" charset="-122"/>
              </a:rPr>
              <a:t>测量</a:t>
            </a:r>
            <a:r>
              <a:rPr lang="zh-CN" altLang="en-US" b="1" dirty="0" smtClean="0">
                <a:solidFill>
                  <a:schemeClr val="tx1"/>
                </a:solidFill>
                <a:latin typeface="宋体" pitchFamily="2" charset="-122"/>
                <a:ea typeface="宋体" pitchFamily="2" charset="-122"/>
              </a:rPr>
              <a:t>仪器与</a:t>
            </a:r>
            <a:r>
              <a:rPr lang="zh-CN" altLang="en-US" b="1" dirty="0">
                <a:solidFill>
                  <a:schemeClr val="tx1"/>
                </a:solidFill>
                <a:latin typeface="宋体" pitchFamily="2" charset="-122"/>
                <a:ea typeface="宋体" pitchFamily="2" charset="-122"/>
              </a:rPr>
              <a:t>传感器分别接地，各接地点又有电位差，这便在测量系统中产生噪声。防止这种噪声的有效办法是整个测量系统在一点接地。而且选择指示器的输入端为接地点。</a:t>
            </a:r>
          </a:p>
        </p:txBody>
      </p:sp>
      <p:sp>
        <p:nvSpPr>
          <p:cNvPr id="7" name="Text Box 23"/>
          <p:cNvSpPr txBox="1">
            <a:spLocks noChangeArrowheads="1"/>
          </p:cNvSpPr>
          <p:nvPr/>
        </p:nvSpPr>
        <p:spPr bwMode="auto">
          <a:xfrm>
            <a:off x="285720" y="5214950"/>
            <a:ext cx="8534430" cy="1384995"/>
          </a:xfrm>
          <a:prstGeom prst="rect">
            <a:avLst/>
          </a:prstGeom>
          <a:noFill/>
          <a:ln w="9525" algn="ctr">
            <a:noFill/>
            <a:miter lim="800000"/>
            <a:headEnd/>
            <a:tailEnd/>
          </a:ln>
        </p:spPr>
        <p:txBody>
          <a:bodyPr wrap="square">
            <a:spAutoFit/>
          </a:bodyPr>
          <a:lstStyle/>
          <a:p>
            <a:pPr indent="352425"/>
            <a:r>
              <a:rPr lang="zh-CN" altLang="en-US" b="1" dirty="0">
                <a:solidFill>
                  <a:srgbClr val="CC3300"/>
                </a:solidFill>
                <a:latin typeface="楷体_GB2312" pitchFamily="49" charset="-122"/>
                <a:ea typeface="楷体_GB2312" pitchFamily="49" charset="-122"/>
              </a:rPr>
              <a:t>影响压电式传感器精度除以上分析的几个因素外，还存在有声场效应、磁场效应及射频场效应、基座应变效应等因素。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blinds(horizontal)">
                                      <p:cBhvr>
                                        <p:cTn id="7" dur="500"/>
                                        <p:tgtEl>
                                          <p:spTgt spid="5">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
                                            <p:txEl>
                                              <p:pRg st="3" end="3"/>
                                            </p:txEl>
                                          </p:spTgt>
                                        </p:tgtEl>
                                        <p:attrNameLst>
                                          <p:attrName>style.visibility</p:attrName>
                                        </p:attrNameLst>
                                      </p:cBhvr>
                                      <p:to>
                                        <p:strVal val="visible"/>
                                      </p:to>
                                    </p:set>
                                    <p:animEffect transition="in" filter="blinds(horizontal)">
                                      <p:cBhvr>
                                        <p:cTn id="10" dur="500"/>
                                        <p:tgtEl>
                                          <p:spTgt spid="5">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linds(horizontal)">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6338" name="Rectangle 2"/>
          <p:cNvSpPr>
            <a:spLocks noGrp="1" noChangeArrowheads="1"/>
          </p:cNvSpPr>
          <p:nvPr>
            <p:ph type="title"/>
          </p:nvPr>
        </p:nvSpPr>
        <p:spPr bwMode="auto">
          <a:xfrm>
            <a:off x="1857356" y="714356"/>
            <a:ext cx="5465763" cy="792163"/>
          </a:xfrm>
          <a:noFill/>
          <a:ln>
            <a:miter lim="800000"/>
            <a:headEnd/>
            <a:tailEnd/>
          </a:ln>
        </p:spPr>
        <p:txBody>
          <a:bodyPr vert="horz" wrap="square" lIns="91440" tIns="45720" rIns="91440" bIns="45720" numCol="1" anchor="t" anchorCtr="0" compatLnSpc="1">
            <a:prstTxWarp prst="textNoShape">
              <a:avLst/>
            </a:prstTxWarp>
          </a:bodyPr>
          <a:lstStyle/>
          <a:p>
            <a:pPr marL="838200" indent="-838200" eaLnBrk="1" hangingPunct="1">
              <a:defRPr/>
            </a:pPr>
            <a:r>
              <a:rPr lang="zh-CN" altLang="en-US" b="1" dirty="0" smtClean="0">
                <a:solidFill>
                  <a:schemeClr val="tx2"/>
                </a:solidFill>
                <a:latin typeface="黑体" pitchFamily="49" charset="-122"/>
                <a:ea typeface="黑体" pitchFamily="49" charset="-122"/>
              </a:rPr>
              <a:t>本章要点</a:t>
            </a:r>
          </a:p>
        </p:txBody>
      </p:sp>
      <p:sp>
        <p:nvSpPr>
          <p:cNvPr id="526339" name="Rectangle 3"/>
          <p:cNvSpPr>
            <a:spLocks noRot="1" noChangeArrowheads="1"/>
          </p:cNvSpPr>
          <p:nvPr/>
        </p:nvSpPr>
        <p:spPr bwMode="auto">
          <a:xfrm>
            <a:off x="214282" y="1571612"/>
            <a:ext cx="8675688" cy="4948237"/>
          </a:xfrm>
          <a:prstGeom prst="rect">
            <a:avLst/>
          </a:prstGeom>
          <a:noFill/>
          <a:ln w="9525">
            <a:noFill/>
            <a:miter lim="800000"/>
            <a:headEnd/>
            <a:tailEnd/>
          </a:ln>
        </p:spPr>
        <p:txBody>
          <a:bodyPr/>
          <a:lstStyle/>
          <a:p>
            <a:pPr marL="342900" indent="-342900">
              <a:lnSpc>
                <a:spcPct val="150000"/>
              </a:lnSpc>
              <a:spcBef>
                <a:spcPct val="20000"/>
              </a:spcBef>
              <a:buClr>
                <a:schemeClr val="tx1"/>
              </a:buClr>
              <a:buSzPct val="100000"/>
              <a:buFont typeface="Wingdings" pitchFamily="2" charset="2"/>
              <a:buChar char="u"/>
            </a:pPr>
            <a:r>
              <a:rPr lang="zh-CN" altLang="en-US" b="1" dirty="0" smtClean="0">
                <a:solidFill>
                  <a:schemeClr val="tx1"/>
                </a:solidFill>
                <a:latin typeface="Tahoma" pitchFamily="34" charset="0"/>
                <a:ea typeface="宋体" pitchFamily="2" charset="-122"/>
              </a:rPr>
              <a:t>压电效应</a:t>
            </a:r>
          </a:p>
          <a:p>
            <a:pPr marL="800100" lvl="1" indent="-342900">
              <a:lnSpc>
                <a:spcPct val="130000"/>
              </a:lnSpc>
              <a:spcBef>
                <a:spcPct val="20000"/>
              </a:spcBef>
              <a:buClr>
                <a:schemeClr val="tx1"/>
              </a:buClr>
              <a:buSzPct val="100000"/>
              <a:buFont typeface="Wingdings" pitchFamily="2" charset="2"/>
              <a:buChar char="l"/>
            </a:pPr>
            <a:r>
              <a:rPr lang="zh-CN" altLang="en-US" b="1" dirty="0" smtClean="0">
                <a:solidFill>
                  <a:schemeClr val="tx1"/>
                </a:solidFill>
                <a:latin typeface="Tahoma" pitchFamily="34" charset="0"/>
                <a:ea typeface="宋体" pitchFamily="2" charset="-122"/>
              </a:rPr>
              <a:t>石英晶体的压电效应</a:t>
            </a:r>
          </a:p>
          <a:p>
            <a:pPr marL="800100" lvl="1" indent="-342900">
              <a:lnSpc>
                <a:spcPct val="130000"/>
              </a:lnSpc>
              <a:spcBef>
                <a:spcPct val="20000"/>
              </a:spcBef>
              <a:buClr>
                <a:schemeClr val="tx1"/>
              </a:buClr>
              <a:buSzPct val="100000"/>
              <a:buFont typeface="Wingdings" pitchFamily="2" charset="2"/>
              <a:buChar char="l"/>
            </a:pPr>
            <a:r>
              <a:rPr lang="zh-CN" altLang="en-US" b="1" dirty="0" smtClean="0">
                <a:solidFill>
                  <a:schemeClr val="tx1"/>
                </a:solidFill>
                <a:latin typeface="Tahoma" pitchFamily="34" charset="0"/>
                <a:ea typeface="宋体" pitchFamily="2" charset="-122"/>
              </a:rPr>
              <a:t>压电陶瓷的压电效应</a:t>
            </a:r>
          </a:p>
          <a:p>
            <a:pPr marL="800100" lvl="1" indent="-342900">
              <a:lnSpc>
                <a:spcPct val="130000"/>
              </a:lnSpc>
              <a:spcBef>
                <a:spcPct val="20000"/>
              </a:spcBef>
              <a:buClr>
                <a:schemeClr val="tx1"/>
              </a:buClr>
              <a:buSzPct val="100000"/>
              <a:buFont typeface="Wingdings" pitchFamily="2" charset="2"/>
              <a:buChar char="l"/>
            </a:pPr>
            <a:r>
              <a:rPr lang="zh-CN" altLang="en-US" b="1" dirty="0" smtClean="0">
                <a:solidFill>
                  <a:schemeClr val="tx1"/>
                </a:solidFill>
                <a:latin typeface="Tahoma" pitchFamily="34" charset="0"/>
                <a:ea typeface="宋体" pitchFamily="2" charset="-122"/>
              </a:rPr>
              <a:t>高分子材料的压电效应</a:t>
            </a:r>
          </a:p>
          <a:p>
            <a:pPr marL="342900" indent="-342900">
              <a:lnSpc>
                <a:spcPct val="150000"/>
              </a:lnSpc>
              <a:spcBef>
                <a:spcPct val="20000"/>
              </a:spcBef>
              <a:buClr>
                <a:schemeClr val="tx1"/>
              </a:buClr>
              <a:buSzPct val="100000"/>
              <a:buFont typeface="Wingdings" pitchFamily="2" charset="2"/>
              <a:buChar char="u"/>
            </a:pPr>
            <a:r>
              <a:rPr lang="zh-CN" altLang="en-US" b="1" dirty="0" smtClean="0">
                <a:solidFill>
                  <a:schemeClr val="tx1"/>
                </a:solidFill>
                <a:latin typeface="Tahoma" pitchFamily="34" charset="0"/>
                <a:ea typeface="宋体" pitchFamily="2" charset="-122"/>
              </a:rPr>
              <a:t>等效电路</a:t>
            </a:r>
          </a:p>
          <a:p>
            <a:pPr marL="342900" indent="-342900">
              <a:lnSpc>
                <a:spcPct val="150000"/>
              </a:lnSpc>
              <a:spcBef>
                <a:spcPct val="20000"/>
              </a:spcBef>
              <a:buClr>
                <a:schemeClr val="tx1"/>
              </a:buClr>
              <a:buSzPct val="100000"/>
              <a:buFont typeface="Wingdings" pitchFamily="2" charset="2"/>
              <a:buChar char="u"/>
            </a:pPr>
            <a:r>
              <a:rPr lang="zh-CN" altLang="en-US" b="1" dirty="0" smtClean="0">
                <a:solidFill>
                  <a:schemeClr val="tx1"/>
                </a:solidFill>
                <a:latin typeface="Tahoma" pitchFamily="34" charset="0"/>
                <a:ea typeface="宋体" pitchFamily="2" charset="-122"/>
              </a:rPr>
              <a:t>测量电路</a:t>
            </a:r>
            <a:endParaRPr lang="en-US" altLang="zh-CN" b="1" dirty="0">
              <a:solidFill>
                <a:schemeClr val="tx1"/>
              </a:solidFill>
              <a:latin typeface="Tahoma" pitchFamily="34" charset="0"/>
              <a:ea typeface="宋体" pitchFamily="2" charset="-122"/>
            </a:endParaRPr>
          </a:p>
        </p:txBody>
      </p:sp>
      <p:cxnSp>
        <p:nvCxnSpPr>
          <p:cNvPr id="6" name="直接连接符 5"/>
          <p:cNvCxnSpPr/>
          <p:nvPr/>
        </p:nvCxnSpPr>
        <p:spPr>
          <a:xfrm>
            <a:off x="714375" y="1500188"/>
            <a:ext cx="7643813" cy="1587"/>
          </a:xfrm>
          <a:prstGeom prst="line">
            <a:avLst/>
          </a:prstGeom>
          <a:ln>
            <a:solidFill>
              <a:srgbClr val="FF0000"/>
            </a:solidFill>
          </a:ln>
        </p:spPr>
        <p:style>
          <a:lnRef idx="3">
            <a:schemeClr val="accent1"/>
          </a:lnRef>
          <a:fillRef idx="0">
            <a:schemeClr val="accent1"/>
          </a:fillRef>
          <a:effectRef idx="2">
            <a:schemeClr val="accent1"/>
          </a:effectRef>
          <a:fontRef idx="minor">
            <a:schemeClr val="tx1"/>
          </a:fontRef>
        </p:style>
      </p:cxn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26338"/>
                                        </p:tgtEl>
                                        <p:attrNameLst>
                                          <p:attrName>style.visibility</p:attrName>
                                        </p:attrNameLst>
                                      </p:cBhvr>
                                      <p:to>
                                        <p:strVal val="visible"/>
                                      </p:to>
                                    </p:set>
                                    <p:animEffect transition="in" filter="blinds(horizontal)">
                                      <p:cBhvr>
                                        <p:cTn id="7" dur="500"/>
                                        <p:tgtEl>
                                          <p:spTgt spid="526338"/>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builtIn="1"/>
                                        </p:tgtEl>
                                      </p:cMediaNode>
                                    </p:audio>
                                  </p:subTnLst>
                                </p:cTn>
                              </p:par>
                            </p:childTnLst>
                          </p:cTn>
                        </p:par>
                        <p:par>
                          <p:cTn id="8" fill="hold">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526339"/>
                                        </p:tgtEl>
                                        <p:attrNameLst>
                                          <p:attrName>style.visibility</p:attrName>
                                        </p:attrNameLst>
                                      </p:cBhvr>
                                      <p:to>
                                        <p:strVal val="visible"/>
                                      </p:to>
                                    </p:set>
                                    <p:animEffect transition="in" filter="checkerboard(across)">
                                      <p:cBhvr>
                                        <p:cTn id="11" dur="500"/>
                                        <p:tgtEl>
                                          <p:spTgt spid="5263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6338" grpId="0" animBg="1" autoUpdateAnimBg="0"/>
      <p:bldP spid="526339" grpId="0" autoUpdateAnimBg="0"/>
    </p:bldLst>
  </p:timing>
</p:sld>
</file>

<file path=ppt/theme/theme1.xml><?xml version="1.0" encoding="utf-8"?>
<a:theme xmlns:a="http://schemas.openxmlformats.org/drawingml/2006/main" name="传感技术与测试系统2012-2  传感器的特性">
  <a:themeElements>
    <a:clrScheme name="暗香扑面">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传感技术与测试系统2012-2  传感器的特性</Template>
  <TotalTime>3427</TotalTime>
  <Words>1468</Words>
  <Application>Microsoft PowerPoint</Application>
  <PresentationFormat>全屏显示(4:3)</PresentationFormat>
  <Paragraphs>151</Paragraphs>
  <Slides>31</Slides>
  <Notes>0</Notes>
  <HiddenSlides>0</HiddenSlides>
  <MMClips>0</MMClips>
  <ScaleCrop>false</ScaleCrop>
  <HeadingPairs>
    <vt:vector size="6" baseType="variant">
      <vt:variant>
        <vt:lpstr>主题</vt:lpstr>
      </vt:variant>
      <vt:variant>
        <vt:i4>1</vt:i4>
      </vt:variant>
      <vt:variant>
        <vt:lpstr>嵌入 OLE 服务器</vt:lpstr>
      </vt:variant>
      <vt:variant>
        <vt:i4>3</vt:i4>
      </vt:variant>
      <vt:variant>
        <vt:lpstr>幻灯片标题</vt:lpstr>
      </vt:variant>
      <vt:variant>
        <vt:i4>31</vt:i4>
      </vt:variant>
    </vt:vector>
  </HeadingPairs>
  <TitlesOfParts>
    <vt:vector size="35" baseType="lpstr">
      <vt:lpstr>传感技术与测试系统2012-2  传感器的特性</vt:lpstr>
      <vt:lpstr>Image</vt:lpstr>
      <vt:lpstr>Flash Movie</vt:lpstr>
      <vt:lpstr>Flash 影片</vt:lpstr>
      <vt:lpstr>第7章 压电式传感器</vt:lpstr>
      <vt:lpstr>第7章 压电式传感器</vt:lpstr>
      <vt:lpstr>第7章 压电式传感器</vt:lpstr>
      <vt:lpstr>第7章 压电式传感器</vt:lpstr>
      <vt:lpstr>7.1 压电效应</vt:lpstr>
      <vt:lpstr>7.1 压电效应</vt:lpstr>
      <vt:lpstr>7.1 压电效应</vt:lpstr>
      <vt:lpstr>7.1 压电效应</vt:lpstr>
      <vt:lpstr>7.1 压电效应</vt:lpstr>
      <vt:lpstr>7.1 压电效应</vt:lpstr>
      <vt:lpstr>7.1 压电效应</vt:lpstr>
      <vt:lpstr>7.1 压电效应</vt:lpstr>
      <vt:lpstr>7.1 压电效应</vt:lpstr>
      <vt:lpstr>7.1 压电效应</vt:lpstr>
      <vt:lpstr>7.1 压电效应</vt:lpstr>
      <vt:lpstr>7.2 压电材料</vt:lpstr>
      <vt:lpstr>7.2 压电材料</vt:lpstr>
      <vt:lpstr>7.3 等效电路</vt:lpstr>
      <vt:lpstr>7.3 等效电路</vt:lpstr>
      <vt:lpstr>7.3 等效电路</vt:lpstr>
      <vt:lpstr>7.4 测量电路</vt:lpstr>
      <vt:lpstr>7.4 测量电路</vt:lpstr>
      <vt:lpstr>7.4 测量电路</vt:lpstr>
      <vt:lpstr>7.4 测量电路</vt:lpstr>
      <vt:lpstr>7.5 应用</vt:lpstr>
      <vt:lpstr>7.5 应用</vt:lpstr>
      <vt:lpstr>7.6 影响精度的因素</vt:lpstr>
      <vt:lpstr>7.6 影响精度的因素</vt:lpstr>
      <vt:lpstr>7.6 影响精度的因素</vt:lpstr>
      <vt:lpstr>7.6 影响精度的因素</vt:lpstr>
      <vt:lpstr>本章要点</vt:lpstr>
    </vt:vector>
  </TitlesOfParts>
  <Company>buaa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航空航天精密仪器系统技术</dc:title>
  <dc:creator>zgj</dc:creator>
  <cp:lastModifiedBy>徐平</cp:lastModifiedBy>
  <cp:revision>381</cp:revision>
  <dcterms:created xsi:type="dcterms:W3CDTF">2002-10-13T05:45:24Z</dcterms:created>
  <dcterms:modified xsi:type="dcterms:W3CDTF">2015-05-15T01:24:14Z</dcterms:modified>
</cp:coreProperties>
</file>