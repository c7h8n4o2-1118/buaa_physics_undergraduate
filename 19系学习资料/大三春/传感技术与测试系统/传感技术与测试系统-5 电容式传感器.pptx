
<file path=[Content_Types].xml><?xml version="1.0" encoding="utf-8"?>
<Types xmlns="http://schemas.openxmlformats.org/package/2006/content-types">
  <Override PartName="/ppt/slides/slide29.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diagrams/layout3.xml" ContentType="application/vnd.openxmlformats-officedocument.drawingml.diagramLayout+xml"/>
  <Override PartName="/ppt/diagrams/data4.xml" ContentType="application/vnd.openxmlformats-officedocument.drawingml.diagramData+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colors4.xml" ContentType="application/vnd.openxmlformats-officedocument.drawingml.diagramColor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Default Extension="bin" ContentType="application/vnd.openxmlformats-officedocument.oleObject"/>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diagrams/quickStyle1.xml" ContentType="application/vnd.openxmlformats-officedocument.drawingml.diagramStyl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diagrams/layout4.xml" ContentType="application/vnd.openxmlformats-officedocument.drawingml.diagramLayout+xml"/>
  <Override PartName="/ppt/slideLayouts/slideLayout10.xml" ContentType="application/vnd.openxmlformats-officedocument.presentationml.slideLayout+xml"/>
  <Default Extension="vml" ContentType="application/vnd.openxmlformats-officedocument.vmlDrawing"/>
  <Override PartName="/ppt/diagrams/layout2.xml" ContentType="application/vnd.openxmlformats-officedocument.drawingml.diagramLayout+xml"/>
  <Override PartName="/ppt/diagrams/data3.xml" ContentType="application/vnd.openxmlformats-officedocument.drawingml.diagramData+xml"/>
  <Override PartName="/ppt/slides/slide8.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1"/>
    <p:sldMasterId id="2147483704" r:id="rId2"/>
  </p:sldMasterIdLst>
  <p:notesMasterIdLst>
    <p:notesMasterId r:id="rId41"/>
  </p:notesMasterIdLst>
  <p:sldIdLst>
    <p:sldId id="377" r:id="rId3"/>
    <p:sldId id="336" r:id="rId4"/>
    <p:sldId id="359" r:id="rId5"/>
    <p:sldId id="337" r:id="rId6"/>
    <p:sldId id="360" r:id="rId7"/>
    <p:sldId id="338" r:id="rId8"/>
    <p:sldId id="378" r:id="rId9"/>
    <p:sldId id="342" r:id="rId10"/>
    <p:sldId id="339" r:id="rId11"/>
    <p:sldId id="362" r:id="rId12"/>
    <p:sldId id="340" r:id="rId13"/>
    <p:sldId id="344" r:id="rId14"/>
    <p:sldId id="379" r:id="rId15"/>
    <p:sldId id="345" r:id="rId16"/>
    <p:sldId id="365" r:id="rId17"/>
    <p:sldId id="380" r:id="rId18"/>
    <p:sldId id="347" r:id="rId19"/>
    <p:sldId id="366" r:id="rId20"/>
    <p:sldId id="363" r:id="rId21"/>
    <p:sldId id="381" r:id="rId22"/>
    <p:sldId id="349" r:id="rId23"/>
    <p:sldId id="367" r:id="rId24"/>
    <p:sldId id="350" r:id="rId25"/>
    <p:sldId id="368" r:id="rId26"/>
    <p:sldId id="351" r:id="rId27"/>
    <p:sldId id="354" r:id="rId28"/>
    <p:sldId id="370" r:id="rId29"/>
    <p:sldId id="369" r:id="rId30"/>
    <p:sldId id="352" r:id="rId31"/>
    <p:sldId id="372" r:id="rId32"/>
    <p:sldId id="353" r:id="rId33"/>
    <p:sldId id="373" r:id="rId34"/>
    <p:sldId id="356" r:id="rId35"/>
    <p:sldId id="357" r:id="rId36"/>
    <p:sldId id="374" r:id="rId37"/>
    <p:sldId id="376" r:id="rId38"/>
    <p:sldId id="358" r:id="rId39"/>
    <p:sldId id="375" r:id="rId40"/>
  </p:sldIdLst>
  <p:sldSz cx="9144000" cy="6858000" type="screen4x3"/>
  <p:notesSz cx="6858000" cy="9144000"/>
  <p:defaultTextStyle>
    <a:defPPr>
      <a:defRPr lang="zh-CN"/>
    </a:defPPr>
    <a:lvl1pPr algn="l" rtl="0" fontAlgn="base">
      <a:spcBef>
        <a:spcPct val="0"/>
      </a:spcBef>
      <a:spcAft>
        <a:spcPct val="0"/>
      </a:spcAft>
      <a:defRPr kumimoji="1" sz="2800" kern="1200">
        <a:solidFill>
          <a:schemeClr val="tx2"/>
        </a:solidFill>
        <a:latin typeface="黑体" pitchFamily="2" charset="-122"/>
        <a:ea typeface="黑体" pitchFamily="2" charset="-122"/>
        <a:cs typeface="+mn-cs"/>
      </a:defRPr>
    </a:lvl1pPr>
    <a:lvl2pPr marL="457200" algn="l" rtl="0" fontAlgn="base">
      <a:spcBef>
        <a:spcPct val="0"/>
      </a:spcBef>
      <a:spcAft>
        <a:spcPct val="0"/>
      </a:spcAft>
      <a:defRPr kumimoji="1" sz="2800" kern="1200">
        <a:solidFill>
          <a:schemeClr val="tx2"/>
        </a:solidFill>
        <a:latin typeface="黑体" pitchFamily="2" charset="-122"/>
        <a:ea typeface="黑体" pitchFamily="2" charset="-122"/>
        <a:cs typeface="+mn-cs"/>
      </a:defRPr>
    </a:lvl2pPr>
    <a:lvl3pPr marL="914400" algn="l" rtl="0" fontAlgn="base">
      <a:spcBef>
        <a:spcPct val="0"/>
      </a:spcBef>
      <a:spcAft>
        <a:spcPct val="0"/>
      </a:spcAft>
      <a:defRPr kumimoji="1" sz="2800" kern="1200">
        <a:solidFill>
          <a:schemeClr val="tx2"/>
        </a:solidFill>
        <a:latin typeface="黑体" pitchFamily="2" charset="-122"/>
        <a:ea typeface="黑体" pitchFamily="2" charset="-122"/>
        <a:cs typeface="+mn-cs"/>
      </a:defRPr>
    </a:lvl3pPr>
    <a:lvl4pPr marL="1371600" algn="l" rtl="0" fontAlgn="base">
      <a:spcBef>
        <a:spcPct val="0"/>
      </a:spcBef>
      <a:spcAft>
        <a:spcPct val="0"/>
      </a:spcAft>
      <a:defRPr kumimoji="1" sz="2800" kern="1200">
        <a:solidFill>
          <a:schemeClr val="tx2"/>
        </a:solidFill>
        <a:latin typeface="黑体" pitchFamily="2" charset="-122"/>
        <a:ea typeface="黑体" pitchFamily="2" charset="-122"/>
        <a:cs typeface="+mn-cs"/>
      </a:defRPr>
    </a:lvl4pPr>
    <a:lvl5pPr marL="1828800" algn="l" rtl="0" fontAlgn="base">
      <a:spcBef>
        <a:spcPct val="0"/>
      </a:spcBef>
      <a:spcAft>
        <a:spcPct val="0"/>
      </a:spcAft>
      <a:defRPr kumimoji="1" sz="2800" kern="1200">
        <a:solidFill>
          <a:schemeClr val="tx2"/>
        </a:solidFill>
        <a:latin typeface="黑体" pitchFamily="2" charset="-122"/>
        <a:ea typeface="黑体" pitchFamily="2" charset="-122"/>
        <a:cs typeface="+mn-cs"/>
      </a:defRPr>
    </a:lvl5pPr>
    <a:lvl6pPr marL="2286000" algn="l" defTabSz="914400" rtl="0" eaLnBrk="1" latinLnBrk="0" hangingPunct="1">
      <a:defRPr kumimoji="1" sz="2800" kern="1200">
        <a:solidFill>
          <a:schemeClr val="tx2"/>
        </a:solidFill>
        <a:latin typeface="黑体" pitchFamily="2" charset="-122"/>
        <a:ea typeface="黑体" pitchFamily="2" charset="-122"/>
        <a:cs typeface="+mn-cs"/>
      </a:defRPr>
    </a:lvl6pPr>
    <a:lvl7pPr marL="2743200" algn="l" defTabSz="914400" rtl="0" eaLnBrk="1" latinLnBrk="0" hangingPunct="1">
      <a:defRPr kumimoji="1" sz="2800" kern="1200">
        <a:solidFill>
          <a:schemeClr val="tx2"/>
        </a:solidFill>
        <a:latin typeface="黑体" pitchFamily="2" charset="-122"/>
        <a:ea typeface="黑体" pitchFamily="2" charset="-122"/>
        <a:cs typeface="+mn-cs"/>
      </a:defRPr>
    </a:lvl7pPr>
    <a:lvl8pPr marL="3200400" algn="l" defTabSz="914400" rtl="0" eaLnBrk="1" latinLnBrk="0" hangingPunct="1">
      <a:defRPr kumimoji="1" sz="2800" kern="1200">
        <a:solidFill>
          <a:schemeClr val="tx2"/>
        </a:solidFill>
        <a:latin typeface="黑体" pitchFamily="2" charset="-122"/>
        <a:ea typeface="黑体" pitchFamily="2" charset="-122"/>
        <a:cs typeface="+mn-cs"/>
      </a:defRPr>
    </a:lvl8pPr>
    <a:lvl9pPr marL="3657600" algn="l" defTabSz="914400" rtl="0" eaLnBrk="1" latinLnBrk="0" hangingPunct="1">
      <a:defRPr kumimoji="1" sz="2800" kern="1200">
        <a:solidFill>
          <a:schemeClr val="tx2"/>
        </a:solidFill>
        <a:latin typeface="黑体" pitchFamily="2" charset="-122"/>
        <a:ea typeface="黑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CC0066"/>
    <a:srgbClr val="CC3300"/>
    <a:srgbClr val="0099FF"/>
    <a:srgbClr val="660066"/>
    <a:srgbClr val="FF0066"/>
    <a:srgbClr val="FF00FF"/>
    <a:srgbClr val="F84D08"/>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7457" autoAdjust="0"/>
    <p:restoredTop sz="97373" autoAdjust="0"/>
  </p:normalViewPr>
  <p:slideViewPr>
    <p:cSldViewPr>
      <p:cViewPr>
        <p:scale>
          <a:sx n="70" d="100"/>
          <a:sy n="70" d="100"/>
        </p:scale>
        <p:origin x="-1002" y="22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37" d="100"/>
          <a:sy n="37" d="100"/>
        </p:scale>
        <p:origin x="-1470" y="-96"/>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4851A7-86FE-49B0-8769-CEABD92A8A26}" type="doc">
      <dgm:prSet loTypeId="urn:microsoft.com/office/officeart/2005/8/layout/vList3" loCatId="list" qsTypeId="urn:microsoft.com/office/officeart/2005/8/quickstyle/simple1" qsCatId="simple" csTypeId="urn:microsoft.com/office/officeart/2005/8/colors/accent1_2" csCatId="accent1" phldr="1"/>
      <dgm:spPr/>
    </dgm:pt>
    <dgm:pt modelId="{1718CD43-2E2C-4221-86A5-0EDFB4EACE7E}">
      <dgm:prSet phldrT="[文本]"/>
      <dgm:spPr>
        <a:solidFill>
          <a:schemeClr val="accent3">
            <a:lumMod val="20000"/>
            <a:lumOff val="80000"/>
          </a:schemeClr>
        </a:solidFill>
        <a:scene3d>
          <a:camera prst="orthographicFront"/>
          <a:lightRig rig="threePt" dir="t"/>
        </a:scene3d>
        <a:sp3d>
          <a:bevelT prst="relaxedInset"/>
        </a:sp3d>
      </dgm:spPr>
      <dgm:t>
        <a:bodyPr/>
        <a:lstStyle/>
        <a:p>
          <a:r>
            <a:rPr lang="zh-CN" altLang="en-US" b="1" dirty="0" smtClean="0">
              <a:solidFill>
                <a:schemeClr val="tx1"/>
              </a:solidFill>
              <a:latin typeface="Times New Roman" pitchFamily="18" charset="0"/>
            </a:rPr>
            <a:t>变极距</a:t>
          </a:r>
          <a:r>
            <a:rPr lang="en-US" altLang="zh-CN" b="1" dirty="0" smtClean="0">
              <a:solidFill>
                <a:schemeClr val="tx1"/>
              </a:solidFill>
              <a:latin typeface="Times New Roman" pitchFamily="18" charset="0"/>
            </a:rPr>
            <a:t>(</a:t>
          </a:r>
          <a:r>
            <a:rPr lang="zh-CN" altLang="en-US" b="1" dirty="0" smtClean="0">
              <a:solidFill>
                <a:schemeClr val="tx1"/>
              </a:solidFill>
              <a:latin typeface="Times New Roman" pitchFamily="18" charset="0"/>
            </a:rPr>
            <a:t>间隙</a:t>
          </a:r>
          <a:r>
            <a:rPr lang="en-US" altLang="zh-CN" b="1" dirty="0" smtClean="0">
              <a:solidFill>
                <a:schemeClr val="tx1"/>
              </a:solidFill>
              <a:latin typeface="Times New Roman" pitchFamily="18" charset="0"/>
            </a:rPr>
            <a:t>) </a:t>
          </a:r>
          <a:r>
            <a:rPr lang="zh-CN" altLang="en-US" b="1" dirty="0" smtClean="0">
              <a:solidFill>
                <a:schemeClr val="tx1"/>
              </a:solidFill>
              <a:latin typeface="Times New Roman" pitchFamily="18" charset="0"/>
            </a:rPr>
            <a:t>型</a:t>
          </a:r>
          <a:endParaRPr lang="zh-CN" altLang="en-US" dirty="0">
            <a:solidFill>
              <a:schemeClr val="tx1"/>
            </a:solidFill>
          </a:endParaRPr>
        </a:p>
      </dgm:t>
    </dgm:pt>
    <dgm:pt modelId="{560024D3-7764-4883-B57D-62EF3E9E0A91}" type="parTrans" cxnId="{70A7917F-056E-4EEE-AAF0-F03F74384DBB}">
      <dgm:prSet/>
      <dgm:spPr/>
      <dgm:t>
        <a:bodyPr/>
        <a:lstStyle/>
        <a:p>
          <a:endParaRPr lang="zh-CN" altLang="en-US"/>
        </a:p>
      </dgm:t>
    </dgm:pt>
    <dgm:pt modelId="{E6B141C2-2AE5-4681-8D0D-80CAE70DDEB1}" type="sibTrans" cxnId="{70A7917F-056E-4EEE-AAF0-F03F74384DBB}">
      <dgm:prSet/>
      <dgm:spPr/>
      <dgm:t>
        <a:bodyPr/>
        <a:lstStyle/>
        <a:p>
          <a:endParaRPr lang="zh-CN" altLang="en-US"/>
        </a:p>
      </dgm:t>
    </dgm:pt>
    <dgm:pt modelId="{2F0BF968-1E06-44BE-A075-8C85CB12DCA4}">
      <dgm:prSet phldrT="[文本]"/>
      <dgm:spPr>
        <a:solidFill>
          <a:schemeClr val="accent3">
            <a:lumMod val="20000"/>
            <a:lumOff val="80000"/>
          </a:schemeClr>
        </a:solidFill>
        <a:scene3d>
          <a:camera prst="orthographicFront"/>
          <a:lightRig rig="threePt" dir="t"/>
        </a:scene3d>
        <a:sp3d>
          <a:bevelT prst="relaxedInset"/>
        </a:sp3d>
      </dgm:spPr>
      <dgm:t>
        <a:bodyPr/>
        <a:lstStyle/>
        <a:p>
          <a:r>
            <a:rPr lang="zh-CN" altLang="en-US" b="1" dirty="0" smtClean="0">
              <a:solidFill>
                <a:schemeClr val="tx1"/>
              </a:solidFill>
              <a:latin typeface="Times New Roman" pitchFamily="18" charset="0"/>
            </a:rPr>
            <a:t>变面积型</a:t>
          </a:r>
          <a:endParaRPr lang="zh-CN" altLang="en-US" dirty="0">
            <a:solidFill>
              <a:schemeClr val="tx1"/>
            </a:solidFill>
          </a:endParaRPr>
        </a:p>
      </dgm:t>
    </dgm:pt>
    <dgm:pt modelId="{83B2AC16-DC92-481A-A68A-00DCCB3B4B73}" type="parTrans" cxnId="{1A23D533-D3B5-44CC-A79B-44A7951A3F50}">
      <dgm:prSet/>
      <dgm:spPr/>
      <dgm:t>
        <a:bodyPr/>
        <a:lstStyle/>
        <a:p>
          <a:endParaRPr lang="zh-CN" altLang="en-US"/>
        </a:p>
      </dgm:t>
    </dgm:pt>
    <dgm:pt modelId="{F76B0C32-760B-47E5-9CBC-9297ECFDD01D}" type="sibTrans" cxnId="{1A23D533-D3B5-44CC-A79B-44A7951A3F50}">
      <dgm:prSet/>
      <dgm:spPr/>
      <dgm:t>
        <a:bodyPr/>
        <a:lstStyle/>
        <a:p>
          <a:endParaRPr lang="zh-CN" altLang="en-US"/>
        </a:p>
      </dgm:t>
    </dgm:pt>
    <dgm:pt modelId="{04A41AA9-C854-4578-B1E2-3FEE1BCE6F9A}">
      <dgm:prSet phldrT="[文本]"/>
      <dgm:spPr>
        <a:solidFill>
          <a:schemeClr val="accent3">
            <a:lumMod val="20000"/>
            <a:lumOff val="80000"/>
          </a:schemeClr>
        </a:solidFill>
        <a:scene3d>
          <a:camera prst="orthographicFront"/>
          <a:lightRig rig="threePt" dir="t"/>
        </a:scene3d>
        <a:sp3d>
          <a:bevelT prst="relaxedInset"/>
        </a:sp3d>
      </dgm:spPr>
      <dgm:t>
        <a:bodyPr/>
        <a:lstStyle/>
        <a:p>
          <a:r>
            <a:rPr lang="zh-CN" altLang="en-US" b="1" dirty="0" smtClean="0">
              <a:solidFill>
                <a:schemeClr val="tx1"/>
              </a:solidFill>
              <a:latin typeface="Times New Roman" pitchFamily="18" charset="0"/>
            </a:rPr>
            <a:t>变介电常数型</a:t>
          </a:r>
          <a:endParaRPr lang="zh-CN" altLang="en-US" dirty="0">
            <a:solidFill>
              <a:schemeClr val="tx1"/>
            </a:solidFill>
          </a:endParaRPr>
        </a:p>
      </dgm:t>
    </dgm:pt>
    <dgm:pt modelId="{682D94F1-ACFE-43E4-A7CB-ED04C1FF71BE}" type="parTrans" cxnId="{A9CF2044-BF07-4D92-9CBF-D6E8BB206F4F}">
      <dgm:prSet/>
      <dgm:spPr/>
      <dgm:t>
        <a:bodyPr/>
        <a:lstStyle/>
        <a:p>
          <a:endParaRPr lang="zh-CN" altLang="en-US"/>
        </a:p>
      </dgm:t>
    </dgm:pt>
    <dgm:pt modelId="{FFD2A31C-DC7E-4F98-98DC-994DE66B7B80}" type="sibTrans" cxnId="{A9CF2044-BF07-4D92-9CBF-D6E8BB206F4F}">
      <dgm:prSet/>
      <dgm:spPr/>
      <dgm:t>
        <a:bodyPr/>
        <a:lstStyle/>
        <a:p>
          <a:endParaRPr lang="zh-CN" altLang="en-US"/>
        </a:p>
      </dgm:t>
    </dgm:pt>
    <dgm:pt modelId="{578C482B-1E1A-4510-9D1E-6F57A3D54D3F}" type="pres">
      <dgm:prSet presAssocID="{9A4851A7-86FE-49B0-8769-CEABD92A8A26}" presName="linearFlow" presStyleCnt="0">
        <dgm:presLayoutVars>
          <dgm:dir/>
          <dgm:resizeHandles val="exact"/>
        </dgm:presLayoutVars>
      </dgm:prSet>
      <dgm:spPr/>
    </dgm:pt>
    <dgm:pt modelId="{28481A41-E27D-404C-8413-F099D7FA88A6}" type="pres">
      <dgm:prSet presAssocID="{1718CD43-2E2C-4221-86A5-0EDFB4EACE7E}" presName="composite" presStyleCnt="0"/>
      <dgm:spPr>
        <a:scene3d>
          <a:camera prst="orthographicFront"/>
          <a:lightRig rig="threePt" dir="t"/>
        </a:scene3d>
        <a:sp3d>
          <a:bevelT prst="relaxedInset"/>
        </a:sp3d>
      </dgm:spPr>
    </dgm:pt>
    <dgm:pt modelId="{1CF1B73D-764A-41C8-95B4-F87962F60104}" type="pres">
      <dgm:prSet presAssocID="{1718CD43-2E2C-4221-86A5-0EDFB4EACE7E}" presName="imgShp" presStyleLbl="fgImgPlace1" presStyleIdx="0" presStyleCnt="3"/>
      <dgm:spPr>
        <a:scene3d>
          <a:camera prst="orthographicFront"/>
          <a:lightRig rig="threePt" dir="t"/>
        </a:scene3d>
        <a:sp3d>
          <a:bevelT prst="relaxedInset"/>
        </a:sp3d>
      </dgm:spPr>
    </dgm:pt>
    <dgm:pt modelId="{CE02E2F9-F46C-4D07-9753-71A9DCDB7C8C}" type="pres">
      <dgm:prSet presAssocID="{1718CD43-2E2C-4221-86A5-0EDFB4EACE7E}" presName="txShp" presStyleLbl="node1" presStyleIdx="0" presStyleCnt="3">
        <dgm:presLayoutVars>
          <dgm:bulletEnabled val="1"/>
        </dgm:presLayoutVars>
      </dgm:prSet>
      <dgm:spPr/>
      <dgm:t>
        <a:bodyPr/>
        <a:lstStyle/>
        <a:p>
          <a:endParaRPr lang="zh-CN" altLang="en-US"/>
        </a:p>
      </dgm:t>
    </dgm:pt>
    <dgm:pt modelId="{30DF7472-941B-4805-B328-2A115773FA51}" type="pres">
      <dgm:prSet presAssocID="{E6B141C2-2AE5-4681-8D0D-80CAE70DDEB1}" presName="spacing" presStyleCnt="0"/>
      <dgm:spPr>
        <a:scene3d>
          <a:camera prst="orthographicFront"/>
          <a:lightRig rig="threePt" dir="t"/>
        </a:scene3d>
        <a:sp3d>
          <a:bevelT prst="relaxedInset"/>
        </a:sp3d>
      </dgm:spPr>
    </dgm:pt>
    <dgm:pt modelId="{A4A42706-30B6-49F2-AC95-12215DD05CCF}" type="pres">
      <dgm:prSet presAssocID="{2F0BF968-1E06-44BE-A075-8C85CB12DCA4}" presName="composite" presStyleCnt="0"/>
      <dgm:spPr>
        <a:scene3d>
          <a:camera prst="orthographicFront"/>
          <a:lightRig rig="threePt" dir="t"/>
        </a:scene3d>
        <a:sp3d>
          <a:bevelT prst="relaxedInset"/>
        </a:sp3d>
      </dgm:spPr>
    </dgm:pt>
    <dgm:pt modelId="{2F85A591-1AAA-495C-BBFD-931DB5BDDF42}" type="pres">
      <dgm:prSet presAssocID="{2F0BF968-1E06-44BE-A075-8C85CB12DCA4}" presName="imgShp" presStyleLbl="fgImgPlace1" presStyleIdx="1" presStyleCnt="3"/>
      <dgm:spPr>
        <a:scene3d>
          <a:camera prst="orthographicFront"/>
          <a:lightRig rig="threePt" dir="t"/>
        </a:scene3d>
        <a:sp3d>
          <a:bevelT prst="relaxedInset"/>
        </a:sp3d>
      </dgm:spPr>
    </dgm:pt>
    <dgm:pt modelId="{5EBDEF6D-971D-42DE-8815-A19C41BDFBF8}" type="pres">
      <dgm:prSet presAssocID="{2F0BF968-1E06-44BE-A075-8C85CB12DCA4}" presName="txShp" presStyleLbl="node1" presStyleIdx="1" presStyleCnt="3">
        <dgm:presLayoutVars>
          <dgm:bulletEnabled val="1"/>
        </dgm:presLayoutVars>
      </dgm:prSet>
      <dgm:spPr/>
      <dgm:t>
        <a:bodyPr/>
        <a:lstStyle/>
        <a:p>
          <a:endParaRPr lang="zh-CN" altLang="en-US"/>
        </a:p>
      </dgm:t>
    </dgm:pt>
    <dgm:pt modelId="{314569E2-C6BB-44A6-BA8E-CBEBD6313197}" type="pres">
      <dgm:prSet presAssocID="{F76B0C32-760B-47E5-9CBC-9297ECFDD01D}" presName="spacing" presStyleCnt="0"/>
      <dgm:spPr>
        <a:scene3d>
          <a:camera prst="orthographicFront"/>
          <a:lightRig rig="threePt" dir="t"/>
        </a:scene3d>
        <a:sp3d>
          <a:bevelT prst="relaxedInset"/>
        </a:sp3d>
      </dgm:spPr>
    </dgm:pt>
    <dgm:pt modelId="{8D3FBC4F-9AAB-4BE0-ADED-7B448C64CC1B}" type="pres">
      <dgm:prSet presAssocID="{04A41AA9-C854-4578-B1E2-3FEE1BCE6F9A}" presName="composite" presStyleCnt="0"/>
      <dgm:spPr>
        <a:scene3d>
          <a:camera prst="orthographicFront"/>
          <a:lightRig rig="threePt" dir="t"/>
        </a:scene3d>
        <a:sp3d>
          <a:bevelT prst="relaxedInset"/>
        </a:sp3d>
      </dgm:spPr>
    </dgm:pt>
    <dgm:pt modelId="{A66C00FC-FD30-4A13-B8CE-8DB417AC28ED}" type="pres">
      <dgm:prSet presAssocID="{04A41AA9-C854-4578-B1E2-3FEE1BCE6F9A}" presName="imgShp" presStyleLbl="fgImgPlace1" presStyleIdx="2" presStyleCnt="3"/>
      <dgm:spPr>
        <a:scene3d>
          <a:camera prst="orthographicFront"/>
          <a:lightRig rig="threePt" dir="t"/>
        </a:scene3d>
        <a:sp3d>
          <a:bevelT prst="relaxedInset"/>
        </a:sp3d>
      </dgm:spPr>
    </dgm:pt>
    <dgm:pt modelId="{DD407A54-FD4F-49C4-AB30-743F378EB7C0}" type="pres">
      <dgm:prSet presAssocID="{04A41AA9-C854-4578-B1E2-3FEE1BCE6F9A}" presName="txShp" presStyleLbl="node1" presStyleIdx="2" presStyleCnt="3">
        <dgm:presLayoutVars>
          <dgm:bulletEnabled val="1"/>
        </dgm:presLayoutVars>
      </dgm:prSet>
      <dgm:spPr/>
      <dgm:t>
        <a:bodyPr/>
        <a:lstStyle/>
        <a:p>
          <a:endParaRPr lang="zh-CN" altLang="en-US"/>
        </a:p>
      </dgm:t>
    </dgm:pt>
  </dgm:ptLst>
  <dgm:cxnLst>
    <dgm:cxn modelId="{1A23D533-D3B5-44CC-A79B-44A7951A3F50}" srcId="{9A4851A7-86FE-49B0-8769-CEABD92A8A26}" destId="{2F0BF968-1E06-44BE-A075-8C85CB12DCA4}" srcOrd="1" destOrd="0" parTransId="{83B2AC16-DC92-481A-A68A-00DCCB3B4B73}" sibTransId="{F76B0C32-760B-47E5-9CBC-9297ECFDD01D}"/>
    <dgm:cxn modelId="{70A7917F-056E-4EEE-AAF0-F03F74384DBB}" srcId="{9A4851A7-86FE-49B0-8769-CEABD92A8A26}" destId="{1718CD43-2E2C-4221-86A5-0EDFB4EACE7E}" srcOrd="0" destOrd="0" parTransId="{560024D3-7764-4883-B57D-62EF3E9E0A91}" sibTransId="{E6B141C2-2AE5-4681-8D0D-80CAE70DDEB1}"/>
    <dgm:cxn modelId="{0D7F7088-3813-4091-8DC4-7C5D7295A949}" type="presOf" srcId="{04A41AA9-C854-4578-B1E2-3FEE1BCE6F9A}" destId="{DD407A54-FD4F-49C4-AB30-743F378EB7C0}" srcOrd="0" destOrd="0" presId="urn:microsoft.com/office/officeart/2005/8/layout/vList3"/>
    <dgm:cxn modelId="{A9CF2044-BF07-4D92-9CBF-D6E8BB206F4F}" srcId="{9A4851A7-86FE-49B0-8769-CEABD92A8A26}" destId="{04A41AA9-C854-4578-B1E2-3FEE1BCE6F9A}" srcOrd="2" destOrd="0" parTransId="{682D94F1-ACFE-43E4-A7CB-ED04C1FF71BE}" sibTransId="{FFD2A31C-DC7E-4F98-98DC-994DE66B7B80}"/>
    <dgm:cxn modelId="{932699A6-9D26-449B-98A9-39ACAC454E0E}" type="presOf" srcId="{9A4851A7-86FE-49B0-8769-CEABD92A8A26}" destId="{578C482B-1E1A-4510-9D1E-6F57A3D54D3F}" srcOrd="0" destOrd="0" presId="urn:microsoft.com/office/officeart/2005/8/layout/vList3"/>
    <dgm:cxn modelId="{5E1ABE69-CD40-4F21-B027-F59697912C50}" type="presOf" srcId="{1718CD43-2E2C-4221-86A5-0EDFB4EACE7E}" destId="{CE02E2F9-F46C-4D07-9753-71A9DCDB7C8C}" srcOrd="0" destOrd="0" presId="urn:microsoft.com/office/officeart/2005/8/layout/vList3"/>
    <dgm:cxn modelId="{E9B6C29F-6114-4ADC-9F02-5ED0DE264783}" type="presOf" srcId="{2F0BF968-1E06-44BE-A075-8C85CB12DCA4}" destId="{5EBDEF6D-971D-42DE-8815-A19C41BDFBF8}" srcOrd="0" destOrd="0" presId="urn:microsoft.com/office/officeart/2005/8/layout/vList3"/>
    <dgm:cxn modelId="{FCF7BE55-82D4-4CD5-95ED-B9B23B2544D1}" type="presParOf" srcId="{578C482B-1E1A-4510-9D1E-6F57A3D54D3F}" destId="{28481A41-E27D-404C-8413-F099D7FA88A6}" srcOrd="0" destOrd="0" presId="urn:microsoft.com/office/officeart/2005/8/layout/vList3"/>
    <dgm:cxn modelId="{0E0B7A82-08F3-4E8D-946E-FC27B1928AC2}" type="presParOf" srcId="{28481A41-E27D-404C-8413-F099D7FA88A6}" destId="{1CF1B73D-764A-41C8-95B4-F87962F60104}" srcOrd="0" destOrd="0" presId="urn:microsoft.com/office/officeart/2005/8/layout/vList3"/>
    <dgm:cxn modelId="{EFB56C70-72C2-4DF3-9DB8-854BFB4A52D7}" type="presParOf" srcId="{28481A41-E27D-404C-8413-F099D7FA88A6}" destId="{CE02E2F9-F46C-4D07-9753-71A9DCDB7C8C}" srcOrd="1" destOrd="0" presId="urn:microsoft.com/office/officeart/2005/8/layout/vList3"/>
    <dgm:cxn modelId="{96264113-DCB8-4057-AAE6-36D60B5D0A1B}" type="presParOf" srcId="{578C482B-1E1A-4510-9D1E-6F57A3D54D3F}" destId="{30DF7472-941B-4805-B328-2A115773FA51}" srcOrd="1" destOrd="0" presId="urn:microsoft.com/office/officeart/2005/8/layout/vList3"/>
    <dgm:cxn modelId="{BECE79C5-C981-45BC-8D99-2F2472953265}" type="presParOf" srcId="{578C482B-1E1A-4510-9D1E-6F57A3D54D3F}" destId="{A4A42706-30B6-49F2-AC95-12215DD05CCF}" srcOrd="2" destOrd="0" presId="urn:microsoft.com/office/officeart/2005/8/layout/vList3"/>
    <dgm:cxn modelId="{2414D743-A2D5-4EEC-A0CC-4767B98DF013}" type="presParOf" srcId="{A4A42706-30B6-49F2-AC95-12215DD05CCF}" destId="{2F85A591-1AAA-495C-BBFD-931DB5BDDF42}" srcOrd="0" destOrd="0" presId="urn:microsoft.com/office/officeart/2005/8/layout/vList3"/>
    <dgm:cxn modelId="{C0BEABC4-A451-4FA2-B4C5-A74D3CBCEA57}" type="presParOf" srcId="{A4A42706-30B6-49F2-AC95-12215DD05CCF}" destId="{5EBDEF6D-971D-42DE-8815-A19C41BDFBF8}" srcOrd="1" destOrd="0" presId="urn:microsoft.com/office/officeart/2005/8/layout/vList3"/>
    <dgm:cxn modelId="{D8AE154D-5AC0-4FCB-871D-4A738B098C73}" type="presParOf" srcId="{578C482B-1E1A-4510-9D1E-6F57A3D54D3F}" destId="{314569E2-C6BB-44A6-BA8E-CBEBD6313197}" srcOrd="3" destOrd="0" presId="urn:microsoft.com/office/officeart/2005/8/layout/vList3"/>
    <dgm:cxn modelId="{617FB71D-318B-46CA-8876-0CDF4C31FF5A}" type="presParOf" srcId="{578C482B-1E1A-4510-9D1E-6F57A3D54D3F}" destId="{8D3FBC4F-9AAB-4BE0-ADED-7B448C64CC1B}" srcOrd="4" destOrd="0" presId="urn:microsoft.com/office/officeart/2005/8/layout/vList3"/>
    <dgm:cxn modelId="{510F86B5-FD48-46D7-B929-B74FE944C821}" type="presParOf" srcId="{8D3FBC4F-9AAB-4BE0-ADED-7B448C64CC1B}" destId="{A66C00FC-FD30-4A13-B8CE-8DB417AC28ED}" srcOrd="0" destOrd="0" presId="urn:microsoft.com/office/officeart/2005/8/layout/vList3"/>
    <dgm:cxn modelId="{2773DC6B-514B-4B9B-90A6-2F8A894A3746}" type="presParOf" srcId="{8D3FBC4F-9AAB-4BE0-ADED-7B448C64CC1B}" destId="{DD407A54-FD4F-49C4-AB30-743F378EB7C0}" srcOrd="1" destOrd="0" presId="urn:microsoft.com/office/officeart/2005/8/layout/vList3"/>
  </dgm:cxnLst>
  <dgm:bg/>
  <dgm:whole/>
</dgm:dataModel>
</file>

<file path=ppt/diagrams/data2.xml><?xml version="1.0" encoding="utf-8"?>
<dgm:dataModel xmlns:dgm="http://schemas.openxmlformats.org/drawingml/2006/diagram" xmlns:a="http://schemas.openxmlformats.org/drawingml/2006/main">
  <dgm:ptLst>
    <dgm:pt modelId="{07BDF091-9ABA-4496-8864-39904CF941B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6A29BB1C-3968-471F-8454-6FC3C24207BB}">
      <dgm:prSet phldrT="[文本]"/>
      <dgm:spPr>
        <a:solidFill>
          <a:srgbClr val="92D050"/>
        </a:solidFill>
        <a:scene3d>
          <a:camera prst="orthographicFront"/>
          <a:lightRig rig="threePt" dir="t"/>
        </a:scene3d>
        <a:sp3d>
          <a:bevelT prst="relaxedInset"/>
        </a:sp3d>
      </dgm:spPr>
      <dgm:t>
        <a:bodyPr/>
        <a:lstStyle/>
        <a:p>
          <a:pPr algn="l"/>
          <a:r>
            <a:rPr lang="zh-CN" altLang="en-US" b="1" dirty="0" smtClean="0">
              <a:solidFill>
                <a:srgbClr val="C00000"/>
              </a:solidFill>
              <a:latin typeface="宋体" pitchFamily="2" charset="-122"/>
              <a:ea typeface="宋体" pitchFamily="2" charset="-122"/>
            </a:rPr>
            <a:t>温度稳定性好</a:t>
          </a:r>
          <a:endParaRPr lang="zh-CN" altLang="en-US" dirty="0">
            <a:solidFill>
              <a:srgbClr val="C00000"/>
            </a:solidFill>
          </a:endParaRPr>
        </a:p>
      </dgm:t>
    </dgm:pt>
    <dgm:pt modelId="{6021E611-0EAD-49A6-A824-EA46607640D6}" type="parTrans" cxnId="{CA9D1132-894D-433B-B363-981CB1580998}">
      <dgm:prSet/>
      <dgm:spPr/>
      <dgm:t>
        <a:bodyPr/>
        <a:lstStyle/>
        <a:p>
          <a:endParaRPr lang="zh-CN" altLang="en-US"/>
        </a:p>
      </dgm:t>
    </dgm:pt>
    <dgm:pt modelId="{6487D8F3-14F9-4FC5-B247-89B25B1740F1}" type="sibTrans" cxnId="{CA9D1132-894D-433B-B363-981CB1580998}">
      <dgm:prSet/>
      <dgm:spPr/>
      <dgm:t>
        <a:bodyPr/>
        <a:lstStyle/>
        <a:p>
          <a:endParaRPr lang="zh-CN" altLang="en-US"/>
        </a:p>
      </dgm:t>
    </dgm:pt>
    <dgm:pt modelId="{A9C909D7-C5C6-4991-AA37-BACE3C97D6E8}">
      <dgm:prSet phldrT="[文本]" custT="1"/>
      <dgm:spPr/>
      <dgm:t>
        <a:bodyPr/>
        <a:lstStyle/>
        <a:p>
          <a:r>
            <a:rPr lang="zh-CN" altLang="en-US" sz="2400" b="1" dirty="0" smtClean="0">
              <a:solidFill>
                <a:srgbClr val="0000FF"/>
              </a:solidFill>
              <a:latin typeface="宋体" pitchFamily="2" charset="-122"/>
              <a:ea typeface="宋体" pitchFamily="2" charset="-122"/>
            </a:rPr>
            <a:t>电容值一般与电极材料无关，可选温度系数低的材料；本身发热极小，不易影响稳定性。</a:t>
          </a:r>
          <a:endParaRPr lang="zh-CN" altLang="en-US" sz="2400" dirty="0"/>
        </a:p>
      </dgm:t>
    </dgm:pt>
    <dgm:pt modelId="{1A6DA205-0544-4FB5-919C-B3A0C5416002}" type="parTrans" cxnId="{8B99D01D-2BCA-4F7F-A32C-19A1C5B5329A}">
      <dgm:prSet/>
      <dgm:spPr/>
      <dgm:t>
        <a:bodyPr/>
        <a:lstStyle/>
        <a:p>
          <a:endParaRPr lang="zh-CN" altLang="en-US"/>
        </a:p>
      </dgm:t>
    </dgm:pt>
    <dgm:pt modelId="{D222CE87-C789-44BA-8128-56914D5751BD}" type="sibTrans" cxnId="{8B99D01D-2BCA-4F7F-A32C-19A1C5B5329A}">
      <dgm:prSet/>
      <dgm:spPr/>
      <dgm:t>
        <a:bodyPr/>
        <a:lstStyle/>
        <a:p>
          <a:endParaRPr lang="zh-CN" altLang="en-US"/>
        </a:p>
      </dgm:t>
    </dgm:pt>
    <dgm:pt modelId="{728977EA-9D8C-4964-A6A3-638A76168B8A}">
      <dgm:prSet phldrT="[文本]"/>
      <dgm:spPr>
        <a:solidFill>
          <a:srgbClr val="92D050"/>
        </a:solidFill>
        <a:scene3d>
          <a:camera prst="orthographicFront"/>
          <a:lightRig rig="threePt" dir="t"/>
        </a:scene3d>
        <a:sp3d>
          <a:bevelT prst="relaxedInset"/>
        </a:sp3d>
      </dgm:spPr>
      <dgm:t>
        <a:bodyPr/>
        <a:lstStyle/>
        <a:p>
          <a:r>
            <a:rPr lang="zh-CN" altLang="en-US" b="1" dirty="0" smtClean="0">
              <a:solidFill>
                <a:srgbClr val="C00000"/>
              </a:solidFill>
              <a:latin typeface="宋体" pitchFamily="2" charset="-122"/>
              <a:ea typeface="宋体" pitchFamily="2" charset="-122"/>
            </a:rPr>
            <a:t>结构简单、适应性强</a:t>
          </a:r>
          <a:endParaRPr lang="zh-CN" altLang="en-US" dirty="0">
            <a:solidFill>
              <a:srgbClr val="C00000"/>
            </a:solidFill>
          </a:endParaRPr>
        </a:p>
      </dgm:t>
    </dgm:pt>
    <dgm:pt modelId="{0F9C3EC4-A106-4996-9D4A-71A79ABDBC4A}" type="parTrans" cxnId="{071129A1-8A8F-4264-B0B9-390F6D684A7D}">
      <dgm:prSet/>
      <dgm:spPr/>
      <dgm:t>
        <a:bodyPr/>
        <a:lstStyle/>
        <a:p>
          <a:endParaRPr lang="zh-CN" altLang="en-US"/>
        </a:p>
      </dgm:t>
    </dgm:pt>
    <dgm:pt modelId="{8DE23C65-7D99-456D-863F-29C7DB5C234C}" type="sibTrans" cxnId="{071129A1-8A8F-4264-B0B9-390F6D684A7D}">
      <dgm:prSet/>
      <dgm:spPr/>
      <dgm:t>
        <a:bodyPr/>
        <a:lstStyle/>
        <a:p>
          <a:endParaRPr lang="zh-CN" altLang="en-US"/>
        </a:p>
      </dgm:t>
    </dgm:pt>
    <dgm:pt modelId="{5296352A-F3BA-45FA-88CB-54B69E45CAAE}">
      <dgm:prSet phldrT="[文本]" custT="1"/>
      <dgm:spPr/>
      <dgm:t>
        <a:bodyPr/>
        <a:lstStyle/>
        <a:p>
          <a:r>
            <a:rPr lang="zh-CN" altLang="en-US" sz="2400" b="1" dirty="0" smtClean="0">
              <a:solidFill>
                <a:srgbClr val="0000FF"/>
              </a:solidFill>
              <a:latin typeface="宋体" pitchFamily="2" charset="-122"/>
              <a:ea typeface="宋体" pitchFamily="2" charset="-122"/>
            </a:rPr>
            <a:t>可工作在各种恶劣环境中；能对带磁物体进行测量；体积可以很小，满足特殊场合使用。</a:t>
          </a:r>
          <a:endParaRPr lang="zh-CN" altLang="en-US" sz="2400" dirty="0"/>
        </a:p>
      </dgm:t>
    </dgm:pt>
    <dgm:pt modelId="{AB64D959-5DAE-4F95-B930-5858AEC85794}" type="parTrans" cxnId="{51BC1295-126E-44D9-8F1D-510E646A5EEA}">
      <dgm:prSet/>
      <dgm:spPr/>
      <dgm:t>
        <a:bodyPr/>
        <a:lstStyle/>
        <a:p>
          <a:endParaRPr lang="zh-CN" altLang="en-US"/>
        </a:p>
      </dgm:t>
    </dgm:pt>
    <dgm:pt modelId="{244DE5FD-9F92-4A4E-BD40-5B498D9EAAC2}" type="sibTrans" cxnId="{51BC1295-126E-44D9-8F1D-510E646A5EEA}">
      <dgm:prSet/>
      <dgm:spPr/>
      <dgm:t>
        <a:bodyPr/>
        <a:lstStyle/>
        <a:p>
          <a:endParaRPr lang="zh-CN" altLang="en-US"/>
        </a:p>
      </dgm:t>
    </dgm:pt>
    <dgm:pt modelId="{D5A213F5-7430-4B73-8C2D-002A944BA214}">
      <dgm:prSet phldrT="[文本]"/>
      <dgm:spPr>
        <a:solidFill>
          <a:srgbClr val="92D050"/>
        </a:solidFill>
        <a:scene3d>
          <a:camera prst="orthographicFront"/>
          <a:lightRig rig="threePt" dir="t"/>
        </a:scene3d>
        <a:sp3d>
          <a:bevelT prst="relaxedInset"/>
        </a:sp3d>
      </dgm:spPr>
      <dgm:t>
        <a:bodyPr/>
        <a:lstStyle/>
        <a:p>
          <a:pPr algn="l"/>
          <a:r>
            <a:rPr lang="zh-CN" altLang="en-US" b="1" dirty="0" smtClean="0">
              <a:solidFill>
                <a:srgbClr val="C00000"/>
              </a:solidFill>
              <a:latin typeface="宋体" pitchFamily="2" charset="-122"/>
              <a:ea typeface="宋体" pitchFamily="2" charset="-122"/>
            </a:rPr>
            <a:t>动态响应好</a:t>
          </a:r>
          <a:endParaRPr lang="zh-CN" altLang="en-US" dirty="0">
            <a:solidFill>
              <a:srgbClr val="C00000"/>
            </a:solidFill>
          </a:endParaRPr>
        </a:p>
      </dgm:t>
    </dgm:pt>
    <dgm:pt modelId="{BDB25F7B-5590-4755-95C7-CF6C6A57FDEE}" type="parTrans" cxnId="{70581970-B1F7-4D8C-B1B2-707AB9040FDC}">
      <dgm:prSet/>
      <dgm:spPr/>
      <dgm:t>
        <a:bodyPr/>
        <a:lstStyle/>
        <a:p>
          <a:endParaRPr lang="zh-CN" altLang="en-US"/>
        </a:p>
      </dgm:t>
    </dgm:pt>
    <dgm:pt modelId="{FF61E849-A81D-4E86-AE1F-6E022F64FBD8}" type="sibTrans" cxnId="{70581970-B1F7-4D8C-B1B2-707AB9040FDC}">
      <dgm:prSet/>
      <dgm:spPr/>
      <dgm:t>
        <a:bodyPr/>
        <a:lstStyle/>
        <a:p>
          <a:endParaRPr lang="zh-CN" altLang="en-US"/>
        </a:p>
      </dgm:t>
    </dgm:pt>
    <dgm:pt modelId="{EBB43E62-D827-422E-98E1-CDE63B85A8DD}">
      <dgm:prSet phldrT="[文本]" custT="1"/>
      <dgm:spPr/>
      <dgm:t>
        <a:bodyPr/>
        <a:lstStyle/>
        <a:p>
          <a:r>
            <a:rPr lang="zh-CN" altLang="en-US" sz="2400" b="1" dirty="0" smtClean="0">
              <a:solidFill>
                <a:srgbClr val="0000FF"/>
              </a:solidFill>
              <a:latin typeface="宋体" pitchFamily="2" charset="-122"/>
              <a:ea typeface="宋体" pitchFamily="2" charset="-122"/>
            </a:rPr>
            <a:t>固有频率高，动态响应时间短，特别适合于动态测量（如振动、瞬时压力测量）。</a:t>
          </a:r>
          <a:endParaRPr lang="zh-CN" altLang="en-US" sz="2400" dirty="0"/>
        </a:p>
      </dgm:t>
    </dgm:pt>
    <dgm:pt modelId="{079320DF-291F-4F71-A6D3-8154CFC768C0}" type="parTrans" cxnId="{922E8CE6-38DB-440F-A7B4-B1606C6103D0}">
      <dgm:prSet/>
      <dgm:spPr/>
      <dgm:t>
        <a:bodyPr/>
        <a:lstStyle/>
        <a:p>
          <a:endParaRPr lang="zh-CN" altLang="en-US"/>
        </a:p>
      </dgm:t>
    </dgm:pt>
    <dgm:pt modelId="{473202F0-5EF1-49E7-A824-045BF74B20AE}" type="sibTrans" cxnId="{922E8CE6-38DB-440F-A7B4-B1606C6103D0}">
      <dgm:prSet/>
      <dgm:spPr/>
      <dgm:t>
        <a:bodyPr/>
        <a:lstStyle/>
        <a:p>
          <a:endParaRPr lang="zh-CN" altLang="en-US"/>
        </a:p>
      </dgm:t>
    </dgm:pt>
    <dgm:pt modelId="{46A7447D-04AB-4BEA-A62C-14A9F8DBEB3C}">
      <dgm:prSet/>
      <dgm:spPr>
        <a:solidFill>
          <a:srgbClr val="92D050"/>
        </a:solidFill>
        <a:scene3d>
          <a:camera prst="orthographicFront"/>
          <a:lightRig rig="threePt" dir="t"/>
        </a:scene3d>
        <a:sp3d>
          <a:bevelT prst="relaxedInset"/>
        </a:sp3d>
      </dgm:spPr>
      <dgm:t>
        <a:bodyPr/>
        <a:lstStyle/>
        <a:p>
          <a:pPr marL="0" indent="450850" algn="l"/>
          <a:r>
            <a:rPr lang="zh-CN" altLang="en-US" b="1" dirty="0" smtClean="0">
              <a:solidFill>
                <a:srgbClr val="C00000"/>
              </a:solidFill>
              <a:latin typeface="宋体" pitchFamily="2" charset="-122"/>
              <a:ea typeface="宋体" pitchFamily="2" charset="-122"/>
            </a:rPr>
            <a:t>可以实现非接触测量，具有平均效应，可以减少表面粗糙度的影响。</a:t>
          </a:r>
          <a:endParaRPr lang="zh-CN" altLang="en-US" b="1" dirty="0">
            <a:solidFill>
              <a:srgbClr val="C00000"/>
            </a:solidFill>
            <a:latin typeface="宋体" pitchFamily="2" charset="-122"/>
            <a:ea typeface="宋体" pitchFamily="2" charset="-122"/>
          </a:endParaRPr>
        </a:p>
      </dgm:t>
    </dgm:pt>
    <dgm:pt modelId="{1BE0DB5B-D79D-4344-B4E2-D9EC3B2A18E6}" type="parTrans" cxnId="{CC9C16B1-443D-46AF-A2F9-9E9A2AA8A8C3}">
      <dgm:prSet/>
      <dgm:spPr/>
      <dgm:t>
        <a:bodyPr/>
        <a:lstStyle/>
        <a:p>
          <a:endParaRPr lang="zh-CN" altLang="en-US"/>
        </a:p>
      </dgm:t>
    </dgm:pt>
    <dgm:pt modelId="{7CED6650-756D-4AB3-89BA-B11F801D3120}" type="sibTrans" cxnId="{CC9C16B1-443D-46AF-A2F9-9E9A2AA8A8C3}">
      <dgm:prSet/>
      <dgm:spPr/>
      <dgm:t>
        <a:bodyPr/>
        <a:lstStyle/>
        <a:p>
          <a:endParaRPr lang="zh-CN" altLang="en-US"/>
        </a:p>
      </dgm:t>
    </dgm:pt>
    <dgm:pt modelId="{A0CFAD58-29F2-4F63-B2B8-0C0563400643}" type="pres">
      <dgm:prSet presAssocID="{07BDF091-9ABA-4496-8864-39904CF941B4}" presName="Name0" presStyleCnt="0">
        <dgm:presLayoutVars>
          <dgm:dir/>
          <dgm:animLvl val="lvl"/>
          <dgm:resizeHandles val="exact"/>
        </dgm:presLayoutVars>
      </dgm:prSet>
      <dgm:spPr/>
      <dgm:t>
        <a:bodyPr/>
        <a:lstStyle/>
        <a:p>
          <a:endParaRPr lang="zh-CN" altLang="en-US"/>
        </a:p>
      </dgm:t>
    </dgm:pt>
    <dgm:pt modelId="{6DFEED5A-6212-4014-B6D3-2A0FE39443A8}" type="pres">
      <dgm:prSet presAssocID="{6A29BB1C-3968-471F-8454-6FC3C24207BB}" presName="linNode" presStyleCnt="0"/>
      <dgm:spPr/>
    </dgm:pt>
    <dgm:pt modelId="{1D1586D5-3011-4BFC-9DB4-06E958C4625E}" type="pres">
      <dgm:prSet presAssocID="{6A29BB1C-3968-471F-8454-6FC3C24207BB}" presName="parentText" presStyleLbl="node1" presStyleIdx="0" presStyleCnt="4" custScaleX="60698">
        <dgm:presLayoutVars>
          <dgm:chMax val="1"/>
          <dgm:bulletEnabled val="1"/>
        </dgm:presLayoutVars>
      </dgm:prSet>
      <dgm:spPr/>
      <dgm:t>
        <a:bodyPr/>
        <a:lstStyle/>
        <a:p>
          <a:endParaRPr lang="zh-CN" altLang="en-US"/>
        </a:p>
      </dgm:t>
    </dgm:pt>
    <dgm:pt modelId="{CFEFE37C-4717-4206-8B1B-68CE96CCD139}" type="pres">
      <dgm:prSet presAssocID="{6A29BB1C-3968-471F-8454-6FC3C24207BB}" presName="descendantText" presStyleLbl="alignAccFollowNode1" presStyleIdx="0" presStyleCnt="3" custScaleX="128287">
        <dgm:presLayoutVars>
          <dgm:bulletEnabled val="1"/>
        </dgm:presLayoutVars>
      </dgm:prSet>
      <dgm:spPr/>
      <dgm:t>
        <a:bodyPr/>
        <a:lstStyle/>
        <a:p>
          <a:endParaRPr lang="zh-CN" altLang="en-US"/>
        </a:p>
      </dgm:t>
    </dgm:pt>
    <dgm:pt modelId="{46EA6524-15BE-4C1C-BD10-E2129DD52B84}" type="pres">
      <dgm:prSet presAssocID="{6487D8F3-14F9-4FC5-B247-89B25B1740F1}" presName="sp" presStyleCnt="0"/>
      <dgm:spPr/>
    </dgm:pt>
    <dgm:pt modelId="{FFD7617E-919F-45BF-8C6E-BC55A1958DBB}" type="pres">
      <dgm:prSet presAssocID="{728977EA-9D8C-4964-A6A3-638A76168B8A}" presName="linNode" presStyleCnt="0"/>
      <dgm:spPr/>
    </dgm:pt>
    <dgm:pt modelId="{84B241E9-67F0-4A25-8537-AC6779A193EA}" type="pres">
      <dgm:prSet presAssocID="{728977EA-9D8C-4964-A6A3-638A76168B8A}" presName="parentText" presStyleLbl="node1" presStyleIdx="1" presStyleCnt="4" custScaleX="58678">
        <dgm:presLayoutVars>
          <dgm:chMax val="1"/>
          <dgm:bulletEnabled val="1"/>
        </dgm:presLayoutVars>
      </dgm:prSet>
      <dgm:spPr/>
      <dgm:t>
        <a:bodyPr/>
        <a:lstStyle/>
        <a:p>
          <a:endParaRPr lang="zh-CN" altLang="en-US"/>
        </a:p>
      </dgm:t>
    </dgm:pt>
    <dgm:pt modelId="{15CE777D-CDB9-47BE-967D-563C3D958A06}" type="pres">
      <dgm:prSet presAssocID="{728977EA-9D8C-4964-A6A3-638A76168B8A}" presName="descendantText" presStyleLbl="alignAccFollowNode1" presStyleIdx="1" presStyleCnt="3" custScaleX="123243">
        <dgm:presLayoutVars>
          <dgm:bulletEnabled val="1"/>
        </dgm:presLayoutVars>
      </dgm:prSet>
      <dgm:spPr/>
      <dgm:t>
        <a:bodyPr/>
        <a:lstStyle/>
        <a:p>
          <a:endParaRPr lang="zh-CN" altLang="en-US"/>
        </a:p>
      </dgm:t>
    </dgm:pt>
    <dgm:pt modelId="{1EABB2DD-2E58-4481-97BA-430C7A7CD570}" type="pres">
      <dgm:prSet presAssocID="{8DE23C65-7D99-456D-863F-29C7DB5C234C}" presName="sp" presStyleCnt="0"/>
      <dgm:spPr/>
    </dgm:pt>
    <dgm:pt modelId="{77A0CBFC-9440-45E9-A728-C120436AEFDD}" type="pres">
      <dgm:prSet presAssocID="{D5A213F5-7430-4B73-8C2D-002A944BA214}" presName="linNode" presStyleCnt="0"/>
      <dgm:spPr/>
    </dgm:pt>
    <dgm:pt modelId="{DF0F8BE2-8FD4-4086-A292-159634150F1F}" type="pres">
      <dgm:prSet presAssocID="{D5A213F5-7430-4B73-8C2D-002A944BA214}" presName="parentText" presStyleLbl="node1" presStyleIdx="2" presStyleCnt="4" custScaleX="62449">
        <dgm:presLayoutVars>
          <dgm:chMax val="1"/>
          <dgm:bulletEnabled val="1"/>
        </dgm:presLayoutVars>
      </dgm:prSet>
      <dgm:spPr/>
      <dgm:t>
        <a:bodyPr/>
        <a:lstStyle/>
        <a:p>
          <a:endParaRPr lang="zh-CN" altLang="en-US"/>
        </a:p>
      </dgm:t>
    </dgm:pt>
    <dgm:pt modelId="{EF43D365-AE92-4F3D-B0BB-C28140F41A39}" type="pres">
      <dgm:prSet presAssocID="{D5A213F5-7430-4B73-8C2D-002A944BA214}" presName="descendantText" presStyleLbl="alignAccFollowNode1" presStyleIdx="2" presStyleCnt="3" custScaleX="127960">
        <dgm:presLayoutVars>
          <dgm:bulletEnabled val="1"/>
        </dgm:presLayoutVars>
      </dgm:prSet>
      <dgm:spPr/>
      <dgm:t>
        <a:bodyPr/>
        <a:lstStyle/>
        <a:p>
          <a:endParaRPr lang="zh-CN" altLang="en-US"/>
        </a:p>
      </dgm:t>
    </dgm:pt>
    <dgm:pt modelId="{5FFFC2AC-CB23-478F-860C-E3C2D47BFB59}" type="pres">
      <dgm:prSet presAssocID="{FF61E849-A81D-4E86-AE1F-6E022F64FBD8}" presName="sp" presStyleCnt="0"/>
      <dgm:spPr/>
    </dgm:pt>
    <dgm:pt modelId="{0D99BC34-9AA6-4F24-9D57-19FE862EECDA}" type="pres">
      <dgm:prSet presAssocID="{46A7447D-04AB-4BEA-A62C-14A9F8DBEB3C}" presName="linNode" presStyleCnt="0"/>
      <dgm:spPr/>
    </dgm:pt>
    <dgm:pt modelId="{F62B13EA-93E4-4CBF-85CF-12057E6B4B42}" type="pres">
      <dgm:prSet presAssocID="{46A7447D-04AB-4BEA-A62C-14A9F8DBEB3C}" presName="parentText" presStyleLbl="node1" presStyleIdx="3" presStyleCnt="4" custScaleX="277778">
        <dgm:presLayoutVars>
          <dgm:chMax val="1"/>
          <dgm:bulletEnabled val="1"/>
        </dgm:presLayoutVars>
      </dgm:prSet>
      <dgm:spPr/>
      <dgm:t>
        <a:bodyPr/>
        <a:lstStyle/>
        <a:p>
          <a:endParaRPr lang="zh-CN" altLang="en-US"/>
        </a:p>
      </dgm:t>
    </dgm:pt>
  </dgm:ptLst>
  <dgm:cxnLst>
    <dgm:cxn modelId="{DF7FA2EF-60D8-41E7-BD18-E852115AA8EE}" type="presOf" srcId="{07BDF091-9ABA-4496-8864-39904CF941B4}" destId="{A0CFAD58-29F2-4F63-B2B8-0C0563400643}" srcOrd="0" destOrd="0" presId="urn:microsoft.com/office/officeart/2005/8/layout/vList5"/>
    <dgm:cxn modelId="{CA9D1132-894D-433B-B363-981CB1580998}" srcId="{07BDF091-9ABA-4496-8864-39904CF941B4}" destId="{6A29BB1C-3968-471F-8454-6FC3C24207BB}" srcOrd="0" destOrd="0" parTransId="{6021E611-0EAD-49A6-A824-EA46607640D6}" sibTransId="{6487D8F3-14F9-4FC5-B247-89B25B1740F1}"/>
    <dgm:cxn modelId="{071129A1-8A8F-4264-B0B9-390F6D684A7D}" srcId="{07BDF091-9ABA-4496-8864-39904CF941B4}" destId="{728977EA-9D8C-4964-A6A3-638A76168B8A}" srcOrd="1" destOrd="0" parTransId="{0F9C3EC4-A106-4996-9D4A-71A79ABDBC4A}" sibTransId="{8DE23C65-7D99-456D-863F-29C7DB5C234C}"/>
    <dgm:cxn modelId="{70581970-B1F7-4D8C-B1B2-707AB9040FDC}" srcId="{07BDF091-9ABA-4496-8864-39904CF941B4}" destId="{D5A213F5-7430-4B73-8C2D-002A944BA214}" srcOrd="2" destOrd="0" parTransId="{BDB25F7B-5590-4755-95C7-CF6C6A57FDEE}" sibTransId="{FF61E849-A81D-4E86-AE1F-6E022F64FBD8}"/>
    <dgm:cxn modelId="{51BC1295-126E-44D9-8F1D-510E646A5EEA}" srcId="{728977EA-9D8C-4964-A6A3-638A76168B8A}" destId="{5296352A-F3BA-45FA-88CB-54B69E45CAAE}" srcOrd="0" destOrd="0" parTransId="{AB64D959-5DAE-4F95-B930-5858AEC85794}" sibTransId="{244DE5FD-9F92-4A4E-BD40-5B498D9EAAC2}"/>
    <dgm:cxn modelId="{8AF06938-8FE4-414F-A2B6-BD9F9931425F}" type="presOf" srcId="{D5A213F5-7430-4B73-8C2D-002A944BA214}" destId="{DF0F8BE2-8FD4-4086-A292-159634150F1F}" srcOrd="0" destOrd="0" presId="urn:microsoft.com/office/officeart/2005/8/layout/vList5"/>
    <dgm:cxn modelId="{F7EADF6E-1800-4589-87B0-ABDCA5BD236C}" type="presOf" srcId="{6A29BB1C-3968-471F-8454-6FC3C24207BB}" destId="{1D1586D5-3011-4BFC-9DB4-06E958C4625E}" srcOrd="0" destOrd="0" presId="urn:microsoft.com/office/officeart/2005/8/layout/vList5"/>
    <dgm:cxn modelId="{BC74987E-821A-4EC6-A250-54DB57034D48}" type="presOf" srcId="{728977EA-9D8C-4964-A6A3-638A76168B8A}" destId="{84B241E9-67F0-4A25-8537-AC6779A193EA}" srcOrd="0" destOrd="0" presId="urn:microsoft.com/office/officeart/2005/8/layout/vList5"/>
    <dgm:cxn modelId="{AE1E9316-F41F-4F3F-935F-DAD843CBF66C}" type="presOf" srcId="{A9C909D7-C5C6-4991-AA37-BACE3C97D6E8}" destId="{CFEFE37C-4717-4206-8B1B-68CE96CCD139}" srcOrd="0" destOrd="0" presId="urn:microsoft.com/office/officeart/2005/8/layout/vList5"/>
    <dgm:cxn modelId="{366B7457-9996-43DE-9C34-2908E2DFAB5D}" type="presOf" srcId="{EBB43E62-D827-422E-98E1-CDE63B85A8DD}" destId="{EF43D365-AE92-4F3D-B0BB-C28140F41A39}" srcOrd="0" destOrd="0" presId="urn:microsoft.com/office/officeart/2005/8/layout/vList5"/>
    <dgm:cxn modelId="{B0746375-97DB-4C04-860E-5571E172A057}" type="presOf" srcId="{5296352A-F3BA-45FA-88CB-54B69E45CAAE}" destId="{15CE777D-CDB9-47BE-967D-563C3D958A06}" srcOrd="0" destOrd="0" presId="urn:microsoft.com/office/officeart/2005/8/layout/vList5"/>
    <dgm:cxn modelId="{8A984AF6-D997-4372-9944-CD2DB2CCBBBF}" type="presOf" srcId="{46A7447D-04AB-4BEA-A62C-14A9F8DBEB3C}" destId="{F62B13EA-93E4-4CBF-85CF-12057E6B4B42}" srcOrd="0" destOrd="0" presId="urn:microsoft.com/office/officeart/2005/8/layout/vList5"/>
    <dgm:cxn modelId="{CC9C16B1-443D-46AF-A2F9-9E9A2AA8A8C3}" srcId="{07BDF091-9ABA-4496-8864-39904CF941B4}" destId="{46A7447D-04AB-4BEA-A62C-14A9F8DBEB3C}" srcOrd="3" destOrd="0" parTransId="{1BE0DB5B-D79D-4344-B4E2-D9EC3B2A18E6}" sibTransId="{7CED6650-756D-4AB3-89BA-B11F801D3120}"/>
    <dgm:cxn modelId="{8B99D01D-2BCA-4F7F-A32C-19A1C5B5329A}" srcId="{6A29BB1C-3968-471F-8454-6FC3C24207BB}" destId="{A9C909D7-C5C6-4991-AA37-BACE3C97D6E8}" srcOrd="0" destOrd="0" parTransId="{1A6DA205-0544-4FB5-919C-B3A0C5416002}" sibTransId="{D222CE87-C789-44BA-8128-56914D5751BD}"/>
    <dgm:cxn modelId="{922E8CE6-38DB-440F-A7B4-B1606C6103D0}" srcId="{D5A213F5-7430-4B73-8C2D-002A944BA214}" destId="{EBB43E62-D827-422E-98E1-CDE63B85A8DD}" srcOrd="0" destOrd="0" parTransId="{079320DF-291F-4F71-A6D3-8154CFC768C0}" sibTransId="{473202F0-5EF1-49E7-A824-045BF74B20AE}"/>
    <dgm:cxn modelId="{C26486C5-01B8-40A0-904B-2B96F4A810A8}" type="presParOf" srcId="{A0CFAD58-29F2-4F63-B2B8-0C0563400643}" destId="{6DFEED5A-6212-4014-B6D3-2A0FE39443A8}" srcOrd="0" destOrd="0" presId="urn:microsoft.com/office/officeart/2005/8/layout/vList5"/>
    <dgm:cxn modelId="{8A4E7307-5E28-46A1-9D9C-785530F8CDF2}" type="presParOf" srcId="{6DFEED5A-6212-4014-B6D3-2A0FE39443A8}" destId="{1D1586D5-3011-4BFC-9DB4-06E958C4625E}" srcOrd="0" destOrd="0" presId="urn:microsoft.com/office/officeart/2005/8/layout/vList5"/>
    <dgm:cxn modelId="{DF6432D5-6B05-4368-A40C-7A3661757115}" type="presParOf" srcId="{6DFEED5A-6212-4014-B6D3-2A0FE39443A8}" destId="{CFEFE37C-4717-4206-8B1B-68CE96CCD139}" srcOrd="1" destOrd="0" presId="urn:microsoft.com/office/officeart/2005/8/layout/vList5"/>
    <dgm:cxn modelId="{D6C1B931-BCD4-481E-9070-CEDE0B5CBDE3}" type="presParOf" srcId="{A0CFAD58-29F2-4F63-B2B8-0C0563400643}" destId="{46EA6524-15BE-4C1C-BD10-E2129DD52B84}" srcOrd="1" destOrd="0" presId="urn:microsoft.com/office/officeart/2005/8/layout/vList5"/>
    <dgm:cxn modelId="{74DDCF9A-FC19-4BE2-9B4F-2DAA474FBD83}" type="presParOf" srcId="{A0CFAD58-29F2-4F63-B2B8-0C0563400643}" destId="{FFD7617E-919F-45BF-8C6E-BC55A1958DBB}" srcOrd="2" destOrd="0" presId="urn:microsoft.com/office/officeart/2005/8/layout/vList5"/>
    <dgm:cxn modelId="{A80C0AE5-7D67-4766-A5A3-9CE90AFA91EA}" type="presParOf" srcId="{FFD7617E-919F-45BF-8C6E-BC55A1958DBB}" destId="{84B241E9-67F0-4A25-8537-AC6779A193EA}" srcOrd="0" destOrd="0" presId="urn:microsoft.com/office/officeart/2005/8/layout/vList5"/>
    <dgm:cxn modelId="{2AF3C925-A564-4346-9FB3-FEFF5675FE3B}" type="presParOf" srcId="{FFD7617E-919F-45BF-8C6E-BC55A1958DBB}" destId="{15CE777D-CDB9-47BE-967D-563C3D958A06}" srcOrd="1" destOrd="0" presId="urn:microsoft.com/office/officeart/2005/8/layout/vList5"/>
    <dgm:cxn modelId="{11C1B92B-9590-4D4E-89AE-0EFAC0852AC4}" type="presParOf" srcId="{A0CFAD58-29F2-4F63-B2B8-0C0563400643}" destId="{1EABB2DD-2E58-4481-97BA-430C7A7CD570}" srcOrd="3" destOrd="0" presId="urn:microsoft.com/office/officeart/2005/8/layout/vList5"/>
    <dgm:cxn modelId="{F00C7871-7165-4C4A-A376-3E8CFBFDDC99}" type="presParOf" srcId="{A0CFAD58-29F2-4F63-B2B8-0C0563400643}" destId="{77A0CBFC-9440-45E9-A728-C120436AEFDD}" srcOrd="4" destOrd="0" presId="urn:microsoft.com/office/officeart/2005/8/layout/vList5"/>
    <dgm:cxn modelId="{BED17FBD-9093-4650-9053-4D386B6C0F44}" type="presParOf" srcId="{77A0CBFC-9440-45E9-A728-C120436AEFDD}" destId="{DF0F8BE2-8FD4-4086-A292-159634150F1F}" srcOrd="0" destOrd="0" presId="urn:microsoft.com/office/officeart/2005/8/layout/vList5"/>
    <dgm:cxn modelId="{DEFFA170-EAB3-4D73-93C8-B77CB160092B}" type="presParOf" srcId="{77A0CBFC-9440-45E9-A728-C120436AEFDD}" destId="{EF43D365-AE92-4F3D-B0BB-C28140F41A39}" srcOrd="1" destOrd="0" presId="urn:microsoft.com/office/officeart/2005/8/layout/vList5"/>
    <dgm:cxn modelId="{4E088963-3C1A-4A24-B873-7F8111590896}" type="presParOf" srcId="{A0CFAD58-29F2-4F63-B2B8-0C0563400643}" destId="{5FFFC2AC-CB23-478F-860C-E3C2D47BFB59}" srcOrd="5" destOrd="0" presId="urn:microsoft.com/office/officeart/2005/8/layout/vList5"/>
    <dgm:cxn modelId="{D3EA6064-7315-492F-A4AF-01C88A4426C3}" type="presParOf" srcId="{A0CFAD58-29F2-4F63-B2B8-0C0563400643}" destId="{0D99BC34-9AA6-4F24-9D57-19FE862EECDA}" srcOrd="6" destOrd="0" presId="urn:microsoft.com/office/officeart/2005/8/layout/vList5"/>
    <dgm:cxn modelId="{C8856B0C-2E8D-47C2-A90A-CC0AE157DA78}" type="presParOf" srcId="{0D99BC34-9AA6-4F24-9D57-19FE862EECDA}" destId="{F62B13EA-93E4-4CBF-85CF-12057E6B4B42}" srcOrd="0" destOrd="0" presId="urn:microsoft.com/office/officeart/2005/8/layout/vList5"/>
  </dgm:cxnLst>
  <dgm:bg/>
  <dgm:whole/>
</dgm:dataModel>
</file>

<file path=ppt/diagrams/data3.xml><?xml version="1.0" encoding="utf-8"?>
<dgm:dataModel xmlns:dgm="http://schemas.openxmlformats.org/drawingml/2006/diagram" xmlns:a="http://schemas.openxmlformats.org/drawingml/2006/main">
  <dgm:ptLst>
    <dgm:pt modelId="{07BDF091-9ABA-4496-8864-39904CF941B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6A29BB1C-3968-471F-8454-6FC3C24207BB}">
      <dgm:prSet phldrT="[文本]" custT="1"/>
      <dgm:spPr>
        <a:solidFill>
          <a:srgbClr val="92D050"/>
        </a:solidFill>
        <a:scene3d>
          <a:camera prst="orthographicFront"/>
          <a:lightRig rig="threePt" dir="t"/>
        </a:scene3d>
        <a:sp3d>
          <a:bevelT prst="relaxedInset"/>
        </a:sp3d>
      </dgm:spPr>
      <dgm:t>
        <a:bodyPr/>
        <a:lstStyle/>
        <a:p>
          <a:pPr algn="l"/>
          <a:r>
            <a:rPr lang="zh-CN" altLang="en-US" sz="2400" b="1" dirty="0" smtClean="0">
              <a:solidFill>
                <a:srgbClr val="CC3300"/>
              </a:solidFill>
              <a:latin typeface="Verdana" pitchFamily="34" charset="0"/>
              <a:ea typeface="宋体" pitchFamily="2" charset="-122"/>
            </a:rPr>
            <a:t>输出阻抗高，负载能力差</a:t>
          </a:r>
          <a:r>
            <a:rPr lang="zh-CN" altLang="en-US" sz="2400" b="1" dirty="0" smtClean="0">
              <a:solidFill>
                <a:srgbClr val="0000FF"/>
              </a:solidFill>
              <a:latin typeface="Verdana" pitchFamily="34" charset="0"/>
              <a:ea typeface="宋体" pitchFamily="2" charset="-122"/>
            </a:rPr>
            <a:t> </a:t>
          </a:r>
          <a:endParaRPr lang="zh-CN" altLang="en-US" sz="2400" dirty="0">
            <a:solidFill>
              <a:srgbClr val="C00000"/>
            </a:solidFill>
          </a:endParaRPr>
        </a:p>
      </dgm:t>
    </dgm:pt>
    <dgm:pt modelId="{6021E611-0EAD-49A6-A824-EA46607640D6}" type="parTrans" cxnId="{CA9D1132-894D-433B-B363-981CB1580998}">
      <dgm:prSet/>
      <dgm:spPr/>
      <dgm:t>
        <a:bodyPr/>
        <a:lstStyle/>
        <a:p>
          <a:endParaRPr lang="zh-CN" altLang="en-US"/>
        </a:p>
      </dgm:t>
    </dgm:pt>
    <dgm:pt modelId="{6487D8F3-14F9-4FC5-B247-89B25B1740F1}" type="sibTrans" cxnId="{CA9D1132-894D-433B-B363-981CB1580998}">
      <dgm:prSet/>
      <dgm:spPr/>
      <dgm:t>
        <a:bodyPr/>
        <a:lstStyle/>
        <a:p>
          <a:endParaRPr lang="zh-CN" altLang="en-US"/>
        </a:p>
      </dgm:t>
    </dgm:pt>
    <dgm:pt modelId="{A9C909D7-C5C6-4991-AA37-BACE3C97D6E8}">
      <dgm:prSet phldrT="[文本]" custT="1"/>
      <dgm:spPr/>
      <dgm:t>
        <a:bodyPr/>
        <a:lstStyle/>
        <a:p>
          <a:r>
            <a:rPr lang="zh-CN" altLang="en-US" sz="2400" b="1" dirty="0" smtClean="0">
              <a:solidFill>
                <a:srgbClr val="0000FF"/>
              </a:solidFill>
              <a:latin typeface="Verdana" pitchFamily="34" charset="0"/>
              <a:ea typeface="宋体" pitchFamily="2" charset="-122"/>
            </a:rPr>
            <a:t>受电极的几何尺寸等限制，容量较小；输出阻抗很高，负载能力差，易受干扰。</a:t>
          </a:r>
          <a:endParaRPr lang="zh-CN" altLang="en-US" sz="2400" dirty="0"/>
        </a:p>
      </dgm:t>
    </dgm:pt>
    <dgm:pt modelId="{1A6DA205-0544-4FB5-919C-B3A0C5416002}" type="parTrans" cxnId="{8B99D01D-2BCA-4F7F-A32C-19A1C5B5329A}">
      <dgm:prSet/>
      <dgm:spPr/>
      <dgm:t>
        <a:bodyPr/>
        <a:lstStyle/>
        <a:p>
          <a:endParaRPr lang="zh-CN" altLang="en-US"/>
        </a:p>
      </dgm:t>
    </dgm:pt>
    <dgm:pt modelId="{D222CE87-C789-44BA-8128-56914D5751BD}" type="sibTrans" cxnId="{8B99D01D-2BCA-4F7F-A32C-19A1C5B5329A}">
      <dgm:prSet/>
      <dgm:spPr/>
      <dgm:t>
        <a:bodyPr/>
        <a:lstStyle/>
        <a:p>
          <a:endParaRPr lang="zh-CN" altLang="en-US"/>
        </a:p>
      </dgm:t>
    </dgm:pt>
    <dgm:pt modelId="{728977EA-9D8C-4964-A6A3-638A76168B8A}">
      <dgm:prSet phldrT="[文本]" custT="1"/>
      <dgm:spPr>
        <a:solidFill>
          <a:srgbClr val="92D050"/>
        </a:solidFill>
        <a:scene3d>
          <a:camera prst="orthographicFront"/>
          <a:lightRig rig="threePt" dir="t"/>
        </a:scene3d>
        <a:sp3d>
          <a:bevelT prst="relaxedInset"/>
        </a:sp3d>
      </dgm:spPr>
      <dgm:t>
        <a:bodyPr/>
        <a:lstStyle/>
        <a:p>
          <a:pPr algn="l"/>
          <a:r>
            <a:rPr lang="zh-CN" altLang="en-US" sz="2400" b="1" dirty="0" smtClean="0">
              <a:solidFill>
                <a:srgbClr val="CC3300"/>
              </a:solidFill>
              <a:latin typeface="Verdana" pitchFamily="34" charset="0"/>
              <a:ea typeface="宋体" pitchFamily="2" charset="-122"/>
            </a:rPr>
            <a:t>寄生电容影响大</a:t>
          </a:r>
          <a:r>
            <a:rPr lang="zh-CN" altLang="en-US" sz="2400" b="1" dirty="0" smtClean="0">
              <a:solidFill>
                <a:srgbClr val="0000FF"/>
              </a:solidFill>
              <a:latin typeface="Verdana" pitchFamily="34" charset="0"/>
              <a:ea typeface="宋体" pitchFamily="2" charset="-122"/>
            </a:rPr>
            <a:t> </a:t>
          </a:r>
          <a:endParaRPr lang="zh-CN" altLang="en-US" sz="2400" dirty="0">
            <a:solidFill>
              <a:srgbClr val="C00000"/>
            </a:solidFill>
          </a:endParaRPr>
        </a:p>
      </dgm:t>
    </dgm:pt>
    <dgm:pt modelId="{0F9C3EC4-A106-4996-9D4A-71A79ABDBC4A}" type="parTrans" cxnId="{071129A1-8A8F-4264-B0B9-390F6D684A7D}">
      <dgm:prSet/>
      <dgm:spPr/>
      <dgm:t>
        <a:bodyPr/>
        <a:lstStyle/>
        <a:p>
          <a:endParaRPr lang="zh-CN" altLang="en-US"/>
        </a:p>
      </dgm:t>
    </dgm:pt>
    <dgm:pt modelId="{8DE23C65-7D99-456D-863F-29C7DB5C234C}" type="sibTrans" cxnId="{071129A1-8A8F-4264-B0B9-390F6D684A7D}">
      <dgm:prSet/>
      <dgm:spPr/>
      <dgm:t>
        <a:bodyPr/>
        <a:lstStyle/>
        <a:p>
          <a:endParaRPr lang="zh-CN" altLang="en-US"/>
        </a:p>
      </dgm:t>
    </dgm:pt>
    <dgm:pt modelId="{5296352A-F3BA-45FA-88CB-54B69E45CAAE}">
      <dgm:prSet phldrT="[文本]" custT="1"/>
      <dgm:spPr/>
      <dgm:t>
        <a:bodyPr/>
        <a:lstStyle/>
        <a:p>
          <a:r>
            <a:rPr lang="zh-CN" altLang="en-US" sz="2400" b="1" dirty="0" smtClean="0">
              <a:solidFill>
                <a:srgbClr val="0000FF"/>
              </a:solidFill>
              <a:latin typeface="Verdana" pitchFamily="34" charset="0"/>
              <a:ea typeface="宋体" pitchFamily="2" charset="-122"/>
            </a:rPr>
            <a:t>寄生电容会降低灵敏度，并可能使仪器工作不稳定，影响测量精度；对电缆的选择、安装、接法都有要求。</a:t>
          </a:r>
          <a:endParaRPr lang="zh-CN" altLang="en-US" sz="2400" dirty="0"/>
        </a:p>
      </dgm:t>
    </dgm:pt>
    <dgm:pt modelId="{AB64D959-5DAE-4F95-B930-5858AEC85794}" type="parTrans" cxnId="{51BC1295-126E-44D9-8F1D-510E646A5EEA}">
      <dgm:prSet/>
      <dgm:spPr/>
      <dgm:t>
        <a:bodyPr/>
        <a:lstStyle/>
        <a:p>
          <a:endParaRPr lang="zh-CN" altLang="en-US"/>
        </a:p>
      </dgm:t>
    </dgm:pt>
    <dgm:pt modelId="{244DE5FD-9F92-4A4E-BD40-5B498D9EAAC2}" type="sibTrans" cxnId="{51BC1295-126E-44D9-8F1D-510E646A5EEA}">
      <dgm:prSet/>
      <dgm:spPr/>
      <dgm:t>
        <a:bodyPr/>
        <a:lstStyle/>
        <a:p>
          <a:endParaRPr lang="zh-CN" altLang="en-US"/>
        </a:p>
      </dgm:t>
    </dgm:pt>
    <dgm:pt modelId="{D5A213F5-7430-4B73-8C2D-002A944BA214}">
      <dgm:prSet phldrT="[文本]" custT="1"/>
      <dgm:spPr>
        <a:solidFill>
          <a:srgbClr val="92D050"/>
        </a:solidFill>
        <a:scene3d>
          <a:camera prst="orthographicFront"/>
          <a:lightRig rig="threePt" dir="t"/>
        </a:scene3d>
        <a:sp3d>
          <a:bevelT prst="relaxedInset"/>
        </a:sp3d>
      </dgm:spPr>
      <dgm:t>
        <a:bodyPr/>
        <a:lstStyle/>
        <a:p>
          <a:pPr algn="l"/>
          <a:r>
            <a:rPr lang="zh-CN" altLang="en-US" sz="2400" b="1" dirty="0" smtClean="0">
              <a:solidFill>
                <a:srgbClr val="CC3300"/>
              </a:solidFill>
              <a:latin typeface="Verdana" pitchFamily="34" charset="0"/>
              <a:ea typeface="宋体" pitchFamily="2" charset="-122"/>
            </a:rPr>
            <a:t>输出特性具有非线性</a:t>
          </a:r>
          <a:endParaRPr lang="zh-CN" altLang="en-US" sz="2400" dirty="0">
            <a:solidFill>
              <a:srgbClr val="C00000"/>
            </a:solidFill>
          </a:endParaRPr>
        </a:p>
      </dgm:t>
    </dgm:pt>
    <dgm:pt modelId="{BDB25F7B-5590-4755-95C7-CF6C6A57FDEE}" type="parTrans" cxnId="{70581970-B1F7-4D8C-B1B2-707AB9040FDC}">
      <dgm:prSet/>
      <dgm:spPr/>
      <dgm:t>
        <a:bodyPr/>
        <a:lstStyle/>
        <a:p>
          <a:endParaRPr lang="zh-CN" altLang="en-US"/>
        </a:p>
      </dgm:t>
    </dgm:pt>
    <dgm:pt modelId="{FF61E849-A81D-4E86-AE1F-6E022F64FBD8}" type="sibTrans" cxnId="{70581970-B1F7-4D8C-B1B2-707AB9040FDC}">
      <dgm:prSet/>
      <dgm:spPr/>
      <dgm:t>
        <a:bodyPr/>
        <a:lstStyle/>
        <a:p>
          <a:endParaRPr lang="zh-CN" altLang="en-US"/>
        </a:p>
      </dgm:t>
    </dgm:pt>
    <dgm:pt modelId="{4F928649-F6B5-40A5-A07D-CDD119667158}">
      <dgm:prSet phldrT="[文本]" custT="1"/>
      <dgm:spPr/>
      <dgm:t>
        <a:bodyPr/>
        <a:lstStyle/>
        <a:p>
          <a:r>
            <a:rPr lang="zh-CN" altLang="en-US" sz="2400" b="1" dirty="0" smtClean="0">
              <a:solidFill>
                <a:srgbClr val="0000FF"/>
              </a:solidFill>
              <a:latin typeface="Verdana" pitchFamily="34" charset="0"/>
              <a:ea typeface="宋体" pitchFamily="2" charset="-122"/>
            </a:rPr>
            <a:t>采用差分方式可以改善但不能完全消除；边缘效应；</a:t>
          </a:r>
        </a:p>
      </dgm:t>
    </dgm:pt>
    <dgm:pt modelId="{FFCA80D8-CDA2-48BA-A844-2AEB522199F2}" type="parTrans" cxnId="{E24E245D-76D8-45D2-97F1-C02861D96718}">
      <dgm:prSet/>
      <dgm:spPr/>
      <dgm:t>
        <a:bodyPr/>
        <a:lstStyle/>
        <a:p>
          <a:endParaRPr lang="zh-CN" altLang="en-US"/>
        </a:p>
      </dgm:t>
    </dgm:pt>
    <dgm:pt modelId="{E31C3E71-E24C-49BF-BD35-073A98A15C9F}" type="sibTrans" cxnId="{E24E245D-76D8-45D2-97F1-C02861D96718}">
      <dgm:prSet/>
      <dgm:spPr/>
      <dgm:t>
        <a:bodyPr/>
        <a:lstStyle/>
        <a:p>
          <a:endParaRPr lang="zh-CN" altLang="en-US"/>
        </a:p>
      </dgm:t>
    </dgm:pt>
    <dgm:pt modelId="{A0CFAD58-29F2-4F63-B2B8-0C0563400643}" type="pres">
      <dgm:prSet presAssocID="{07BDF091-9ABA-4496-8864-39904CF941B4}" presName="Name0" presStyleCnt="0">
        <dgm:presLayoutVars>
          <dgm:dir/>
          <dgm:animLvl val="lvl"/>
          <dgm:resizeHandles val="exact"/>
        </dgm:presLayoutVars>
      </dgm:prSet>
      <dgm:spPr/>
      <dgm:t>
        <a:bodyPr/>
        <a:lstStyle/>
        <a:p>
          <a:endParaRPr lang="zh-CN" altLang="en-US"/>
        </a:p>
      </dgm:t>
    </dgm:pt>
    <dgm:pt modelId="{6DFEED5A-6212-4014-B6D3-2A0FE39443A8}" type="pres">
      <dgm:prSet presAssocID="{6A29BB1C-3968-471F-8454-6FC3C24207BB}" presName="linNode" presStyleCnt="0"/>
      <dgm:spPr/>
    </dgm:pt>
    <dgm:pt modelId="{1D1586D5-3011-4BFC-9DB4-06E958C4625E}" type="pres">
      <dgm:prSet presAssocID="{6A29BB1C-3968-471F-8454-6FC3C24207BB}" presName="parentText" presStyleLbl="node1" presStyleIdx="0" presStyleCnt="3" custScaleX="60698">
        <dgm:presLayoutVars>
          <dgm:chMax val="1"/>
          <dgm:bulletEnabled val="1"/>
        </dgm:presLayoutVars>
      </dgm:prSet>
      <dgm:spPr/>
      <dgm:t>
        <a:bodyPr/>
        <a:lstStyle/>
        <a:p>
          <a:endParaRPr lang="zh-CN" altLang="en-US"/>
        </a:p>
      </dgm:t>
    </dgm:pt>
    <dgm:pt modelId="{CFEFE37C-4717-4206-8B1B-68CE96CCD139}" type="pres">
      <dgm:prSet presAssocID="{6A29BB1C-3968-471F-8454-6FC3C24207BB}" presName="descendantText" presStyleLbl="alignAccFollowNode1" presStyleIdx="0" presStyleCnt="3" custScaleX="128287">
        <dgm:presLayoutVars>
          <dgm:bulletEnabled val="1"/>
        </dgm:presLayoutVars>
      </dgm:prSet>
      <dgm:spPr/>
      <dgm:t>
        <a:bodyPr/>
        <a:lstStyle/>
        <a:p>
          <a:endParaRPr lang="zh-CN" altLang="en-US"/>
        </a:p>
      </dgm:t>
    </dgm:pt>
    <dgm:pt modelId="{46EA6524-15BE-4C1C-BD10-E2129DD52B84}" type="pres">
      <dgm:prSet presAssocID="{6487D8F3-14F9-4FC5-B247-89B25B1740F1}" presName="sp" presStyleCnt="0"/>
      <dgm:spPr/>
    </dgm:pt>
    <dgm:pt modelId="{FFD7617E-919F-45BF-8C6E-BC55A1958DBB}" type="pres">
      <dgm:prSet presAssocID="{728977EA-9D8C-4964-A6A3-638A76168B8A}" presName="linNode" presStyleCnt="0"/>
      <dgm:spPr/>
    </dgm:pt>
    <dgm:pt modelId="{84B241E9-67F0-4A25-8537-AC6779A193EA}" type="pres">
      <dgm:prSet presAssocID="{728977EA-9D8C-4964-A6A3-638A76168B8A}" presName="parentText" presStyleLbl="node1" presStyleIdx="1" presStyleCnt="3" custScaleX="58678">
        <dgm:presLayoutVars>
          <dgm:chMax val="1"/>
          <dgm:bulletEnabled val="1"/>
        </dgm:presLayoutVars>
      </dgm:prSet>
      <dgm:spPr/>
      <dgm:t>
        <a:bodyPr/>
        <a:lstStyle/>
        <a:p>
          <a:endParaRPr lang="zh-CN" altLang="en-US"/>
        </a:p>
      </dgm:t>
    </dgm:pt>
    <dgm:pt modelId="{15CE777D-CDB9-47BE-967D-563C3D958A06}" type="pres">
      <dgm:prSet presAssocID="{728977EA-9D8C-4964-A6A3-638A76168B8A}" presName="descendantText" presStyleLbl="alignAccFollowNode1" presStyleIdx="1" presStyleCnt="3" custScaleX="123243" custScaleY="140372">
        <dgm:presLayoutVars>
          <dgm:bulletEnabled val="1"/>
        </dgm:presLayoutVars>
      </dgm:prSet>
      <dgm:spPr/>
      <dgm:t>
        <a:bodyPr/>
        <a:lstStyle/>
        <a:p>
          <a:endParaRPr lang="zh-CN" altLang="en-US"/>
        </a:p>
      </dgm:t>
    </dgm:pt>
    <dgm:pt modelId="{1EABB2DD-2E58-4481-97BA-430C7A7CD570}" type="pres">
      <dgm:prSet presAssocID="{8DE23C65-7D99-456D-863F-29C7DB5C234C}" presName="sp" presStyleCnt="0"/>
      <dgm:spPr/>
    </dgm:pt>
    <dgm:pt modelId="{77A0CBFC-9440-45E9-A728-C120436AEFDD}" type="pres">
      <dgm:prSet presAssocID="{D5A213F5-7430-4B73-8C2D-002A944BA214}" presName="linNode" presStyleCnt="0"/>
      <dgm:spPr/>
    </dgm:pt>
    <dgm:pt modelId="{DF0F8BE2-8FD4-4086-A292-159634150F1F}" type="pres">
      <dgm:prSet presAssocID="{D5A213F5-7430-4B73-8C2D-002A944BA214}" presName="parentText" presStyleLbl="node1" presStyleIdx="2" presStyleCnt="3" custScaleX="57120">
        <dgm:presLayoutVars>
          <dgm:chMax val="1"/>
          <dgm:bulletEnabled val="1"/>
        </dgm:presLayoutVars>
      </dgm:prSet>
      <dgm:spPr/>
      <dgm:t>
        <a:bodyPr/>
        <a:lstStyle/>
        <a:p>
          <a:endParaRPr lang="zh-CN" altLang="en-US"/>
        </a:p>
      </dgm:t>
    </dgm:pt>
    <dgm:pt modelId="{EF43D365-AE92-4F3D-B0BB-C28140F41A39}" type="pres">
      <dgm:prSet presAssocID="{D5A213F5-7430-4B73-8C2D-002A944BA214}" presName="descendantText" presStyleLbl="alignAccFollowNode1" presStyleIdx="2" presStyleCnt="3" custFlipVert="0" custScaleX="120569">
        <dgm:presLayoutVars>
          <dgm:bulletEnabled val="1"/>
        </dgm:presLayoutVars>
      </dgm:prSet>
      <dgm:spPr/>
      <dgm:t>
        <a:bodyPr/>
        <a:lstStyle/>
        <a:p>
          <a:endParaRPr lang="zh-CN" altLang="en-US"/>
        </a:p>
      </dgm:t>
    </dgm:pt>
  </dgm:ptLst>
  <dgm:cxnLst>
    <dgm:cxn modelId="{071129A1-8A8F-4264-B0B9-390F6D684A7D}" srcId="{07BDF091-9ABA-4496-8864-39904CF941B4}" destId="{728977EA-9D8C-4964-A6A3-638A76168B8A}" srcOrd="1" destOrd="0" parTransId="{0F9C3EC4-A106-4996-9D4A-71A79ABDBC4A}" sibTransId="{8DE23C65-7D99-456D-863F-29C7DB5C234C}"/>
    <dgm:cxn modelId="{CA9D1132-894D-433B-B363-981CB1580998}" srcId="{07BDF091-9ABA-4496-8864-39904CF941B4}" destId="{6A29BB1C-3968-471F-8454-6FC3C24207BB}" srcOrd="0" destOrd="0" parTransId="{6021E611-0EAD-49A6-A824-EA46607640D6}" sibTransId="{6487D8F3-14F9-4FC5-B247-89B25B1740F1}"/>
    <dgm:cxn modelId="{70581970-B1F7-4D8C-B1B2-707AB9040FDC}" srcId="{07BDF091-9ABA-4496-8864-39904CF941B4}" destId="{D5A213F5-7430-4B73-8C2D-002A944BA214}" srcOrd="2" destOrd="0" parTransId="{BDB25F7B-5590-4755-95C7-CF6C6A57FDEE}" sibTransId="{FF61E849-A81D-4E86-AE1F-6E022F64FBD8}"/>
    <dgm:cxn modelId="{51BC1295-126E-44D9-8F1D-510E646A5EEA}" srcId="{728977EA-9D8C-4964-A6A3-638A76168B8A}" destId="{5296352A-F3BA-45FA-88CB-54B69E45CAAE}" srcOrd="0" destOrd="0" parTransId="{AB64D959-5DAE-4F95-B930-5858AEC85794}" sibTransId="{244DE5FD-9F92-4A4E-BD40-5B498D9EAAC2}"/>
    <dgm:cxn modelId="{1B49A441-CBD9-4565-81DD-0A8C3CDADD43}" type="presOf" srcId="{6A29BB1C-3968-471F-8454-6FC3C24207BB}" destId="{1D1586D5-3011-4BFC-9DB4-06E958C4625E}" srcOrd="0" destOrd="0" presId="urn:microsoft.com/office/officeart/2005/8/layout/vList5"/>
    <dgm:cxn modelId="{294DD568-A1FE-47CC-A372-E5921DE8B327}" type="presOf" srcId="{728977EA-9D8C-4964-A6A3-638A76168B8A}" destId="{84B241E9-67F0-4A25-8537-AC6779A193EA}" srcOrd="0" destOrd="0" presId="urn:microsoft.com/office/officeart/2005/8/layout/vList5"/>
    <dgm:cxn modelId="{E24E245D-76D8-45D2-97F1-C02861D96718}" srcId="{D5A213F5-7430-4B73-8C2D-002A944BA214}" destId="{4F928649-F6B5-40A5-A07D-CDD119667158}" srcOrd="0" destOrd="0" parTransId="{FFCA80D8-CDA2-48BA-A844-2AEB522199F2}" sibTransId="{E31C3E71-E24C-49BF-BD35-073A98A15C9F}"/>
    <dgm:cxn modelId="{5BE6B78B-84A7-4413-A218-88D3A62BF85A}" type="presOf" srcId="{4F928649-F6B5-40A5-A07D-CDD119667158}" destId="{EF43D365-AE92-4F3D-B0BB-C28140F41A39}" srcOrd="0" destOrd="0" presId="urn:microsoft.com/office/officeart/2005/8/layout/vList5"/>
    <dgm:cxn modelId="{E40AFB7E-68B6-4C8E-8910-58598126C7B5}" type="presOf" srcId="{5296352A-F3BA-45FA-88CB-54B69E45CAAE}" destId="{15CE777D-CDB9-47BE-967D-563C3D958A06}" srcOrd="0" destOrd="0" presId="urn:microsoft.com/office/officeart/2005/8/layout/vList5"/>
    <dgm:cxn modelId="{96174E57-B4CC-44FF-B0C1-23C962424238}" type="presOf" srcId="{07BDF091-9ABA-4496-8864-39904CF941B4}" destId="{A0CFAD58-29F2-4F63-B2B8-0C0563400643}" srcOrd="0" destOrd="0" presId="urn:microsoft.com/office/officeart/2005/8/layout/vList5"/>
    <dgm:cxn modelId="{8B99D01D-2BCA-4F7F-A32C-19A1C5B5329A}" srcId="{6A29BB1C-3968-471F-8454-6FC3C24207BB}" destId="{A9C909D7-C5C6-4991-AA37-BACE3C97D6E8}" srcOrd="0" destOrd="0" parTransId="{1A6DA205-0544-4FB5-919C-B3A0C5416002}" sibTransId="{D222CE87-C789-44BA-8128-56914D5751BD}"/>
    <dgm:cxn modelId="{A9202ABD-0042-4209-B830-2564DFCCCBE6}" type="presOf" srcId="{D5A213F5-7430-4B73-8C2D-002A944BA214}" destId="{DF0F8BE2-8FD4-4086-A292-159634150F1F}" srcOrd="0" destOrd="0" presId="urn:microsoft.com/office/officeart/2005/8/layout/vList5"/>
    <dgm:cxn modelId="{E8662EDB-E5C4-42F7-A802-E6D4FB973C45}" type="presOf" srcId="{A9C909D7-C5C6-4991-AA37-BACE3C97D6E8}" destId="{CFEFE37C-4717-4206-8B1B-68CE96CCD139}" srcOrd="0" destOrd="0" presId="urn:microsoft.com/office/officeart/2005/8/layout/vList5"/>
    <dgm:cxn modelId="{2D197D68-9F64-4AD7-8D4B-E8403C6C0C1A}" type="presParOf" srcId="{A0CFAD58-29F2-4F63-B2B8-0C0563400643}" destId="{6DFEED5A-6212-4014-B6D3-2A0FE39443A8}" srcOrd="0" destOrd="0" presId="urn:microsoft.com/office/officeart/2005/8/layout/vList5"/>
    <dgm:cxn modelId="{EB8F17A0-7057-4EAA-BF5C-ED0AC69275F8}" type="presParOf" srcId="{6DFEED5A-6212-4014-B6D3-2A0FE39443A8}" destId="{1D1586D5-3011-4BFC-9DB4-06E958C4625E}" srcOrd="0" destOrd="0" presId="urn:microsoft.com/office/officeart/2005/8/layout/vList5"/>
    <dgm:cxn modelId="{022ACFA9-DA97-4957-9A9F-4C7E6E299A82}" type="presParOf" srcId="{6DFEED5A-6212-4014-B6D3-2A0FE39443A8}" destId="{CFEFE37C-4717-4206-8B1B-68CE96CCD139}" srcOrd="1" destOrd="0" presId="urn:microsoft.com/office/officeart/2005/8/layout/vList5"/>
    <dgm:cxn modelId="{0373A739-4FC1-4D38-BFC7-BCB7871B8B66}" type="presParOf" srcId="{A0CFAD58-29F2-4F63-B2B8-0C0563400643}" destId="{46EA6524-15BE-4C1C-BD10-E2129DD52B84}" srcOrd="1" destOrd="0" presId="urn:microsoft.com/office/officeart/2005/8/layout/vList5"/>
    <dgm:cxn modelId="{343B16BD-B99E-46C0-BDA7-0B8500FF8E97}" type="presParOf" srcId="{A0CFAD58-29F2-4F63-B2B8-0C0563400643}" destId="{FFD7617E-919F-45BF-8C6E-BC55A1958DBB}" srcOrd="2" destOrd="0" presId="urn:microsoft.com/office/officeart/2005/8/layout/vList5"/>
    <dgm:cxn modelId="{B8298F65-D9FD-47E8-BD03-F781A5ED2722}" type="presParOf" srcId="{FFD7617E-919F-45BF-8C6E-BC55A1958DBB}" destId="{84B241E9-67F0-4A25-8537-AC6779A193EA}" srcOrd="0" destOrd="0" presId="urn:microsoft.com/office/officeart/2005/8/layout/vList5"/>
    <dgm:cxn modelId="{83B61ECB-F7B4-4C4F-AC42-D9D6BA4046CA}" type="presParOf" srcId="{FFD7617E-919F-45BF-8C6E-BC55A1958DBB}" destId="{15CE777D-CDB9-47BE-967D-563C3D958A06}" srcOrd="1" destOrd="0" presId="urn:microsoft.com/office/officeart/2005/8/layout/vList5"/>
    <dgm:cxn modelId="{66E885EF-89F8-4F18-AB8E-B525AC4D11A4}" type="presParOf" srcId="{A0CFAD58-29F2-4F63-B2B8-0C0563400643}" destId="{1EABB2DD-2E58-4481-97BA-430C7A7CD570}" srcOrd="3" destOrd="0" presId="urn:microsoft.com/office/officeart/2005/8/layout/vList5"/>
    <dgm:cxn modelId="{8AEDCFE1-D4E1-4938-A942-6359D1C850A8}" type="presParOf" srcId="{A0CFAD58-29F2-4F63-B2B8-0C0563400643}" destId="{77A0CBFC-9440-45E9-A728-C120436AEFDD}" srcOrd="4" destOrd="0" presId="urn:microsoft.com/office/officeart/2005/8/layout/vList5"/>
    <dgm:cxn modelId="{D5BCC2C5-E138-4FB9-8C0D-FD51F77C9319}" type="presParOf" srcId="{77A0CBFC-9440-45E9-A728-C120436AEFDD}" destId="{DF0F8BE2-8FD4-4086-A292-159634150F1F}" srcOrd="0" destOrd="0" presId="urn:microsoft.com/office/officeart/2005/8/layout/vList5"/>
    <dgm:cxn modelId="{F03EEB49-E82D-4E8B-BCDF-6332AF373FD3}" type="presParOf" srcId="{77A0CBFC-9440-45E9-A728-C120436AEFDD}" destId="{EF43D365-AE92-4F3D-B0BB-C28140F41A39}" srcOrd="1" destOrd="0" presId="urn:microsoft.com/office/officeart/2005/8/layout/vList5"/>
  </dgm:cxnLst>
  <dgm:bg/>
  <dgm:whole/>
</dgm:dataModel>
</file>

<file path=ppt/diagrams/data4.xml><?xml version="1.0" encoding="utf-8"?>
<dgm:dataModel xmlns:dgm="http://schemas.openxmlformats.org/drawingml/2006/diagram" xmlns:a="http://schemas.openxmlformats.org/drawingml/2006/main">
  <dgm:ptLst>
    <dgm:pt modelId="{EDD0510A-29EC-48F3-B179-A0793A27EA2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D84B8B11-2E3B-43D7-B1EF-D8DD139C36DB}">
      <dgm:prSet phldrT="[文本]" custT="1"/>
      <dgm:spPr>
        <a:solidFill>
          <a:srgbClr val="92D050"/>
        </a:solidFill>
      </dgm:spPr>
      <dgm:t>
        <a:bodyPr/>
        <a:lstStyle/>
        <a:p>
          <a:r>
            <a:rPr lang="zh-CN" altLang="en-US" sz="2400" b="1" dirty="0" smtClean="0">
              <a:solidFill>
                <a:srgbClr val="CC3300"/>
              </a:solidFill>
              <a:latin typeface="Verdana" pitchFamily="34" charset="0"/>
              <a:ea typeface="宋体" pitchFamily="2" charset="-122"/>
            </a:rPr>
            <a:t>增加原始电容值</a:t>
          </a:r>
          <a:endParaRPr lang="zh-CN" altLang="en-US" sz="2400" b="1" dirty="0"/>
        </a:p>
      </dgm:t>
    </dgm:pt>
    <dgm:pt modelId="{6615EF3A-2589-4021-B99C-3696B8FDC2B0}" type="parTrans" cxnId="{A76EA5E6-A52A-4730-A9C3-96FCE9D039DD}">
      <dgm:prSet/>
      <dgm:spPr/>
      <dgm:t>
        <a:bodyPr/>
        <a:lstStyle/>
        <a:p>
          <a:endParaRPr lang="zh-CN" altLang="en-US"/>
        </a:p>
      </dgm:t>
    </dgm:pt>
    <dgm:pt modelId="{EE225E34-343A-4EAE-A7DC-564E4771206C}" type="sibTrans" cxnId="{A76EA5E6-A52A-4730-A9C3-96FCE9D039DD}">
      <dgm:prSet/>
      <dgm:spPr/>
      <dgm:t>
        <a:bodyPr/>
        <a:lstStyle/>
        <a:p>
          <a:endParaRPr lang="zh-CN" altLang="en-US"/>
        </a:p>
      </dgm:t>
    </dgm:pt>
    <dgm:pt modelId="{BEDCC6D4-86CC-4090-8A45-26AE1961E7F7}">
      <dgm:prSet phldrT="[文本]" custT="1"/>
      <dgm:spPr>
        <a:solidFill>
          <a:srgbClr val="92D050"/>
        </a:solidFill>
      </dgm:spPr>
      <dgm:t>
        <a:bodyPr/>
        <a:lstStyle/>
        <a:p>
          <a:r>
            <a:rPr lang="zh-CN" altLang="en-US" sz="2400" b="1" dirty="0" smtClean="0">
              <a:solidFill>
                <a:srgbClr val="CC3300"/>
              </a:solidFill>
              <a:latin typeface="Verdana" pitchFamily="34" charset="0"/>
              <a:ea typeface="宋体" pitchFamily="2" charset="-122"/>
            </a:rPr>
            <a:t>传感器的接地和屏蔽</a:t>
          </a:r>
          <a:endParaRPr lang="zh-CN" altLang="en-US" sz="2400" b="1" dirty="0"/>
        </a:p>
      </dgm:t>
    </dgm:pt>
    <dgm:pt modelId="{058FD642-46F7-4A19-BA62-C5DE8028AA14}" type="parTrans" cxnId="{E1D97AC0-A59C-4A8B-80D4-734882EE1C16}">
      <dgm:prSet/>
      <dgm:spPr/>
      <dgm:t>
        <a:bodyPr/>
        <a:lstStyle/>
        <a:p>
          <a:endParaRPr lang="zh-CN" altLang="en-US"/>
        </a:p>
      </dgm:t>
    </dgm:pt>
    <dgm:pt modelId="{EA40AC31-604F-4C76-946A-B93CCD44E3D1}" type="sibTrans" cxnId="{E1D97AC0-A59C-4A8B-80D4-734882EE1C16}">
      <dgm:prSet/>
      <dgm:spPr/>
      <dgm:t>
        <a:bodyPr/>
        <a:lstStyle/>
        <a:p>
          <a:endParaRPr lang="zh-CN" altLang="en-US"/>
        </a:p>
      </dgm:t>
    </dgm:pt>
    <dgm:pt modelId="{E78E044F-0898-4861-8D93-4A6C0540E3FE}">
      <dgm:prSet phldrT="[文本]" custT="1"/>
      <dgm:spPr>
        <a:solidFill>
          <a:srgbClr val="92D050"/>
        </a:solidFill>
      </dgm:spPr>
      <dgm:t>
        <a:bodyPr/>
        <a:lstStyle/>
        <a:p>
          <a:r>
            <a:rPr lang="zh-CN" altLang="en-US" sz="2400" b="1" dirty="0" smtClean="0">
              <a:solidFill>
                <a:srgbClr val="CC3300"/>
              </a:solidFill>
              <a:latin typeface="Verdana" pitchFamily="34" charset="0"/>
              <a:ea typeface="宋体" pitchFamily="2" charset="-122"/>
            </a:rPr>
            <a:t>将传感器与电子线路的前置级装在一个壳体内</a:t>
          </a:r>
          <a:endParaRPr lang="zh-CN" altLang="en-US" sz="2400" b="1" dirty="0"/>
        </a:p>
      </dgm:t>
    </dgm:pt>
    <dgm:pt modelId="{32FD92D3-C2FF-4BDE-93FD-AF1C9508B3F4}" type="parTrans" cxnId="{9A2C370F-DD8F-4C63-A1BE-4CCF5A553AC8}">
      <dgm:prSet/>
      <dgm:spPr/>
      <dgm:t>
        <a:bodyPr/>
        <a:lstStyle/>
        <a:p>
          <a:endParaRPr lang="zh-CN" altLang="en-US"/>
        </a:p>
      </dgm:t>
    </dgm:pt>
    <dgm:pt modelId="{78122827-0F98-41E0-81B5-B0FEFC8A8C05}" type="sibTrans" cxnId="{9A2C370F-DD8F-4C63-A1BE-4CCF5A553AC8}">
      <dgm:prSet/>
      <dgm:spPr/>
      <dgm:t>
        <a:bodyPr/>
        <a:lstStyle/>
        <a:p>
          <a:endParaRPr lang="zh-CN" altLang="en-US"/>
        </a:p>
      </dgm:t>
    </dgm:pt>
    <dgm:pt modelId="{6C052CEB-C34F-4D90-B750-0EA23D609D12}">
      <dgm:prSet custT="1"/>
      <dgm:spPr/>
      <dgm:t>
        <a:bodyPr/>
        <a:lstStyle/>
        <a:p>
          <a:pPr marL="0" indent="2865438">
            <a:spcAft>
              <a:spcPts val="0"/>
            </a:spcAft>
          </a:pPr>
          <a:r>
            <a:rPr lang="zh-CN" altLang="en-US" sz="2400" b="1" dirty="0" smtClean="0">
              <a:solidFill>
                <a:schemeClr val="tx1"/>
              </a:solidFill>
              <a:latin typeface="Verdana" pitchFamily="34" charset="0"/>
              <a:ea typeface="宋体" pitchFamily="2" charset="-122"/>
            </a:rPr>
            <a:t>可减小寄生电容的影响</a:t>
          </a:r>
          <a:endParaRPr lang="zh-CN" altLang="en-US" sz="2400" b="1" dirty="0">
            <a:solidFill>
              <a:schemeClr val="tx1"/>
            </a:solidFill>
          </a:endParaRPr>
        </a:p>
      </dgm:t>
    </dgm:pt>
    <dgm:pt modelId="{2BD15E2C-A0FD-4E65-8F76-73489727E12C}" type="parTrans" cxnId="{0DCCE631-A834-41CE-AED3-D05C47A1A8C2}">
      <dgm:prSet/>
      <dgm:spPr/>
      <dgm:t>
        <a:bodyPr/>
        <a:lstStyle/>
        <a:p>
          <a:endParaRPr lang="zh-CN" altLang="en-US"/>
        </a:p>
      </dgm:t>
    </dgm:pt>
    <dgm:pt modelId="{DED44DE9-6CE7-4DCB-A0EE-CDA534502671}" type="sibTrans" cxnId="{0DCCE631-A834-41CE-AED3-D05C47A1A8C2}">
      <dgm:prSet/>
      <dgm:spPr/>
      <dgm:t>
        <a:bodyPr/>
        <a:lstStyle/>
        <a:p>
          <a:endParaRPr lang="zh-CN" altLang="en-US"/>
        </a:p>
      </dgm:t>
    </dgm:pt>
    <dgm:pt modelId="{3415B242-00E4-4DDB-9CA7-5F0A74E5C9DE}">
      <dgm:prSet custT="1"/>
      <dgm:spPr/>
      <dgm:t>
        <a:bodyPr/>
        <a:lstStyle/>
        <a:p>
          <a:pPr>
            <a:spcAft>
              <a:spcPts val="0"/>
            </a:spcAft>
          </a:pPr>
          <a:r>
            <a:rPr lang="zh-CN" altLang="en-US" sz="2400" b="1" dirty="0" smtClean="0">
              <a:solidFill>
                <a:schemeClr val="tx1"/>
              </a:solidFill>
              <a:latin typeface="Verdana" pitchFamily="34" charset="0"/>
              <a:ea typeface="宋体" pitchFamily="2" charset="-122"/>
            </a:rPr>
            <a:t>寄生电容减小而且易固定不变，仪器工作稳定。但因电子元器件原因，不能在高温或环境差的地方使用。</a:t>
          </a:r>
          <a:endParaRPr lang="zh-CN" altLang="en-US" sz="2400" b="1" dirty="0">
            <a:solidFill>
              <a:schemeClr val="tx1"/>
            </a:solidFill>
          </a:endParaRPr>
        </a:p>
      </dgm:t>
    </dgm:pt>
    <dgm:pt modelId="{0041DDCB-B388-4A8F-939E-42A454E8448A}" type="parTrans" cxnId="{99509EE6-36BA-4B50-8E27-1B34728C600B}">
      <dgm:prSet/>
      <dgm:spPr/>
      <dgm:t>
        <a:bodyPr/>
        <a:lstStyle/>
        <a:p>
          <a:endParaRPr lang="zh-CN" altLang="en-US"/>
        </a:p>
      </dgm:t>
    </dgm:pt>
    <dgm:pt modelId="{FC81E652-2123-4D25-8157-847B73D4AD72}" type="sibTrans" cxnId="{99509EE6-36BA-4B50-8E27-1B34728C600B}">
      <dgm:prSet/>
      <dgm:spPr/>
      <dgm:t>
        <a:bodyPr/>
        <a:lstStyle/>
        <a:p>
          <a:endParaRPr lang="zh-CN" altLang="en-US"/>
        </a:p>
      </dgm:t>
    </dgm:pt>
    <dgm:pt modelId="{E3A59A87-5533-48F3-A0AF-169860A08DFA}" type="pres">
      <dgm:prSet presAssocID="{EDD0510A-29EC-48F3-B179-A0793A27EA23}" presName="linear" presStyleCnt="0">
        <dgm:presLayoutVars>
          <dgm:dir/>
          <dgm:animLvl val="lvl"/>
          <dgm:resizeHandles val="exact"/>
        </dgm:presLayoutVars>
      </dgm:prSet>
      <dgm:spPr/>
      <dgm:t>
        <a:bodyPr/>
        <a:lstStyle/>
        <a:p>
          <a:endParaRPr lang="zh-CN" altLang="en-US"/>
        </a:p>
      </dgm:t>
    </dgm:pt>
    <dgm:pt modelId="{EE646702-DA9E-4324-83FF-56851DC303A0}" type="pres">
      <dgm:prSet presAssocID="{D84B8B11-2E3B-43D7-B1EF-D8DD139C36DB}" presName="parentLin" presStyleCnt="0"/>
      <dgm:spPr/>
    </dgm:pt>
    <dgm:pt modelId="{60FC2134-2C23-417A-91F3-3E284824CDCC}" type="pres">
      <dgm:prSet presAssocID="{D84B8B11-2E3B-43D7-B1EF-D8DD139C36DB}" presName="parentLeftMargin" presStyleLbl="node1" presStyleIdx="0" presStyleCnt="3"/>
      <dgm:spPr/>
      <dgm:t>
        <a:bodyPr/>
        <a:lstStyle/>
        <a:p>
          <a:endParaRPr lang="zh-CN" altLang="en-US"/>
        </a:p>
      </dgm:t>
    </dgm:pt>
    <dgm:pt modelId="{9A09E833-9B44-43B9-BE18-E59F788FB812}" type="pres">
      <dgm:prSet presAssocID="{D84B8B11-2E3B-43D7-B1EF-D8DD139C36DB}" presName="parentText" presStyleLbl="node1" presStyleIdx="0" presStyleCnt="3" custScaleX="48642" custScaleY="93600" custLinFactNeighborX="-100000" custLinFactNeighborY="-11493">
        <dgm:presLayoutVars>
          <dgm:chMax val="0"/>
          <dgm:bulletEnabled val="1"/>
        </dgm:presLayoutVars>
      </dgm:prSet>
      <dgm:spPr/>
      <dgm:t>
        <a:bodyPr/>
        <a:lstStyle/>
        <a:p>
          <a:endParaRPr lang="zh-CN" altLang="en-US"/>
        </a:p>
      </dgm:t>
    </dgm:pt>
    <dgm:pt modelId="{11A91C24-9F1A-447B-B88E-8381C4A3A432}" type="pres">
      <dgm:prSet presAssocID="{D84B8B11-2E3B-43D7-B1EF-D8DD139C36DB}" presName="negativeSpace" presStyleCnt="0"/>
      <dgm:spPr/>
    </dgm:pt>
    <dgm:pt modelId="{4DD48E09-4F01-442F-8651-3003A72BB9C9}" type="pres">
      <dgm:prSet presAssocID="{D84B8B11-2E3B-43D7-B1EF-D8DD139C36DB}" presName="childText" presStyleLbl="conFgAcc1" presStyleIdx="0" presStyleCnt="3" custScaleY="60106" custLinFactY="-37902" custLinFactNeighborY="-100000">
        <dgm:presLayoutVars>
          <dgm:bulletEnabled val="1"/>
        </dgm:presLayoutVars>
      </dgm:prSet>
      <dgm:spPr/>
      <dgm:t>
        <a:bodyPr/>
        <a:lstStyle/>
        <a:p>
          <a:endParaRPr lang="zh-CN" altLang="en-US"/>
        </a:p>
      </dgm:t>
    </dgm:pt>
    <dgm:pt modelId="{9C090F2E-29D3-4EFE-9FFB-FD264C3DE096}" type="pres">
      <dgm:prSet presAssocID="{EE225E34-343A-4EAE-A7DC-564E4771206C}" presName="spaceBetweenRectangles" presStyleCnt="0"/>
      <dgm:spPr/>
    </dgm:pt>
    <dgm:pt modelId="{BC7820DD-8C5B-4782-92FA-59538B1BCB19}" type="pres">
      <dgm:prSet presAssocID="{BEDCC6D4-86CC-4090-8A45-26AE1961E7F7}" presName="parentLin" presStyleCnt="0"/>
      <dgm:spPr/>
    </dgm:pt>
    <dgm:pt modelId="{CF67BD1D-863A-4555-B6C5-300F47530DE7}" type="pres">
      <dgm:prSet presAssocID="{BEDCC6D4-86CC-4090-8A45-26AE1961E7F7}" presName="parentLeftMargin" presStyleLbl="node1" presStyleIdx="0" presStyleCnt="3"/>
      <dgm:spPr/>
      <dgm:t>
        <a:bodyPr/>
        <a:lstStyle/>
        <a:p>
          <a:endParaRPr lang="zh-CN" altLang="en-US"/>
        </a:p>
      </dgm:t>
    </dgm:pt>
    <dgm:pt modelId="{BA508FA6-DAD7-4122-A31E-AB3F4E4EA9A4}" type="pres">
      <dgm:prSet presAssocID="{BEDCC6D4-86CC-4090-8A45-26AE1961E7F7}" presName="parentText" presStyleLbl="node1" presStyleIdx="1" presStyleCnt="3" custScaleX="55136" custScaleY="105907" custLinFactNeighborX="-100000" custLinFactNeighborY="-57880">
        <dgm:presLayoutVars>
          <dgm:chMax val="0"/>
          <dgm:bulletEnabled val="1"/>
        </dgm:presLayoutVars>
      </dgm:prSet>
      <dgm:spPr/>
      <dgm:t>
        <a:bodyPr/>
        <a:lstStyle/>
        <a:p>
          <a:endParaRPr lang="zh-CN" altLang="en-US"/>
        </a:p>
      </dgm:t>
    </dgm:pt>
    <dgm:pt modelId="{E6E6EAEB-14F9-4E93-8D7B-AB0514BD7D85}" type="pres">
      <dgm:prSet presAssocID="{BEDCC6D4-86CC-4090-8A45-26AE1961E7F7}" presName="negativeSpace" presStyleCnt="0"/>
      <dgm:spPr/>
    </dgm:pt>
    <dgm:pt modelId="{DC6AE7EF-E088-4171-9880-A1B247F32656}" type="pres">
      <dgm:prSet presAssocID="{BEDCC6D4-86CC-4090-8A45-26AE1961E7F7}" presName="childText" presStyleLbl="conFgAcc1" presStyleIdx="1" presStyleCnt="3" custFlipVert="1" custLinFactY="-87711" custLinFactNeighborX="2479" custLinFactNeighborY="-100000">
        <dgm:presLayoutVars>
          <dgm:bulletEnabled val="1"/>
        </dgm:presLayoutVars>
      </dgm:prSet>
      <dgm:spPr/>
    </dgm:pt>
    <dgm:pt modelId="{9747C85E-8CE0-443D-A0A0-3793C06FA2A9}" type="pres">
      <dgm:prSet presAssocID="{EA40AC31-604F-4C76-946A-B93CCD44E3D1}" presName="spaceBetweenRectangles" presStyleCnt="0"/>
      <dgm:spPr/>
    </dgm:pt>
    <dgm:pt modelId="{E151D8B2-BBBA-4C3F-8565-23860B61846E}" type="pres">
      <dgm:prSet presAssocID="{E78E044F-0898-4861-8D93-4A6C0540E3FE}" presName="parentLin" presStyleCnt="0"/>
      <dgm:spPr/>
    </dgm:pt>
    <dgm:pt modelId="{133C5477-F3C5-4942-8C45-D32F688E570E}" type="pres">
      <dgm:prSet presAssocID="{E78E044F-0898-4861-8D93-4A6C0540E3FE}" presName="parentLeftMargin" presStyleLbl="node1" presStyleIdx="1" presStyleCnt="3"/>
      <dgm:spPr/>
      <dgm:t>
        <a:bodyPr/>
        <a:lstStyle/>
        <a:p>
          <a:endParaRPr lang="zh-CN" altLang="en-US"/>
        </a:p>
      </dgm:t>
    </dgm:pt>
    <dgm:pt modelId="{94C42675-3E04-4632-8C75-BAD1A437C800}" type="pres">
      <dgm:prSet presAssocID="{E78E044F-0898-4861-8D93-4A6C0540E3FE}" presName="parentText" presStyleLbl="node1" presStyleIdx="2" presStyleCnt="3" custScaleX="112397" custScaleY="84096" custLinFactY="-5256" custLinFactNeighborX="-100000" custLinFactNeighborY="-100000">
        <dgm:presLayoutVars>
          <dgm:chMax val="0"/>
          <dgm:bulletEnabled val="1"/>
        </dgm:presLayoutVars>
      </dgm:prSet>
      <dgm:spPr/>
      <dgm:t>
        <a:bodyPr/>
        <a:lstStyle/>
        <a:p>
          <a:endParaRPr lang="zh-CN" altLang="en-US"/>
        </a:p>
      </dgm:t>
    </dgm:pt>
    <dgm:pt modelId="{398CE18A-B217-47A1-9B56-9F87BF6331B4}" type="pres">
      <dgm:prSet presAssocID="{E78E044F-0898-4861-8D93-4A6C0540E3FE}" presName="negativeSpace" presStyleCnt="0"/>
      <dgm:spPr/>
    </dgm:pt>
    <dgm:pt modelId="{BCFCC75E-3080-4ACF-A07B-820B1D98760A}" type="pres">
      <dgm:prSet presAssocID="{E78E044F-0898-4861-8D93-4A6C0540E3FE}" presName="childText" presStyleLbl="conFgAcc1" presStyleIdx="2" presStyleCnt="3" custScaleY="89131" custLinFactY="-18739" custLinFactNeighborY="-100000">
        <dgm:presLayoutVars>
          <dgm:bulletEnabled val="1"/>
        </dgm:presLayoutVars>
      </dgm:prSet>
      <dgm:spPr/>
      <dgm:t>
        <a:bodyPr/>
        <a:lstStyle/>
        <a:p>
          <a:endParaRPr lang="zh-CN" altLang="en-US"/>
        </a:p>
      </dgm:t>
    </dgm:pt>
  </dgm:ptLst>
  <dgm:cxnLst>
    <dgm:cxn modelId="{D41B81FA-A936-4D8C-87F4-F3F429953E18}" type="presOf" srcId="{3415B242-00E4-4DDB-9CA7-5F0A74E5C9DE}" destId="{BCFCC75E-3080-4ACF-A07B-820B1D98760A}" srcOrd="0" destOrd="0" presId="urn:microsoft.com/office/officeart/2005/8/layout/list1"/>
    <dgm:cxn modelId="{453781E8-69B2-405B-8445-DB084509C6AB}" type="presOf" srcId="{E78E044F-0898-4861-8D93-4A6C0540E3FE}" destId="{133C5477-F3C5-4942-8C45-D32F688E570E}" srcOrd="0" destOrd="0" presId="urn:microsoft.com/office/officeart/2005/8/layout/list1"/>
    <dgm:cxn modelId="{9A2C370F-DD8F-4C63-A1BE-4CCF5A553AC8}" srcId="{EDD0510A-29EC-48F3-B179-A0793A27EA23}" destId="{E78E044F-0898-4861-8D93-4A6C0540E3FE}" srcOrd="2" destOrd="0" parTransId="{32FD92D3-C2FF-4BDE-93FD-AF1C9508B3F4}" sibTransId="{78122827-0F98-41E0-81B5-B0FEFC8A8C05}"/>
    <dgm:cxn modelId="{A76EA5E6-A52A-4730-A9C3-96FCE9D039DD}" srcId="{EDD0510A-29EC-48F3-B179-A0793A27EA23}" destId="{D84B8B11-2E3B-43D7-B1EF-D8DD139C36DB}" srcOrd="0" destOrd="0" parTransId="{6615EF3A-2589-4021-B99C-3696B8FDC2B0}" sibTransId="{EE225E34-343A-4EAE-A7DC-564E4771206C}"/>
    <dgm:cxn modelId="{C8CE457D-7B25-43CE-B9CB-4357ACF25FEA}" type="presOf" srcId="{6C052CEB-C34F-4D90-B750-0EA23D609D12}" destId="{4DD48E09-4F01-442F-8651-3003A72BB9C9}" srcOrd="0" destOrd="0" presId="urn:microsoft.com/office/officeart/2005/8/layout/list1"/>
    <dgm:cxn modelId="{1E9EC533-440F-4701-B963-D1E4C5212CE9}" type="presOf" srcId="{D84B8B11-2E3B-43D7-B1EF-D8DD139C36DB}" destId="{60FC2134-2C23-417A-91F3-3E284824CDCC}" srcOrd="0" destOrd="0" presId="urn:microsoft.com/office/officeart/2005/8/layout/list1"/>
    <dgm:cxn modelId="{E1D97AC0-A59C-4A8B-80D4-734882EE1C16}" srcId="{EDD0510A-29EC-48F3-B179-A0793A27EA23}" destId="{BEDCC6D4-86CC-4090-8A45-26AE1961E7F7}" srcOrd="1" destOrd="0" parTransId="{058FD642-46F7-4A19-BA62-C5DE8028AA14}" sibTransId="{EA40AC31-604F-4C76-946A-B93CCD44E3D1}"/>
    <dgm:cxn modelId="{624323B4-2113-4E8D-9226-3A4C4677228B}" type="presOf" srcId="{E78E044F-0898-4861-8D93-4A6C0540E3FE}" destId="{94C42675-3E04-4632-8C75-BAD1A437C800}" srcOrd="1" destOrd="0" presId="urn:microsoft.com/office/officeart/2005/8/layout/list1"/>
    <dgm:cxn modelId="{2AB65D97-22CD-4907-BF76-789DC48BA387}" type="presOf" srcId="{D84B8B11-2E3B-43D7-B1EF-D8DD139C36DB}" destId="{9A09E833-9B44-43B9-BE18-E59F788FB812}" srcOrd="1" destOrd="0" presId="urn:microsoft.com/office/officeart/2005/8/layout/list1"/>
    <dgm:cxn modelId="{45942214-111C-4D6D-B10D-E5F5111B804C}" type="presOf" srcId="{BEDCC6D4-86CC-4090-8A45-26AE1961E7F7}" destId="{CF67BD1D-863A-4555-B6C5-300F47530DE7}" srcOrd="0" destOrd="0" presId="urn:microsoft.com/office/officeart/2005/8/layout/list1"/>
    <dgm:cxn modelId="{497996B8-6E08-449C-BB5D-EDDD0E60323F}" type="presOf" srcId="{BEDCC6D4-86CC-4090-8A45-26AE1961E7F7}" destId="{BA508FA6-DAD7-4122-A31E-AB3F4E4EA9A4}" srcOrd="1" destOrd="0" presId="urn:microsoft.com/office/officeart/2005/8/layout/list1"/>
    <dgm:cxn modelId="{A24260F9-EDDC-489A-B4A7-DEBA49D25F7D}" type="presOf" srcId="{EDD0510A-29EC-48F3-B179-A0793A27EA23}" destId="{E3A59A87-5533-48F3-A0AF-169860A08DFA}" srcOrd="0" destOrd="0" presId="urn:microsoft.com/office/officeart/2005/8/layout/list1"/>
    <dgm:cxn modelId="{0DCCE631-A834-41CE-AED3-D05C47A1A8C2}" srcId="{D84B8B11-2E3B-43D7-B1EF-D8DD139C36DB}" destId="{6C052CEB-C34F-4D90-B750-0EA23D609D12}" srcOrd="0" destOrd="0" parTransId="{2BD15E2C-A0FD-4E65-8F76-73489727E12C}" sibTransId="{DED44DE9-6CE7-4DCB-A0EE-CDA534502671}"/>
    <dgm:cxn modelId="{99509EE6-36BA-4B50-8E27-1B34728C600B}" srcId="{E78E044F-0898-4861-8D93-4A6C0540E3FE}" destId="{3415B242-00E4-4DDB-9CA7-5F0A74E5C9DE}" srcOrd="0" destOrd="0" parTransId="{0041DDCB-B388-4A8F-939E-42A454E8448A}" sibTransId="{FC81E652-2123-4D25-8157-847B73D4AD72}"/>
    <dgm:cxn modelId="{2FE5A83C-0627-48D2-B90B-275455DE3E8D}" type="presParOf" srcId="{E3A59A87-5533-48F3-A0AF-169860A08DFA}" destId="{EE646702-DA9E-4324-83FF-56851DC303A0}" srcOrd="0" destOrd="0" presId="urn:microsoft.com/office/officeart/2005/8/layout/list1"/>
    <dgm:cxn modelId="{33DDC3E0-6A9C-4E95-B4EF-89A00B5D29E4}" type="presParOf" srcId="{EE646702-DA9E-4324-83FF-56851DC303A0}" destId="{60FC2134-2C23-417A-91F3-3E284824CDCC}" srcOrd="0" destOrd="0" presId="urn:microsoft.com/office/officeart/2005/8/layout/list1"/>
    <dgm:cxn modelId="{366331A7-B8D9-4BEA-AFAB-4B67FDDC5D26}" type="presParOf" srcId="{EE646702-DA9E-4324-83FF-56851DC303A0}" destId="{9A09E833-9B44-43B9-BE18-E59F788FB812}" srcOrd="1" destOrd="0" presId="urn:microsoft.com/office/officeart/2005/8/layout/list1"/>
    <dgm:cxn modelId="{203A8E77-1727-462E-9B27-23739273E91E}" type="presParOf" srcId="{E3A59A87-5533-48F3-A0AF-169860A08DFA}" destId="{11A91C24-9F1A-447B-B88E-8381C4A3A432}" srcOrd="1" destOrd="0" presId="urn:microsoft.com/office/officeart/2005/8/layout/list1"/>
    <dgm:cxn modelId="{71AC915A-0D1E-426A-8446-58BC1F692043}" type="presParOf" srcId="{E3A59A87-5533-48F3-A0AF-169860A08DFA}" destId="{4DD48E09-4F01-442F-8651-3003A72BB9C9}" srcOrd="2" destOrd="0" presId="urn:microsoft.com/office/officeart/2005/8/layout/list1"/>
    <dgm:cxn modelId="{7E9E1964-7664-496B-B1EC-1FC388818722}" type="presParOf" srcId="{E3A59A87-5533-48F3-A0AF-169860A08DFA}" destId="{9C090F2E-29D3-4EFE-9FFB-FD264C3DE096}" srcOrd="3" destOrd="0" presId="urn:microsoft.com/office/officeart/2005/8/layout/list1"/>
    <dgm:cxn modelId="{FCDA13C1-18DF-4A65-BF2B-E31871E66CA7}" type="presParOf" srcId="{E3A59A87-5533-48F3-A0AF-169860A08DFA}" destId="{BC7820DD-8C5B-4782-92FA-59538B1BCB19}" srcOrd="4" destOrd="0" presId="urn:microsoft.com/office/officeart/2005/8/layout/list1"/>
    <dgm:cxn modelId="{8D65A165-6824-4CF4-81C1-E1D64D6B43E5}" type="presParOf" srcId="{BC7820DD-8C5B-4782-92FA-59538B1BCB19}" destId="{CF67BD1D-863A-4555-B6C5-300F47530DE7}" srcOrd="0" destOrd="0" presId="urn:microsoft.com/office/officeart/2005/8/layout/list1"/>
    <dgm:cxn modelId="{1004DC56-29DD-4349-9DEC-459FE68A5BC1}" type="presParOf" srcId="{BC7820DD-8C5B-4782-92FA-59538B1BCB19}" destId="{BA508FA6-DAD7-4122-A31E-AB3F4E4EA9A4}" srcOrd="1" destOrd="0" presId="urn:microsoft.com/office/officeart/2005/8/layout/list1"/>
    <dgm:cxn modelId="{6EB4F3F5-643F-4ABC-9059-40E822939908}" type="presParOf" srcId="{E3A59A87-5533-48F3-A0AF-169860A08DFA}" destId="{E6E6EAEB-14F9-4E93-8D7B-AB0514BD7D85}" srcOrd="5" destOrd="0" presId="urn:microsoft.com/office/officeart/2005/8/layout/list1"/>
    <dgm:cxn modelId="{FDE7E4BF-5AD9-42F2-BA2C-46E88476BEA4}" type="presParOf" srcId="{E3A59A87-5533-48F3-A0AF-169860A08DFA}" destId="{DC6AE7EF-E088-4171-9880-A1B247F32656}" srcOrd="6" destOrd="0" presId="urn:microsoft.com/office/officeart/2005/8/layout/list1"/>
    <dgm:cxn modelId="{934F394A-2D1A-41DD-A535-22DEE8DA3817}" type="presParOf" srcId="{E3A59A87-5533-48F3-A0AF-169860A08DFA}" destId="{9747C85E-8CE0-443D-A0A0-3793C06FA2A9}" srcOrd="7" destOrd="0" presId="urn:microsoft.com/office/officeart/2005/8/layout/list1"/>
    <dgm:cxn modelId="{EC5B3ABB-43E9-49C0-A91C-60B80AD96910}" type="presParOf" srcId="{E3A59A87-5533-48F3-A0AF-169860A08DFA}" destId="{E151D8B2-BBBA-4C3F-8565-23860B61846E}" srcOrd="8" destOrd="0" presId="urn:microsoft.com/office/officeart/2005/8/layout/list1"/>
    <dgm:cxn modelId="{9735ECDB-B4A5-416A-92E5-7256F7AA239C}" type="presParOf" srcId="{E151D8B2-BBBA-4C3F-8565-23860B61846E}" destId="{133C5477-F3C5-4942-8C45-D32F688E570E}" srcOrd="0" destOrd="0" presId="urn:microsoft.com/office/officeart/2005/8/layout/list1"/>
    <dgm:cxn modelId="{B78E88B8-EBE8-4E7F-BBC0-4A9023B630C9}" type="presParOf" srcId="{E151D8B2-BBBA-4C3F-8565-23860B61846E}" destId="{94C42675-3E04-4632-8C75-BAD1A437C800}" srcOrd="1" destOrd="0" presId="urn:microsoft.com/office/officeart/2005/8/layout/list1"/>
    <dgm:cxn modelId="{AD6BD692-511F-49F4-97A9-5AED9F4BDDD7}" type="presParOf" srcId="{E3A59A87-5533-48F3-A0AF-169860A08DFA}" destId="{398CE18A-B217-47A1-9B56-9F87BF6331B4}" srcOrd="9" destOrd="0" presId="urn:microsoft.com/office/officeart/2005/8/layout/list1"/>
    <dgm:cxn modelId="{14FA77CC-DB9F-4C4F-AD1F-6E78581B613C}" type="presParOf" srcId="{E3A59A87-5533-48F3-A0AF-169860A08DFA}" destId="{BCFCC75E-3080-4ACF-A07B-820B1D98760A}" srcOrd="10" destOrd="0" presId="urn:microsoft.com/office/officeart/2005/8/layout/list1"/>
  </dgm:cxnLst>
  <dgm:bg/>
  <dgm:whole/>
</dgm:dataModel>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png"/></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png"/></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png"/><Relationship Id="rId5" Type="http://schemas.openxmlformats.org/officeDocument/2006/relationships/image" Target="../media/image30.wmf"/><Relationship Id="rId4" Type="http://schemas.openxmlformats.org/officeDocument/2006/relationships/image" Target="../media/image29.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1.png"/></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2.png"/></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lvl1pPr>
              <a:defRPr sz="1200">
                <a:solidFill>
                  <a:schemeClr val="tx1"/>
                </a:solidFill>
                <a:latin typeface="Tahoma" pitchFamily="34" charset="0"/>
                <a:ea typeface="宋体" pitchFamily="2" charset="-122"/>
              </a:defRPr>
            </a:lvl1pPr>
          </a:lstStyle>
          <a:p>
            <a:pPr>
              <a:defRPr/>
            </a:pPr>
            <a:endParaRPr lang="en-US" altLang="zh-CN"/>
          </a:p>
        </p:txBody>
      </p:sp>
      <p:sp>
        <p:nvSpPr>
          <p:cNvPr id="5427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lvl1pPr algn="r">
              <a:defRPr sz="1200">
                <a:solidFill>
                  <a:schemeClr val="tx1"/>
                </a:solidFill>
                <a:latin typeface="Tahoma" pitchFamily="34" charset="0"/>
                <a:ea typeface="宋体" pitchFamily="2" charset="-122"/>
              </a:defRPr>
            </a:lvl1pPr>
          </a:lstStyle>
          <a:p>
            <a:pPr>
              <a:defRPr/>
            </a:pPr>
            <a:endParaRPr lang="en-US" altLang="zh-CN"/>
          </a:p>
        </p:txBody>
      </p:sp>
      <p:sp>
        <p:nvSpPr>
          <p:cNvPr id="409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427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5427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defRPr sz="1200">
                <a:solidFill>
                  <a:schemeClr val="tx1"/>
                </a:solidFill>
                <a:latin typeface="Tahoma" pitchFamily="34" charset="0"/>
                <a:ea typeface="宋体" pitchFamily="2" charset="-122"/>
              </a:defRPr>
            </a:lvl1pPr>
          </a:lstStyle>
          <a:p>
            <a:pPr>
              <a:defRPr/>
            </a:pPr>
            <a:endParaRPr lang="en-US" altLang="zh-CN"/>
          </a:p>
        </p:txBody>
      </p:sp>
      <p:sp>
        <p:nvSpPr>
          <p:cNvPr id="5427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lgn="r">
              <a:defRPr sz="1200">
                <a:solidFill>
                  <a:schemeClr val="tx1"/>
                </a:solidFill>
                <a:latin typeface="Tahoma" pitchFamily="34" charset="0"/>
                <a:ea typeface="宋体" pitchFamily="2" charset="-122"/>
              </a:defRPr>
            </a:lvl1pPr>
          </a:lstStyle>
          <a:p>
            <a:pPr>
              <a:defRPr/>
            </a:pPr>
            <a:fld id="{F68B94EB-781E-4D0D-AAA6-E3108E2C97D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FAEBC9F1-7A45-413C-9657-A5DA9E0FBDB4}" type="datetimeFigureOut">
              <a:rPr lang="zh-CN" altLang="en-US" smtClean="0"/>
              <a:pPr/>
              <a:t>2013/4/8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C16EB79-1520-46CC-BE51-C303194CEBE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AEBC9F1-7A45-413C-9657-A5DA9E0FBDB4}" type="datetimeFigureOut">
              <a:rPr lang="zh-CN" altLang="en-US" smtClean="0"/>
              <a:pPr/>
              <a:t>2013/4/8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C16EB79-1520-46CC-BE51-C303194CEBE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FAEBC9F1-7A45-413C-9657-A5DA9E0FBDB4}" type="datetimeFigureOut">
              <a:rPr lang="zh-CN" altLang="en-US" smtClean="0"/>
              <a:pPr/>
              <a:t>2013/4/8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C16EB79-1520-46CC-BE51-C303194CEBE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FAEBC9F1-7A45-413C-9657-A5DA9E0FBDB4}" type="datetimeFigureOut">
              <a:rPr lang="zh-CN" altLang="en-US" smtClean="0"/>
              <a:pPr/>
              <a:t>2013/4/8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C16EB79-1520-46CC-BE51-C303194CEBE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AEBC9F1-7A45-413C-9657-A5DA9E0FBDB4}" type="datetimeFigureOut">
              <a:rPr lang="zh-CN" altLang="en-US" smtClean="0"/>
              <a:pPr/>
              <a:t>2013/4/8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C16EB79-1520-46CC-BE51-C303194CEBE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FAEBC9F1-7A45-413C-9657-A5DA9E0FBDB4}" type="datetimeFigureOut">
              <a:rPr lang="zh-CN" altLang="en-US" smtClean="0"/>
              <a:pPr/>
              <a:t>2013/4/8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C16EB79-1520-46CC-BE51-C303194CEBE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AEBC9F1-7A45-413C-9657-A5DA9E0FBDB4}" type="datetimeFigureOut">
              <a:rPr lang="zh-CN" altLang="en-US" smtClean="0"/>
              <a:pPr/>
              <a:t>2013/4/8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C16EB79-1520-46CC-BE51-C303194CEBE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AEBC9F1-7A45-413C-9657-A5DA9E0FBDB4}" type="datetimeFigureOut">
              <a:rPr lang="zh-CN" altLang="en-US" smtClean="0"/>
              <a:pPr/>
              <a:t>2013/4/8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C16EB79-1520-46CC-BE51-C303194CEBE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AEBC9F1-7A45-413C-9657-A5DA9E0FBDB4}" type="datetimeFigureOut">
              <a:rPr lang="zh-CN" altLang="en-US" smtClean="0"/>
              <a:pPr/>
              <a:t>2013/4/8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C16EB79-1520-46CC-BE51-C303194CEBE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AEBC9F1-7A45-413C-9657-A5DA9E0FBDB4}" type="datetimeFigureOut">
              <a:rPr lang="zh-CN" altLang="en-US" smtClean="0"/>
              <a:pPr/>
              <a:t>2013/4/8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C16EB79-1520-46CC-BE51-C303194CEBE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AEBC9F1-7A45-413C-9657-A5DA9E0FBDB4}" type="datetimeFigureOut">
              <a:rPr lang="zh-CN" altLang="en-US" smtClean="0"/>
              <a:pPr/>
              <a:t>2013/4/8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C16EB79-1520-46CC-BE51-C303194CEBEB}"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1DA572A-8AA8-4FC7-B89D-DD0BF5341F06}" type="slidenum">
              <a:rPr lang="en-US" altLang="zh-CN" smtClean="0"/>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23EE60BA-C7FA-4F66-850B-094FA0AD85EF}" type="slidenum">
              <a:rPr lang="en-US" altLang="zh-CN" smtClean="0"/>
              <a:pPr>
                <a:defRPr/>
              </a:pPr>
              <a:t>‹#›</a:t>
            </a:fld>
            <a:endParaRPr lang="en-US" altLang="zh-CN"/>
          </a:p>
        </p:txBody>
      </p:sp>
      <p:pic>
        <p:nvPicPr>
          <p:cNvPr id="7" name="Picture 12" descr="xh"/>
          <p:cNvPicPr>
            <a:picLocks noChangeAspect="1" noChangeArrowheads="1"/>
          </p:cNvPicPr>
          <p:nvPr/>
        </p:nvPicPr>
        <p:blipFill>
          <a:blip r:embed="rId2">
            <a:lum bright="54000" contrast="-6000"/>
          </a:blip>
          <a:srcRect/>
          <a:stretch>
            <a:fillRect/>
          </a:stretch>
        </p:blipFill>
        <p:spPr bwMode="auto">
          <a:xfrm>
            <a:off x="179388" y="188913"/>
            <a:ext cx="682625" cy="666750"/>
          </a:xfrm>
          <a:prstGeom prst="rect">
            <a:avLst/>
          </a:prstGeom>
          <a:noFill/>
          <a:ln w="9525">
            <a:noFill/>
            <a:miter lim="800000"/>
            <a:headEnd/>
            <a:tailEnd/>
          </a:ln>
        </p:spPr>
      </p:pic>
      <p:pic>
        <p:nvPicPr>
          <p:cNvPr id="8" name="Picture 9" descr="buaa2"/>
          <p:cNvPicPr>
            <a:picLocks noChangeAspect="1" noChangeArrowheads="1"/>
          </p:cNvPicPr>
          <p:nvPr/>
        </p:nvPicPr>
        <p:blipFill>
          <a:blip r:embed="rId3">
            <a:lum bright="48000"/>
          </a:blip>
          <a:srcRect/>
          <a:stretch>
            <a:fillRect/>
          </a:stretch>
        </p:blipFill>
        <p:spPr bwMode="auto">
          <a:xfrm>
            <a:off x="1000125" y="285750"/>
            <a:ext cx="2560638" cy="360363"/>
          </a:xfrm>
          <a:prstGeom prst="rect">
            <a:avLst/>
          </a:prstGeom>
          <a:noFill/>
          <a:ln w="9525">
            <a:noFill/>
            <a:miter lim="800000"/>
            <a:headEnd/>
            <a:tailEnd/>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endParaRPr lang="en-US" altLang="zh-CN"/>
          </a:p>
        </p:txBody>
      </p:sp>
      <p:sp>
        <p:nvSpPr>
          <p:cNvPr id="4" name="页脚占位符 4"/>
          <p:cNvSpPr>
            <a:spLocks noGrp="1"/>
          </p:cNvSpPr>
          <p:nvPr>
            <p:ph type="ftr" sz="quarter" idx="11"/>
          </p:nvPr>
        </p:nvSpPr>
        <p:spPr/>
        <p:txBody>
          <a:bodyPr/>
          <a:lstStyle>
            <a:lvl1pPr>
              <a:defRPr/>
            </a:lvl1pPr>
          </a:lstStyle>
          <a:p>
            <a:pPr>
              <a:defRPr/>
            </a:pP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7104403D-E8D9-40BC-8D85-15BDEDD227DB}" type="slidenum">
              <a:rPr lang="en-US" altLang="zh-CN" smtClean="0"/>
              <a:pPr>
                <a:defRPr/>
              </a:pPr>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4EA8FE74-DE32-40D7-B457-9F7B5426CB51}" type="slidenum">
              <a:rPr lang="en-US" altLang="zh-CN" smtClean="0"/>
              <a:pPr>
                <a:defRPr/>
              </a:pPr>
              <a:t>‹#›</a:t>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0C76FECD-5D24-493A-90B8-C7671BC2CEEE}" type="slidenum">
              <a:rPr lang="en-US" altLang="zh-CN" smtClean="0"/>
              <a:pPr>
                <a:defRPr/>
              </a:pPr>
              <a:t>‹#›</a:t>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endParaRPr lang="en-US" altLang="zh-CN"/>
          </a:p>
        </p:txBody>
      </p:sp>
      <p:sp>
        <p:nvSpPr>
          <p:cNvPr id="8" name="页脚占位符 4"/>
          <p:cNvSpPr>
            <a:spLocks noGrp="1"/>
          </p:cNvSpPr>
          <p:nvPr>
            <p:ph type="ftr" sz="quarter" idx="11"/>
          </p:nvPr>
        </p:nvSpPr>
        <p:spPr/>
        <p:txBody>
          <a:bodyPr/>
          <a:lstStyle>
            <a:lvl1pPr>
              <a:defRPr/>
            </a:lvl1pPr>
          </a:lstStyle>
          <a:p>
            <a:pPr>
              <a:defRPr/>
            </a:pP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4073FF85-D499-4B91-A7C0-5AACF27CCB9C}" type="slidenum">
              <a:rPr lang="en-US" altLang="zh-CN" smtClean="0"/>
              <a:pPr>
                <a:defRPr/>
              </a:pPr>
              <a:t>‹#›</a:t>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endParaRPr lang="en-US" altLang="zh-CN"/>
          </a:p>
        </p:txBody>
      </p:sp>
      <p:sp>
        <p:nvSpPr>
          <p:cNvPr id="4" name="页脚占位符 4"/>
          <p:cNvSpPr>
            <a:spLocks noGrp="1"/>
          </p:cNvSpPr>
          <p:nvPr>
            <p:ph type="ftr" sz="quarter" idx="11"/>
          </p:nvPr>
        </p:nvSpPr>
        <p:spPr/>
        <p:txBody>
          <a:bodyPr/>
          <a:lstStyle>
            <a:lvl1pPr>
              <a:defRPr/>
            </a:lvl1pPr>
          </a:lstStyle>
          <a:p>
            <a:pPr>
              <a:defRPr/>
            </a:pP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F5F3EF15-79DE-4C96-A1F5-E8F3E9F75044}" type="slidenum">
              <a:rPr lang="en-US" altLang="zh-CN" smtClean="0"/>
              <a:pPr>
                <a:defRPr/>
              </a:pPr>
              <a:t>‹#›</a:t>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endParaRPr lang="en-US" altLang="zh-CN"/>
          </a:p>
        </p:txBody>
      </p:sp>
      <p:sp>
        <p:nvSpPr>
          <p:cNvPr id="3" name="页脚占位符 4"/>
          <p:cNvSpPr>
            <a:spLocks noGrp="1"/>
          </p:cNvSpPr>
          <p:nvPr>
            <p:ph type="ftr" sz="quarter" idx="11"/>
          </p:nvPr>
        </p:nvSpPr>
        <p:spPr/>
        <p:txBody>
          <a:bodyPr/>
          <a:lstStyle>
            <a:lvl1pPr>
              <a:defRPr/>
            </a:lvl1pPr>
          </a:lstStyle>
          <a:p>
            <a:pPr>
              <a:defRPr/>
            </a:pPr>
            <a:endParaRPr lang="en-US" altLang="zh-CN"/>
          </a:p>
        </p:txBody>
      </p:sp>
      <p:sp>
        <p:nvSpPr>
          <p:cNvPr id="4" name="灯片编号占位符 5"/>
          <p:cNvSpPr>
            <a:spLocks noGrp="1"/>
          </p:cNvSpPr>
          <p:nvPr>
            <p:ph type="sldNum" sz="quarter" idx="12"/>
          </p:nvPr>
        </p:nvSpPr>
        <p:spPr/>
        <p:txBody>
          <a:bodyPr/>
          <a:lstStyle>
            <a:lvl1pPr>
              <a:defRPr/>
            </a:lvl1pPr>
          </a:lstStyle>
          <a:p>
            <a:pPr>
              <a:defRPr/>
            </a:pPr>
            <a:fld id="{799BBF98-496E-400D-8D5C-7462C9BC142F}" type="slidenum">
              <a:rPr lang="en-US" altLang="zh-CN" smtClean="0"/>
              <a:pPr>
                <a:defRPr/>
              </a:pPr>
              <a:t>‹#›</a:t>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B587BD30-1508-444C-9FF2-C16812F6B9F2}" type="slidenum">
              <a:rPr lang="en-US" altLang="zh-CN" smtClean="0"/>
              <a:pPr>
                <a:defRPr/>
              </a:pPr>
              <a:t>‹#›</a:t>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A3C0E373-DC71-46CB-BA2B-CF616F3CE79D}" type="slidenum">
              <a:rPr lang="en-US" altLang="zh-CN" smtClean="0"/>
              <a:pPr>
                <a:defRPr/>
              </a:pPr>
              <a:t>‹#›</a:t>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7B8A35B2-7A6B-407B-8333-CC4B92929F05}" type="slidenum">
              <a:rPr lang="en-US" altLang="zh-CN" smtClean="0"/>
              <a:pPr>
                <a:defRPr/>
              </a:pPr>
              <a:t>‹#›</a:t>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3F41F3C5-784A-4B21-ABA2-53A413E66CCC}" type="slidenum">
              <a:rPr lang="en-US" altLang="zh-CN" smtClean="0"/>
              <a:pPr>
                <a:defRPr/>
              </a:pPr>
              <a:t>‹#›</a:t>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13"/>
          <p:cNvSpPr>
            <a:spLocks noGrp="1" noChangeArrowheads="1"/>
          </p:cNvSpPr>
          <p:nvPr>
            <p:ph type="sldNum" sz="quarter" idx="12"/>
          </p:nvPr>
        </p:nvSpPr>
        <p:spPr>
          <a:ln/>
        </p:spPr>
        <p:txBody>
          <a:bodyPr/>
          <a:lstStyle>
            <a:lvl1pPr>
              <a:defRPr/>
            </a:lvl1pPr>
          </a:lstStyle>
          <a:p>
            <a:pPr>
              <a:defRPr/>
            </a:pPr>
            <a:fld id="{7104403D-E8D9-40BC-8D85-15BDEDD227DB}" type="slidenum">
              <a:rPr lang="en-US" altLang="zh-CN" smtClean="0"/>
              <a:pPr>
                <a:defRPr/>
              </a:pPr>
              <a:t>‹#›</a:t>
            </a:fld>
            <a:endParaRPr lang="en-US" altLang="zh-CN"/>
          </a:p>
        </p:txBody>
      </p:sp>
    </p:spTree>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600200"/>
            <a:ext cx="4038600" cy="2185988"/>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57200" y="3938588"/>
            <a:ext cx="4038600" cy="218757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4648200" y="3938588"/>
            <a:ext cx="4038600" cy="218757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a:ln/>
        </p:spPr>
        <p:txBody>
          <a:bodyPr/>
          <a:lstStyle>
            <a:lvl1pPr>
              <a:defRPr/>
            </a:lvl1pPr>
          </a:lstStyle>
          <a:p>
            <a:pPr>
              <a:defRPr/>
            </a:pPr>
            <a:fld id="{5A35FFCA-D92B-45BA-B631-7B17A2C35AC3}" type="slidenum">
              <a:rPr lang="en-US" altLang="zh-CN"/>
              <a:pPr>
                <a:defRPr/>
              </a:pPr>
              <a:t>‹#›</a:t>
            </a:fld>
            <a:endParaRPr lang="en-US"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a:defRPr/>
            </a:pPr>
            <a:endParaRPr lang="en-US" altLang="zh-CN"/>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p>
            <a:pPr>
              <a:defRPr/>
            </a:pPr>
            <a:fld id="{7104403D-E8D9-40BC-8D85-15BDEDD227DB}" type="slidenum">
              <a:rPr lang="en-US" altLang="zh-CN" smtClean="0"/>
              <a:pPr>
                <a:defRPr/>
              </a:pPr>
              <a:t>‹#›</a:t>
            </a:fld>
            <a:endParaRPr lang="en-US" alt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a:defRPr/>
            </a:pPr>
            <a:endParaRPr lang="en-US" altLang="zh-CN"/>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p>
            <a:pPr>
              <a:defRPr/>
            </a:pPr>
            <a:fld id="{7104403D-E8D9-40BC-8D85-15BDEDD227DB}" type="slidenum">
              <a:rPr lang="en-US" altLang="zh-CN" smtClean="0"/>
              <a:pPr>
                <a:defRPr/>
              </a:pPr>
              <a:t>‹#›</a:t>
            </a:fld>
            <a:endParaRPr lang="en-US" alt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a:defRPr/>
            </a:pPr>
            <a:endParaRPr lang="en-US" altLang="zh-CN"/>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p>
            <a:pPr>
              <a:defRPr/>
            </a:pPr>
            <a:fld id="{7104403D-E8D9-40BC-8D85-15BDEDD227DB}" type="slidenum">
              <a:rPr lang="en-US" altLang="zh-CN" smtClean="0"/>
              <a:pPr>
                <a:defRPr/>
              </a:pPr>
              <a:t>‹#›</a:t>
            </a:fld>
            <a:endParaRPr lang="en-US" alt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a:defRPr/>
            </a:pPr>
            <a:endParaRPr lang="en-US" altLang="zh-CN"/>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p>
            <a:pPr>
              <a:defRPr/>
            </a:pPr>
            <a:fld id="{7104403D-E8D9-40BC-8D85-15BDEDD227DB}" type="slidenum">
              <a:rPr lang="en-US" altLang="zh-CN" smtClean="0"/>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image" Target="../media/image2.png"/><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EBC9F1-7A45-413C-9657-A5DA9E0FBDB4}" type="datetimeFigureOut">
              <a:rPr lang="zh-CN" altLang="en-US" smtClean="0"/>
              <a:pPr/>
              <a:t>2013/4/8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16EB79-1520-46CC-BE51-C303194CEBE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5E9EFF"/>
            </a:gs>
            <a:gs pos="999">
              <a:srgbClr val="5E9EFF"/>
            </a:gs>
            <a:gs pos="39999">
              <a:srgbClr val="85C2FF"/>
            </a:gs>
            <a:gs pos="70000">
              <a:srgbClr val="C4D6EB"/>
            </a:gs>
            <a:gs pos="100000">
              <a:srgbClr val="FFEBFA"/>
            </a:gs>
          </a:gsLst>
          <a:lin ang="5400000"/>
        </a:gradFill>
        <a:effectLst/>
      </p:bgPr>
    </p:bg>
    <p:spTree>
      <p:nvGrpSpPr>
        <p:cNvPr id="1" name=""/>
        <p:cNvGrpSpPr/>
        <p:nvPr/>
      </p:nvGrpSpPr>
      <p:grpSpPr>
        <a:xfrm>
          <a:off x="0" y="0"/>
          <a:ext cx="0" cy="0"/>
          <a:chOff x="0" y="0"/>
          <a:chExt cx="0" cy="0"/>
        </a:xfrm>
      </p:grpSpPr>
      <p:sp>
        <p:nvSpPr>
          <p:cNvPr id="37890" name="标题占位符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37891" name="文本占位符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宋体" pitchFamily="2" charset="-122"/>
              </a:defRPr>
            </a:lvl1pPr>
          </a:lstStyle>
          <a:p>
            <a:pPr>
              <a:defRPr/>
            </a:pPr>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ea typeface="宋体" pitchFamily="2" charset="-122"/>
              </a:defRPr>
            </a:lvl1pPr>
          </a:lstStyle>
          <a:p>
            <a:pPr>
              <a:defRPr/>
            </a:pP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ea typeface="宋体" pitchFamily="2" charset="-122"/>
              </a:defRPr>
            </a:lvl1pPr>
          </a:lstStyle>
          <a:p>
            <a:pPr>
              <a:defRPr/>
            </a:pPr>
            <a:fld id="{7104403D-E8D9-40BC-8D85-15BDEDD227DB}" type="slidenum">
              <a:rPr lang="en-US" altLang="zh-CN" smtClean="0"/>
              <a:pPr>
                <a:defRPr/>
              </a:pPr>
              <a:t>‹#›</a:t>
            </a:fld>
            <a:endParaRPr lang="en-US" altLang="zh-CN"/>
          </a:p>
        </p:txBody>
      </p:sp>
      <p:pic>
        <p:nvPicPr>
          <p:cNvPr id="37895" name="Picture 12" descr="xh"/>
          <p:cNvPicPr>
            <a:picLocks noChangeAspect="1" noChangeArrowheads="1"/>
          </p:cNvPicPr>
          <p:nvPr/>
        </p:nvPicPr>
        <p:blipFill>
          <a:blip r:embed="rId20">
            <a:lum bright="54000" contrast="-6000"/>
          </a:blip>
          <a:srcRect/>
          <a:stretch>
            <a:fillRect/>
          </a:stretch>
        </p:blipFill>
        <p:spPr bwMode="auto">
          <a:xfrm>
            <a:off x="179388" y="188913"/>
            <a:ext cx="682625" cy="666750"/>
          </a:xfrm>
          <a:prstGeom prst="rect">
            <a:avLst/>
          </a:prstGeom>
          <a:noFill/>
          <a:ln w="9525">
            <a:noFill/>
            <a:miter lim="800000"/>
            <a:headEnd/>
            <a:tailEnd/>
          </a:ln>
        </p:spPr>
      </p:pic>
      <p:pic>
        <p:nvPicPr>
          <p:cNvPr id="37896" name="Picture 9" descr="buaa2"/>
          <p:cNvPicPr>
            <a:picLocks noChangeAspect="1" noChangeArrowheads="1"/>
          </p:cNvPicPr>
          <p:nvPr/>
        </p:nvPicPr>
        <p:blipFill>
          <a:blip r:embed="rId21">
            <a:lum bright="48000"/>
          </a:blip>
          <a:srcRect/>
          <a:stretch>
            <a:fillRect/>
          </a:stretch>
        </p:blipFill>
        <p:spPr bwMode="auto">
          <a:xfrm>
            <a:off x="1000125" y="285750"/>
            <a:ext cx="2560638" cy="360363"/>
          </a:xfrm>
          <a:prstGeom prst="rect">
            <a:avLst/>
          </a:prstGeom>
          <a:noFill/>
          <a:ln w="9525">
            <a:noFill/>
            <a:miter lim="800000"/>
            <a:headEnd/>
            <a:tailEnd/>
          </a:ln>
        </p:spPr>
      </p:pic>
      <p:pic>
        <p:nvPicPr>
          <p:cNvPr id="9" name="Picture 12" descr="xh"/>
          <p:cNvPicPr>
            <a:picLocks noChangeAspect="1" noChangeArrowheads="1"/>
          </p:cNvPicPr>
          <p:nvPr/>
        </p:nvPicPr>
        <p:blipFill>
          <a:blip r:embed="rId20">
            <a:lum bright="54000" contrast="-6000"/>
          </a:blip>
          <a:srcRect/>
          <a:stretch>
            <a:fillRect/>
          </a:stretch>
        </p:blipFill>
        <p:spPr bwMode="auto">
          <a:xfrm>
            <a:off x="179388" y="188913"/>
            <a:ext cx="682625" cy="666750"/>
          </a:xfrm>
          <a:prstGeom prst="rect">
            <a:avLst/>
          </a:prstGeom>
          <a:noFill/>
          <a:ln w="9525">
            <a:noFill/>
            <a:miter lim="800000"/>
            <a:headEnd/>
            <a:tailEnd/>
          </a:ln>
        </p:spPr>
      </p:pic>
      <p:pic>
        <p:nvPicPr>
          <p:cNvPr id="10" name="Picture 9" descr="buaa2"/>
          <p:cNvPicPr>
            <a:picLocks noChangeAspect="1" noChangeArrowheads="1"/>
          </p:cNvPicPr>
          <p:nvPr/>
        </p:nvPicPr>
        <p:blipFill>
          <a:blip r:embed="rId21">
            <a:lum bright="48000"/>
          </a:blip>
          <a:srcRect/>
          <a:stretch>
            <a:fillRect/>
          </a:stretch>
        </p:blipFill>
        <p:spPr bwMode="auto">
          <a:xfrm>
            <a:off x="1000125" y="285750"/>
            <a:ext cx="2560638" cy="360363"/>
          </a:xfrm>
          <a:prstGeom prst="rect">
            <a:avLst/>
          </a:prstGeom>
          <a:noFill/>
          <a:ln w="9525">
            <a:noFill/>
            <a:miter lim="800000"/>
            <a:headEnd/>
            <a:tailEnd/>
          </a:ln>
        </p:spPr>
      </p:pic>
      <p:pic>
        <p:nvPicPr>
          <p:cNvPr id="11" name="Picture 12" descr="xh"/>
          <p:cNvPicPr>
            <a:picLocks noChangeAspect="1" noChangeArrowheads="1"/>
          </p:cNvPicPr>
          <p:nvPr userDrawn="1"/>
        </p:nvPicPr>
        <p:blipFill>
          <a:blip r:embed="rId20">
            <a:lum bright="54000" contrast="-6000"/>
          </a:blip>
          <a:srcRect/>
          <a:stretch>
            <a:fillRect/>
          </a:stretch>
        </p:blipFill>
        <p:spPr bwMode="auto">
          <a:xfrm>
            <a:off x="179388" y="188913"/>
            <a:ext cx="682625" cy="666750"/>
          </a:xfrm>
          <a:prstGeom prst="rect">
            <a:avLst/>
          </a:prstGeom>
          <a:noFill/>
          <a:ln w="9525">
            <a:noFill/>
            <a:miter lim="800000"/>
            <a:headEnd/>
            <a:tailEnd/>
          </a:ln>
        </p:spPr>
      </p:pic>
      <p:pic>
        <p:nvPicPr>
          <p:cNvPr id="12" name="Picture 9" descr="buaa2"/>
          <p:cNvPicPr>
            <a:picLocks noChangeAspect="1" noChangeArrowheads="1"/>
          </p:cNvPicPr>
          <p:nvPr userDrawn="1"/>
        </p:nvPicPr>
        <p:blipFill>
          <a:blip r:embed="rId21">
            <a:lum bright="48000"/>
          </a:blip>
          <a:srcRect/>
          <a:stretch>
            <a:fillRect/>
          </a:stretch>
        </p:blipFill>
        <p:spPr bwMode="auto">
          <a:xfrm>
            <a:off x="1000125" y="285750"/>
            <a:ext cx="2560638" cy="36036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690" r:id="rId15"/>
    <p:sldLayoutId id="2147483689" r:id="rId16"/>
    <p:sldLayoutId id="2147483688" r:id="rId17"/>
    <p:sldLayoutId id="2147483691" r:id="rId18"/>
  </p:sldLayoutIdLst>
  <p:timing>
    <p:tnLst>
      <p:par>
        <p:cTn id="1" dur="indefinite" restart="never" nodeType="tmRoot"/>
      </p:par>
    </p:tnLst>
  </p:timing>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ea typeface="宋体" pitchFamily="2" charset="-122"/>
        </a:defRPr>
      </a:lvl2pPr>
      <a:lvl3pPr algn="ctr" rtl="0" eaLnBrk="1" fontAlgn="base" hangingPunct="1">
        <a:spcBef>
          <a:spcPct val="0"/>
        </a:spcBef>
        <a:spcAft>
          <a:spcPct val="0"/>
        </a:spcAft>
        <a:defRPr sz="4400">
          <a:solidFill>
            <a:schemeClr val="tx1"/>
          </a:solidFill>
          <a:latin typeface="Calibri" pitchFamily="34" charset="0"/>
          <a:ea typeface="宋体" pitchFamily="2" charset="-122"/>
        </a:defRPr>
      </a:lvl3pPr>
      <a:lvl4pPr algn="ctr" rtl="0" eaLnBrk="1" fontAlgn="base" hangingPunct="1">
        <a:spcBef>
          <a:spcPct val="0"/>
        </a:spcBef>
        <a:spcAft>
          <a:spcPct val="0"/>
        </a:spcAft>
        <a:defRPr sz="4400">
          <a:solidFill>
            <a:schemeClr val="tx1"/>
          </a:solidFill>
          <a:latin typeface="Calibri" pitchFamily="34" charset="0"/>
          <a:ea typeface="宋体" pitchFamily="2" charset="-122"/>
        </a:defRPr>
      </a:lvl4pPr>
      <a:lvl5pPr algn="ctr" rtl="0" eaLnBrk="1" fontAlgn="base" hangingPunct="1">
        <a:spcBef>
          <a:spcPct val="0"/>
        </a:spcBef>
        <a:spcAft>
          <a:spcPct val="0"/>
        </a:spcAft>
        <a:defRPr sz="4400">
          <a:solidFill>
            <a:schemeClr val="tx1"/>
          </a:solidFill>
          <a:latin typeface="Calibri" pitchFamily="34" charset="0"/>
          <a:ea typeface="宋体" pitchFamily="2" charset="-122"/>
        </a:defRPr>
      </a:lvl5pPr>
      <a:lvl6pPr marL="457200" algn="ctr" rtl="0" eaLnBrk="1" fontAlgn="base" hangingPunct="1">
        <a:spcBef>
          <a:spcPct val="0"/>
        </a:spcBef>
        <a:spcAft>
          <a:spcPct val="0"/>
        </a:spcAft>
        <a:defRPr sz="4400">
          <a:solidFill>
            <a:schemeClr val="tx1"/>
          </a:solidFill>
          <a:latin typeface="Calibri" pitchFamily="34" charset="0"/>
          <a:ea typeface="宋体" pitchFamily="2" charset="-122"/>
        </a:defRPr>
      </a:lvl6pPr>
      <a:lvl7pPr marL="914400" algn="ctr" rtl="0" eaLnBrk="1" fontAlgn="base" hangingPunct="1">
        <a:spcBef>
          <a:spcPct val="0"/>
        </a:spcBef>
        <a:spcAft>
          <a:spcPct val="0"/>
        </a:spcAft>
        <a:defRPr sz="4400">
          <a:solidFill>
            <a:schemeClr val="tx1"/>
          </a:solidFill>
          <a:latin typeface="Calibri" pitchFamily="34" charset="0"/>
          <a:ea typeface="宋体" pitchFamily="2" charset="-122"/>
        </a:defRPr>
      </a:lvl7pPr>
      <a:lvl8pPr marL="1371600" algn="ctr" rtl="0" eaLnBrk="1" fontAlgn="base" hangingPunct="1">
        <a:spcBef>
          <a:spcPct val="0"/>
        </a:spcBef>
        <a:spcAft>
          <a:spcPct val="0"/>
        </a:spcAft>
        <a:defRPr sz="4400">
          <a:solidFill>
            <a:schemeClr val="tx1"/>
          </a:solidFill>
          <a:latin typeface="Calibri" pitchFamily="34" charset="0"/>
          <a:ea typeface="宋体" pitchFamily="2" charset="-122"/>
        </a:defRPr>
      </a:lvl8pPr>
      <a:lvl9pPr marL="1828800" algn="ctr" rtl="0" eaLnBrk="1" fontAlgn="base" hangingPunct="1">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6" Type="http://schemas.openxmlformats.org/officeDocument/2006/relationships/image" Target="../media/image7.png"/><Relationship Id="rId5" Type="http://schemas.openxmlformats.org/officeDocument/2006/relationships/oleObject" Target="../embeddings/oleObject4.bin"/><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3.xml"/><Relationship Id="rId1" Type="http://schemas.openxmlformats.org/officeDocument/2006/relationships/vmlDrawing" Target="../drawings/vmlDrawing3.v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3.xml"/><Relationship Id="rId1" Type="http://schemas.openxmlformats.org/officeDocument/2006/relationships/vmlDrawing" Target="../drawings/vmlDrawing4.vml"/><Relationship Id="rId4" Type="http://schemas.openxmlformats.org/officeDocument/2006/relationships/oleObject" Target="../embeddings/oleObject7.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3.xml"/><Relationship Id="rId1" Type="http://schemas.openxmlformats.org/officeDocument/2006/relationships/vmlDrawing" Target="../drawings/vmlDrawing5.vml"/><Relationship Id="rId4" Type="http://schemas.openxmlformats.org/officeDocument/2006/relationships/oleObject" Target="../embeddings/oleObject9.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3.xml"/><Relationship Id="rId1" Type="http://schemas.openxmlformats.org/officeDocument/2006/relationships/vmlDrawing" Target="../drawings/vmlDrawing6.vml"/><Relationship Id="rId5" Type="http://schemas.openxmlformats.org/officeDocument/2006/relationships/oleObject" Target="../embeddings/oleObject12.bin"/><Relationship Id="rId4" Type="http://schemas.openxmlformats.org/officeDocument/2006/relationships/oleObject" Target="../embeddings/oleObject1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3.xml"/><Relationship Id="rId1" Type="http://schemas.openxmlformats.org/officeDocument/2006/relationships/vmlDrawing" Target="../drawings/vmlDrawing7.vml"/><Relationship Id="rId4" Type="http://schemas.openxmlformats.org/officeDocument/2006/relationships/oleObject" Target="../embeddings/oleObject14.bin"/></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3.xml"/><Relationship Id="rId1" Type="http://schemas.openxmlformats.org/officeDocument/2006/relationships/vmlDrawing" Target="../drawings/vmlDrawing8.v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3.xml"/><Relationship Id="rId1" Type="http://schemas.openxmlformats.org/officeDocument/2006/relationships/vmlDrawing" Target="../drawings/vmlDrawing9.vml"/><Relationship Id="rId5" Type="http://schemas.openxmlformats.org/officeDocument/2006/relationships/oleObject" Target="../embeddings/oleObject18.bin"/><Relationship Id="rId4" Type="http://schemas.openxmlformats.org/officeDocument/2006/relationships/oleObject" Target="../embeddings/oleObject17.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3.xml"/><Relationship Id="rId1" Type="http://schemas.openxmlformats.org/officeDocument/2006/relationships/vmlDrawing" Target="../drawings/vmlDrawing10.vml"/><Relationship Id="rId4" Type="http://schemas.openxmlformats.org/officeDocument/2006/relationships/oleObject" Target="../embeddings/oleObject20.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3.xml"/><Relationship Id="rId1" Type="http://schemas.openxmlformats.org/officeDocument/2006/relationships/vmlDrawing" Target="../drawings/vmlDrawing11.v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3.xml"/><Relationship Id="rId1" Type="http://schemas.openxmlformats.org/officeDocument/2006/relationships/vmlDrawing" Target="../drawings/vmlDrawing12.v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3.xml"/><Relationship Id="rId1" Type="http://schemas.openxmlformats.org/officeDocument/2006/relationships/vmlDrawing" Target="../drawings/vmlDrawing13.v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13.xml"/><Relationship Id="rId1" Type="http://schemas.openxmlformats.org/officeDocument/2006/relationships/vmlDrawing" Target="../drawings/vmlDrawing14.vml"/><Relationship Id="rId4" Type="http://schemas.openxmlformats.org/officeDocument/2006/relationships/oleObject" Target="../embeddings/oleObject25.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6.bin"/><Relationship Id="rId7" Type="http://schemas.openxmlformats.org/officeDocument/2006/relationships/oleObject" Target="../embeddings/oleObject30.bin"/><Relationship Id="rId2" Type="http://schemas.openxmlformats.org/officeDocument/2006/relationships/slideLayout" Target="../slideLayouts/slideLayout25.xml"/><Relationship Id="rId1" Type="http://schemas.openxmlformats.org/officeDocument/2006/relationships/vmlDrawing" Target="../drawings/vmlDrawing15.vml"/><Relationship Id="rId6" Type="http://schemas.openxmlformats.org/officeDocument/2006/relationships/oleObject" Target="../embeddings/oleObject29.bin"/><Relationship Id="rId5" Type="http://schemas.openxmlformats.org/officeDocument/2006/relationships/oleObject" Target="../embeddings/oleObject28.bin"/><Relationship Id="rId4" Type="http://schemas.openxmlformats.org/officeDocument/2006/relationships/oleObject" Target="../embeddings/oleObject27.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3.xml"/><Relationship Id="rId1" Type="http://schemas.openxmlformats.org/officeDocument/2006/relationships/vmlDrawing" Target="../drawings/vmlDrawing16.vml"/><Relationship Id="rId4" Type="http://schemas.openxmlformats.org/officeDocument/2006/relationships/oleObject" Target="../embeddings/oleObject32.bin"/></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13.xml"/><Relationship Id="rId1" Type="http://schemas.openxmlformats.org/officeDocument/2006/relationships/vmlDrawing" Target="../drawings/vmlDrawing17.vml"/><Relationship Id="rId5" Type="http://schemas.openxmlformats.org/officeDocument/2006/relationships/image" Target="../media/image35.png"/><Relationship Id="rId4" Type="http://schemas.openxmlformats.org/officeDocument/2006/relationships/oleObject" Target="../embeddings/oleObject34.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16.xml"/><Relationship Id="rId1" Type="http://schemas.openxmlformats.org/officeDocument/2006/relationships/vmlDrawing" Target="../drawings/vmlDrawing18.vml"/><Relationship Id="rId4" Type="http://schemas.openxmlformats.org/officeDocument/2006/relationships/oleObject" Target="../embeddings/oleObject36.bin"/></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13.xml"/><Relationship Id="rId1" Type="http://schemas.openxmlformats.org/officeDocument/2006/relationships/vmlDrawing" Target="../drawings/vmlDrawing19.vml"/><Relationship Id="rId5" Type="http://schemas.openxmlformats.org/officeDocument/2006/relationships/oleObject" Target="../embeddings/oleObject39.bin"/><Relationship Id="rId4" Type="http://schemas.openxmlformats.org/officeDocument/2006/relationships/oleObject" Target="../embeddings/oleObject38.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13.xml"/><Relationship Id="rId1" Type="http://schemas.openxmlformats.org/officeDocument/2006/relationships/vmlDrawing" Target="../drawings/vmlDrawing20.v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13.xml"/><Relationship Id="rId1" Type="http://schemas.openxmlformats.org/officeDocument/2006/relationships/vmlDrawing" Target="../drawings/vmlDrawing21.vml"/></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13.xml"/><Relationship Id="rId1" Type="http://schemas.openxmlformats.org/officeDocument/2006/relationships/vmlDrawing" Target="../drawings/vmlDrawing22.v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071563" y="1857375"/>
            <a:ext cx="6572250" cy="862013"/>
          </a:xfrm>
        </p:spPr>
        <p:txBody>
          <a:bodyPr anchor="b"/>
          <a:lstStyle/>
          <a:p>
            <a:r>
              <a:rPr lang="zh-CN" altLang="en-US" sz="5400" b="1" dirty="0" smtClean="0">
                <a:solidFill>
                  <a:srgbClr val="FF0000"/>
                </a:solidFill>
                <a:latin typeface="黑体" pitchFamily="49" charset="-122"/>
                <a:ea typeface="黑体" pitchFamily="49" charset="-122"/>
              </a:rPr>
              <a:t>第</a:t>
            </a:r>
            <a:r>
              <a:rPr lang="en-US" altLang="zh-CN" sz="5400" b="1" dirty="0" smtClean="0">
                <a:solidFill>
                  <a:srgbClr val="FF0000"/>
                </a:solidFill>
                <a:latin typeface="黑体" pitchFamily="49" charset="-122"/>
                <a:ea typeface="黑体" pitchFamily="49" charset="-122"/>
              </a:rPr>
              <a:t>5</a:t>
            </a:r>
            <a:r>
              <a:rPr lang="zh-CN" altLang="en-US" sz="5400" b="1" dirty="0" smtClean="0">
                <a:solidFill>
                  <a:srgbClr val="FF0000"/>
                </a:solidFill>
                <a:latin typeface="黑体" pitchFamily="49" charset="-122"/>
                <a:ea typeface="黑体" pitchFamily="49" charset="-122"/>
              </a:rPr>
              <a:t>章</a:t>
            </a:r>
            <a:r>
              <a:rPr lang="zh-CN" altLang="en-US" sz="5400" b="1" dirty="0" smtClean="0">
                <a:latin typeface="黑体" pitchFamily="49" charset="-122"/>
                <a:ea typeface="黑体" pitchFamily="49" charset="-122"/>
              </a:rPr>
              <a:t> 电容式传感器</a:t>
            </a:r>
          </a:p>
        </p:txBody>
      </p:sp>
      <p:sp>
        <p:nvSpPr>
          <p:cNvPr id="6" name="Rectangle 5"/>
          <p:cNvSpPr>
            <a:spLocks noGrp="1" noChangeArrowheads="1"/>
          </p:cNvSpPr>
          <p:nvPr>
            <p:ph idx="1"/>
          </p:nvPr>
        </p:nvSpPr>
        <p:spPr>
          <a:xfrm>
            <a:off x="857250" y="3429000"/>
            <a:ext cx="7772400" cy="2451100"/>
          </a:xfrm>
        </p:spPr>
        <p:txBody>
          <a:bodyPr rtlCol="0">
            <a:normAutofit fontScale="70000" lnSpcReduction="20000"/>
          </a:bodyPr>
          <a:lstStyle/>
          <a:p>
            <a:pPr eaLnBrk="1" fontAlgn="auto" hangingPunct="1">
              <a:spcAft>
                <a:spcPts val="0"/>
              </a:spcAft>
              <a:buFont typeface="Wingdings" pitchFamily="2" charset="2"/>
              <a:buNone/>
              <a:defRPr/>
            </a:pPr>
            <a:endParaRPr lang="en-US" altLang="zh-CN" sz="6400" b="1" dirty="0">
              <a:latin typeface="黑体" pitchFamily="49" charset="-122"/>
              <a:ea typeface="黑体" pitchFamily="49" charset="-122"/>
              <a:cs typeface="+mj-cs"/>
            </a:endParaRPr>
          </a:p>
          <a:p>
            <a:pPr algn="ctr" eaLnBrk="1" fontAlgn="auto" hangingPunct="1">
              <a:spcAft>
                <a:spcPts val="0"/>
              </a:spcAft>
              <a:buFont typeface="Arial" pitchFamily="34" charset="0"/>
              <a:buNone/>
              <a:defRPr/>
            </a:pPr>
            <a:r>
              <a:rPr lang="zh-CN" altLang="en-US" sz="3900" b="1" dirty="0" smtClean="0">
                <a:solidFill>
                  <a:srgbClr val="0033CC"/>
                </a:solidFill>
                <a:effectLst>
                  <a:outerShdw blurRad="38100" dist="38100" dir="2700000" algn="tl">
                    <a:srgbClr val="C0C0C0"/>
                  </a:outerShdw>
                </a:effectLst>
              </a:rPr>
              <a:t>主讲教师：徐 平</a:t>
            </a:r>
          </a:p>
          <a:p>
            <a:pPr algn="ctr" eaLnBrk="1" fontAlgn="auto" hangingPunct="1">
              <a:lnSpc>
                <a:spcPct val="160000"/>
              </a:lnSpc>
              <a:spcBef>
                <a:spcPct val="50000"/>
              </a:spcBef>
              <a:spcAft>
                <a:spcPts val="0"/>
              </a:spcAft>
              <a:buFontTx/>
              <a:buNone/>
              <a:defRPr/>
            </a:pPr>
            <a:r>
              <a:rPr lang="en-US" altLang="zh-CN" b="1" dirty="0" smtClean="0">
                <a:solidFill>
                  <a:srgbClr val="660066"/>
                </a:solidFill>
                <a:latin typeface="Times New Roman" pitchFamily="18" charset="0"/>
                <a:ea typeface="楷体_GB2312" pitchFamily="49" charset="-122"/>
                <a:cs typeface="Times New Roman" pitchFamily="18" charset="0"/>
              </a:rPr>
              <a:t>xuping@buaa.edu.cn</a:t>
            </a:r>
          </a:p>
          <a:p>
            <a:pPr algn="ctr" eaLnBrk="1" fontAlgn="auto" hangingPunct="1">
              <a:lnSpc>
                <a:spcPct val="160000"/>
              </a:lnSpc>
              <a:spcAft>
                <a:spcPts val="0"/>
              </a:spcAft>
              <a:buFont typeface="Arial" pitchFamily="34" charset="0"/>
              <a:buNone/>
              <a:defRPr/>
            </a:pPr>
            <a:r>
              <a:rPr lang="zh-CN" altLang="en-US" sz="4000" b="1" dirty="0">
                <a:solidFill>
                  <a:srgbClr val="0033CC"/>
                </a:solidFill>
                <a:effectLst>
                  <a:outerShdw blurRad="38100" dist="38100" dir="2700000" algn="tl">
                    <a:srgbClr val="C0C0C0"/>
                  </a:outerShdw>
                </a:effectLst>
                <a:latin typeface="华文行楷" pitchFamily="2" charset="-122"/>
                <a:ea typeface="华文行楷" pitchFamily="2" charset="-122"/>
              </a:rPr>
              <a:t>物理科学与核能工程</a:t>
            </a:r>
            <a:r>
              <a:rPr lang="zh-CN" altLang="en-US" sz="4000" b="1" dirty="0" smtClean="0">
                <a:solidFill>
                  <a:srgbClr val="0033CC"/>
                </a:solidFill>
                <a:effectLst>
                  <a:outerShdw blurRad="38100" dist="38100" dir="2700000" algn="tl">
                    <a:srgbClr val="C0C0C0"/>
                  </a:outerShdw>
                </a:effectLst>
                <a:latin typeface="华文行楷" pitchFamily="2" charset="-122"/>
                <a:ea typeface="华文行楷" pitchFamily="2" charset="-122"/>
              </a:rPr>
              <a:t>学院</a:t>
            </a:r>
            <a:endParaRPr lang="en-US" altLang="zh-CN" sz="2800" dirty="0">
              <a:solidFill>
                <a:srgbClr val="0099FF"/>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7"/>
          <p:cNvSpPr>
            <a:spLocks noGrp="1" noChangeArrowheads="1"/>
          </p:cNvSpPr>
          <p:nvPr>
            <p:ph type="title"/>
          </p:nvPr>
        </p:nvSpPr>
        <p:spPr bwMode="auto">
          <a:xfrm>
            <a:off x="1643041" y="714356"/>
            <a:ext cx="5929355" cy="719137"/>
          </a:xfrm>
          <a:noFill/>
          <a:ln>
            <a:miter lim="800000"/>
            <a:headEnd/>
            <a:tailEnd/>
          </a:ln>
        </p:spPr>
        <p:txBody>
          <a:bodyPr vert="horz" wrap="square" lIns="91440" tIns="45720" rIns="91440" bIns="45720" numCol="1" anchor="t" anchorCtr="0" compatLnSpc="1">
            <a:prstTxWarp prst="textNoShape">
              <a:avLst/>
            </a:prstTxWarp>
          </a:bodyPr>
          <a:lstStyle/>
          <a:p>
            <a:pPr lvl="0">
              <a:defRPr/>
            </a:pPr>
            <a:r>
              <a:rPr lang="zh-CN" altLang="en-US" b="1" dirty="0" smtClean="0">
                <a:solidFill>
                  <a:schemeClr val="tx2"/>
                </a:solidFill>
                <a:latin typeface="黑体" pitchFamily="49" charset="-122"/>
                <a:ea typeface="黑体" pitchFamily="49" charset="-122"/>
              </a:rPr>
              <a:t>第</a:t>
            </a:r>
            <a:r>
              <a:rPr lang="en-US" altLang="zh-CN" b="1" dirty="0" smtClean="0">
                <a:solidFill>
                  <a:schemeClr val="tx2"/>
                </a:solidFill>
                <a:latin typeface="黑体" pitchFamily="49" charset="-122"/>
                <a:ea typeface="黑体" pitchFamily="49" charset="-122"/>
              </a:rPr>
              <a:t>5</a:t>
            </a:r>
            <a:r>
              <a:rPr lang="zh-CN" altLang="en-US" b="1" dirty="0" smtClean="0">
                <a:solidFill>
                  <a:schemeClr val="tx2"/>
                </a:solidFill>
                <a:latin typeface="黑体" pitchFamily="49" charset="-122"/>
                <a:ea typeface="黑体" pitchFamily="49" charset="-122"/>
              </a:rPr>
              <a:t>章 电容式传感器</a:t>
            </a:r>
            <a:endParaRPr lang="zh-CN" altLang="en-US" dirty="0" smtClean="0">
              <a:solidFill>
                <a:srgbClr val="F84D08"/>
              </a:solidFill>
              <a:latin typeface="黑体" pitchFamily="2" charset="-122"/>
              <a:ea typeface="黑体" pitchFamily="2" charset="-122"/>
            </a:endParaRPr>
          </a:p>
        </p:txBody>
      </p:sp>
      <p:sp>
        <p:nvSpPr>
          <p:cNvPr id="25604" name="Text Box 8"/>
          <p:cNvSpPr txBox="1">
            <a:spLocks noChangeArrowheads="1"/>
          </p:cNvSpPr>
          <p:nvPr/>
        </p:nvSpPr>
        <p:spPr bwMode="auto">
          <a:xfrm>
            <a:off x="285720" y="1714488"/>
            <a:ext cx="8643998" cy="3970338"/>
          </a:xfrm>
          <a:prstGeom prst="rect">
            <a:avLst/>
          </a:prstGeom>
          <a:noFill/>
          <a:ln w="9525" algn="ctr">
            <a:noFill/>
            <a:miter lim="800000"/>
            <a:headEnd/>
            <a:tailEnd/>
          </a:ln>
        </p:spPr>
        <p:txBody>
          <a:bodyPr wrap="square">
            <a:spAutoFit/>
          </a:bodyPr>
          <a:lstStyle/>
          <a:p>
            <a:pPr indent="352425">
              <a:spcBef>
                <a:spcPct val="50000"/>
              </a:spcBef>
            </a:pPr>
            <a:r>
              <a:rPr lang="zh-CN" altLang="en-US" b="1" dirty="0">
                <a:solidFill>
                  <a:schemeClr val="tx1"/>
                </a:solidFill>
                <a:latin typeface="宋体" pitchFamily="2" charset="-122"/>
                <a:ea typeface="宋体" pitchFamily="2" charset="-122"/>
              </a:rPr>
              <a:t>电容器是电子技术的三大类无源元件</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电阻、电感和电容</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之一。</a:t>
            </a:r>
            <a:endParaRPr lang="en-US" altLang="zh-CN" b="1" dirty="0">
              <a:solidFill>
                <a:schemeClr val="tx1"/>
              </a:solidFill>
              <a:latin typeface="宋体" pitchFamily="2" charset="-122"/>
              <a:ea typeface="宋体" pitchFamily="2" charset="-122"/>
            </a:endParaRPr>
          </a:p>
          <a:p>
            <a:pPr indent="352425">
              <a:spcBef>
                <a:spcPct val="50000"/>
              </a:spcBef>
            </a:pPr>
            <a:r>
              <a:rPr lang="zh-CN" altLang="en-US" b="1" dirty="0">
                <a:solidFill>
                  <a:schemeClr val="tx1"/>
                </a:solidFill>
                <a:latin typeface="宋体" pitchFamily="2" charset="-122"/>
                <a:ea typeface="宋体" pitchFamily="2" charset="-122"/>
              </a:rPr>
              <a:t>电容式传感器是将被测量的变化转换成电容量变化实现测量的一种装置。它本身是一个电容，或能与被测量组成一个电容。</a:t>
            </a:r>
            <a:endParaRPr lang="en-US" altLang="zh-CN" b="1" dirty="0">
              <a:solidFill>
                <a:schemeClr val="tx1"/>
              </a:solidFill>
              <a:latin typeface="宋体" pitchFamily="2" charset="-122"/>
              <a:ea typeface="宋体" pitchFamily="2" charset="-122"/>
            </a:endParaRPr>
          </a:p>
          <a:p>
            <a:pPr indent="352425">
              <a:spcBef>
                <a:spcPct val="50000"/>
              </a:spcBef>
            </a:pPr>
            <a:r>
              <a:rPr lang="zh-CN" altLang="en-US" b="1" dirty="0">
                <a:solidFill>
                  <a:schemeClr val="tx1"/>
                </a:solidFill>
                <a:latin typeface="宋体" pitchFamily="2" charset="-122"/>
                <a:ea typeface="宋体" pitchFamily="2" charset="-122"/>
              </a:rPr>
              <a:t>电容式传感器在位移、压力、厚度、物位、湿度、振动、转速、流量及成分分析的测量等方面得到了广泛的应用。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5604">
                                            <p:txEl>
                                              <p:pRg st="0" end="0"/>
                                            </p:txEl>
                                          </p:spTgt>
                                        </p:tgtEl>
                                        <p:attrNameLst>
                                          <p:attrName>style.visibility</p:attrName>
                                        </p:attrNameLst>
                                      </p:cBhvr>
                                      <p:to>
                                        <p:strVal val="visible"/>
                                      </p:to>
                                    </p:set>
                                    <p:animEffect transition="in" filter="blinds(horizontal)">
                                      <p:cBhvr>
                                        <p:cTn id="7" dur="500"/>
                                        <p:tgtEl>
                                          <p:spTgt spid="2560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4">
                                            <p:txEl>
                                              <p:pRg st="1" end="1"/>
                                            </p:txEl>
                                          </p:spTgt>
                                        </p:tgtEl>
                                        <p:attrNameLst>
                                          <p:attrName>style.visibility</p:attrName>
                                        </p:attrNameLst>
                                      </p:cBhvr>
                                      <p:to>
                                        <p:strVal val="visible"/>
                                      </p:to>
                                    </p:set>
                                    <p:animEffect transition="in" filter="blinds(horizontal)">
                                      <p:cBhvr>
                                        <p:cTn id="12" dur="500"/>
                                        <p:tgtEl>
                                          <p:spTgt spid="2560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604">
                                            <p:txEl>
                                              <p:pRg st="2" end="2"/>
                                            </p:txEl>
                                          </p:spTgt>
                                        </p:tgtEl>
                                        <p:attrNameLst>
                                          <p:attrName>style.visibility</p:attrName>
                                        </p:attrNameLst>
                                      </p:cBhvr>
                                      <p:to>
                                        <p:strVal val="visible"/>
                                      </p:to>
                                    </p:set>
                                    <p:animEffect transition="in" filter="blinds(horizontal)">
                                      <p:cBhvr>
                                        <p:cTn id="17" dur="500"/>
                                        <p:tgtEl>
                                          <p:spTgt spid="2560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3"/>
          <p:cNvSpPr txBox="1">
            <a:spLocks noChangeArrowheads="1"/>
          </p:cNvSpPr>
          <p:nvPr/>
        </p:nvSpPr>
        <p:spPr bwMode="auto">
          <a:xfrm>
            <a:off x="214282" y="2143116"/>
            <a:ext cx="8715436" cy="954107"/>
          </a:xfrm>
          <a:prstGeom prst="rect">
            <a:avLst/>
          </a:prstGeom>
          <a:noFill/>
          <a:ln w="9525">
            <a:noFill/>
            <a:miter lim="800000"/>
            <a:headEnd/>
            <a:tailEnd/>
          </a:ln>
        </p:spPr>
        <p:txBody>
          <a:bodyPr wrap="square">
            <a:spAutoFit/>
          </a:bodyPr>
          <a:lstStyle/>
          <a:p>
            <a:pPr indent="630238"/>
            <a:r>
              <a:rPr kumimoji="0" lang="zh-CN" altLang="en-US" b="1" dirty="0">
                <a:solidFill>
                  <a:schemeClr val="tx1"/>
                </a:solidFill>
                <a:latin typeface="宋体" pitchFamily="2" charset="-122"/>
                <a:ea typeface="宋体" pitchFamily="2" charset="-122"/>
              </a:rPr>
              <a:t>两个平行金属极板组成的电容器，如果不考虑其边缘效应，其电容</a:t>
            </a:r>
            <a:r>
              <a:rPr kumimoji="0" lang="zh-CN" altLang="en-US" b="1" dirty="0" smtClean="0">
                <a:solidFill>
                  <a:schemeClr val="tx1"/>
                </a:solidFill>
                <a:latin typeface="宋体" pitchFamily="2" charset="-122"/>
                <a:ea typeface="宋体" pitchFamily="2" charset="-122"/>
              </a:rPr>
              <a:t>为</a:t>
            </a:r>
            <a:endParaRPr kumimoji="0" lang="en-US" altLang="zh-CN" sz="2600" b="1" dirty="0">
              <a:latin typeface="宋体" pitchFamily="2" charset="-122"/>
              <a:ea typeface="宋体" pitchFamily="2" charset="-122"/>
            </a:endParaRPr>
          </a:p>
        </p:txBody>
      </p:sp>
      <p:sp>
        <p:nvSpPr>
          <p:cNvPr id="26628" name="Rectangle 5"/>
          <p:cNvSpPr>
            <a:spLocks noGrp="1" noChangeArrowheads="1"/>
          </p:cNvSpPr>
          <p:nvPr>
            <p:ph type="title"/>
          </p:nvPr>
        </p:nvSpPr>
        <p:spPr bwMode="auto">
          <a:xfrm>
            <a:off x="642910" y="1571612"/>
            <a:ext cx="7812087" cy="587365"/>
          </a:xfrm>
          <a:noFill/>
          <a:ln>
            <a:miter lim="800000"/>
            <a:headEnd/>
            <a:tailEnd/>
          </a:ln>
        </p:spPr>
        <p:txBody>
          <a:bodyPr vert="horz" wrap="square" lIns="91440" tIns="45720" rIns="91440" bIns="45720" numCol="1" anchor="t" anchorCtr="0" compatLnSpc="1">
            <a:prstTxWarp prst="textNoShape">
              <a:avLst/>
            </a:prstTxWarp>
          </a:bodyPr>
          <a:lstStyle/>
          <a:p>
            <a:pPr algn="l"/>
            <a:r>
              <a:rPr lang="zh-CN" altLang="en-US" sz="2800" b="1" dirty="0" smtClean="0">
                <a:solidFill>
                  <a:srgbClr val="F84D08"/>
                </a:solidFill>
                <a:latin typeface="黑体" pitchFamily="2" charset="-122"/>
                <a:ea typeface="黑体" pitchFamily="2" charset="-122"/>
              </a:rPr>
              <a:t>工作原理</a:t>
            </a:r>
          </a:p>
        </p:txBody>
      </p:sp>
      <p:sp>
        <p:nvSpPr>
          <p:cNvPr id="26629" name="Text Box 7"/>
          <p:cNvSpPr txBox="1">
            <a:spLocks noChangeArrowheads="1"/>
          </p:cNvSpPr>
          <p:nvPr/>
        </p:nvSpPr>
        <p:spPr bwMode="auto">
          <a:xfrm>
            <a:off x="1142976" y="3786190"/>
            <a:ext cx="7416800" cy="1885950"/>
          </a:xfrm>
          <a:prstGeom prst="rect">
            <a:avLst/>
          </a:prstGeom>
          <a:noFill/>
          <a:ln w="9525" algn="ctr">
            <a:noFill/>
            <a:miter lim="800000"/>
            <a:headEnd/>
            <a:tailEnd/>
          </a:ln>
        </p:spPr>
        <p:txBody>
          <a:bodyPr>
            <a:spAutoFit/>
          </a:bodyPr>
          <a:lstStyle/>
          <a:p>
            <a:pPr marL="838200" indent="-838200"/>
            <a:r>
              <a:rPr kumimoji="0" lang="en-US" altLang="zh-CN" b="1" i="1" dirty="0" smtClean="0">
                <a:solidFill>
                  <a:schemeClr val="tx1"/>
                </a:solidFill>
                <a:latin typeface="Times New Roman" pitchFamily="18" charset="0"/>
                <a:ea typeface="宋体" pitchFamily="2" charset="-122"/>
              </a:rPr>
              <a:t>ε</a:t>
            </a:r>
            <a:r>
              <a:rPr kumimoji="0" lang="zh-CN" altLang="en-US" b="1" dirty="0" smtClean="0">
                <a:solidFill>
                  <a:schemeClr val="tx1"/>
                </a:solidFill>
                <a:latin typeface="Times New Roman" pitchFamily="18" charset="0"/>
                <a:ea typeface="宋体" pitchFamily="2" charset="-122"/>
              </a:rPr>
              <a:t>：两</a:t>
            </a:r>
            <a:r>
              <a:rPr kumimoji="0" lang="zh-CN" altLang="en-US" b="1" dirty="0">
                <a:solidFill>
                  <a:schemeClr val="tx1"/>
                </a:solidFill>
                <a:latin typeface="Times New Roman" pitchFamily="18" charset="0"/>
                <a:ea typeface="宋体" pitchFamily="2" charset="-122"/>
              </a:rPr>
              <a:t>个极板间介质的介电常数；</a:t>
            </a:r>
          </a:p>
          <a:p>
            <a:pPr marL="838200" indent="-838200"/>
            <a:r>
              <a:rPr kumimoji="0" lang="en-US" altLang="zh-CN" b="1" i="1" dirty="0" smtClean="0">
                <a:solidFill>
                  <a:schemeClr val="tx1"/>
                </a:solidFill>
                <a:latin typeface="Times New Roman" pitchFamily="18" charset="0"/>
                <a:ea typeface="宋体" pitchFamily="2" charset="-122"/>
              </a:rPr>
              <a:t>S</a:t>
            </a:r>
            <a:r>
              <a:rPr kumimoji="0" lang="zh-CN" altLang="en-US" b="1" dirty="0" smtClean="0">
                <a:solidFill>
                  <a:schemeClr val="tx1"/>
                </a:solidFill>
                <a:latin typeface="Times New Roman" pitchFamily="18" charset="0"/>
                <a:ea typeface="宋体" pitchFamily="2" charset="-122"/>
              </a:rPr>
              <a:t>：两</a:t>
            </a:r>
            <a:r>
              <a:rPr kumimoji="0" lang="zh-CN" altLang="en-US" b="1" dirty="0">
                <a:solidFill>
                  <a:schemeClr val="tx1"/>
                </a:solidFill>
                <a:latin typeface="Times New Roman" pitchFamily="18" charset="0"/>
                <a:ea typeface="宋体" pitchFamily="2" charset="-122"/>
              </a:rPr>
              <a:t>个极板相对有效面积；</a:t>
            </a:r>
          </a:p>
          <a:p>
            <a:pPr marL="838200" indent="-838200"/>
            <a:r>
              <a:rPr kumimoji="0" lang="en-US" altLang="zh-CN" b="1" i="1" dirty="0" smtClean="0">
                <a:solidFill>
                  <a:schemeClr val="tx1"/>
                </a:solidFill>
                <a:latin typeface="Times New Roman" pitchFamily="18" charset="0"/>
                <a:ea typeface="宋体" pitchFamily="2" charset="-122"/>
              </a:rPr>
              <a:t>d</a:t>
            </a:r>
            <a:r>
              <a:rPr kumimoji="0" lang="en-US" altLang="zh-CN" b="1" dirty="0" smtClean="0">
                <a:solidFill>
                  <a:schemeClr val="tx1"/>
                </a:solidFill>
                <a:latin typeface="Times New Roman" pitchFamily="18" charset="0"/>
                <a:ea typeface="宋体" pitchFamily="2" charset="-122"/>
              </a:rPr>
              <a:t>:  </a:t>
            </a:r>
            <a:r>
              <a:rPr kumimoji="0" lang="zh-CN" altLang="en-US" b="1" dirty="0" smtClean="0">
                <a:solidFill>
                  <a:schemeClr val="tx1"/>
                </a:solidFill>
                <a:latin typeface="Times New Roman" pitchFamily="18" charset="0"/>
                <a:ea typeface="宋体" pitchFamily="2" charset="-122"/>
              </a:rPr>
              <a:t>两</a:t>
            </a:r>
            <a:r>
              <a:rPr kumimoji="0" lang="zh-CN" altLang="en-US" b="1" dirty="0">
                <a:solidFill>
                  <a:schemeClr val="tx1"/>
                </a:solidFill>
                <a:latin typeface="Times New Roman" pitchFamily="18" charset="0"/>
                <a:ea typeface="宋体" pitchFamily="2" charset="-122"/>
              </a:rPr>
              <a:t>个极板间的</a:t>
            </a:r>
            <a:r>
              <a:rPr kumimoji="0" lang="zh-CN" altLang="en-US" b="1" dirty="0" smtClean="0">
                <a:solidFill>
                  <a:schemeClr val="tx1"/>
                </a:solidFill>
                <a:latin typeface="Times New Roman" pitchFamily="18" charset="0"/>
                <a:ea typeface="宋体" pitchFamily="2" charset="-122"/>
              </a:rPr>
              <a:t>距离</a:t>
            </a:r>
            <a:r>
              <a:rPr kumimoji="0" lang="en-US" altLang="zh-CN" b="1" dirty="0" smtClean="0">
                <a:solidFill>
                  <a:schemeClr val="tx1"/>
                </a:solidFill>
                <a:latin typeface="Times New Roman" pitchFamily="18" charset="0"/>
                <a:ea typeface="宋体" pitchFamily="2" charset="-122"/>
              </a:rPr>
              <a:t>;</a:t>
            </a:r>
            <a:endParaRPr kumimoji="0" lang="zh-CN" altLang="en-US" b="1" dirty="0">
              <a:solidFill>
                <a:schemeClr val="tx1"/>
              </a:solidFill>
              <a:latin typeface="Times New Roman" pitchFamily="18" charset="0"/>
              <a:ea typeface="宋体" pitchFamily="2" charset="-122"/>
            </a:endParaRPr>
          </a:p>
          <a:p>
            <a:pPr marL="838200" indent="-838200">
              <a:spcBef>
                <a:spcPct val="20000"/>
              </a:spcBef>
              <a:buClr>
                <a:schemeClr val="folHlink"/>
              </a:buClr>
              <a:buFont typeface="Wingdings" pitchFamily="2" charset="2"/>
              <a:buNone/>
            </a:pPr>
            <a:r>
              <a:rPr lang="zh-CN" altLang="en-US" i="1" dirty="0">
                <a:solidFill>
                  <a:schemeClr val="tx1"/>
                </a:solidFill>
                <a:latin typeface="Times New Roman" pitchFamily="18" charset="0"/>
                <a:ea typeface="宋体" pitchFamily="2" charset="-122"/>
                <a:sym typeface="Symbol" pitchFamily="18" charset="2"/>
              </a:rPr>
              <a:t>            </a:t>
            </a:r>
            <a:r>
              <a:rPr lang="en-US" altLang="zh-CN" i="1" dirty="0">
                <a:solidFill>
                  <a:schemeClr val="tx1"/>
                </a:solidFill>
                <a:latin typeface="Times New Roman" pitchFamily="18" charset="0"/>
                <a:ea typeface="宋体" pitchFamily="2" charset="-122"/>
                <a:sym typeface="Symbol" pitchFamily="18" charset="2"/>
              </a:rPr>
              <a:t>= </a:t>
            </a:r>
            <a:r>
              <a:rPr lang="en-US" altLang="zh-CN" i="1" baseline="-25000" dirty="0">
                <a:solidFill>
                  <a:schemeClr val="tx1"/>
                </a:solidFill>
                <a:latin typeface="Times New Roman" pitchFamily="18" charset="0"/>
                <a:ea typeface="宋体" pitchFamily="2" charset="-122"/>
                <a:sym typeface="Symbol" pitchFamily="18" charset="2"/>
              </a:rPr>
              <a:t>r</a:t>
            </a:r>
            <a:r>
              <a:rPr lang="en-US" altLang="zh-CN" i="1" dirty="0">
                <a:solidFill>
                  <a:schemeClr val="tx1"/>
                </a:solidFill>
                <a:latin typeface="Times New Roman" pitchFamily="18" charset="0"/>
                <a:ea typeface="宋体" pitchFamily="2" charset="-122"/>
                <a:sym typeface="Symbol" pitchFamily="18" charset="2"/>
              </a:rPr>
              <a:t> </a:t>
            </a:r>
            <a:r>
              <a:rPr lang="en-US" altLang="zh-CN" i="1" baseline="-25000" dirty="0">
                <a:solidFill>
                  <a:schemeClr val="tx1"/>
                </a:solidFill>
                <a:latin typeface="Times New Roman" pitchFamily="18" charset="0"/>
                <a:ea typeface="宋体" pitchFamily="2" charset="-122"/>
                <a:sym typeface="Symbol" pitchFamily="18" charset="2"/>
              </a:rPr>
              <a:t>0</a:t>
            </a:r>
            <a:r>
              <a:rPr lang="zh-CN" altLang="en-US" dirty="0">
                <a:solidFill>
                  <a:schemeClr val="tx1"/>
                </a:solidFill>
                <a:latin typeface="Times New Roman" pitchFamily="18" charset="0"/>
                <a:ea typeface="宋体" pitchFamily="2" charset="-122"/>
                <a:sym typeface="Symbol" pitchFamily="18" charset="2"/>
              </a:rPr>
              <a:t>， </a:t>
            </a:r>
            <a:r>
              <a:rPr lang="zh-CN" altLang="en-US" i="1" dirty="0">
                <a:solidFill>
                  <a:schemeClr val="tx1"/>
                </a:solidFill>
                <a:latin typeface="Times New Roman" pitchFamily="18" charset="0"/>
                <a:ea typeface="宋体" pitchFamily="2" charset="-122"/>
                <a:sym typeface="Symbol" pitchFamily="18" charset="2"/>
              </a:rPr>
              <a:t></a:t>
            </a:r>
            <a:r>
              <a:rPr lang="en-US" altLang="zh-CN" i="1" baseline="-25000" dirty="0">
                <a:solidFill>
                  <a:schemeClr val="tx1"/>
                </a:solidFill>
                <a:latin typeface="Times New Roman" pitchFamily="18" charset="0"/>
                <a:ea typeface="宋体" pitchFamily="2" charset="-122"/>
                <a:sym typeface="Symbol" pitchFamily="18" charset="2"/>
              </a:rPr>
              <a:t>0</a:t>
            </a:r>
            <a:r>
              <a:rPr lang="en-US" altLang="zh-CN" i="1" dirty="0">
                <a:solidFill>
                  <a:schemeClr val="tx1"/>
                </a:solidFill>
                <a:latin typeface="Times New Roman" pitchFamily="18" charset="0"/>
                <a:ea typeface="宋体" pitchFamily="2" charset="-122"/>
                <a:sym typeface="Symbol" pitchFamily="18" charset="2"/>
              </a:rPr>
              <a:t> =  8.842×10</a:t>
            </a:r>
            <a:r>
              <a:rPr lang="en-US" altLang="zh-CN" i="1" baseline="30000" dirty="0">
                <a:solidFill>
                  <a:schemeClr val="tx1"/>
                </a:solidFill>
                <a:latin typeface="Times New Roman" pitchFamily="18" charset="0"/>
                <a:ea typeface="宋体" pitchFamily="2" charset="-122"/>
                <a:sym typeface="Symbol" pitchFamily="18" charset="2"/>
              </a:rPr>
              <a:t>-12</a:t>
            </a:r>
            <a:r>
              <a:rPr lang="en-US" altLang="zh-CN" i="1" dirty="0">
                <a:solidFill>
                  <a:schemeClr val="tx1"/>
                </a:solidFill>
                <a:latin typeface="Times New Roman" pitchFamily="18" charset="0"/>
                <a:ea typeface="宋体" pitchFamily="2" charset="-122"/>
                <a:sym typeface="Symbol" pitchFamily="18" charset="2"/>
              </a:rPr>
              <a:t> F/m</a:t>
            </a:r>
            <a:r>
              <a:rPr lang="en-US" altLang="zh-CN" dirty="0">
                <a:solidFill>
                  <a:schemeClr val="tx1"/>
                </a:solidFill>
                <a:latin typeface="Times New Roman" pitchFamily="18" charset="0"/>
                <a:ea typeface="宋体" pitchFamily="2" charset="-122"/>
                <a:sym typeface="Symbol" pitchFamily="18" charset="2"/>
              </a:rPr>
              <a:t>        </a:t>
            </a:r>
            <a:endParaRPr lang="en-US" altLang="zh-CN" dirty="0">
              <a:solidFill>
                <a:schemeClr val="tx1"/>
              </a:solidFill>
            </a:endParaRPr>
          </a:p>
        </p:txBody>
      </p:sp>
      <p:sp>
        <p:nvSpPr>
          <p:cNvPr id="462856" name="Text Box 8"/>
          <p:cNvSpPr txBox="1">
            <a:spLocks noChangeArrowheads="1"/>
          </p:cNvSpPr>
          <p:nvPr/>
        </p:nvSpPr>
        <p:spPr bwMode="auto">
          <a:xfrm>
            <a:off x="574675" y="5715016"/>
            <a:ext cx="8569325" cy="946150"/>
          </a:xfrm>
          <a:prstGeom prst="rect">
            <a:avLst/>
          </a:prstGeom>
          <a:solidFill>
            <a:srgbClr val="92D050"/>
          </a:solidFill>
          <a:ln w="9525" algn="ctr">
            <a:noFill/>
            <a:miter lim="800000"/>
            <a:headEnd/>
            <a:tailEnd/>
          </a:ln>
        </p:spPr>
        <p:txBody>
          <a:bodyPr>
            <a:spAutoFit/>
          </a:bodyPr>
          <a:lstStyle/>
          <a:p>
            <a:pPr indent="546100"/>
            <a:r>
              <a:rPr lang="zh-CN" altLang="en-US" b="1" dirty="0">
                <a:solidFill>
                  <a:srgbClr val="002060"/>
                </a:solidFill>
                <a:latin typeface="楷体_GB2312" pitchFamily="49" charset="-122"/>
                <a:ea typeface="楷体_GB2312" pitchFamily="49" charset="-122"/>
                <a:sym typeface="Symbol" pitchFamily="18" charset="2"/>
              </a:rPr>
              <a:t>当被测量的变化</a:t>
            </a:r>
            <a:r>
              <a:rPr lang="zh-CN" altLang="en-US" b="1" dirty="0" smtClean="0">
                <a:solidFill>
                  <a:srgbClr val="002060"/>
                </a:solidFill>
                <a:latin typeface="楷体_GB2312" pitchFamily="49" charset="-122"/>
                <a:ea typeface="楷体_GB2312" pitchFamily="49" charset="-122"/>
                <a:sym typeface="Symbol" pitchFamily="18" charset="2"/>
              </a:rPr>
              <a:t>引起 </a:t>
            </a:r>
            <a:r>
              <a:rPr lang="zh-CN" altLang="en-US" b="1" i="1" dirty="0" smtClean="0">
                <a:solidFill>
                  <a:srgbClr val="002060"/>
                </a:solidFill>
                <a:latin typeface="Times New Roman" pitchFamily="18" charset="0"/>
                <a:ea typeface="楷体_GB2312" pitchFamily="49" charset="-122"/>
                <a:cs typeface="Times New Roman" pitchFamily="18" charset="0"/>
                <a:sym typeface="Symbol" pitchFamily="18" charset="2"/>
              </a:rPr>
              <a:t> </a:t>
            </a:r>
            <a:r>
              <a:rPr lang="zh-CN" altLang="en-US" b="1" dirty="0" smtClean="0">
                <a:solidFill>
                  <a:srgbClr val="002060"/>
                </a:solidFill>
                <a:latin typeface="楷体_GB2312" pitchFamily="49" charset="-122"/>
                <a:ea typeface="楷体_GB2312" pitchFamily="49" charset="-122"/>
                <a:sym typeface="Symbol" pitchFamily="18" charset="2"/>
              </a:rPr>
              <a:t>、</a:t>
            </a:r>
            <a:r>
              <a:rPr lang="en-US" altLang="zh-CN" b="1" i="1" dirty="0">
                <a:solidFill>
                  <a:srgbClr val="002060"/>
                </a:solidFill>
                <a:latin typeface="楷体_GB2312" pitchFamily="49" charset="-122"/>
                <a:ea typeface="楷体_GB2312" pitchFamily="49" charset="-122"/>
                <a:sym typeface="Symbol" pitchFamily="18" charset="2"/>
              </a:rPr>
              <a:t>S</a:t>
            </a:r>
            <a:r>
              <a:rPr lang="zh-CN" altLang="en-US" b="1" dirty="0">
                <a:solidFill>
                  <a:srgbClr val="002060"/>
                </a:solidFill>
                <a:latin typeface="楷体_GB2312" pitchFamily="49" charset="-122"/>
                <a:ea typeface="楷体_GB2312" pitchFamily="49" charset="-122"/>
                <a:sym typeface="Symbol" pitchFamily="18" charset="2"/>
              </a:rPr>
              <a:t>、 </a:t>
            </a:r>
            <a:r>
              <a:rPr lang="en-US" altLang="zh-CN" b="1" i="1" dirty="0">
                <a:solidFill>
                  <a:srgbClr val="002060"/>
                </a:solidFill>
                <a:latin typeface="楷体_GB2312" pitchFamily="49" charset="-122"/>
                <a:ea typeface="楷体_GB2312" pitchFamily="49" charset="-122"/>
                <a:sym typeface="Symbol" pitchFamily="18" charset="2"/>
              </a:rPr>
              <a:t>d</a:t>
            </a:r>
            <a:r>
              <a:rPr lang="en-US" altLang="zh-CN" b="1" dirty="0">
                <a:solidFill>
                  <a:srgbClr val="002060"/>
                </a:solidFill>
                <a:latin typeface="楷体_GB2312" pitchFamily="49" charset="-122"/>
                <a:ea typeface="楷体_GB2312" pitchFamily="49" charset="-122"/>
                <a:sym typeface="Symbol" pitchFamily="18" charset="2"/>
              </a:rPr>
              <a:t> </a:t>
            </a:r>
            <a:r>
              <a:rPr lang="zh-CN" altLang="en-US" b="1" dirty="0">
                <a:solidFill>
                  <a:srgbClr val="002060"/>
                </a:solidFill>
                <a:latin typeface="楷体_GB2312" pitchFamily="49" charset="-122"/>
                <a:ea typeface="楷体_GB2312" pitchFamily="49" charset="-122"/>
                <a:sym typeface="Symbol" pitchFamily="18" charset="2"/>
              </a:rPr>
              <a:t>中任意一个参数变化时，都可以引起电容量的变化。</a:t>
            </a:r>
            <a:endParaRPr lang="zh-CN" altLang="en-US" b="1" dirty="0">
              <a:solidFill>
                <a:srgbClr val="002060"/>
              </a:solidFill>
            </a:endParaRPr>
          </a:p>
        </p:txBody>
      </p:sp>
      <p:sp>
        <p:nvSpPr>
          <p:cNvPr id="8"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10" name="对象 9"/>
          <p:cNvGraphicFramePr>
            <a:graphicFrameLocks noChangeAspect="1"/>
          </p:cNvGraphicFramePr>
          <p:nvPr/>
        </p:nvGraphicFramePr>
        <p:xfrm>
          <a:off x="3643306" y="3000372"/>
          <a:ext cx="1428760" cy="781054"/>
        </p:xfrm>
        <a:graphic>
          <a:graphicData uri="http://schemas.openxmlformats.org/presentationml/2006/ole">
            <p:oleObj spid="_x0000_s49153" name="Equation" r:id="rId3" imgW="583920" imgH="4190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62856"/>
                                        </p:tgtEl>
                                        <p:attrNameLst>
                                          <p:attrName>style.visibility</p:attrName>
                                        </p:attrNameLst>
                                      </p:cBhvr>
                                      <p:to>
                                        <p:strVal val="visible"/>
                                      </p:to>
                                    </p:set>
                                    <p:animEffect transition="in" filter="box(in)">
                                      <p:cBhvr>
                                        <p:cTn id="7" dur="500"/>
                                        <p:tgtEl>
                                          <p:spTgt spid="4628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9"/>
          <p:cNvSpPr>
            <a:spLocks noGrp="1" noChangeArrowheads="1"/>
          </p:cNvSpPr>
          <p:nvPr>
            <p:ph type="title"/>
          </p:nvPr>
        </p:nvSpPr>
        <p:spPr bwMode="auto">
          <a:xfrm>
            <a:off x="1000100" y="1500174"/>
            <a:ext cx="7812087" cy="587365"/>
          </a:xfrm>
          <a:noFill/>
          <a:ln>
            <a:miter lim="800000"/>
            <a:headEnd/>
            <a:tailEnd/>
          </a:ln>
        </p:spPr>
        <p:txBody>
          <a:bodyPr vert="horz" wrap="square" lIns="91440" tIns="45720" rIns="91440" bIns="45720" numCol="1" anchor="t" anchorCtr="0" compatLnSpc="1">
            <a:prstTxWarp prst="textNoShape">
              <a:avLst/>
            </a:prstTxWarp>
          </a:bodyPr>
          <a:lstStyle/>
          <a:p>
            <a:pPr algn="l"/>
            <a:r>
              <a:rPr lang="zh-CN" altLang="en-US" sz="2800" b="1" dirty="0" smtClean="0">
                <a:solidFill>
                  <a:srgbClr val="F84D08"/>
                </a:solidFill>
                <a:latin typeface="黑体" pitchFamily="2" charset="-122"/>
                <a:ea typeface="黑体" pitchFamily="2" charset="-122"/>
              </a:rPr>
              <a:t>类型</a:t>
            </a:r>
          </a:p>
        </p:txBody>
      </p:sp>
      <p:sp>
        <p:nvSpPr>
          <p:cNvPr id="5"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7" name="图示 6"/>
          <p:cNvGraphicFramePr/>
          <p:nvPr/>
        </p:nvGraphicFramePr>
        <p:xfrm>
          <a:off x="1142976" y="2214554"/>
          <a:ext cx="6096000" cy="2889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矩形 8"/>
          <p:cNvSpPr/>
          <p:nvPr/>
        </p:nvSpPr>
        <p:spPr>
          <a:xfrm>
            <a:off x="285720" y="5429264"/>
            <a:ext cx="8643998" cy="523220"/>
          </a:xfrm>
          <a:prstGeom prst="rect">
            <a:avLst/>
          </a:prstGeom>
        </p:spPr>
        <p:txBody>
          <a:bodyPr wrap="square">
            <a:spAutoFit/>
          </a:bodyPr>
          <a:lstStyle/>
          <a:p>
            <a:pPr indent="536575"/>
            <a:r>
              <a:rPr lang="zh-CN" altLang="en-US" b="1" dirty="0" smtClean="0">
                <a:solidFill>
                  <a:schemeClr val="tx1"/>
                </a:solidFill>
                <a:latin typeface="+mn-ea"/>
                <a:ea typeface="+mn-ea"/>
              </a:rPr>
              <a:t>电极形状有平板形、圆拄形和球平面形等三种。</a:t>
            </a:r>
            <a:endParaRPr lang="zh-CN" altLang="en-US" dirty="0">
              <a:solidFill>
                <a:schemeClr val="tx1"/>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Rectangle 7"/>
          <p:cNvSpPr>
            <a:spLocks noGrp="1" noChangeArrowheads="1"/>
          </p:cNvSpPr>
          <p:nvPr>
            <p:ph type="title"/>
          </p:nvPr>
        </p:nvSpPr>
        <p:spPr bwMode="auto">
          <a:xfrm>
            <a:off x="642910" y="1571612"/>
            <a:ext cx="7797800" cy="514340"/>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buFont typeface="Wingdings" pitchFamily="2" charset="2"/>
              <a:buChar char="u"/>
            </a:pPr>
            <a:r>
              <a:rPr lang="zh-CN" altLang="en-US" sz="2800" b="1" dirty="0" smtClean="0">
                <a:latin typeface="宋体" pitchFamily="2" charset="-122"/>
              </a:rPr>
              <a:t> 变极距型</a:t>
            </a:r>
          </a:p>
        </p:txBody>
      </p:sp>
      <p:sp>
        <p:nvSpPr>
          <p:cNvPr id="1032" name="Rectangle 9"/>
          <p:cNvSpPr>
            <a:spLocks noChangeArrowheads="1"/>
          </p:cNvSpPr>
          <p:nvPr/>
        </p:nvSpPr>
        <p:spPr bwMode="auto">
          <a:xfrm>
            <a:off x="285720" y="4071942"/>
            <a:ext cx="7920037" cy="523220"/>
          </a:xfrm>
          <a:prstGeom prst="rect">
            <a:avLst/>
          </a:prstGeom>
          <a:noFill/>
          <a:ln w="9525" algn="ctr">
            <a:noFill/>
            <a:miter lim="800000"/>
            <a:headEnd/>
            <a:tailEnd/>
          </a:ln>
        </p:spPr>
        <p:txBody>
          <a:bodyPr>
            <a:spAutoFit/>
          </a:bodyPr>
          <a:lstStyle/>
          <a:p>
            <a:r>
              <a:rPr kumimoji="0" lang="zh-CN" altLang="en-US" b="1" dirty="0">
                <a:solidFill>
                  <a:schemeClr val="tx1"/>
                </a:solidFill>
                <a:latin typeface="宋体" pitchFamily="2" charset="-122"/>
                <a:ea typeface="宋体" pitchFamily="2" charset="-122"/>
              </a:rPr>
              <a:t>对单极式</a:t>
            </a:r>
            <a:r>
              <a:rPr kumimoji="0" lang="zh-CN" altLang="en-US" b="1" dirty="0" smtClean="0">
                <a:solidFill>
                  <a:schemeClr val="tx1"/>
                </a:solidFill>
                <a:latin typeface="宋体" pitchFamily="2" charset="-122"/>
                <a:ea typeface="宋体" pitchFamily="2" charset="-122"/>
              </a:rPr>
              <a:t>电容，初始</a:t>
            </a:r>
            <a:r>
              <a:rPr kumimoji="0" lang="zh-CN" altLang="en-US" b="1" dirty="0">
                <a:solidFill>
                  <a:schemeClr val="tx1"/>
                </a:solidFill>
                <a:latin typeface="宋体" pitchFamily="2" charset="-122"/>
                <a:ea typeface="宋体" pitchFamily="2" charset="-122"/>
              </a:rPr>
              <a:t>电容值为</a:t>
            </a:r>
            <a:r>
              <a:rPr kumimoji="0" lang="zh-CN" altLang="en-US" b="1" dirty="0" smtClean="0">
                <a:latin typeface="宋体" pitchFamily="2" charset="-122"/>
                <a:ea typeface="宋体" pitchFamily="2" charset="-122"/>
              </a:rPr>
              <a:t>： </a:t>
            </a:r>
            <a:endParaRPr kumimoji="0" lang="en-US" altLang="zh-CN" sz="2400" dirty="0">
              <a:latin typeface="Arial" charset="0"/>
              <a:ea typeface="宋体" pitchFamily="2" charset="-122"/>
            </a:endParaRPr>
          </a:p>
        </p:txBody>
      </p:sp>
      <p:sp>
        <p:nvSpPr>
          <p:cNvPr id="9"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10" name="直接连接符 9"/>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2" name="Rectangle 9"/>
          <p:cNvSpPr>
            <a:spLocks noChangeArrowheads="1"/>
          </p:cNvSpPr>
          <p:nvPr/>
        </p:nvSpPr>
        <p:spPr bwMode="auto">
          <a:xfrm>
            <a:off x="285720" y="4929198"/>
            <a:ext cx="8062913" cy="1077218"/>
          </a:xfrm>
          <a:prstGeom prst="rect">
            <a:avLst/>
          </a:prstGeom>
          <a:noFill/>
          <a:ln w="9525" algn="ctr">
            <a:noFill/>
            <a:miter lim="800000"/>
            <a:headEnd/>
            <a:tailEnd/>
          </a:ln>
        </p:spPr>
        <p:txBody>
          <a:bodyPr wrap="square">
            <a:spAutoFit/>
          </a:bodyPr>
          <a:lstStyle/>
          <a:p>
            <a:r>
              <a:rPr kumimoji="0" lang="zh-CN" altLang="en-US" b="1" dirty="0" smtClean="0">
                <a:solidFill>
                  <a:schemeClr val="tx1"/>
                </a:solidFill>
                <a:latin typeface="宋体" pitchFamily="2" charset="-122"/>
                <a:ea typeface="宋体" pitchFamily="2" charset="-122"/>
              </a:rPr>
              <a:t>极板距离减少</a:t>
            </a:r>
            <a:r>
              <a:rPr kumimoji="0" lang="en-US" altLang="zh-CN" b="1" i="1" dirty="0" err="1" smtClean="0">
                <a:solidFill>
                  <a:schemeClr val="tx1"/>
                </a:solidFill>
                <a:latin typeface="宋体" pitchFamily="2" charset="-122"/>
                <a:ea typeface="宋体" pitchFamily="2" charset="-122"/>
              </a:rPr>
              <a:t>Δd</a:t>
            </a:r>
            <a:r>
              <a:rPr kumimoji="0" lang="zh-CN" altLang="en-US" b="1" i="1" dirty="0" smtClean="0">
                <a:solidFill>
                  <a:schemeClr val="tx1"/>
                </a:solidFill>
                <a:latin typeface="宋体" pitchFamily="2" charset="-122"/>
                <a:ea typeface="宋体" pitchFamily="2" charset="-122"/>
              </a:rPr>
              <a:t> </a:t>
            </a:r>
            <a:r>
              <a:rPr kumimoji="0" lang="zh-CN" altLang="en-US" b="1" dirty="0" smtClean="0">
                <a:solidFill>
                  <a:schemeClr val="tx1"/>
                </a:solidFill>
                <a:latin typeface="宋体" pitchFamily="2" charset="-122"/>
                <a:ea typeface="宋体" pitchFamily="2" charset="-122"/>
              </a:rPr>
              <a:t>时，传感器</a:t>
            </a:r>
            <a:r>
              <a:rPr kumimoji="0" lang="zh-CN" altLang="en-US" b="1" dirty="0">
                <a:solidFill>
                  <a:schemeClr val="tx1"/>
                </a:solidFill>
                <a:latin typeface="宋体" pitchFamily="2" charset="-122"/>
                <a:ea typeface="宋体" pitchFamily="2" charset="-122"/>
              </a:rPr>
              <a:t>电容为：</a:t>
            </a:r>
            <a:r>
              <a:rPr kumimoji="0" lang="zh-CN" altLang="en-US" dirty="0">
                <a:solidFill>
                  <a:schemeClr val="tx1"/>
                </a:solidFill>
              </a:rPr>
              <a:t>     </a:t>
            </a:r>
          </a:p>
          <a:p>
            <a:pPr>
              <a:spcBef>
                <a:spcPct val="50000"/>
              </a:spcBef>
              <a:buClr>
                <a:schemeClr val="folHlink"/>
              </a:buClr>
              <a:buFont typeface="Wingdings" pitchFamily="2" charset="2"/>
              <a:buNone/>
            </a:pPr>
            <a:endParaRPr kumimoji="0" lang="en-US" altLang="zh-CN" sz="2400" dirty="0">
              <a:latin typeface="Arial" charset="0"/>
              <a:ea typeface="宋体" pitchFamily="2" charset="-122"/>
            </a:endParaRPr>
          </a:p>
        </p:txBody>
      </p:sp>
      <p:graphicFrame>
        <p:nvGraphicFramePr>
          <p:cNvPr id="2" name="Object 6"/>
          <p:cNvGraphicFramePr>
            <a:graphicFrameLocks noChangeAspect="1"/>
          </p:cNvGraphicFramePr>
          <p:nvPr/>
        </p:nvGraphicFramePr>
        <p:xfrm>
          <a:off x="5429256" y="4071942"/>
          <a:ext cx="1554163" cy="852488"/>
        </p:xfrm>
        <a:graphic>
          <a:graphicData uri="http://schemas.openxmlformats.org/presentationml/2006/ole">
            <p:oleObj spid="_x0000_s1030" name="Equation" r:id="rId3" imgW="634680" imgH="457200" progId="Equation.3">
              <p:embed/>
            </p:oleObj>
          </a:graphicData>
        </a:graphic>
      </p:graphicFrame>
      <p:graphicFrame>
        <p:nvGraphicFramePr>
          <p:cNvPr id="3" name="Object 7"/>
          <p:cNvGraphicFramePr>
            <a:graphicFrameLocks noChangeAspect="1"/>
          </p:cNvGraphicFramePr>
          <p:nvPr/>
        </p:nvGraphicFramePr>
        <p:xfrm>
          <a:off x="428596" y="5643578"/>
          <a:ext cx="3606800" cy="852488"/>
        </p:xfrm>
        <a:graphic>
          <a:graphicData uri="http://schemas.openxmlformats.org/presentationml/2006/ole">
            <p:oleObj spid="_x0000_s1031" name="Equation" r:id="rId4" imgW="1473120" imgH="457200" progId="Equation.3">
              <p:embed/>
            </p:oleObj>
          </a:graphicData>
        </a:graphic>
      </p:graphicFrame>
      <p:graphicFrame>
        <p:nvGraphicFramePr>
          <p:cNvPr id="4" name="Object 8"/>
          <p:cNvGraphicFramePr>
            <a:graphicFrameLocks noChangeAspect="1"/>
          </p:cNvGraphicFramePr>
          <p:nvPr/>
        </p:nvGraphicFramePr>
        <p:xfrm>
          <a:off x="5160963" y="5667375"/>
          <a:ext cx="3141662" cy="804863"/>
        </p:xfrm>
        <a:graphic>
          <a:graphicData uri="http://schemas.openxmlformats.org/presentationml/2006/ole">
            <p:oleObj spid="_x0000_s1032" name="Equation" r:id="rId5" imgW="1282680" imgH="431640" progId="Equation.3">
              <p:embed/>
            </p:oleObj>
          </a:graphicData>
        </a:graphic>
      </p:graphicFrame>
      <p:sp>
        <p:nvSpPr>
          <p:cNvPr id="16" name="右箭头 15"/>
          <p:cNvSpPr/>
          <p:nvPr/>
        </p:nvSpPr>
        <p:spPr>
          <a:xfrm>
            <a:off x="4357686" y="5857892"/>
            <a:ext cx="571504" cy="4286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a:off x="3357554" y="1857364"/>
            <a:ext cx="3476625" cy="1905000"/>
            <a:chOff x="3357554" y="1857364"/>
            <a:chExt cx="3476625" cy="1905000"/>
          </a:xfrm>
        </p:grpSpPr>
        <p:pic>
          <p:nvPicPr>
            <p:cNvPr id="1033" name="Picture 9"/>
            <p:cNvPicPr>
              <a:picLocks noChangeAspect="1" noChangeArrowheads="1"/>
            </p:cNvPicPr>
            <p:nvPr/>
          </p:nvPicPr>
          <p:blipFill>
            <a:blip r:embed="rId6"/>
            <a:srcRect/>
            <a:stretch>
              <a:fillRect/>
            </a:stretch>
          </p:blipFill>
          <p:spPr bwMode="auto">
            <a:xfrm>
              <a:off x="3357554" y="1857364"/>
              <a:ext cx="3476625" cy="1905000"/>
            </a:xfrm>
            <a:prstGeom prst="rect">
              <a:avLst/>
            </a:prstGeom>
            <a:noFill/>
            <a:ln w="9525">
              <a:noFill/>
              <a:miter lim="800000"/>
              <a:headEnd/>
              <a:tailEnd/>
            </a:ln>
            <a:effectLst/>
          </p:spPr>
        </p:pic>
        <p:sp>
          <p:nvSpPr>
            <p:cNvPr id="13" name="TextBox 12"/>
            <p:cNvSpPr txBox="1"/>
            <p:nvPr/>
          </p:nvSpPr>
          <p:spPr>
            <a:xfrm>
              <a:off x="4786314" y="2428868"/>
              <a:ext cx="428628" cy="400110"/>
            </a:xfrm>
            <a:prstGeom prst="rect">
              <a:avLst/>
            </a:prstGeom>
            <a:solidFill>
              <a:schemeClr val="bg1"/>
            </a:solidFill>
          </p:spPr>
          <p:txBody>
            <a:bodyPr wrap="square" rtlCol="0">
              <a:spAutoFit/>
            </a:bodyPr>
            <a:lstStyle/>
            <a:p>
              <a:r>
                <a:rPr lang="en-US" altLang="zh-CN" sz="2000" b="1" i="1" dirty="0" smtClean="0">
                  <a:latin typeface="Times New Roman" pitchFamily="18" charset="0"/>
                  <a:cs typeface="Times New Roman" pitchFamily="18" charset="0"/>
                </a:rPr>
                <a:t>d</a:t>
              </a:r>
              <a:endParaRPr lang="zh-CN" altLang="en-US" sz="2000" b="1" i="1" dirty="0">
                <a:latin typeface="Times New Roman" pitchFamily="18" charset="0"/>
                <a:cs typeface="Times New Roman" pitchFamily="18" charset="0"/>
              </a:endParaRPr>
            </a:p>
          </p:txBody>
        </p:sp>
        <p:sp>
          <p:nvSpPr>
            <p:cNvPr id="14" name="TextBox 13"/>
            <p:cNvSpPr txBox="1"/>
            <p:nvPr/>
          </p:nvSpPr>
          <p:spPr>
            <a:xfrm>
              <a:off x="6429388" y="2643182"/>
              <a:ext cx="357190" cy="400110"/>
            </a:xfrm>
            <a:prstGeom prst="rect">
              <a:avLst/>
            </a:prstGeom>
            <a:solidFill>
              <a:schemeClr val="bg1"/>
            </a:solidFill>
          </p:spPr>
          <p:txBody>
            <a:bodyPr wrap="square" rtlCol="0">
              <a:spAutoFit/>
            </a:bodyPr>
            <a:lstStyle/>
            <a:p>
              <a:r>
                <a:rPr lang="en-US" altLang="zh-CN" sz="2000" b="1" i="1" dirty="0" smtClean="0">
                  <a:latin typeface="Times New Roman" pitchFamily="18" charset="0"/>
                  <a:cs typeface="Times New Roman" pitchFamily="18" charset="0"/>
                </a:rPr>
                <a:t>d</a:t>
              </a:r>
              <a:endParaRPr lang="zh-CN" altLang="en-US" sz="2000" b="1" i="1" dirty="0">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amond(in)">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amond(in)">
                                      <p:cBhvr>
                                        <p:cTn id="17" dur="20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4"/>
          <p:cNvSpPr txBox="1">
            <a:spLocks noChangeArrowheads="1"/>
          </p:cNvSpPr>
          <p:nvPr/>
        </p:nvSpPr>
        <p:spPr bwMode="auto">
          <a:xfrm>
            <a:off x="214282" y="3000372"/>
            <a:ext cx="3429024" cy="1815882"/>
          </a:xfrm>
          <a:prstGeom prst="rect">
            <a:avLst/>
          </a:prstGeom>
          <a:solidFill>
            <a:srgbClr val="92D050"/>
          </a:solidFill>
          <a:ln w="9525">
            <a:noFill/>
            <a:miter lim="800000"/>
            <a:headEnd/>
            <a:tailEnd/>
          </a:ln>
        </p:spPr>
        <p:txBody>
          <a:bodyPr wrap="square">
            <a:spAutoFit/>
          </a:bodyPr>
          <a:lstStyle/>
          <a:p>
            <a:pPr indent="627063">
              <a:spcBef>
                <a:spcPct val="50000"/>
              </a:spcBef>
            </a:pPr>
            <a:r>
              <a:rPr kumimoji="0" lang="zh-CN" altLang="en-US" b="1" i="1" dirty="0" smtClean="0">
                <a:solidFill>
                  <a:srgbClr val="FF0000"/>
                </a:solidFill>
                <a:latin typeface="Times New Roman" pitchFamily="18" charset="0"/>
                <a:ea typeface="宋体" pitchFamily="2" charset="-122"/>
                <a:cs typeface="Times New Roman" pitchFamily="18" charset="0"/>
                <a:sym typeface="Symbol" pitchFamily="18" charset="2"/>
              </a:rPr>
              <a:t></a:t>
            </a:r>
            <a:r>
              <a:rPr kumimoji="0" lang="en-US" altLang="zh-CN" b="1" i="1" dirty="0" smtClean="0">
                <a:solidFill>
                  <a:srgbClr val="FF0000"/>
                </a:solidFill>
                <a:latin typeface="Times New Roman" pitchFamily="18" charset="0"/>
                <a:ea typeface="宋体" pitchFamily="2" charset="-122"/>
                <a:cs typeface="Times New Roman" pitchFamily="18" charset="0"/>
                <a:sym typeface="Symbol" pitchFamily="18" charset="2"/>
              </a:rPr>
              <a:t>d /d</a:t>
            </a:r>
            <a:r>
              <a:rPr kumimoji="0" lang="en-US" altLang="zh-CN" b="1" i="1" baseline="-25000" dirty="0" smtClean="0">
                <a:solidFill>
                  <a:srgbClr val="FF0000"/>
                </a:solidFill>
                <a:latin typeface="Times New Roman" pitchFamily="18" charset="0"/>
                <a:ea typeface="宋体" pitchFamily="2" charset="-122"/>
                <a:cs typeface="Times New Roman" pitchFamily="18" charset="0"/>
                <a:sym typeface="Symbol" pitchFamily="18" charset="2"/>
              </a:rPr>
              <a:t>0</a:t>
            </a:r>
            <a:r>
              <a:rPr kumimoji="0" lang="en-US" altLang="zh-CN" b="1" i="1" dirty="0" smtClean="0">
                <a:solidFill>
                  <a:srgbClr val="FF0000"/>
                </a:solidFill>
                <a:latin typeface="Times New Roman" pitchFamily="18" charset="0"/>
                <a:ea typeface="宋体" pitchFamily="2" charset="-122"/>
                <a:cs typeface="Times New Roman" pitchFamily="18" charset="0"/>
                <a:sym typeface="Symbol" pitchFamily="18" charset="2"/>
              </a:rPr>
              <a:t>&lt;&lt;1</a:t>
            </a:r>
            <a:r>
              <a:rPr kumimoji="0" lang="zh-CN" altLang="en-US" b="1" i="1" dirty="0" smtClean="0">
                <a:solidFill>
                  <a:srgbClr val="FF0000"/>
                </a:solidFill>
                <a:latin typeface="Times New Roman" pitchFamily="18" charset="0"/>
                <a:ea typeface="宋体" pitchFamily="2" charset="-122"/>
                <a:cs typeface="Times New Roman" pitchFamily="18" charset="0"/>
                <a:sym typeface="Symbol" pitchFamily="18" charset="2"/>
              </a:rPr>
              <a:t>时成立。</a:t>
            </a:r>
            <a:r>
              <a:rPr kumimoji="0" lang="zh-CN" altLang="en-US" b="1" dirty="0" smtClean="0">
                <a:solidFill>
                  <a:schemeClr val="tx1"/>
                </a:solidFill>
                <a:latin typeface="宋体" pitchFamily="2" charset="-122"/>
                <a:ea typeface="宋体" pitchFamily="2" charset="-122"/>
              </a:rPr>
              <a:t>只有</a:t>
            </a:r>
            <a:r>
              <a:rPr kumimoji="0" lang="zh-CN" altLang="en-US" b="1" dirty="0">
                <a:solidFill>
                  <a:schemeClr val="tx1"/>
                </a:solidFill>
                <a:latin typeface="宋体" pitchFamily="2" charset="-122"/>
                <a:ea typeface="宋体" pitchFamily="2" charset="-122"/>
              </a:rPr>
              <a:t>比值 </a:t>
            </a:r>
            <a:r>
              <a:rPr kumimoji="0" lang="zh-CN" altLang="en-US" b="1" i="1" dirty="0">
                <a:solidFill>
                  <a:schemeClr val="tx1"/>
                </a:solidFill>
                <a:latin typeface="Times New Roman" pitchFamily="18" charset="0"/>
                <a:ea typeface="宋体" pitchFamily="2" charset="-122"/>
                <a:cs typeface="Times New Roman" pitchFamily="18" charset="0"/>
                <a:sym typeface="Symbol" pitchFamily="18" charset="2"/>
              </a:rPr>
              <a:t></a:t>
            </a:r>
            <a:r>
              <a:rPr kumimoji="0" lang="en-US" altLang="zh-CN" b="1" i="1" dirty="0" smtClean="0">
                <a:solidFill>
                  <a:schemeClr val="tx1"/>
                </a:solidFill>
                <a:latin typeface="Times New Roman" pitchFamily="18" charset="0"/>
                <a:ea typeface="宋体" pitchFamily="2" charset="-122"/>
                <a:cs typeface="Times New Roman" pitchFamily="18" charset="0"/>
                <a:sym typeface="Symbol" pitchFamily="18" charset="2"/>
              </a:rPr>
              <a:t>d /</a:t>
            </a:r>
            <a:r>
              <a:rPr kumimoji="0" lang="en-US" altLang="zh-CN" b="1" i="1" dirty="0">
                <a:solidFill>
                  <a:schemeClr val="tx1"/>
                </a:solidFill>
                <a:latin typeface="Times New Roman" pitchFamily="18" charset="0"/>
                <a:ea typeface="宋体" pitchFamily="2" charset="-122"/>
                <a:cs typeface="Times New Roman" pitchFamily="18" charset="0"/>
                <a:sym typeface="Symbol" pitchFamily="18" charset="2"/>
              </a:rPr>
              <a:t>d</a:t>
            </a:r>
            <a:r>
              <a:rPr kumimoji="0" lang="en-US" altLang="zh-CN" b="1" i="1" baseline="-25000" dirty="0">
                <a:solidFill>
                  <a:schemeClr val="tx1"/>
                </a:solidFill>
                <a:latin typeface="Times New Roman" pitchFamily="18" charset="0"/>
                <a:ea typeface="宋体" pitchFamily="2" charset="-122"/>
                <a:cs typeface="Times New Roman" pitchFamily="18" charset="0"/>
                <a:sym typeface="Symbol" pitchFamily="18" charset="2"/>
              </a:rPr>
              <a:t>0</a:t>
            </a:r>
            <a:r>
              <a:rPr kumimoji="0" lang="en-US" altLang="zh-CN" b="1" i="1" dirty="0">
                <a:solidFill>
                  <a:schemeClr val="tx1"/>
                </a:solidFill>
                <a:latin typeface="Times New Roman" pitchFamily="18" charset="0"/>
                <a:ea typeface="宋体" pitchFamily="2" charset="-122"/>
                <a:cs typeface="Times New Roman" pitchFamily="18" charset="0"/>
              </a:rPr>
              <a:t> </a:t>
            </a:r>
            <a:r>
              <a:rPr kumimoji="0" lang="zh-CN" altLang="en-US" b="1" dirty="0">
                <a:solidFill>
                  <a:schemeClr val="tx1"/>
                </a:solidFill>
                <a:latin typeface="宋体" pitchFamily="2" charset="-122"/>
                <a:ea typeface="宋体" pitchFamily="2" charset="-122"/>
              </a:rPr>
              <a:t>很小时才可认为是接近</a:t>
            </a:r>
            <a:r>
              <a:rPr kumimoji="0" lang="zh-CN" altLang="en-US" b="1" dirty="0" smtClean="0">
                <a:solidFill>
                  <a:schemeClr val="tx1"/>
                </a:solidFill>
                <a:latin typeface="宋体" pitchFamily="2" charset="-122"/>
                <a:ea typeface="宋体" pitchFamily="2" charset="-122"/>
              </a:rPr>
              <a:t>线性关系。</a:t>
            </a:r>
            <a:endParaRPr lang="zh-CN" altLang="en-US" sz="2000" dirty="0">
              <a:solidFill>
                <a:schemeClr val="tx1"/>
              </a:solidFill>
              <a:latin typeface="Verdana" pitchFamily="34" charset="0"/>
              <a:ea typeface="宋体" pitchFamily="2" charset="-122"/>
            </a:endParaRPr>
          </a:p>
        </p:txBody>
      </p:sp>
      <p:sp>
        <p:nvSpPr>
          <p:cNvPr id="2053" name="Rectangle 10"/>
          <p:cNvSpPr>
            <a:spLocks noGrp="1" noChangeArrowheads="1"/>
          </p:cNvSpPr>
          <p:nvPr>
            <p:ph type="title"/>
          </p:nvPr>
        </p:nvSpPr>
        <p:spPr bwMode="auto">
          <a:xfrm>
            <a:off x="428596" y="1571612"/>
            <a:ext cx="1643074" cy="571504"/>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r>
              <a:rPr lang="zh-CN" altLang="en-US" sz="2800" b="1" dirty="0" smtClean="0"/>
              <a:t>灵敏度</a:t>
            </a:r>
          </a:p>
        </p:txBody>
      </p:sp>
      <p:sp>
        <p:nvSpPr>
          <p:cNvPr id="8"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2" name="Object 3"/>
          <p:cNvGraphicFramePr>
            <a:graphicFrameLocks noChangeAspect="1"/>
          </p:cNvGraphicFramePr>
          <p:nvPr/>
        </p:nvGraphicFramePr>
        <p:xfrm>
          <a:off x="1714480" y="2000240"/>
          <a:ext cx="6500858" cy="888265"/>
        </p:xfrm>
        <a:graphic>
          <a:graphicData uri="http://schemas.openxmlformats.org/presentationml/2006/ole">
            <p:oleObj spid="_x0000_s2051" name="Equation" r:id="rId3" imgW="3111480" imgH="558720" progId="Equation.3">
              <p:embed/>
            </p:oleObj>
          </a:graphicData>
        </a:graphic>
      </p:graphicFrame>
      <p:sp>
        <p:nvSpPr>
          <p:cNvPr id="11" name="Text Box 4"/>
          <p:cNvSpPr txBox="1">
            <a:spLocks noChangeArrowheads="1"/>
          </p:cNvSpPr>
          <p:nvPr/>
        </p:nvSpPr>
        <p:spPr bwMode="auto">
          <a:xfrm>
            <a:off x="4643438" y="3000372"/>
            <a:ext cx="4286279" cy="1815882"/>
          </a:xfrm>
          <a:prstGeom prst="rect">
            <a:avLst/>
          </a:prstGeom>
          <a:solidFill>
            <a:srgbClr val="FFFF00"/>
          </a:solidFill>
          <a:ln w="9525">
            <a:noFill/>
            <a:miter lim="800000"/>
            <a:headEnd/>
            <a:tailEnd/>
          </a:ln>
        </p:spPr>
        <p:txBody>
          <a:bodyPr wrap="square">
            <a:spAutoFit/>
          </a:bodyPr>
          <a:lstStyle/>
          <a:p>
            <a:pPr marL="627063" indent="-627063">
              <a:spcBef>
                <a:spcPts val="0"/>
              </a:spcBef>
              <a:buFont typeface="Wingdings" pitchFamily="2" charset="2"/>
              <a:buChar char="l"/>
            </a:pPr>
            <a:r>
              <a:rPr kumimoji="0" lang="zh-CN" altLang="en-US" b="1" dirty="0" smtClean="0">
                <a:solidFill>
                  <a:schemeClr val="tx1"/>
                </a:solidFill>
                <a:latin typeface="宋体" pitchFamily="2" charset="-122"/>
                <a:ea typeface="宋体" pitchFamily="2" charset="-122"/>
              </a:rPr>
              <a:t> 被</a:t>
            </a:r>
            <a:r>
              <a:rPr kumimoji="0" lang="zh-CN" altLang="en-US" b="1" dirty="0">
                <a:solidFill>
                  <a:schemeClr val="tx1"/>
                </a:solidFill>
                <a:latin typeface="宋体" pitchFamily="2" charset="-122"/>
                <a:ea typeface="宋体" pitchFamily="2" charset="-122"/>
              </a:rPr>
              <a:t>测量范围不应太大</a:t>
            </a:r>
            <a:r>
              <a:rPr kumimoji="0" lang="zh-CN" altLang="en-US" b="1" dirty="0" smtClean="0">
                <a:solidFill>
                  <a:schemeClr val="tx1"/>
                </a:solidFill>
                <a:latin typeface="宋体" pitchFamily="2" charset="-122"/>
                <a:ea typeface="宋体" pitchFamily="2" charset="-122"/>
              </a:rPr>
              <a:t>。</a:t>
            </a:r>
            <a:endParaRPr kumimoji="0" lang="en-US" altLang="zh-CN" b="1" dirty="0" smtClean="0">
              <a:solidFill>
                <a:schemeClr val="tx1"/>
              </a:solidFill>
              <a:latin typeface="宋体" pitchFamily="2" charset="-122"/>
              <a:ea typeface="宋体" pitchFamily="2" charset="-122"/>
            </a:endParaRPr>
          </a:p>
          <a:p>
            <a:pPr marL="627063" indent="-627063">
              <a:spcBef>
                <a:spcPts val="0"/>
              </a:spcBef>
              <a:buFont typeface="Wingdings" pitchFamily="2" charset="2"/>
              <a:buChar char="l"/>
            </a:pPr>
            <a:r>
              <a:rPr kumimoji="0" lang="zh-CN" altLang="en-US" b="1" dirty="0" smtClean="0">
                <a:solidFill>
                  <a:schemeClr val="tx1"/>
                </a:solidFill>
                <a:latin typeface="宋体" pitchFamily="2" charset="-122"/>
                <a:ea typeface="宋体" pitchFamily="2" charset="-122"/>
              </a:rPr>
              <a:t> 一般</a:t>
            </a:r>
            <a:r>
              <a:rPr kumimoji="0" lang="zh-CN" altLang="en-US" b="1" dirty="0">
                <a:solidFill>
                  <a:schemeClr val="tx1"/>
                </a:solidFill>
                <a:latin typeface="宋体" pitchFamily="2" charset="-122"/>
                <a:ea typeface="宋体" pitchFamily="2" charset="-122"/>
              </a:rPr>
              <a:t>用来测量微小变化的量，如微小位移等。</a:t>
            </a:r>
            <a:r>
              <a:rPr lang="zh-CN" altLang="en-US" sz="2000" dirty="0">
                <a:solidFill>
                  <a:schemeClr val="tx1"/>
                </a:solidFill>
                <a:latin typeface="Verdana" pitchFamily="34" charset="0"/>
                <a:ea typeface="宋体" pitchFamily="2" charset="-122"/>
              </a:rPr>
              <a:t>     </a:t>
            </a:r>
          </a:p>
        </p:txBody>
      </p:sp>
      <p:sp>
        <p:nvSpPr>
          <p:cNvPr id="12" name="右箭头 11"/>
          <p:cNvSpPr/>
          <p:nvPr/>
        </p:nvSpPr>
        <p:spPr>
          <a:xfrm>
            <a:off x="3786182" y="3571876"/>
            <a:ext cx="785818" cy="5715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85720" y="5042118"/>
            <a:ext cx="8643998" cy="1384995"/>
          </a:xfrm>
          <a:prstGeom prst="rect">
            <a:avLst/>
          </a:prstGeom>
        </p:spPr>
        <p:txBody>
          <a:bodyPr wrap="square">
            <a:spAutoFit/>
          </a:bodyPr>
          <a:lstStyle/>
          <a:p>
            <a:pPr indent="627063"/>
            <a:r>
              <a:rPr kumimoji="0" lang="zh-CN" altLang="en-US" b="1" dirty="0" smtClean="0">
                <a:solidFill>
                  <a:schemeClr val="tx1"/>
                </a:solidFill>
                <a:latin typeface="宋体" pitchFamily="2" charset="-122"/>
                <a:ea typeface="宋体" pitchFamily="2" charset="-122"/>
              </a:rPr>
              <a:t>增大极板间的初始距离 </a:t>
            </a:r>
            <a:r>
              <a:rPr kumimoji="0" lang="en-US" altLang="zh-CN" b="1" i="1" dirty="0" smtClean="0">
                <a:solidFill>
                  <a:schemeClr val="tx1"/>
                </a:solidFill>
                <a:latin typeface="Times New Roman" pitchFamily="18" charset="0"/>
                <a:cs typeface="Times New Roman" pitchFamily="18" charset="0"/>
                <a:sym typeface="Symbol" pitchFamily="18" charset="2"/>
              </a:rPr>
              <a:t>d</a:t>
            </a:r>
            <a:r>
              <a:rPr kumimoji="0" lang="en-US" altLang="zh-CN" b="1" i="1" baseline="-25000" dirty="0" smtClean="0">
                <a:solidFill>
                  <a:schemeClr val="tx1"/>
                </a:solidFill>
                <a:latin typeface="Times New Roman" pitchFamily="18" charset="0"/>
                <a:ea typeface="宋体" pitchFamily="2" charset="-122"/>
                <a:cs typeface="Times New Roman" pitchFamily="18" charset="0"/>
                <a:sym typeface="Symbol" pitchFamily="18" charset="2"/>
              </a:rPr>
              <a:t>0</a:t>
            </a:r>
            <a:r>
              <a:rPr kumimoji="0" lang="zh-CN" altLang="en-US" b="1" dirty="0" smtClean="0">
                <a:solidFill>
                  <a:schemeClr val="tx1"/>
                </a:solidFill>
                <a:latin typeface="宋体" pitchFamily="2" charset="-122"/>
                <a:ea typeface="宋体" pitchFamily="2" charset="-122"/>
              </a:rPr>
              <a:t>，以保证比值</a:t>
            </a:r>
            <a:r>
              <a:rPr kumimoji="0" lang="zh-CN" altLang="en-US" b="1" i="1" dirty="0" smtClean="0">
                <a:solidFill>
                  <a:schemeClr val="tx1"/>
                </a:solidFill>
                <a:latin typeface="Times New Roman" pitchFamily="18" charset="0"/>
                <a:ea typeface="宋体" pitchFamily="2" charset="-122"/>
                <a:cs typeface="Times New Roman" pitchFamily="18" charset="0"/>
                <a:sym typeface="Symbol" pitchFamily="18" charset="2"/>
              </a:rPr>
              <a:t></a:t>
            </a:r>
            <a:r>
              <a:rPr kumimoji="0" lang="en-US" altLang="zh-CN" b="1" i="1" dirty="0" smtClean="0">
                <a:solidFill>
                  <a:schemeClr val="tx1"/>
                </a:solidFill>
                <a:latin typeface="Times New Roman" pitchFamily="18" charset="0"/>
                <a:ea typeface="宋体" pitchFamily="2" charset="-122"/>
                <a:cs typeface="Times New Roman" pitchFamily="18" charset="0"/>
                <a:sym typeface="Symbol" pitchFamily="18" charset="2"/>
              </a:rPr>
              <a:t>d /d</a:t>
            </a:r>
            <a:r>
              <a:rPr kumimoji="0" lang="en-US" altLang="zh-CN" b="1" i="1" baseline="-25000" dirty="0" smtClean="0">
                <a:solidFill>
                  <a:schemeClr val="tx1"/>
                </a:solidFill>
                <a:latin typeface="Times New Roman" pitchFamily="18" charset="0"/>
                <a:ea typeface="宋体" pitchFamily="2" charset="-122"/>
                <a:cs typeface="Times New Roman" pitchFamily="18" charset="0"/>
                <a:sym typeface="Symbol" pitchFamily="18" charset="2"/>
              </a:rPr>
              <a:t>0</a:t>
            </a:r>
            <a:r>
              <a:rPr kumimoji="0" lang="zh-CN" altLang="en-US" b="1" dirty="0" smtClean="0">
                <a:solidFill>
                  <a:schemeClr val="tx1"/>
                </a:solidFill>
                <a:latin typeface="宋体" pitchFamily="2" charset="-122"/>
                <a:ea typeface="宋体" pitchFamily="2" charset="-122"/>
              </a:rPr>
              <a:t>不致过大，但会导致灵敏度下降；同时也使电容传感器的初始值减小，寄生电容的干扰作用将增加。</a:t>
            </a:r>
            <a:endParaRPr lang="zh-CN" alt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checkerboard(across)">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10"/>
          <p:cNvSpPr>
            <a:spLocks noGrp="1" noChangeArrowheads="1"/>
          </p:cNvSpPr>
          <p:nvPr>
            <p:ph type="title"/>
          </p:nvPr>
        </p:nvSpPr>
        <p:spPr bwMode="auto">
          <a:xfrm>
            <a:off x="428596" y="1571612"/>
            <a:ext cx="1643074" cy="571504"/>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r>
              <a:rPr lang="zh-CN" altLang="en-US" sz="2800" b="1" dirty="0" smtClean="0"/>
              <a:t>灵敏度</a:t>
            </a:r>
          </a:p>
        </p:txBody>
      </p:sp>
      <p:sp>
        <p:nvSpPr>
          <p:cNvPr id="8"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0" name="Text Box 3"/>
          <p:cNvSpPr txBox="1">
            <a:spLocks noChangeArrowheads="1"/>
          </p:cNvSpPr>
          <p:nvPr/>
        </p:nvSpPr>
        <p:spPr bwMode="auto">
          <a:xfrm>
            <a:off x="214282" y="2143116"/>
            <a:ext cx="8715436" cy="1384995"/>
          </a:xfrm>
          <a:prstGeom prst="rect">
            <a:avLst/>
          </a:prstGeom>
          <a:noFill/>
          <a:ln w="9525">
            <a:noFill/>
            <a:miter lim="800000"/>
            <a:headEnd/>
            <a:tailEnd/>
          </a:ln>
        </p:spPr>
        <p:txBody>
          <a:bodyPr wrap="square">
            <a:spAutoFit/>
          </a:bodyPr>
          <a:lstStyle/>
          <a:p>
            <a:pPr indent="627063">
              <a:spcBef>
                <a:spcPct val="50000"/>
              </a:spcBef>
            </a:pPr>
            <a:r>
              <a:rPr lang="zh-CN" altLang="en-US" b="1" dirty="0" smtClean="0">
                <a:solidFill>
                  <a:schemeClr val="tx1"/>
                </a:solidFill>
                <a:latin typeface="宋体" pitchFamily="2" charset="-122"/>
                <a:ea typeface="宋体" pitchFamily="2" charset="-122"/>
              </a:rPr>
              <a:t>在</a:t>
            </a:r>
            <a:r>
              <a:rPr lang="zh-CN" altLang="en-US" b="1" dirty="0">
                <a:solidFill>
                  <a:schemeClr val="tx1"/>
                </a:solidFill>
                <a:latin typeface="宋体" pitchFamily="2" charset="-122"/>
                <a:ea typeface="宋体" pitchFamily="2" charset="-122"/>
              </a:rPr>
              <a:t>实际应用中，为了改善非线性、提高灵敏度和减少外界因素</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如电源电压、环境温度等</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的影响，电容</a:t>
            </a:r>
            <a:r>
              <a:rPr lang="zh-CN" altLang="en-US" b="1" dirty="0" smtClean="0">
                <a:solidFill>
                  <a:schemeClr val="tx1"/>
                </a:solidFill>
                <a:latin typeface="宋体" pitchFamily="2" charset="-122"/>
                <a:ea typeface="宋体" pitchFamily="2" charset="-122"/>
              </a:rPr>
              <a:t>传感器常</a:t>
            </a:r>
            <a:r>
              <a:rPr lang="zh-CN" altLang="en-US" b="1" dirty="0">
                <a:solidFill>
                  <a:schemeClr val="tx1"/>
                </a:solidFill>
                <a:latin typeface="宋体" pitchFamily="2" charset="-122"/>
                <a:ea typeface="宋体" pitchFamily="2" charset="-122"/>
              </a:rPr>
              <a:t>做成差分</a:t>
            </a:r>
            <a:r>
              <a:rPr lang="zh-CN" altLang="en-US" b="1" dirty="0" smtClean="0">
                <a:solidFill>
                  <a:schemeClr val="tx1"/>
                </a:solidFill>
                <a:latin typeface="宋体" pitchFamily="2" charset="-122"/>
                <a:ea typeface="宋体" pitchFamily="2" charset="-122"/>
              </a:rPr>
              <a:t>形式</a:t>
            </a:r>
            <a:r>
              <a:rPr lang="zh-CN" altLang="en-US" sz="2000" dirty="0" smtClean="0">
                <a:solidFill>
                  <a:schemeClr val="tx1"/>
                </a:solidFill>
                <a:latin typeface="Verdana" pitchFamily="34" charset="0"/>
                <a:ea typeface="宋体" pitchFamily="2" charset="-122"/>
              </a:rPr>
              <a:t>。</a:t>
            </a:r>
            <a:endParaRPr lang="zh-CN" altLang="en-US" sz="2000" dirty="0">
              <a:solidFill>
                <a:schemeClr val="tx1"/>
              </a:solidFill>
              <a:latin typeface="Verdana" pitchFamily="34" charset="0"/>
              <a:ea typeface="宋体" pitchFamily="2" charset="-122"/>
            </a:endParaRPr>
          </a:p>
        </p:txBody>
      </p:sp>
      <p:graphicFrame>
        <p:nvGraphicFramePr>
          <p:cNvPr id="97283" name="Object 4"/>
          <p:cNvGraphicFramePr>
            <a:graphicFrameLocks noChangeAspect="1"/>
          </p:cNvGraphicFramePr>
          <p:nvPr/>
        </p:nvGraphicFramePr>
        <p:xfrm>
          <a:off x="6500826" y="3214686"/>
          <a:ext cx="2124075" cy="1790700"/>
        </p:xfrm>
        <a:graphic>
          <a:graphicData uri="http://schemas.openxmlformats.org/presentationml/2006/ole">
            <p:oleObj spid="_x0000_s97283" name="图像文档" r:id="rId3" imgW="2124000" imgH="1790640" progId="">
              <p:embed/>
            </p:oleObj>
          </a:graphicData>
        </a:graphic>
      </p:graphicFrame>
      <p:graphicFrame>
        <p:nvGraphicFramePr>
          <p:cNvPr id="97284" name="Object 4"/>
          <p:cNvGraphicFramePr>
            <a:graphicFrameLocks noChangeAspect="1"/>
          </p:cNvGraphicFramePr>
          <p:nvPr/>
        </p:nvGraphicFramePr>
        <p:xfrm>
          <a:off x="1447800" y="3571875"/>
          <a:ext cx="4032250" cy="889000"/>
        </p:xfrm>
        <a:graphic>
          <a:graphicData uri="http://schemas.openxmlformats.org/presentationml/2006/ole">
            <p:oleObj spid="_x0000_s97284" name="Equation" r:id="rId4" imgW="1930320" imgH="558720" progId="Equation.3">
              <p:embed/>
            </p:oleObj>
          </a:graphicData>
        </a:graphic>
      </p:graphicFrame>
      <p:sp>
        <p:nvSpPr>
          <p:cNvPr id="11" name="Text Box 12"/>
          <p:cNvSpPr txBox="1">
            <a:spLocks noChangeArrowheads="1"/>
          </p:cNvSpPr>
          <p:nvPr/>
        </p:nvSpPr>
        <p:spPr bwMode="auto">
          <a:xfrm>
            <a:off x="142844" y="5929330"/>
            <a:ext cx="8715436" cy="523220"/>
          </a:xfrm>
          <a:prstGeom prst="rect">
            <a:avLst/>
          </a:prstGeom>
          <a:noFill/>
          <a:ln w="9525" algn="ctr">
            <a:noFill/>
            <a:miter lim="800000"/>
            <a:headEnd/>
            <a:tailEnd/>
          </a:ln>
        </p:spPr>
        <p:txBody>
          <a:bodyPr wrap="square">
            <a:spAutoFit/>
          </a:bodyPr>
          <a:lstStyle/>
          <a:p>
            <a:pPr indent="271463">
              <a:spcBef>
                <a:spcPct val="50000"/>
              </a:spcBef>
            </a:pPr>
            <a:r>
              <a:rPr lang="zh-CN" altLang="en-US" b="1" dirty="0" smtClean="0">
                <a:solidFill>
                  <a:schemeClr val="tx1"/>
                </a:solidFill>
                <a:latin typeface="宋体" pitchFamily="2" charset="-122"/>
                <a:ea typeface="宋体" pitchFamily="2" charset="-122"/>
              </a:rPr>
              <a:t>灵敏度</a:t>
            </a:r>
            <a:r>
              <a:rPr lang="zh-CN" altLang="en-US" b="1" dirty="0">
                <a:solidFill>
                  <a:schemeClr val="tx1"/>
                </a:solidFill>
                <a:latin typeface="宋体" pitchFamily="2" charset="-122"/>
                <a:ea typeface="宋体" pitchFamily="2" charset="-122"/>
              </a:rPr>
              <a:t>比单极式提高一倍，而且非线性也大为</a:t>
            </a:r>
            <a:r>
              <a:rPr lang="zh-CN" altLang="en-US" b="1" dirty="0" smtClean="0">
                <a:solidFill>
                  <a:schemeClr val="tx1"/>
                </a:solidFill>
                <a:latin typeface="宋体" pitchFamily="2" charset="-122"/>
                <a:ea typeface="宋体" pitchFamily="2" charset="-122"/>
              </a:rPr>
              <a:t>减小。</a:t>
            </a:r>
            <a:endParaRPr lang="zh-CN" altLang="en-US" b="1" dirty="0">
              <a:solidFill>
                <a:schemeClr val="tx1"/>
              </a:solidFill>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7283"/>
                                        </p:tgtEl>
                                        <p:attrNameLst>
                                          <p:attrName>style.visibility</p:attrName>
                                        </p:attrNameLst>
                                      </p:cBhvr>
                                      <p:to>
                                        <p:strVal val="visible"/>
                                      </p:to>
                                    </p:set>
                                    <p:animEffect transition="in" filter="blinds(horizontal)">
                                      <p:cBhvr>
                                        <p:cTn id="7" dur="500"/>
                                        <p:tgtEl>
                                          <p:spTgt spid="9728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3" name="Rectangle 14"/>
          <p:cNvSpPr>
            <a:spLocks noGrp="1" noChangeArrowheads="1"/>
          </p:cNvSpPr>
          <p:nvPr>
            <p:ph type="title"/>
          </p:nvPr>
        </p:nvSpPr>
        <p:spPr bwMode="auto">
          <a:xfrm>
            <a:off x="642910" y="1571612"/>
            <a:ext cx="7812087" cy="515927"/>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r>
              <a:rPr lang="zh-CN" altLang="en-US" sz="2800" b="1" dirty="0" smtClean="0"/>
              <a:t>灵敏度</a:t>
            </a:r>
          </a:p>
        </p:txBody>
      </p:sp>
      <p:sp>
        <p:nvSpPr>
          <p:cNvPr id="4099" name="Rectangle 3"/>
          <p:cNvSpPr>
            <a:spLocks noGrp="1" noChangeArrowheads="1"/>
          </p:cNvSpPr>
          <p:nvPr>
            <p:ph idx="1"/>
          </p:nvPr>
        </p:nvSpPr>
        <p:spPr bwMode="auto">
          <a:xfrm>
            <a:off x="285720" y="2071678"/>
            <a:ext cx="8572559" cy="2736850"/>
          </a:xfrm>
          <a:noFill/>
          <a:ln>
            <a:miter lim="800000"/>
            <a:headEnd/>
            <a:tailEnd/>
          </a:ln>
        </p:spPr>
        <p:txBody>
          <a:bodyPr vert="horz" wrap="square" lIns="91440" tIns="45720" rIns="91440" bIns="45720" numCol="1" anchor="t" anchorCtr="0" compatLnSpc="1">
            <a:prstTxWarp prst="textNoShape">
              <a:avLst/>
            </a:prstTxWarp>
          </a:bodyPr>
          <a:lstStyle/>
          <a:p>
            <a:pPr marL="0" indent="531813">
              <a:lnSpc>
                <a:spcPct val="120000"/>
              </a:lnSpc>
              <a:spcBef>
                <a:spcPct val="0"/>
              </a:spcBef>
              <a:buClrTx/>
              <a:buSzTx/>
              <a:buFontTx/>
              <a:buNone/>
            </a:pPr>
            <a:r>
              <a:rPr lang="zh-CN" altLang="en-US" sz="2800" b="1" dirty="0" smtClean="0"/>
              <a:t>变极距型电容式传感器的灵敏度与起始间距</a:t>
            </a:r>
            <a:r>
              <a:rPr lang="en-US" altLang="zh-CN" sz="2800" b="1" i="1" dirty="0" smtClean="0">
                <a:solidFill>
                  <a:srgbClr val="C00000"/>
                </a:solidFill>
                <a:latin typeface="Times New Roman" pitchFamily="18" charset="0"/>
                <a:cs typeface="Times New Roman" pitchFamily="18" charset="0"/>
                <a:sym typeface="Symbol" pitchFamily="18" charset="2"/>
              </a:rPr>
              <a:t>d</a:t>
            </a:r>
            <a:r>
              <a:rPr lang="en-US" altLang="zh-CN" sz="2800" b="1" i="1" baseline="-25000" dirty="0" smtClean="0">
                <a:solidFill>
                  <a:srgbClr val="C00000"/>
                </a:solidFill>
                <a:latin typeface="Times New Roman" pitchFamily="18" charset="0"/>
                <a:cs typeface="Times New Roman" pitchFamily="18" charset="0"/>
                <a:sym typeface="Symbol" pitchFamily="18" charset="2"/>
              </a:rPr>
              <a:t>0</a:t>
            </a:r>
            <a:r>
              <a:rPr lang="zh-CN" altLang="en-US" sz="2800" b="1" dirty="0" smtClean="0"/>
              <a:t>有关，且不是常数，随被测量变化而改变。</a:t>
            </a:r>
            <a:endParaRPr lang="en-US" altLang="zh-CN" sz="2800" b="1" dirty="0" smtClean="0"/>
          </a:p>
          <a:p>
            <a:pPr marL="0" indent="531813">
              <a:lnSpc>
                <a:spcPct val="120000"/>
              </a:lnSpc>
              <a:spcBef>
                <a:spcPct val="0"/>
              </a:spcBef>
              <a:buClrTx/>
              <a:buSzTx/>
              <a:buFontTx/>
              <a:buNone/>
            </a:pPr>
            <a:r>
              <a:rPr lang="zh-CN" altLang="en-US" sz="2800" b="1" dirty="0" smtClean="0"/>
              <a:t>要提高灵敏度，应减小</a:t>
            </a:r>
            <a:r>
              <a:rPr lang="en-US" altLang="zh-CN" sz="2800" b="1" i="1" dirty="0" smtClean="0">
                <a:solidFill>
                  <a:srgbClr val="C00000"/>
                </a:solidFill>
                <a:latin typeface="Times New Roman" pitchFamily="18" charset="0"/>
                <a:cs typeface="Times New Roman" pitchFamily="18" charset="0"/>
                <a:sym typeface="Symbol" pitchFamily="18" charset="2"/>
              </a:rPr>
              <a:t>d</a:t>
            </a:r>
            <a:r>
              <a:rPr lang="en-US" altLang="zh-CN" sz="2800" b="1" i="1" baseline="-25000" dirty="0" smtClean="0">
                <a:solidFill>
                  <a:srgbClr val="C00000"/>
                </a:solidFill>
                <a:latin typeface="Times New Roman" pitchFamily="18" charset="0"/>
                <a:cs typeface="Times New Roman" pitchFamily="18" charset="0"/>
                <a:sym typeface="Symbol" pitchFamily="18" charset="2"/>
              </a:rPr>
              <a:t>0</a:t>
            </a:r>
            <a:r>
              <a:rPr lang="en-US" altLang="zh-CN" sz="2800" b="1" dirty="0" smtClean="0"/>
              <a:t> </a:t>
            </a:r>
            <a:r>
              <a:rPr lang="zh-CN" altLang="en-US" sz="2800" b="1" dirty="0" smtClean="0"/>
              <a:t>。但</a:t>
            </a:r>
            <a:r>
              <a:rPr lang="en-US" altLang="zh-CN" sz="2800" b="1" i="1" dirty="0" smtClean="0">
                <a:solidFill>
                  <a:srgbClr val="C00000"/>
                </a:solidFill>
                <a:latin typeface="Times New Roman" pitchFamily="18" charset="0"/>
                <a:cs typeface="Times New Roman" pitchFamily="18" charset="0"/>
                <a:sym typeface="Symbol" pitchFamily="18" charset="2"/>
              </a:rPr>
              <a:t>d</a:t>
            </a:r>
            <a:r>
              <a:rPr lang="en-US" altLang="zh-CN" sz="2800" b="1" i="1" baseline="-25000" dirty="0" smtClean="0">
                <a:solidFill>
                  <a:srgbClr val="C00000"/>
                </a:solidFill>
                <a:latin typeface="Times New Roman" pitchFamily="18" charset="0"/>
                <a:cs typeface="Times New Roman" pitchFamily="18" charset="0"/>
                <a:sym typeface="Symbol" pitchFamily="18" charset="2"/>
              </a:rPr>
              <a:t>0</a:t>
            </a:r>
            <a:r>
              <a:rPr lang="zh-CN" altLang="en-US" sz="2800" b="1" dirty="0" smtClean="0"/>
              <a:t>过小容易引起电容器击穿；可以在极板间放置击穿电压高的电介质，如云母片或塑料膜，此时电容传感器的电容量为 ：</a:t>
            </a:r>
          </a:p>
        </p:txBody>
      </p:sp>
      <p:graphicFrame>
        <p:nvGraphicFramePr>
          <p:cNvPr id="4098" name="Object 4"/>
          <p:cNvGraphicFramePr>
            <a:graphicFrameLocks noChangeAspect="1"/>
          </p:cNvGraphicFramePr>
          <p:nvPr/>
        </p:nvGraphicFramePr>
        <p:xfrm>
          <a:off x="5715009" y="4694238"/>
          <a:ext cx="2143140" cy="1935785"/>
        </p:xfrm>
        <a:graphic>
          <a:graphicData uri="http://schemas.openxmlformats.org/presentationml/2006/ole">
            <p:oleObj spid="_x0000_s4098" name="Image" r:id="rId3" imgW="5248147" imgH="4739852" progId="Photoshop.Image.6">
              <p:embed/>
            </p:oleObj>
          </a:graphicData>
        </a:graphic>
      </p:graphicFrame>
      <p:sp>
        <p:nvSpPr>
          <p:cNvPr id="4100" name="Text Box 8"/>
          <p:cNvSpPr txBox="1">
            <a:spLocks noChangeArrowheads="1"/>
          </p:cNvSpPr>
          <p:nvPr/>
        </p:nvSpPr>
        <p:spPr bwMode="auto">
          <a:xfrm>
            <a:off x="4211638" y="5661025"/>
            <a:ext cx="4664075" cy="457200"/>
          </a:xfrm>
          <a:prstGeom prst="rect">
            <a:avLst/>
          </a:prstGeom>
          <a:noFill/>
          <a:ln w="9525">
            <a:noFill/>
            <a:miter lim="800000"/>
            <a:headEnd/>
            <a:tailEnd/>
          </a:ln>
        </p:spPr>
        <p:txBody>
          <a:bodyPr>
            <a:spAutoFit/>
          </a:bodyPr>
          <a:lstStyle/>
          <a:p>
            <a:endParaRPr lang="zh-CN" altLang="zh-CN" sz="2400">
              <a:solidFill>
                <a:schemeClr val="tx1"/>
              </a:solidFill>
              <a:latin typeface="Verdana" pitchFamily="34" charset="0"/>
              <a:ea typeface="宋体" pitchFamily="2" charset="-122"/>
            </a:endParaRPr>
          </a:p>
        </p:txBody>
      </p:sp>
      <p:sp>
        <p:nvSpPr>
          <p:cNvPr id="8"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2" name="Object 3"/>
          <p:cNvGraphicFramePr>
            <a:graphicFrameLocks noChangeAspect="1"/>
          </p:cNvGraphicFramePr>
          <p:nvPr/>
        </p:nvGraphicFramePr>
        <p:xfrm>
          <a:off x="2000232" y="5000636"/>
          <a:ext cx="2705100" cy="804862"/>
        </p:xfrm>
        <a:graphic>
          <a:graphicData uri="http://schemas.openxmlformats.org/presentationml/2006/ole">
            <p:oleObj spid="_x0000_s4099" name="Equation" r:id="rId4" imgW="1104840" imgH="4316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linds(horizontal)">
                                      <p:cBhvr>
                                        <p:cTn id="7" dur="500"/>
                                        <p:tgtEl>
                                          <p:spTgt spid="4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blinds(horizontal)">
                                      <p:cBhvr>
                                        <p:cTn id="12" dur="500"/>
                                        <p:tgtEl>
                                          <p:spTgt spid="40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098"/>
                                        </p:tgtEl>
                                        <p:attrNameLst>
                                          <p:attrName>style.visibility</p:attrName>
                                        </p:attrNameLst>
                                      </p:cBhvr>
                                      <p:to>
                                        <p:strVal val="visible"/>
                                      </p:to>
                                    </p:set>
                                    <p:animEffect transition="in" filter="blinds(horizontal)">
                                      <p:cBhvr>
                                        <p:cTn id="17" dur="500"/>
                                        <p:tgtEl>
                                          <p:spTgt spid="409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4"/>
          <p:cNvGraphicFramePr>
            <a:graphicFrameLocks noChangeAspect="1"/>
          </p:cNvGraphicFramePr>
          <p:nvPr/>
        </p:nvGraphicFramePr>
        <p:xfrm>
          <a:off x="1524000" y="2286000"/>
          <a:ext cx="6096000" cy="1490663"/>
        </p:xfrm>
        <a:graphic>
          <a:graphicData uri="http://schemas.openxmlformats.org/presentationml/2006/ole">
            <p:oleObj spid="_x0000_s5122" name="Image" r:id="rId3" imgW="21056124" imgH="5146488" progId="Photoshop.Image.6">
              <p:embed/>
            </p:oleObj>
          </a:graphicData>
        </a:graphic>
      </p:graphicFrame>
      <p:sp>
        <p:nvSpPr>
          <p:cNvPr id="5123" name="Text Box 5"/>
          <p:cNvSpPr txBox="1">
            <a:spLocks noChangeArrowheads="1"/>
          </p:cNvSpPr>
          <p:nvPr/>
        </p:nvSpPr>
        <p:spPr bwMode="auto">
          <a:xfrm>
            <a:off x="214282" y="3786190"/>
            <a:ext cx="8715436" cy="519112"/>
          </a:xfrm>
          <a:prstGeom prst="rect">
            <a:avLst/>
          </a:prstGeom>
          <a:noFill/>
          <a:ln w="9525">
            <a:noFill/>
            <a:miter lim="800000"/>
            <a:headEnd/>
            <a:tailEnd/>
          </a:ln>
        </p:spPr>
        <p:txBody>
          <a:bodyPr wrap="square">
            <a:spAutoFit/>
          </a:bodyPr>
          <a:lstStyle/>
          <a:p>
            <a:pPr indent="355600"/>
            <a:r>
              <a:rPr lang="zh-CN" altLang="en-US" b="1" dirty="0">
                <a:solidFill>
                  <a:schemeClr val="tx1"/>
                </a:solidFill>
                <a:latin typeface="Verdana" pitchFamily="34" charset="0"/>
                <a:ea typeface="宋体" pitchFamily="2" charset="-122"/>
              </a:rPr>
              <a:t>特点：测量范围</a:t>
            </a:r>
            <a:r>
              <a:rPr lang="zh-CN" altLang="en-US" b="1" dirty="0" smtClean="0">
                <a:solidFill>
                  <a:schemeClr val="tx1"/>
                </a:solidFill>
                <a:latin typeface="Verdana" pitchFamily="34" charset="0"/>
                <a:ea typeface="宋体" pitchFamily="2" charset="-122"/>
              </a:rPr>
              <a:t>大；电容</a:t>
            </a:r>
            <a:r>
              <a:rPr lang="zh-CN" altLang="en-US" b="1" dirty="0">
                <a:solidFill>
                  <a:schemeClr val="tx1"/>
                </a:solidFill>
                <a:latin typeface="Verdana" pitchFamily="34" charset="0"/>
                <a:ea typeface="宋体" pitchFamily="2" charset="-122"/>
              </a:rPr>
              <a:t>与面积变化呈线性关系。</a:t>
            </a:r>
          </a:p>
        </p:txBody>
      </p:sp>
      <p:sp>
        <p:nvSpPr>
          <p:cNvPr id="5124" name="Line 6"/>
          <p:cNvSpPr>
            <a:spLocks noChangeShapeType="1"/>
          </p:cNvSpPr>
          <p:nvPr/>
        </p:nvSpPr>
        <p:spPr bwMode="auto">
          <a:xfrm>
            <a:off x="5486400" y="2667000"/>
            <a:ext cx="609600" cy="0"/>
          </a:xfrm>
          <a:prstGeom prst="line">
            <a:avLst/>
          </a:prstGeom>
          <a:noFill/>
          <a:ln w="9525">
            <a:solidFill>
              <a:srgbClr val="FF0000"/>
            </a:solidFill>
            <a:miter lim="800000"/>
            <a:headEnd/>
            <a:tailEnd/>
          </a:ln>
        </p:spPr>
        <p:txBody>
          <a:bodyPr wrap="none"/>
          <a:lstStyle/>
          <a:p>
            <a:endParaRPr lang="zh-CN" altLang="en-US"/>
          </a:p>
        </p:txBody>
      </p:sp>
      <p:sp>
        <p:nvSpPr>
          <p:cNvPr id="5125" name="Line 7"/>
          <p:cNvSpPr>
            <a:spLocks noChangeShapeType="1"/>
          </p:cNvSpPr>
          <p:nvPr/>
        </p:nvSpPr>
        <p:spPr bwMode="auto">
          <a:xfrm>
            <a:off x="5486400" y="2895600"/>
            <a:ext cx="609600" cy="0"/>
          </a:xfrm>
          <a:prstGeom prst="line">
            <a:avLst/>
          </a:prstGeom>
          <a:noFill/>
          <a:ln w="9525">
            <a:solidFill>
              <a:srgbClr val="FF0000"/>
            </a:solidFill>
            <a:miter lim="800000"/>
            <a:headEnd/>
            <a:tailEnd/>
          </a:ln>
        </p:spPr>
        <p:txBody>
          <a:bodyPr wrap="none"/>
          <a:lstStyle/>
          <a:p>
            <a:endParaRPr lang="zh-CN" altLang="en-US"/>
          </a:p>
        </p:txBody>
      </p:sp>
      <p:sp>
        <p:nvSpPr>
          <p:cNvPr id="5126" name="Text Box 8"/>
          <p:cNvSpPr txBox="1">
            <a:spLocks noChangeArrowheads="1"/>
          </p:cNvSpPr>
          <p:nvPr/>
        </p:nvSpPr>
        <p:spPr bwMode="auto">
          <a:xfrm>
            <a:off x="6019800" y="2592388"/>
            <a:ext cx="300082" cy="369332"/>
          </a:xfrm>
          <a:prstGeom prst="rect">
            <a:avLst/>
          </a:prstGeom>
          <a:noFill/>
          <a:ln w="9525">
            <a:noFill/>
            <a:miter lim="800000"/>
            <a:headEnd/>
            <a:tailEnd/>
          </a:ln>
        </p:spPr>
        <p:txBody>
          <a:bodyPr wrap="none">
            <a:spAutoFit/>
          </a:bodyPr>
          <a:lstStyle/>
          <a:p>
            <a:r>
              <a:rPr lang="en-US" altLang="zh-CN" sz="1800" i="1" dirty="0" smtClean="0">
                <a:solidFill>
                  <a:srgbClr val="FF0000"/>
                </a:solidFill>
                <a:latin typeface="Times New Roman" pitchFamily="18" charset="0"/>
                <a:ea typeface="宋体" pitchFamily="2" charset="-122"/>
              </a:rPr>
              <a:t>h</a:t>
            </a:r>
            <a:endParaRPr lang="en-US" altLang="zh-CN" sz="1800" i="1" dirty="0">
              <a:solidFill>
                <a:srgbClr val="FF0000"/>
              </a:solidFill>
              <a:latin typeface="Times New Roman" pitchFamily="18" charset="0"/>
              <a:ea typeface="宋体" pitchFamily="2" charset="-122"/>
            </a:endParaRPr>
          </a:p>
        </p:txBody>
      </p:sp>
      <p:sp>
        <p:nvSpPr>
          <p:cNvPr id="5127" name="Line 9"/>
          <p:cNvSpPr>
            <a:spLocks noChangeShapeType="1"/>
          </p:cNvSpPr>
          <p:nvPr/>
        </p:nvSpPr>
        <p:spPr bwMode="auto">
          <a:xfrm flipH="1">
            <a:off x="4953000" y="3048000"/>
            <a:ext cx="228600" cy="0"/>
          </a:xfrm>
          <a:prstGeom prst="line">
            <a:avLst/>
          </a:prstGeom>
          <a:noFill/>
          <a:ln w="9525">
            <a:solidFill>
              <a:srgbClr val="FF0000"/>
            </a:solidFill>
            <a:miter lim="800000"/>
            <a:headEnd/>
            <a:tailEnd type="triangle" w="med" len="med"/>
          </a:ln>
        </p:spPr>
        <p:txBody>
          <a:bodyPr wrap="none"/>
          <a:lstStyle/>
          <a:p>
            <a:endParaRPr lang="zh-CN" altLang="en-US"/>
          </a:p>
        </p:txBody>
      </p:sp>
      <p:sp>
        <p:nvSpPr>
          <p:cNvPr id="5128" name="Line 10"/>
          <p:cNvSpPr>
            <a:spLocks noChangeShapeType="1"/>
          </p:cNvSpPr>
          <p:nvPr/>
        </p:nvSpPr>
        <p:spPr bwMode="auto">
          <a:xfrm flipH="1">
            <a:off x="5105400" y="2514600"/>
            <a:ext cx="152400" cy="0"/>
          </a:xfrm>
          <a:prstGeom prst="line">
            <a:avLst/>
          </a:prstGeom>
          <a:noFill/>
          <a:ln w="9525">
            <a:solidFill>
              <a:srgbClr val="FF0000"/>
            </a:solidFill>
            <a:miter lim="800000"/>
            <a:headEnd/>
            <a:tailEnd type="triangle" w="med" len="med"/>
          </a:ln>
        </p:spPr>
        <p:txBody>
          <a:bodyPr wrap="none"/>
          <a:lstStyle/>
          <a:p>
            <a:endParaRPr lang="zh-CN" altLang="en-US"/>
          </a:p>
        </p:txBody>
      </p:sp>
      <p:sp>
        <p:nvSpPr>
          <p:cNvPr id="5129" name="Text Box 11"/>
          <p:cNvSpPr txBox="1">
            <a:spLocks noChangeArrowheads="1"/>
          </p:cNvSpPr>
          <p:nvPr/>
        </p:nvSpPr>
        <p:spPr bwMode="auto">
          <a:xfrm>
            <a:off x="4479925" y="3087688"/>
            <a:ext cx="404813" cy="457200"/>
          </a:xfrm>
          <a:prstGeom prst="rect">
            <a:avLst/>
          </a:prstGeom>
          <a:noFill/>
          <a:ln w="9525">
            <a:noFill/>
            <a:miter lim="800000"/>
            <a:headEnd/>
            <a:tailEnd/>
          </a:ln>
        </p:spPr>
        <p:txBody>
          <a:bodyPr wrap="none">
            <a:spAutoFit/>
          </a:bodyPr>
          <a:lstStyle/>
          <a:p>
            <a:r>
              <a:rPr lang="en-US" altLang="zh-CN" sz="2400" i="1">
                <a:solidFill>
                  <a:srgbClr val="FF0000"/>
                </a:solidFill>
                <a:latin typeface="Times New Roman" pitchFamily="18" charset="0"/>
                <a:ea typeface="宋体" pitchFamily="2" charset="-122"/>
                <a:sym typeface="Symbol" pitchFamily="18" charset="2"/>
              </a:rPr>
              <a:t>r</a:t>
            </a:r>
            <a:r>
              <a:rPr lang="en-US" altLang="zh-CN" sz="2400" i="1" baseline="-25000">
                <a:solidFill>
                  <a:srgbClr val="FF0000"/>
                </a:solidFill>
                <a:latin typeface="Times New Roman" pitchFamily="18" charset="0"/>
                <a:ea typeface="宋体" pitchFamily="2" charset="-122"/>
                <a:sym typeface="Symbol" pitchFamily="18" charset="2"/>
              </a:rPr>
              <a:t>2</a:t>
            </a:r>
          </a:p>
        </p:txBody>
      </p:sp>
      <p:sp>
        <p:nvSpPr>
          <p:cNvPr id="5130" name="Text Box 12"/>
          <p:cNvSpPr txBox="1">
            <a:spLocks noChangeArrowheads="1"/>
          </p:cNvSpPr>
          <p:nvPr/>
        </p:nvSpPr>
        <p:spPr bwMode="auto">
          <a:xfrm>
            <a:off x="5318125" y="1944688"/>
            <a:ext cx="404813" cy="457200"/>
          </a:xfrm>
          <a:prstGeom prst="rect">
            <a:avLst/>
          </a:prstGeom>
          <a:noFill/>
          <a:ln w="9525">
            <a:noFill/>
            <a:miter lim="800000"/>
            <a:headEnd/>
            <a:tailEnd/>
          </a:ln>
        </p:spPr>
        <p:txBody>
          <a:bodyPr wrap="none">
            <a:spAutoFit/>
          </a:bodyPr>
          <a:lstStyle/>
          <a:p>
            <a:r>
              <a:rPr lang="en-US" altLang="zh-CN" sz="2400" i="1">
                <a:solidFill>
                  <a:srgbClr val="FF0000"/>
                </a:solidFill>
                <a:latin typeface="Times New Roman" pitchFamily="18" charset="0"/>
                <a:ea typeface="宋体" pitchFamily="2" charset="-122"/>
                <a:sym typeface="Symbol" pitchFamily="18" charset="2"/>
              </a:rPr>
              <a:t>r</a:t>
            </a:r>
            <a:r>
              <a:rPr lang="en-US" altLang="zh-CN" sz="2400" i="1" baseline="-25000">
                <a:solidFill>
                  <a:srgbClr val="FF0000"/>
                </a:solidFill>
                <a:latin typeface="Times New Roman" pitchFamily="18" charset="0"/>
                <a:ea typeface="宋体" pitchFamily="2" charset="-122"/>
                <a:sym typeface="Symbol" pitchFamily="18" charset="2"/>
              </a:rPr>
              <a:t>1</a:t>
            </a:r>
          </a:p>
        </p:txBody>
      </p:sp>
      <p:sp>
        <p:nvSpPr>
          <p:cNvPr id="5132" name="Rectangle 16"/>
          <p:cNvSpPr>
            <a:spLocks noGrp="1" noChangeArrowheads="1"/>
          </p:cNvSpPr>
          <p:nvPr>
            <p:ph type="title"/>
          </p:nvPr>
        </p:nvSpPr>
        <p:spPr bwMode="auto">
          <a:xfrm>
            <a:off x="714348" y="1643050"/>
            <a:ext cx="7812087" cy="515927"/>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buFont typeface="Wingdings" pitchFamily="2" charset="2"/>
              <a:buChar char="u"/>
            </a:pPr>
            <a:r>
              <a:rPr lang="zh-CN" altLang="en-US" sz="2800" b="1" dirty="0" smtClean="0"/>
              <a:t>  变面积型</a:t>
            </a:r>
          </a:p>
        </p:txBody>
      </p:sp>
      <p:sp>
        <p:nvSpPr>
          <p:cNvPr id="14"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15" name="直接连接符 14"/>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2" name="Object 3"/>
          <p:cNvGraphicFramePr>
            <a:graphicFrameLocks noChangeAspect="1"/>
          </p:cNvGraphicFramePr>
          <p:nvPr/>
        </p:nvGraphicFramePr>
        <p:xfrm>
          <a:off x="3282950" y="4286250"/>
          <a:ext cx="1897063" cy="852488"/>
        </p:xfrm>
        <a:graphic>
          <a:graphicData uri="http://schemas.openxmlformats.org/presentationml/2006/ole">
            <p:oleObj spid="_x0000_s5123" name="Equation" r:id="rId4" imgW="774360" imgH="457200" progId="Equation.3">
              <p:embed/>
            </p:oleObj>
          </a:graphicData>
        </a:graphic>
      </p:graphicFrame>
      <p:grpSp>
        <p:nvGrpSpPr>
          <p:cNvPr id="18" name="组合 17"/>
          <p:cNvGrpSpPr/>
          <p:nvPr/>
        </p:nvGrpSpPr>
        <p:grpSpPr>
          <a:xfrm>
            <a:off x="214282" y="5214950"/>
            <a:ext cx="8678893" cy="1328725"/>
            <a:chOff x="214282" y="5214950"/>
            <a:chExt cx="8678893" cy="1328725"/>
          </a:xfrm>
        </p:grpSpPr>
        <p:sp>
          <p:nvSpPr>
            <p:cNvPr id="5133" name="Text Box 18"/>
            <p:cNvSpPr txBox="1">
              <a:spLocks noChangeArrowheads="1"/>
            </p:cNvSpPr>
            <p:nvPr/>
          </p:nvSpPr>
          <p:spPr bwMode="auto">
            <a:xfrm>
              <a:off x="214282" y="5214950"/>
              <a:ext cx="8678893" cy="523220"/>
            </a:xfrm>
            <a:prstGeom prst="rect">
              <a:avLst/>
            </a:prstGeom>
            <a:noFill/>
            <a:ln w="9525" algn="ctr">
              <a:noFill/>
              <a:miter lim="800000"/>
              <a:headEnd/>
              <a:tailEnd/>
            </a:ln>
          </p:spPr>
          <p:txBody>
            <a:bodyPr wrap="square">
              <a:spAutoFit/>
            </a:bodyPr>
            <a:lstStyle/>
            <a:p>
              <a:pPr marL="838200" indent="-838200"/>
              <a:r>
                <a:rPr lang="zh-CN" altLang="en-US" b="1" dirty="0" smtClean="0">
                  <a:solidFill>
                    <a:schemeClr val="tx1"/>
                  </a:solidFill>
                  <a:latin typeface="Times New Roman" pitchFamily="18" charset="0"/>
                  <a:ea typeface="宋体" pitchFamily="2" charset="-122"/>
                </a:rPr>
                <a:t>圆柱型（忽略边缘效应）电容：</a:t>
              </a:r>
              <a:endParaRPr lang="zh-CN" altLang="en-US" b="1" i="1" dirty="0">
                <a:solidFill>
                  <a:srgbClr val="CC3300"/>
                </a:solidFill>
                <a:latin typeface="Times New Roman" pitchFamily="18" charset="0"/>
                <a:ea typeface="宋体" pitchFamily="2" charset="-122"/>
                <a:sym typeface="Symbol" pitchFamily="18" charset="2"/>
              </a:endParaRPr>
            </a:p>
          </p:txBody>
        </p:sp>
        <p:graphicFrame>
          <p:nvGraphicFramePr>
            <p:cNvPr id="3" name="Object 4"/>
            <p:cNvGraphicFramePr>
              <a:graphicFrameLocks noChangeAspect="1"/>
            </p:cNvGraphicFramePr>
            <p:nvPr/>
          </p:nvGraphicFramePr>
          <p:xfrm>
            <a:off x="3217863" y="5738813"/>
            <a:ext cx="2176462" cy="804862"/>
          </p:xfrm>
          <a:graphic>
            <a:graphicData uri="http://schemas.openxmlformats.org/presentationml/2006/ole">
              <p:oleObj spid="_x0000_s5124" name="Equation" r:id="rId5" imgW="888840" imgH="43164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linds(horizont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11"/>
          <p:cNvSpPr txBox="1">
            <a:spLocks noChangeArrowheads="1"/>
          </p:cNvSpPr>
          <p:nvPr/>
        </p:nvSpPr>
        <p:spPr bwMode="auto">
          <a:xfrm>
            <a:off x="214282" y="2143116"/>
            <a:ext cx="8678893" cy="4228850"/>
          </a:xfrm>
          <a:prstGeom prst="rect">
            <a:avLst/>
          </a:prstGeom>
          <a:noFill/>
          <a:ln w="9525">
            <a:noFill/>
            <a:miter lim="800000"/>
            <a:headEnd/>
            <a:tailEnd/>
          </a:ln>
        </p:spPr>
        <p:txBody>
          <a:bodyPr wrap="square">
            <a:spAutoFit/>
          </a:bodyPr>
          <a:lstStyle/>
          <a:p>
            <a:pPr eaLnBrk="0" hangingPunct="0">
              <a:lnSpc>
                <a:spcPct val="120000"/>
              </a:lnSpc>
            </a:pPr>
            <a:r>
              <a:rPr lang="en-US" altLang="zh-CN" b="1" dirty="0">
                <a:solidFill>
                  <a:schemeClr val="tx1"/>
                </a:solidFill>
                <a:latin typeface="Verdana" pitchFamily="34" charset="0"/>
                <a:ea typeface="宋体" pitchFamily="2" charset="-122"/>
              </a:rPr>
              <a:t>      </a:t>
            </a:r>
            <a:r>
              <a:rPr lang="zh-CN" altLang="en-US" b="1" dirty="0">
                <a:solidFill>
                  <a:schemeClr val="tx1"/>
                </a:solidFill>
                <a:latin typeface="Verdana" pitchFamily="34" charset="0"/>
                <a:ea typeface="宋体" pitchFamily="2" charset="-122"/>
              </a:rPr>
              <a:t>变极距型和变面积型电容传感器一般采用空气作电介质</a:t>
            </a:r>
            <a:r>
              <a:rPr lang="zh-CN" altLang="en-US" b="1" dirty="0" smtClean="0">
                <a:solidFill>
                  <a:schemeClr val="tx1"/>
                </a:solidFill>
                <a:latin typeface="Verdana" pitchFamily="34" charset="0"/>
                <a:ea typeface="宋体" pitchFamily="2" charset="-122"/>
              </a:rPr>
              <a:t>。</a:t>
            </a:r>
            <a:endParaRPr lang="en-US" altLang="zh-CN" b="1" dirty="0" smtClean="0">
              <a:solidFill>
                <a:schemeClr val="tx1"/>
              </a:solidFill>
              <a:latin typeface="Verdana" pitchFamily="34" charset="0"/>
              <a:ea typeface="宋体" pitchFamily="2" charset="-122"/>
            </a:endParaRPr>
          </a:p>
          <a:p>
            <a:pPr indent="627063" eaLnBrk="0" hangingPunct="0">
              <a:lnSpc>
                <a:spcPct val="120000"/>
              </a:lnSpc>
            </a:pPr>
            <a:r>
              <a:rPr lang="zh-CN" altLang="en-US" b="1" dirty="0" smtClean="0">
                <a:solidFill>
                  <a:srgbClr val="FF0000"/>
                </a:solidFill>
                <a:latin typeface="Verdana" pitchFamily="34" charset="0"/>
                <a:ea typeface="宋体" pitchFamily="2" charset="-122"/>
              </a:rPr>
              <a:t>优点：</a:t>
            </a:r>
            <a:r>
              <a:rPr lang="zh-CN" altLang="en-US" b="1" dirty="0" smtClean="0">
                <a:solidFill>
                  <a:schemeClr val="tx1"/>
                </a:solidFill>
                <a:latin typeface="Verdana" pitchFamily="34" charset="0"/>
                <a:ea typeface="宋体" pitchFamily="2" charset="-122"/>
              </a:rPr>
              <a:t>空气</a:t>
            </a:r>
            <a:r>
              <a:rPr lang="zh-CN" altLang="en-US" b="1" dirty="0">
                <a:solidFill>
                  <a:schemeClr val="tx1"/>
                </a:solidFill>
                <a:latin typeface="Verdana" pitchFamily="34" charset="0"/>
                <a:ea typeface="宋体" pitchFamily="2" charset="-122"/>
              </a:rPr>
              <a:t>的介电常数在很大的频率变化范围内见乎</a:t>
            </a:r>
            <a:r>
              <a:rPr lang="zh-CN" altLang="en-US" b="1" dirty="0" smtClean="0">
                <a:solidFill>
                  <a:schemeClr val="tx1"/>
                </a:solidFill>
                <a:latin typeface="Verdana" pitchFamily="34" charset="0"/>
                <a:ea typeface="宋体" pitchFamily="2" charset="-122"/>
              </a:rPr>
              <a:t>不变；温度</a:t>
            </a:r>
            <a:r>
              <a:rPr lang="zh-CN" altLang="en-US" b="1" dirty="0">
                <a:solidFill>
                  <a:schemeClr val="tx1"/>
                </a:solidFill>
                <a:latin typeface="Verdana" pitchFamily="34" charset="0"/>
                <a:ea typeface="宋体" pitchFamily="2" charset="-122"/>
              </a:rPr>
              <a:t>稳定型</a:t>
            </a:r>
            <a:r>
              <a:rPr lang="zh-CN" altLang="en-US" b="1" dirty="0" smtClean="0">
                <a:solidFill>
                  <a:schemeClr val="tx1"/>
                </a:solidFill>
                <a:latin typeface="Verdana" pitchFamily="34" charset="0"/>
                <a:ea typeface="宋体" pitchFamily="2" charset="-122"/>
              </a:rPr>
              <a:t>好；介质</a:t>
            </a:r>
            <a:r>
              <a:rPr lang="zh-CN" altLang="en-US" b="1" dirty="0">
                <a:solidFill>
                  <a:schemeClr val="tx1"/>
                </a:solidFill>
                <a:latin typeface="Verdana" pitchFamily="34" charset="0"/>
                <a:ea typeface="宋体" pitchFamily="2" charset="-122"/>
              </a:rPr>
              <a:t>的电导率极小，损耗极低</a:t>
            </a:r>
            <a:r>
              <a:rPr lang="zh-CN" altLang="en-US" b="1" dirty="0" smtClean="0">
                <a:solidFill>
                  <a:schemeClr val="tx1"/>
                </a:solidFill>
                <a:latin typeface="Verdana" pitchFamily="34" charset="0"/>
                <a:ea typeface="宋体" pitchFamily="2" charset="-122"/>
              </a:rPr>
              <a:t>。</a:t>
            </a:r>
            <a:endParaRPr lang="en-US" altLang="zh-CN" b="1" dirty="0" smtClean="0">
              <a:solidFill>
                <a:schemeClr val="tx1"/>
              </a:solidFill>
              <a:latin typeface="Verdana" pitchFamily="34" charset="0"/>
              <a:ea typeface="宋体" pitchFamily="2" charset="-122"/>
            </a:endParaRPr>
          </a:p>
          <a:p>
            <a:pPr indent="627063" eaLnBrk="0" hangingPunct="0">
              <a:lnSpc>
                <a:spcPct val="120000"/>
              </a:lnSpc>
            </a:pPr>
            <a:r>
              <a:rPr lang="zh-CN" altLang="en-US" b="1" dirty="0" smtClean="0">
                <a:solidFill>
                  <a:srgbClr val="FF0000"/>
                </a:solidFill>
                <a:latin typeface="Verdana" pitchFamily="34" charset="0"/>
                <a:ea typeface="宋体" pitchFamily="2" charset="-122"/>
              </a:rPr>
              <a:t>缺点：</a:t>
            </a:r>
            <a:r>
              <a:rPr lang="zh-CN" altLang="en-US" b="1" dirty="0" smtClean="0">
                <a:solidFill>
                  <a:schemeClr val="tx1"/>
                </a:solidFill>
                <a:latin typeface="Verdana" pitchFamily="34" charset="0"/>
                <a:ea typeface="宋体" pitchFamily="2" charset="-122"/>
              </a:rPr>
              <a:t>空气</a:t>
            </a:r>
            <a:r>
              <a:rPr lang="zh-CN" altLang="en-US" b="1" dirty="0">
                <a:solidFill>
                  <a:schemeClr val="tx1"/>
                </a:solidFill>
                <a:latin typeface="Verdana" pitchFamily="34" charset="0"/>
                <a:ea typeface="宋体" pitchFamily="2" charset="-122"/>
              </a:rPr>
              <a:t>的介电常数</a:t>
            </a:r>
            <a:r>
              <a:rPr lang="zh-CN" altLang="en-US" b="1" i="1" dirty="0">
                <a:solidFill>
                  <a:srgbClr val="C00000"/>
                </a:solidFill>
                <a:latin typeface="Lucida Sans" pitchFamily="34" charset="0"/>
                <a:ea typeface="宋体" pitchFamily="2" charset="-122"/>
                <a:sym typeface="Symbol" pitchFamily="18" charset="2"/>
              </a:rPr>
              <a:t></a:t>
            </a:r>
            <a:r>
              <a:rPr lang="en-US" altLang="zh-CN" b="1" i="1" baseline="-25000" dirty="0">
                <a:solidFill>
                  <a:srgbClr val="C00000"/>
                </a:solidFill>
                <a:latin typeface="Lucida Sans" pitchFamily="34" charset="0"/>
                <a:ea typeface="宋体" pitchFamily="2" charset="-122"/>
                <a:sym typeface="Symbol" pitchFamily="18" charset="2"/>
              </a:rPr>
              <a:t>0</a:t>
            </a:r>
            <a:r>
              <a:rPr lang="zh-CN" altLang="en-US" b="1" dirty="0">
                <a:solidFill>
                  <a:schemeClr val="tx1"/>
                </a:solidFill>
                <a:latin typeface="Verdana" pitchFamily="34" charset="0"/>
                <a:ea typeface="宋体" pitchFamily="2" charset="-122"/>
              </a:rPr>
              <a:t>小</a:t>
            </a:r>
            <a:r>
              <a:rPr lang="zh-CN" altLang="en-US" b="1" dirty="0" smtClean="0">
                <a:solidFill>
                  <a:schemeClr val="tx1"/>
                </a:solidFill>
                <a:latin typeface="Verdana" pitchFamily="34" charset="0"/>
                <a:ea typeface="宋体" pitchFamily="2" charset="-122"/>
              </a:rPr>
              <a:t>，导致电容</a:t>
            </a:r>
            <a:r>
              <a:rPr lang="zh-CN" altLang="en-US" b="1" dirty="0">
                <a:solidFill>
                  <a:schemeClr val="tx1"/>
                </a:solidFill>
                <a:latin typeface="Verdana" pitchFamily="34" charset="0"/>
                <a:ea typeface="宋体" pitchFamily="2" charset="-122"/>
              </a:rPr>
              <a:t>量也很小，寄生电容</a:t>
            </a:r>
            <a:r>
              <a:rPr lang="zh-CN" altLang="en-US" b="1" dirty="0" smtClean="0">
                <a:solidFill>
                  <a:schemeClr val="tx1"/>
                </a:solidFill>
                <a:latin typeface="Verdana" pitchFamily="34" charset="0"/>
                <a:ea typeface="宋体" pitchFamily="2" charset="-122"/>
              </a:rPr>
              <a:t>影响大</a:t>
            </a:r>
            <a:r>
              <a:rPr lang="zh-CN" altLang="en-US" b="1" dirty="0">
                <a:solidFill>
                  <a:schemeClr val="tx1"/>
                </a:solidFill>
                <a:latin typeface="Verdana" pitchFamily="34" charset="0"/>
                <a:ea typeface="宋体" pitchFamily="2" charset="-122"/>
              </a:rPr>
              <a:t>，要求传感器的绝缘材料有高的绝缘性能。</a:t>
            </a:r>
            <a:endParaRPr lang="zh-CN" altLang="en-US" b="1" dirty="0">
              <a:solidFill>
                <a:schemeClr val="tx1"/>
              </a:solidFill>
            </a:endParaRPr>
          </a:p>
        </p:txBody>
      </p:sp>
      <p:sp>
        <p:nvSpPr>
          <p:cNvPr id="28676" name="Rectangle 13"/>
          <p:cNvSpPr>
            <a:spLocks noGrp="1" noChangeArrowheads="1"/>
          </p:cNvSpPr>
          <p:nvPr>
            <p:ph type="title"/>
          </p:nvPr>
        </p:nvSpPr>
        <p:spPr bwMode="auto">
          <a:xfrm>
            <a:off x="714348" y="1571612"/>
            <a:ext cx="7812087" cy="576262"/>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r>
              <a:rPr lang="zh-CN" altLang="en-US" sz="2800" b="1" dirty="0" smtClean="0"/>
              <a:t>变面积型</a:t>
            </a:r>
          </a:p>
        </p:txBody>
      </p:sp>
      <p:sp>
        <p:nvSpPr>
          <p:cNvPr id="5"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8674">
                                            <p:txEl>
                                              <p:pRg st="0" end="0"/>
                                            </p:txEl>
                                          </p:spTgt>
                                        </p:tgtEl>
                                        <p:attrNameLst>
                                          <p:attrName>style.visibility</p:attrName>
                                        </p:attrNameLst>
                                      </p:cBhvr>
                                      <p:to>
                                        <p:strVal val="visible"/>
                                      </p:to>
                                    </p:set>
                                    <p:animEffect transition="in" filter="blinds(horizontal)">
                                      <p:cBhvr>
                                        <p:cTn id="7" dur="500"/>
                                        <p:tgtEl>
                                          <p:spTgt spid="286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674">
                                            <p:txEl>
                                              <p:pRg st="1" end="1"/>
                                            </p:txEl>
                                          </p:spTgt>
                                        </p:tgtEl>
                                        <p:attrNameLst>
                                          <p:attrName>style.visibility</p:attrName>
                                        </p:attrNameLst>
                                      </p:cBhvr>
                                      <p:to>
                                        <p:strVal val="visible"/>
                                      </p:to>
                                    </p:set>
                                    <p:animEffect transition="in" filter="blinds(horizontal)">
                                      <p:cBhvr>
                                        <p:cTn id="12" dur="500"/>
                                        <p:tgtEl>
                                          <p:spTgt spid="286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674">
                                            <p:txEl>
                                              <p:pRg st="2" end="2"/>
                                            </p:txEl>
                                          </p:spTgt>
                                        </p:tgtEl>
                                        <p:attrNameLst>
                                          <p:attrName>style.visibility</p:attrName>
                                        </p:attrNameLst>
                                      </p:cBhvr>
                                      <p:to>
                                        <p:strVal val="visible"/>
                                      </p:to>
                                    </p:set>
                                    <p:animEffect transition="in" filter="blinds(horizontal)">
                                      <p:cBhvr>
                                        <p:cTn id="17" dur="500"/>
                                        <p:tgtEl>
                                          <p:spTgt spid="2867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2133600" y="3644900"/>
            <a:ext cx="1387475" cy="396875"/>
          </a:xfrm>
          <a:prstGeom prst="rect">
            <a:avLst/>
          </a:prstGeom>
          <a:noFill/>
          <a:ln w="9525">
            <a:noFill/>
            <a:miter lim="800000"/>
            <a:headEnd/>
            <a:tailEnd/>
          </a:ln>
        </p:spPr>
        <p:txBody>
          <a:bodyPr>
            <a:spAutoFit/>
          </a:bodyPr>
          <a:lstStyle/>
          <a:p>
            <a:pPr algn="ctr"/>
            <a:r>
              <a:rPr lang="zh-CN" altLang="en-US" sz="2000" b="1" dirty="0">
                <a:solidFill>
                  <a:schemeClr val="tx1"/>
                </a:solidFill>
                <a:latin typeface="Verdana" pitchFamily="34" charset="0"/>
                <a:ea typeface="楷体_GB2312" pitchFamily="49" charset="-122"/>
              </a:rPr>
              <a:t>测厚度</a:t>
            </a:r>
          </a:p>
        </p:txBody>
      </p:sp>
      <p:sp>
        <p:nvSpPr>
          <p:cNvPr id="6149" name="Text Box 5"/>
          <p:cNvSpPr txBox="1">
            <a:spLocks noChangeArrowheads="1"/>
          </p:cNvSpPr>
          <p:nvPr/>
        </p:nvSpPr>
        <p:spPr bwMode="auto">
          <a:xfrm>
            <a:off x="3779838" y="3644900"/>
            <a:ext cx="1006476" cy="400110"/>
          </a:xfrm>
          <a:prstGeom prst="rect">
            <a:avLst/>
          </a:prstGeom>
          <a:noFill/>
          <a:ln w="9525">
            <a:noFill/>
            <a:miter lim="800000"/>
            <a:headEnd/>
            <a:tailEnd/>
          </a:ln>
        </p:spPr>
        <p:txBody>
          <a:bodyPr wrap="square">
            <a:spAutoFit/>
          </a:bodyPr>
          <a:lstStyle/>
          <a:p>
            <a:pPr algn="ctr"/>
            <a:r>
              <a:rPr lang="zh-CN" altLang="en-US" sz="2000" b="1" dirty="0">
                <a:solidFill>
                  <a:schemeClr val="tx1"/>
                </a:solidFill>
                <a:latin typeface="Verdana" pitchFamily="34" charset="0"/>
                <a:ea typeface="楷体_GB2312" pitchFamily="49" charset="-122"/>
              </a:rPr>
              <a:t>测位移</a:t>
            </a:r>
          </a:p>
        </p:txBody>
      </p:sp>
      <p:sp>
        <p:nvSpPr>
          <p:cNvPr id="6150" name="Text Box 6"/>
          <p:cNvSpPr txBox="1">
            <a:spLocks noChangeArrowheads="1"/>
          </p:cNvSpPr>
          <p:nvPr/>
        </p:nvSpPr>
        <p:spPr bwMode="auto">
          <a:xfrm>
            <a:off x="5003800" y="3644900"/>
            <a:ext cx="1158875" cy="396875"/>
          </a:xfrm>
          <a:prstGeom prst="rect">
            <a:avLst/>
          </a:prstGeom>
          <a:noFill/>
          <a:ln w="9525">
            <a:noFill/>
            <a:miter lim="800000"/>
            <a:headEnd/>
            <a:tailEnd/>
          </a:ln>
        </p:spPr>
        <p:txBody>
          <a:bodyPr>
            <a:spAutoFit/>
          </a:bodyPr>
          <a:lstStyle/>
          <a:p>
            <a:pPr algn="ctr"/>
            <a:r>
              <a:rPr lang="zh-CN" altLang="en-US" sz="2000" b="1" dirty="0">
                <a:solidFill>
                  <a:schemeClr val="tx1"/>
                </a:solidFill>
                <a:latin typeface="Verdana" pitchFamily="34" charset="0"/>
                <a:ea typeface="楷体_GB2312" pitchFamily="49" charset="-122"/>
              </a:rPr>
              <a:t>测液位</a:t>
            </a:r>
          </a:p>
        </p:txBody>
      </p:sp>
      <p:sp>
        <p:nvSpPr>
          <p:cNvPr id="6151" name="Text Box 7"/>
          <p:cNvSpPr txBox="1">
            <a:spLocks noChangeArrowheads="1"/>
          </p:cNvSpPr>
          <p:nvPr/>
        </p:nvSpPr>
        <p:spPr bwMode="auto">
          <a:xfrm>
            <a:off x="6300788" y="3644900"/>
            <a:ext cx="1920875" cy="396875"/>
          </a:xfrm>
          <a:prstGeom prst="rect">
            <a:avLst/>
          </a:prstGeom>
          <a:noFill/>
          <a:ln w="9525">
            <a:noFill/>
            <a:miter lim="800000"/>
            <a:headEnd/>
            <a:tailEnd/>
          </a:ln>
        </p:spPr>
        <p:txBody>
          <a:bodyPr>
            <a:spAutoFit/>
          </a:bodyPr>
          <a:lstStyle/>
          <a:p>
            <a:pPr algn="ctr"/>
            <a:r>
              <a:rPr lang="zh-CN" altLang="en-US" sz="2000" b="1" dirty="0">
                <a:solidFill>
                  <a:schemeClr val="tx1"/>
                </a:solidFill>
                <a:latin typeface="Verdana" pitchFamily="34" charset="0"/>
                <a:ea typeface="楷体_GB2312" pitchFamily="49" charset="-122"/>
              </a:rPr>
              <a:t>测其它间接量</a:t>
            </a:r>
          </a:p>
        </p:txBody>
      </p:sp>
      <p:graphicFrame>
        <p:nvGraphicFramePr>
          <p:cNvPr id="6146" name="Object 8"/>
          <p:cNvGraphicFramePr>
            <a:graphicFrameLocks noChangeAspect="1"/>
          </p:cNvGraphicFramePr>
          <p:nvPr/>
        </p:nvGraphicFramePr>
        <p:xfrm>
          <a:off x="1692275" y="2205038"/>
          <a:ext cx="5991225" cy="1295400"/>
        </p:xfrm>
        <a:graphic>
          <a:graphicData uri="http://schemas.openxmlformats.org/presentationml/2006/ole">
            <p:oleObj spid="_x0000_s6146" name="图像文档" r:id="rId3" imgW="5991120" imgH="1295280" progId="">
              <p:embed/>
            </p:oleObj>
          </a:graphicData>
        </a:graphic>
      </p:graphicFrame>
      <p:sp>
        <p:nvSpPr>
          <p:cNvPr id="6152" name="Text Box 9"/>
          <p:cNvSpPr txBox="1">
            <a:spLocks noChangeArrowheads="1"/>
          </p:cNvSpPr>
          <p:nvPr/>
        </p:nvSpPr>
        <p:spPr bwMode="auto">
          <a:xfrm>
            <a:off x="857224" y="4214818"/>
            <a:ext cx="7750171" cy="519113"/>
          </a:xfrm>
          <a:prstGeom prst="rect">
            <a:avLst/>
          </a:prstGeom>
          <a:noFill/>
          <a:ln w="9525">
            <a:noFill/>
            <a:miter lim="800000"/>
            <a:headEnd/>
            <a:tailEnd/>
          </a:ln>
        </p:spPr>
        <p:txBody>
          <a:bodyPr wrap="square">
            <a:spAutoFit/>
          </a:bodyPr>
          <a:lstStyle/>
          <a:p>
            <a:pPr>
              <a:spcBef>
                <a:spcPct val="50000"/>
              </a:spcBef>
            </a:pPr>
            <a:r>
              <a:rPr lang="zh-CN" altLang="en-US" b="1" dirty="0">
                <a:solidFill>
                  <a:schemeClr val="tx1"/>
                </a:solidFill>
                <a:latin typeface="Verdana" pitchFamily="34" charset="0"/>
                <a:ea typeface="宋体" pitchFamily="2" charset="-122"/>
              </a:rPr>
              <a:t>测量液面高度时，电容与液面高度之间的关系为</a:t>
            </a:r>
            <a:r>
              <a:rPr lang="zh-CN" altLang="en-US" dirty="0">
                <a:solidFill>
                  <a:schemeClr val="tx1"/>
                </a:solidFill>
                <a:latin typeface="Verdana" pitchFamily="34" charset="0"/>
                <a:ea typeface="宋体" pitchFamily="2" charset="-122"/>
              </a:rPr>
              <a:t>：</a:t>
            </a:r>
          </a:p>
        </p:txBody>
      </p:sp>
      <p:graphicFrame>
        <p:nvGraphicFramePr>
          <p:cNvPr id="6147" name="Object 10"/>
          <p:cNvGraphicFramePr>
            <a:graphicFrameLocks noChangeAspect="1"/>
          </p:cNvGraphicFramePr>
          <p:nvPr/>
        </p:nvGraphicFramePr>
        <p:xfrm>
          <a:off x="2806700" y="4868863"/>
          <a:ext cx="3038475" cy="609600"/>
        </p:xfrm>
        <a:graphic>
          <a:graphicData uri="http://schemas.openxmlformats.org/presentationml/2006/ole">
            <p:oleObj spid="_x0000_s6147" name="图像文档" r:id="rId4" imgW="3038400" imgH="609480" progId="">
              <p:embed/>
            </p:oleObj>
          </a:graphicData>
        </a:graphic>
      </p:graphicFrame>
      <p:sp>
        <p:nvSpPr>
          <p:cNvPr id="6153" name="Text Box 11"/>
          <p:cNvSpPr txBox="1">
            <a:spLocks noChangeArrowheads="1"/>
          </p:cNvSpPr>
          <p:nvPr/>
        </p:nvSpPr>
        <p:spPr bwMode="auto">
          <a:xfrm>
            <a:off x="935038" y="5516563"/>
            <a:ext cx="5562600" cy="519112"/>
          </a:xfrm>
          <a:prstGeom prst="rect">
            <a:avLst/>
          </a:prstGeom>
          <a:noFill/>
          <a:ln w="9525">
            <a:noFill/>
            <a:miter lim="800000"/>
            <a:headEnd/>
            <a:tailEnd/>
          </a:ln>
        </p:spPr>
        <p:txBody>
          <a:bodyPr>
            <a:spAutoFit/>
          </a:bodyPr>
          <a:lstStyle/>
          <a:p>
            <a:pPr>
              <a:spcBef>
                <a:spcPct val="50000"/>
              </a:spcBef>
            </a:pPr>
            <a:r>
              <a:rPr lang="zh-CN" altLang="en-US" b="1" dirty="0">
                <a:solidFill>
                  <a:schemeClr val="tx1"/>
                </a:solidFill>
                <a:latin typeface="Verdana" pitchFamily="34" charset="0"/>
                <a:ea typeface="宋体" pitchFamily="2" charset="-122"/>
              </a:rPr>
              <a:t>电容</a:t>
            </a:r>
            <a:r>
              <a:rPr lang="zh-CN" altLang="en-US" b="1" dirty="0" smtClean="0">
                <a:solidFill>
                  <a:schemeClr val="tx1"/>
                </a:solidFill>
                <a:latin typeface="Verdana" pitchFamily="34" charset="0"/>
                <a:ea typeface="宋体" pitchFamily="2" charset="-122"/>
              </a:rPr>
              <a:t>量与</a:t>
            </a:r>
            <a:r>
              <a:rPr lang="zh-CN" altLang="en-US" b="1" dirty="0">
                <a:solidFill>
                  <a:schemeClr val="tx1"/>
                </a:solidFill>
                <a:latin typeface="Verdana" pitchFamily="34" charset="0"/>
                <a:ea typeface="宋体" pitchFamily="2" charset="-122"/>
              </a:rPr>
              <a:t>液位之间呈线性关系。</a:t>
            </a:r>
          </a:p>
        </p:txBody>
      </p:sp>
      <p:sp>
        <p:nvSpPr>
          <p:cNvPr id="6155" name="Rectangle 14"/>
          <p:cNvSpPr>
            <a:spLocks noGrp="1" noChangeArrowheads="1"/>
          </p:cNvSpPr>
          <p:nvPr>
            <p:ph type="title"/>
          </p:nvPr>
        </p:nvSpPr>
        <p:spPr bwMode="auto">
          <a:xfrm>
            <a:off x="571472" y="1571612"/>
            <a:ext cx="7812087" cy="576262"/>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buFont typeface="Wingdings" pitchFamily="2" charset="2"/>
              <a:buChar char="u"/>
            </a:pPr>
            <a:r>
              <a:rPr lang="zh-CN" altLang="en-US" sz="2800" b="1" dirty="0" smtClean="0"/>
              <a:t> 变介电常数型</a:t>
            </a:r>
          </a:p>
        </p:txBody>
      </p:sp>
      <p:sp>
        <p:nvSpPr>
          <p:cNvPr id="12"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13" name="直接连接符 12"/>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blinds(horizontal)">
                                      <p:cBhvr>
                                        <p:cTn id="7" dur="500"/>
                                        <p:tgtEl>
                                          <p:spTgt spid="615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147"/>
                                        </p:tgtEl>
                                        <p:attrNameLst>
                                          <p:attrName>style.visibility</p:attrName>
                                        </p:attrNameLst>
                                      </p:cBhvr>
                                      <p:to>
                                        <p:strVal val="visible"/>
                                      </p:to>
                                    </p:set>
                                    <p:animEffect transition="in" filter="blinds(horizontal)">
                                      <p:cBhvr>
                                        <p:cTn id="12" dur="500"/>
                                        <p:tgtEl>
                                          <p:spTgt spid="6147"/>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6153"/>
                                        </p:tgtEl>
                                        <p:attrNameLst>
                                          <p:attrName>style.visibility</p:attrName>
                                        </p:attrNameLst>
                                      </p:cBhvr>
                                      <p:to>
                                        <p:strVal val="visible"/>
                                      </p:to>
                                    </p:set>
                                    <p:animEffect transition="in" filter="blinds(horizontal)">
                                      <p:cBhvr>
                                        <p:cTn id="16" dur="500"/>
                                        <p:tgtEl>
                                          <p:spTgt spid="6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P spid="615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7"/>
          <p:cNvSpPr>
            <a:spLocks noGrp="1" noChangeArrowheads="1"/>
          </p:cNvSpPr>
          <p:nvPr>
            <p:ph type="title"/>
          </p:nvPr>
        </p:nvSpPr>
        <p:spPr bwMode="auto">
          <a:xfrm>
            <a:off x="500034" y="1571612"/>
            <a:ext cx="8229600" cy="587365"/>
          </a:xfrm>
          <a:noFill/>
          <a:ln>
            <a:miter lim="800000"/>
            <a:headEnd/>
            <a:tailEnd/>
          </a:ln>
        </p:spPr>
        <p:txBody>
          <a:bodyPr vert="horz" wrap="square" lIns="91440" tIns="45720" rIns="91440" bIns="45720" numCol="1" anchor="t" anchorCtr="0" compatLnSpc="1">
            <a:prstTxWarp prst="textNoShape">
              <a:avLst/>
            </a:prstTxWarp>
          </a:bodyPr>
          <a:lstStyle/>
          <a:p>
            <a:pPr algn="l"/>
            <a:r>
              <a:rPr lang="zh-CN" altLang="en-US" sz="2800" b="1" dirty="0" smtClean="0">
                <a:solidFill>
                  <a:srgbClr val="F84D08"/>
                </a:solidFill>
                <a:latin typeface="黑体" pitchFamily="2" charset="-122"/>
                <a:ea typeface="黑体" pitchFamily="2" charset="-122"/>
              </a:rPr>
              <a:t>特点</a:t>
            </a:r>
          </a:p>
        </p:txBody>
      </p:sp>
      <p:sp>
        <p:nvSpPr>
          <p:cNvPr id="30724" name="Text Box 9"/>
          <p:cNvSpPr txBox="1">
            <a:spLocks noChangeArrowheads="1"/>
          </p:cNvSpPr>
          <p:nvPr/>
        </p:nvSpPr>
        <p:spPr bwMode="auto">
          <a:xfrm>
            <a:off x="214282" y="2071678"/>
            <a:ext cx="8715436" cy="523220"/>
          </a:xfrm>
          <a:prstGeom prst="rect">
            <a:avLst/>
          </a:prstGeom>
          <a:noFill/>
          <a:ln w="9525" algn="ctr">
            <a:noFill/>
            <a:miter lim="800000"/>
            <a:headEnd/>
            <a:tailEnd/>
          </a:ln>
        </p:spPr>
        <p:txBody>
          <a:bodyPr wrap="square">
            <a:spAutoFit/>
          </a:bodyPr>
          <a:lstStyle/>
          <a:p>
            <a:pPr>
              <a:buFont typeface="Wingdings" pitchFamily="2" charset="2"/>
              <a:buChar char="u"/>
            </a:pPr>
            <a:r>
              <a:rPr lang="zh-CN" altLang="en-US" b="1" dirty="0" smtClean="0">
                <a:solidFill>
                  <a:schemeClr val="tx1"/>
                </a:solidFill>
                <a:latin typeface="Tahoma" pitchFamily="34" charset="0"/>
                <a:ea typeface="宋体" pitchFamily="2" charset="-122"/>
              </a:rPr>
              <a:t>优点（与</a:t>
            </a:r>
            <a:r>
              <a:rPr lang="zh-CN" altLang="en-US" b="1" dirty="0">
                <a:solidFill>
                  <a:schemeClr val="tx1"/>
                </a:solidFill>
                <a:latin typeface="Tahoma" pitchFamily="34" charset="0"/>
                <a:ea typeface="宋体" pitchFamily="2" charset="-122"/>
              </a:rPr>
              <a:t>电阻式、电感式传感器</a:t>
            </a:r>
            <a:r>
              <a:rPr lang="zh-CN" altLang="en-US" b="1" dirty="0" smtClean="0">
                <a:solidFill>
                  <a:schemeClr val="tx1"/>
                </a:solidFill>
                <a:latin typeface="Tahoma" pitchFamily="34" charset="0"/>
                <a:ea typeface="宋体" pitchFamily="2" charset="-122"/>
              </a:rPr>
              <a:t>相比）</a:t>
            </a:r>
            <a:endParaRPr lang="zh-CN" altLang="en-US" b="1" dirty="0">
              <a:solidFill>
                <a:schemeClr val="tx1"/>
              </a:solidFill>
              <a:latin typeface="Tahoma" pitchFamily="34" charset="0"/>
              <a:ea typeface="宋体" pitchFamily="2" charset="-122"/>
            </a:endParaRPr>
          </a:p>
        </p:txBody>
      </p:sp>
      <p:sp>
        <p:nvSpPr>
          <p:cNvPr id="5"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7" name="图示 6"/>
          <p:cNvGraphicFramePr/>
          <p:nvPr/>
        </p:nvGraphicFramePr>
        <p:xfrm>
          <a:off x="285720" y="2571744"/>
          <a:ext cx="8643998"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
                                            <p:graphicEl>
                                              <a:dgm id="{1D1586D5-3011-4BFC-9DB4-06E958C4625E}"/>
                                            </p:graphicEl>
                                          </p:spTgt>
                                        </p:tgtEl>
                                        <p:attrNameLst>
                                          <p:attrName>style.visibility</p:attrName>
                                        </p:attrNameLst>
                                      </p:cBhvr>
                                      <p:to>
                                        <p:strVal val="visible"/>
                                      </p:to>
                                    </p:set>
                                    <p:animEffect transition="in" filter="diamond(in)">
                                      <p:cBhvr>
                                        <p:cTn id="7" dur="2000"/>
                                        <p:tgtEl>
                                          <p:spTgt spid="7">
                                            <p:graphicEl>
                                              <a:dgm id="{1D1586D5-3011-4BFC-9DB4-06E958C4625E}"/>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7">
                                            <p:graphicEl>
                                              <a:dgm id="{CFEFE37C-4717-4206-8B1B-68CE96CCD139}"/>
                                            </p:graphicEl>
                                          </p:spTgt>
                                        </p:tgtEl>
                                        <p:attrNameLst>
                                          <p:attrName>style.visibility</p:attrName>
                                        </p:attrNameLst>
                                      </p:cBhvr>
                                      <p:to>
                                        <p:strVal val="visible"/>
                                      </p:to>
                                    </p:set>
                                    <p:animEffect transition="in" filter="diamond(in)">
                                      <p:cBhvr>
                                        <p:cTn id="12" dur="2000"/>
                                        <p:tgtEl>
                                          <p:spTgt spid="7">
                                            <p:graphicEl>
                                              <a:dgm id="{CFEFE37C-4717-4206-8B1B-68CE96CCD139}"/>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7">
                                            <p:graphicEl>
                                              <a:dgm id="{84B241E9-67F0-4A25-8537-AC6779A193EA}"/>
                                            </p:graphicEl>
                                          </p:spTgt>
                                        </p:tgtEl>
                                        <p:attrNameLst>
                                          <p:attrName>style.visibility</p:attrName>
                                        </p:attrNameLst>
                                      </p:cBhvr>
                                      <p:to>
                                        <p:strVal val="visible"/>
                                      </p:to>
                                    </p:set>
                                    <p:animEffect transition="in" filter="diamond(in)">
                                      <p:cBhvr>
                                        <p:cTn id="17" dur="2000"/>
                                        <p:tgtEl>
                                          <p:spTgt spid="7">
                                            <p:graphicEl>
                                              <a:dgm id="{84B241E9-67F0-4A25-8537-AC6779A193EA}"/>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7">
                                            <p:graphicEl>
                                              <a:dgm id="{15CE777D-CDB9-47BE-967D-563C3D958A06}"/>
                                            </p:graphicEl>
                                          </p:spTgt>
                                        </p:tgtEl>
                                        <p:attrNameLst>
                                          <p:attrName>style.visibility</p:attrName>
                                        </p:attrNameLst>
                                      </p:cBhvr>
                                      <p:to>
                                        <p:strVal val="visible"/>
                                      </p:to>
                                    </p:set>
                                    <p:animEffect transition="in" filter="diamond(in)">
                                      <p:cBhvr>
                                        <p:cTn id="22" dur="2000"/>
                                        <p:tgtEl>
                                          <p:spTgt spid="7">
                                            <p:graphicEl>
                                              <a:dgm id="{15CE777D-CDB9-47BE-967D-563C3D958A06}"/>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7">
                                            <p:graphicEl>
                                              <a:dgm id="{DF0F8BE2-8FD4-4086-A292-159634150F1F}"/>
                                            </p:graphicEl>
                                          </p:spTgt>
                                        </p:tgtEl>
                                        <p:attrNameLst>
                                          <p:attrName>style.visibility</p:attrName>
                                        </p:attrNameLst>
                                      </p:cBhvr>
                                      <p:to>
                                        <p:strVal val="visible"/>
                                      </p:to>
                                    </p:set>
                                    <p:animEffect transition="in" filter="diamond(in)">
                                      <p:cBhvr>
                                        <p:cTn id="27" dur="2000"/>
                                        <p:tgtEl>
                                          <p:spTgt spid="7">
                                            <p:graphicEl>
                                              <a:dgm id="{DF0F8BE2-8FD4-4086-A292-159634150F1F}"/>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7">
                                            <p:graphicEl>
                                              <a:dgm id="{EF43D365-AE92-4F3D-B0BB-C28140F41A39}"/>
                                            </p:graphicEl>
                                          </p:spTgt>
                                        </p:tgtEl>
                                        <p:attrNameLst>
                                          <p:attrName>style.visibility</p:attrName>
                                        </p:attrNameLst>
                                      </p:cBhvr>
                                      <p:to>
                                        <p:strVal val="visible"/>
                                      </p:to>
                                    </p:set>
                                    <p:animEffect transition="in" filter="diamond(in)">
                                      <p:cBhvr>
                                        <p:cTn id="32" dur="2000"/>
                                        <p:tgtEl>
                                          <p:spTgt spid="7">
                                            <p:graphicEl>
                                              <a:dgm id="{EF43D365-AE92-4F3D-B0BB-C28140F41A39}"/>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7">
                                            <p:graphicEl>
                                              <a:dgm id="{F62B13EA-93E4-4CBF-85CF-12057E6B4B42}"/>
                                            </p:graphicEl>
                                          </p:spTgt>
                                        </p:tgtEl>
                                        <p:attrNameLst>
                                          <p:attrName>style.visibility</p:attrName>
                                        </p:attrNameLst>
                                      </p:cBhvr>
                                      <p:to>
                                        <p:strVal val="visible"/>
                                      </p:to>
                                    </p:set>
                                    <p:animEffect transition="in" filter="diamond(in)">
                                      <p:cBhvr>
                                        <p:cTn id="37" dur="2000"/>
                                        <p:tgtEl>
                                          <p:spTgt spid="7">
                                            <p:graphicEl>
                                              <a:dgm id="{F62B13EA-93E4-4CBF-85CF-12057E6B4B4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7"/>
          <p:cNvSpPr>
            <a:spLocks noGrp="1" noChangeArrowheads="1"/>
          </p:cNvSpPr>
          <p:nvPr>
            <p:ph type="title"/>
          </p:nvPr>
        </p:nvSpPr>
        <p:spPr bwMode="auto">
          <a:xfrm>
            <a:off x="500034" y="1571612"/>
            <a:ext cx="8229600" cy="587365"/>
          </a:xfrm>
          <a:noFill/>
          <a:ln>
            <a:miter lim="800000"/>
            <a:headEnd/>
            <a:tailEnd/>
          </a:ln>
        </p:spPr>
        <p:txBody>
          <a:bodyPr vert="horz" wrap="square" lIns="91440" tIns="45720" rIns="91440" bIns="45720" numCol="1" anchor="t" anchorCtr="0" compatLnSpc="1">
            <a:prstTxWarp prst="textNoShape">
              <a:avLst/>
            </a:prstTxWarp>
          </a:bodyPr>
          <a:lstStyle/>
          <a:p>
            <a:pPr algn="l"/>
            <a:r>
              <a:rPr lang="zh-CN" altLang="en-US" sz="2800" b="1" dirty="0" smtClean="0">
                <a:solidFill>
                  <a:srgbClr val="F84D08"/>
                </a:solidFill>
                <a:latin typeface="黑体" pitchFamily="2" charset="-122"/>
                <a:ea typeface="黑体" pitchFamily="2" charset="-122"/>
              </a:rPr>
              <a:t>特点</a:t>
            </a:r>
          </a:p>
        </p:txBody>
      </p:sp>
      <p:sp>
        <p:nvSpPr>
          <p:cNvPr id="30724" name="Text Box 9"/>
          <p:cNvSpPr txBox="1">
            <a:spLocks noChangeArrowheads="1"/>
          </p:cNvSpPr>
          <p:nvPr/>
        </p:nvSpPr>
        <p:spPr bwMode="auto">
          <a:xfrm>
            <a:off x="214282" y="2071678"/>
            <a:ext cx="8715436" cy="523220"/>
          </a:xfrm>
          <a:prstGeom prst="rect">
            <a:avLst/>
          </a:prstGeom>
          <a:noFill/>
          <a:ln w="9525" algn="ctr">
            <a:noFill/>
            <a:miter lim="800000"/>
            <a:headEnd/>
            <a:tailEnd/>
          </a:ln>
        </p:spPr>
        <p:txBody>
          <a:bodyPr wrap="square">
            <a:spAutoFit/>
          </a:bodyPr>
          <a:lstStyle/>
          <a:p>
            <a:pPr>
              <a:buFont typeface="Wingdings" pitchFamily="2" charset="2"/>
              <a:buChar char="u"/>
            </a:pPr>
            <a:r>
              <a:rPr lang="zh-CN" altLang="en-US" b="1" dirty="0" smtClean="0">
                <a:solidFill>
                  <a:schemeClr val="tx1"/>
                </a:solidFill>
                <a:latin typeface="Tahoma" pitchFamily="34" charset="0"/>
                <a:ea typeface="宋体" pitchFamily="2" charset="-122"/>
              </a:rPr>
              <a:t>缺点（与</a:t>
            </a:r>
            <a:r>
              <a:rPr lang="zh-CN" altLang="en-US" b="1" dirty="0">
                <a:solidFill>
                  <a:schemeClr val="tx1"/>
                </a:solidFill>
                <a:latin typeface="Tahoma" pitchFamily="34" charset="0"/>
                <a:ea typeface="宋体" pitchFamily="2" charset="-122"/>
              </a:rPr>
              <a:t>电阻式、电感式传感器</a:t>
            </a:r>
            <a:r>
              <a:rPr lang="zh-CN" altLang="en-US" b="1" dirty="0" smtClean="0">
                <a:solidFill>
                  <a:schemeClr val="tx1"/>
                </a:solidFill>
                <a:latin typeface="Tahoma" pitchFamily="34" charset="0"/>
                <a:ea typeface="宋体" pitchFamily="2" charset="-122"/>
              </a:rPr>
              <a:t>相比）</a:t>
            </a:r>
            <a:endParaRPr lang="zh-CN" altLang="en-US" b="1" dirty="0">
              <a:solidFill>
                <a:schemeClr val="tx1"/>
              </a:solidFill>
              <a:latin typeface="Tahoma" pitchFamily="34" charset="0"/>
              <a:ea typeface="宋体" pitchFamily="2" charset="-122"/>
            </a:endParaRPr>
          </a:p>
        </p:txBody>
      </p:sp>
      <p:sp>
        <p:nvSpPr>
          <p:cNvPr id="5"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7" name="图示 6"/>
          <p:cNvGraphicFramePr/>
          <p:nvPr/>
        </p:nvGraphicFramePr>
        <p:xfrm>
          <a:off x="285720" y="2714620"/>
          <a:ext cx="8643998" cy="39211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7">
                                            <p:graphicEl>
                                              <a:dgm id="{1D1586D5-3011-4BFC-9DB4-06E958C4625E}"/>
                                            </p:graphicEl>
                                          </p:spTgt>
                                        </p:tgtEl>
                                        <p:attrNameLst>
                                          <p:attrName>style.visibility</p:attrName>
                                        </p:attrNameLst>
                                      </p:cBhvr>
                                      <p:to>
                                        <p:strVal val="visible"/>
                                      </p:to>
                                    </p:set>
                                    <p:animEffect transition="in" filter="blinds(horizontal)">
                                      <p:cBhvr>
                                        <p:cTn id="7" dur="500"/>
                                        <p:tgtEl>
                                          <p:spTgt spid="7">
                                            <p:graphicEl>
                                              <a:dgm id="{1D1586D5-3011-4BFC-9DB4-06E958C4625E}"/>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graphicEl>
                                              <a:dgm id="{CFEFE37C-4717-4206-8B1B-68CE96CCD139}"/>
                                            </p:graphicEl>
                                          </p:spTgt>
                                        </p:tgtEl>
                                        <p:attrNameLst>
                                          <p:attrName>style.visibility</p:attrName>
                                        </p:attrNameLst>
                                      </p:cBhvr>
                                      <p:to>
                                        <p:strVal val="visible"/>
                                      </p:to>
                                    </p:set>
                                    <p:animEffect transition="in" filter="blinds(horizontal)">
                                      <p:cBhvr>
                                        <p:cTn id="12" dur="500"/>
                                        <p:tgtEl>
                                          <p:spTgt spid="7">
                                            <p:graphicEl>
                                              <a:dgm id="{CFEFE37C-4717-4206-8B1B-68CE96CCD139}"/>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graphicEl>
                                              <a:dgm id="{84B241E9-67F0-4A25-8537-AC6779A193EA}"/>
                                            </p:graphicEl>
                                          </p:spTgt>
                                        </p:tgtEl>
                                        <p:attrNameLst>
                                          <p:attrName>style.visibility</p:attrName>
                                        </p:attrNameLst>
                                      </p:cBhvr>
                                      <p:to>
                                        <p:strVal val="visible"/>
                                      </p:to>
                                    </p:set>
                                    <p:animEffect transition="in" filter="blinds(horizontal)">
                                      <p:cBhvr>
                                        <p:cTn id="17" dur="500"/>
                                        <p:tgtEl>
                                          <p:spTgt spid="7">
                                            <p:graphicEl>
                                              <a:dgm id="{84B241E9-67F0-4A25-8537-AC6779A193EA}"/>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graphicEl>
                                              <a:dgm id="{15CE777D-CDB9-47BE-967D-563C3D958A06}"/>
                                            </p:graphicEl>
                                          </p:spTgt>
                                        </p:tgtEl>
                                        <p:attrNameLst>
                                          <p:attrName>style.visibility</p:attrName>
                                        </p:attrNameLst>
                                      </p:cBhvr>
                                      <p:to>
                                        <p:strVal val="visible"/>
                                      </p:to>
                                    </p:set>
                                    <p:animEffect transition="in" filter="blinds(horizontal)">
                                      <p:cBhvr>
                                        <p:cTn id="22" dur="500"/>
                                        <p:tgtEl>
                                          <p:spTgt spid="7">
                                            <p:graphicEl>
                                              <a:dgm id="{15CE777D-CDB9-47BE-967D-563C3D958A06}"/>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
                                            <p:graphicEl>
                                              <a:dgm id="{DF0F8BE2-8FD4-4086-A292-159634150F1F}"/>
                                            </p:graphicEl>
                                          </p:spTgt>
                                        </p:tgtEl>
                                        <p:attrNameLst>
                                          <p:attrName>style.visibility</p:attrName>
                                        </p:attrNameLst>
                                      </p:cBhvr>
                                      <p:to>
                                        <p:strVal val="visible"/>
                                      </p:to>
                                    </p:set>
                                    <p:animEffect transition="in" filter="blinds(horizontal)">
                                      <p:cBhvr>
                                        <p:cTn id="27" dur="500"/>
                                        <p:tgtEl>
                                          <p:spTgt spid="7">
                                            <p:graphicEl>
                                              <a:dgm id="{DF0F8BE2-8FD4-4086-A292-159634150F1F}"/>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graphicEl>
                                              <a:dgm id="{EF43D365-AE92-4F3D-B0BB-C28140F41A39}"/>
                                            </p:graphicEl>
                                          </p:spTgt>
                                        </p:tgtEl>
                                        <p:attrNameLst>
                                          <p:attrName>style.visibility</p:attrName>
                                        </p:attrNameLst>
                                      </p:cBhvr>
                                      <p:to>
                                        <p:strVal val="visible"/>
                                      </p:to>
                                    </p:set>
                                    <p:animEffect transition="in" filter="blinds(horizontal)">
                                      <p:cBhvr>
                                        <p:cTn id="32" dur="500"/>
                                        <p:tgtEl>
                                          <p:spTgt spid="7">
                                            <p:graphicEl>
                                              <a:dgm id="{EF43D365-AE92-4F3D-B0BB-C28140F41A39}"/>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0" name="Object 4"/>
          <p:cNvGraphicFramePr>
            <a:graphicFrameLocks noChangeAspect="1"/>
          </p:cNvGraphicFramePr>
          <p:nvPr/>
        </p:nvGraphicFramePr>
        <p:xfrm>
          <a:off x="857224" y="2214554"/>
          <a:ext cx="7526504" cy="1428760"/>
        </p:xfrm>
        <a:graphic>
          <a:graphicData uri="http://schemas.openxmlformats.org/presentationml/2006/ole">
            <p:oleObj spid="_x0000_s7170" name="图像文档" r:id="rId3" imgW="5619600" imgH="1066680" progId="">
              <p:embed/>
            </p:oleObj>
          </a:graphicData>
        </a:graphic>
      </p:graphicFrame>
      <p:sp>
        <p:nvSpPr>
          <p:cNvPr id="7172" name="Text Box 9"/>
          <p:cNvSpPr txBox="1">
            <a:spLocks noChangeArrowheads="1"/>
          </p:cNvSpPr>
          <p:nvPr/>
        </p:nvSpPr>
        <p:spPr bwMode="auto">
          <a:xfrm>
            <a:off x="214282" y="3786190"/>
            <a:ext cx="8715436" cy="2677656"/>
          </a:xfrm>
          <a:prstGeom prst="rect">
            <a:avLst/>
          </a:prstGeom>
          <a:noFill/>
          <a:ln w="9525" algn="ctr">
            <a:noFill/>
            <a:miter lim="800000"/>
            <a:headEnd/>
            <a:tailEnd/>
          </a:ln>
        </p:spPr>
        <p:txBody>
          <a:bodyPr wrap="square">
            <a:spAutoFit/>
          </a:bodyPr>
          <a:lstStyle/>
          <a:p>
            <a:pPr marL="450850" indent="-450850">
              <a:lnSpc>
                <a:spcPct val="120000"/>
              </a:lnSpc>
              <a:buFont typeface="Wingdings" pitchFamily="2" charset="2"/>
              <a:buChar char="l"/>
            </a:pPr>
            <a:r>
              <a:rPr lang="zh-CN" altLang="en-US" b="1" dirty="0">
                <a:solidFill>
                  <a:schemeClr val="tx1"/>
                </a:solidFill>
                <a:latin typeface="宋体" pitchFamily="2" charset="-122"/>
                <a:ea typeface="宋体" pitchFamily="2" charset="-122"/>
              </a:rPr>
              <a:t>正常情况下，表现为纯电容特性；</a:t>
            </a:r>
          </a:p>
          <a:p>
            <a:pPr marL="450850" indent="-450850">
              <a:lnSpc>
                <a:spcPct val="120000"/>
              </a:lnSpc>
              <a:buFont typeface="Wingdings" pitchFamily="2" charset="2"/>
              <a:buChar char="l"/>
            </a:pPr>
            <a:r>
              <a:rPr lang="zh-CN" altLang="en-US" b="1" dirty="0">
                <a:solidFill>
                  <a:schemeClr val="tx1"/>
                </a:solidFill>
                <a:latin typeface="宋体" pitchFamily="2" charset="-122"/>
                <a:ea typeface="宋体" pitchFamily="2" charset="-122"/>
              </a:rPr>
              <a:t>供电电源频率低或高温、高湿下，漏电阻</a:t>
            </a:r>
            <a:r>
              <a:rPr lang="en-US" altLang="zh-CN" b="1" i="1" dirty="0" smtClean="0">
                <a:solidFill>
                  <a:srgbClr val="C00000"/>
                </a:solidFill>
                <a:latin typeface="Times New Roman" pitchFamily="18" charset="0"/>
                <a:ea typeface="宋体" pitchFamily="2" charset="-122"/>
              </a:rPr>
              <a:t>R</a:t>
            </a:r>
            <a:r>
              <a:rPr lang="en-US" altLang="zh-CN" b="1" i="1" baseline="-25000" dirty="0" smtClean="0">
                <a:solidFill>
                  <a:srgbClr val="C00000"/>
                </a:solidFill>
                <a:latin typeface="Times New Roman" pitchFamily="18" charset="0"/>
                <a:ea typeface="宋体" pitchFamily="2" charset="-122"/>
              </a:rPr>
              <a:t>p</a:t>
            </a:r>
            <a:r>
              <a:rPr lang="zh-CN" altLang="en-US" b="1" dirty="0" smtClean="0">
                <a:solidFill>
                  <a:schemeClr val="tx1"/>
                </a:solidFill>
                <a:latin typeface="宋体" pitchFamily="2" charset="-122"/>
                <a:ea typeface="宋体" pitchFamily="2" charset="-122"/>
              </a:rPr>
              <a:t>不能</a:t>
            </a:r>
            <a:r>
              <a:rPr lang="zh-CN" altLang="en-US" b="1" dirty="0">
                <a:solidFill>
                  <a:schemeClr val="tx1"/>
                </a:solidFill>
                <a:latin typeface="宋体" pitchFamily="2" charset="-122"/>
                <a:ea typeface="宋体" pitchFamily="2" charset="-122"/>
              </a:rPr>
              <a:t>忽略；</a:t>
            </a:r>
          </a:p>
          <a:p>
            <a:pPr marL="450850" indent="-450850">
              <a:lnSpc>
                <a:spcPct val="120000"/>
              </a:lnSpc>
              <a:buFont typeface="Wingdings" pitchFamily="2" charset="2"/>
              <a:buChar char="l"/>
            </a:pPr>
            <a:r>
              <a:rPr lang="zh-CN" altLang="en-US" b="1" dirty="0">
                <a:solidFill>
                  <a:schemeClr val="tx1"/>
                </a:solidFill>
                <a:latin typeface="宋体" pitchFamily="2" charset="-122"/>
                <a:ea typeface="宋体" pitchFamily="2" charset="-122"/>
              </a:rPr>
              <a:t>供电电源频率很高，漏电</a:t>
            </a:r>
            <a:r>
              <a:rPr lang="zh-CN" altLang="en-US" b="1" dirty="0" smtClean="0">
                <a:solidFill>
                  <a:schemeClr val="tx1"/>
                </a:solidFill>
                <a:latin typeface="宋体" pitchFamily="2" charset="-122"/>
                <a:ea typeface="宋体" pitchFamily="2" charset="-122"/>
              </a:rPr>
              <a:t>阻</a:t>
            </a:r>
            <a:r>
              <a:rPr lang="en-US" altLang="zh-CN" b="1" i="1" dirty="0" smtClean="0">
                <a:solidFill>
                  <a:srgbClr val="C00000"/>
                </a:solidFill>
                <a:latin typeface="Times New Roman" pitchFamily="18" charset="0"/>
                <a:ea typeface="宋体" pitchFamily="2" charset="-122"/>
              </a:rPr>
              <a:t>R</a:t>
            </a:r>
            <a:r>
              <a:rPr lang="en-US" altLang="zh-CN" b="1" i="1" baseline="-25000" dirty="0" smtClean="0">
                <a:solidFill>
                  <a:srgbClr val="C00000"/>
                </a:solidFill>
                <a:latin typeface="Times New Roman" pitchFamily="18" charset="0"/>
                <a:ea typeface="宋体" pitchFamily="2" charset="-122"/>
              </a:rPr>
              <a:t>p</a:t>
            </a:r>
            <a:r>
              <a:rPr lang="zh-CN" altLang="en-US" b="1" dirty="0" smtClean="0">
                <a:solidFill>
                  <a:schemeClr val="tx1"/>
                </a:solidFill>
                <a:latin typeface="宋体" pitchFamily="2" charset="-122"/>
                <a:ea typeface="宋体" pitchFamily="2" charset="-122"/>
              </a:rPr>
              <a:t>可以</a:t>
            </a:r>
            <a:r>
              <a:rPr lang="zh-CN" altLang="en-US" b="1" dirty="0">
                <a:solidFill>
                  <a:schemeClr val="tx1"/>
                </a:solidFill>
                <a:latin typeface="宋体" pitchFamily="2" charset="-122"/>
                <a:ea typeface="宋体" pitchFamily="2" charset="-122"/>
              </a:rPr>
              <a:t>忽略，但由于</a:t>
            </a:r>
            <a:r>
              <a:rPr lang="zh-CN" altLang="en-US" b="1" dirty="0">
                <a:solidFill>
                  <a:srgbClr val="C00000"/>
                </a:solidFill>
                <a:latin typeface="黑体" pitchFamily="49" charset="-122"/>
                <a:ea typeface="黑体" pitchFamily="49" charset="-122"/>
              </a:rPr>
              <a:t>集肤效应</a:t>
            </a:r>
            <a:r>
              <a:rPr lang="zh-CN" altLang="en-US" b="1" dirty="0">
                <a:solidFill>
                  <a:schemeClr val="tx1"/>
                </a:solidFill>
                <a:latin typeface="宋体" pitchFamily="2" charset="-122"/>
                <a:ea typeface="宋体" pitchFamily="2" charset="-122"/>
              </a:rPr>
              <a:t>，传输</a:t>
            </a:r>
            <a:r>
              <a:rPr lang="zh-CN" altLang="en-US" b="1" dirty="0" smtClean="0">
                <a:solidFill>
                  <a:schemeClr val="tx1"/>
                </a:solidFill>
                <a:latin typeface="宋体" pitchFamily="2" charset="-122"/>
                <a:ea typeface="宋体" pitchFamily="2" charset="-122"/>
              </a:rPr>
              <a:t>电阻 </a:t>
            </a:r>
            <a:r>
              <a:rPr lang="en-US" altLang="zh-CN" b="1" i="1" dirty="0" smtClean="0">
                <a:solidFill>
                  <a:srgbClr val="C00000"/>
                </a:solidFill>
                <a:latin typeface="Times New Roman" pitchFamily="18" charset="0"/>
                <a:ea typeface="宋体" pitchFamily="2" charset="-122"/>
              </a:rPr>
              <a:t>R</a:t>
            </a:r>
            <a:r>
              <a:rPr lang="zh-CN" altLang="en-US" b="1" i="1" dirty="0" smtClean="0">
                <a:solidFill>
                  <a:schemeClr val="tx1"/>
                </a:solidFill>
                <a:latin typeface="Times New Roman" pitchFamily="18" charset="0"/>
                <a:ea typeface="宋体" pitchFamily="2" charset="-122"/>
              </a:rPr>
              <a:t> </a:t>
            </a:r>
            <a:r>
              <a:rPr lang="zh-CN" altLang="en-US" b="1" dirty="0" smtClean="0">
                <a:solidFill>
                  <a:schemeClr val="tx1"/>
                </a:solidFill>
                <a:latin typeface="宋体" pitchFamily="2" charset="-122"/>
                <a:ea typeface="宋体" pitchFamily="2" charset="-122"/>
              </a:rPr>
              <a:t>和电感 </a:t>
            </a:r>
            <a:r>
              <a:rPr lang="en-US" altLang="zh-CN" b="1" i="1" dirty="0" smtClean="0">
                <a:solidFill>
                  <a:srgbClr val="C00000"/>
                </a:solidFill>
                <a:latin typeface="Times New Roman" pitchFamily="18" charset="0"/>
                <a:ea typeface="宋体" pitchFamily="2" charset="-122"/>
              </a:rPr>
              <a:t>L</a:t>
            </a:r>
            <a:r>
              <a:rPr lang="zh-CN" altLang="en-US" b="1" i="1" dirty="0" smtClean="0">
                <a:solidFill>
                  <a:schemeClr val="tx1"/>
                </a:solidFill>
                <a:latin typeface="Times New Roman" pitchFamily="18" charset="0"/>
                <a:ea typeface="宋体" pitchFamily="2" charset="-122"/>
              </a:rPr>
              <a:t> </a:t>
            </a:r>
            <a:r>
              <a:rPr lang="zh-CN" altLang="en-US" b="1" dirty="0" smtClean="0">
                <a:solidFill>
                  <a:schemeClr val="tx1"/>
                </a:solidFill>
                <a:latin typeface="宋体" pitchFamily="2" charset="-122"/>
                <a:ea typeface="宋体" pitchFamily="2" charset="-122"/>
              </a:rPr>
              <a:t>增加</a:t>
            </a:r>
            <a:r>
              <a:rPr lang="zh-CN" altLang="en-US" b="1" dirty="0">
                <a:solidFill>
                  <a:schemeClr val="tx1"/>
                </a:solidFill>
                <a:latin typeface="宋体" pitchFamily="2" charset="-122"/>
                <a:ea typeface="宋体" pitchFamily="2" charset="-122"/>
              </a:rPr>
              <a:t>，不能忽略。</a:t>
            </a:r>
          </a:p>
        </p:txBody>
      </p:sp>
      <p:sp>
        <p:nvSpPr>
          <p:cNvPr id="7173" name="Rectangle 10"/>
          <p:cNvSpPr>
            <a:spLocks noGrp="1" noChangeArrowheads="1"/>
          </p:cNvSpPr>
          <p:nvPr>
            <p:ph type="title"/>
          </p:nvPr>
        </p:nvSpPr>
        <p:spPr bwMode="auto">
          <a:xfrm>
            <a:off x="642910" y="1500174"/>
            <a:ext cx="8229600" cy="587365"/>
          </a:xfrm>
          <a:noFill/>
          <a:ln>
            <a:miter lim="800000"/>
            <a:headEnd/>
            <a:tailEnd/>
          </a:ln>
        </p:spPr>
        <p:txBody>
          <a:bodyPr vert="horz" wrap="square" lIns="91440" tIns="45720" rIns="91440" bIns="45720" numCol="1" anchor="t" anchorCtr="0" compatLnSpc="1">
            <a:prstTxWarp prst="textNoShape">
              <a:avLst/>
            </a:prstTxWarp>
          </a:bodyPr>
          <a:lstStyle/>
          <a:p>
            <a:pPr algn="l"/>
            <a:r>
              <a:rPr lang="zh-CN" altLang="en-US" sz="2800" b="1" dirty="0" smtClean="0">
                <a:solidFill>
                  <a:srgbClr val="F84D08"/>
                </a:solidFill>
                <a:latin typeface="黑体" pitchFamily="2" charset="-122"/>
                <a:ea typeface="黑体" pitchFamily="2" charset="-122"/>
              </a:rPr>
              <a:t>等效电路</a:t>
            </a:r>
          </a:p>
        </p:txBody>
      </p:sp>
      <p:sp>
        <p:nvSpPr>
          <p:cNvPr id="7"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Effect transition="in" filter="blinds(horizontal)">
                                      <p:cBhvr>
                                        <p:cTn id="7" dur="500"/>
                                        <p:tgtEl>
                                          <p:spTgt spid="71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2" dur="500"/>
                                        <p:tgtEl>
                                          <p:spTgt spid="71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72">
                                            <p:txEl>
                                              <p:pRg st="2" end="2"/>
                                            </p:txEl>
                                          </p:spTgt>
                                        </p:tgtEl>
                                        <p:attrNameLst>
                                          <p:attrName>style.visibility</p:attrName>
                                        </p:attrNameLst>
                                      </p:cBhvr>
                                      <p:to>
                                        <p:strVal val="visible"/>
                                      </p:to>
                                    </p:set>
                                    <p:animEffect transition="in" filter="blinds(horizontal)">
                                      <p:cBhvr>
                                        <p:cTn id="17" dur="500"/>
                                        <p:tgtEl>
                                          <p:spTgt spid="71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4" name="Object 2"/>
          <p:cNvGraphicFramePr>
            <a:graphicFrameLocks noChangeAspect="1"/>
          </p:cNvGraphicFramePr>
          <p:nvPr/>
        </p:nvGraphicFramePr>
        <p:xfrm>
          <a:off x="1763713" y="2276475"/>
          <a:ext cx="5619750" cy="1066800"/>
        </p:xfrm>
        <a:graphic>
          <a:graphicData uri="http://schemas.openxmlformats.org/presentationml/2006/ole">
            <p:oleObj spid="_x0000_s8194" name="图像文档" r:id="rId3" imgW="5619600" imgH="1066680" progId="">
              <p:embed/>
            </p:oleObj>
          </a:graphicData>
        </a:graphic>
      </p:graphicFrame>
      <p:sp>
        <p:nvSpPr>
          <p:cNvPr id="8195" name="Text Box 3"/>
          <p:cNvSpPr txBox="1">
            <a:spLocks noChangeArrowheads="1"/>
          </p:cNvSpPr>
          <p:nvPr/>
        </p:nvSpPr>
        <p:spPr bwMode="auto">
          <a:xfrm>
            <a:off x="285720" y="3357563"/>
            <a:ext cx="8077230" cy="523220"/>
          </a:xfrm>
          <a:prstGeom prst="rect">
            <a:avLst/>
          </a:prstGeom>
          <a:noFill/>
          <a:ln w="9525">
            <a:noFill/>
            <a:miter lim="800000"/>
            <a:headEnd/>
            <a:tailEnd/>
          </a:ln>
        </p:spPr>
        <p:txBody>
          <a:bodyPr wrap="square">
            <a:spAutoFit/>
          </a:bodyPr>
          <a:lstStyle/>
          <a:p>
            <a:pPr>
              <a:spcBef>
                <a:spcPct val="50000"/>
              </a:spcBef>
            </a:pPr>
            <a:r>
              <a:rPr lang="zh-CN" altLang="en-US" b="1" dirty="0">
                <a:solidFill>
                  <a:schemeClr val="tx1"/>
                </a:solidFill>
                <a:latin typeface="Times New Roman" pitchFamily="18" charset="0"/>
                <a:ea typeface="宋体" pitchFamily="2" charset="-122"/>
              </a:rPr>
              <a:t>仅考虑电感对电容传感器的影响时，其等效</a:t>
            </a:r>
            <a:r>
              <a:rPr lang="zh-CN" altLang="en-US" b="1" dirty="0" smtClean="0">
                <a:solidFill>
                  <a:schemeClr val="tx1"/>
                </a:solidFill>
                <a:latin typeface="Times New Roman" pitchFamily="18" charset="0"/>
                <a:ea typeface="宋体" pitchFamily="2" charset="-122"/>
              </a:rPr>
              <a:t>电容：</a:t>
            </a:r>
            <a:endParaRPr lang="zh-CN" altLang="en-US" b="1" dirty="0">
              <a:solidFill>
                <a:schemeClr val="tx1"/>
              </a:solidFill>
              <a:latin typeface="Times New Roman" pitchFamily="18" charset="0"/>
              <a:ea typeface="宋体" pitchFamily="2" charset="-122"/>
            </a:endParaRPr>
          </a:p>
        </p:txBody>
      </p:sp>
      <p:sp>
        <p:nvSpPr>
          <p:cNvPr id="8197" name="Rectangle 6"/>
          <p:cNvSpPr>
            <a:spLocks noGrp="1" noChangeArrowheads="1"/>
          </p:cNvSpPr>
          <p:nvPr>
            <p:ph type="title"/>
          </p:nvPr>
        </p:nvSpPr>
        <p:spPr bwMode="auto">
          <a:xfrm>
            <a:off x="428596" y="1500174"/>
            <a:ext cx="8229600" cy="571504"/>
          </a:xfrm>
          <a:noFill/>
          <a:ln>
            <a:miter lim="800000"/>
            <a:headEnd/>
            <a:tailEnd/>
          </a:ln>
        </p:spPr>
        <p:txBody>
          <a:bodyPr vert="horz" wrap="square" lIns="91440" tIns="45720" rIns="91440" bIns="45720" numCol="1" anchor="t" anchorCtr="0" compatLnSpc="1">
            <a:prstTxWarp prst="textNoShape">
              <a:avLst/>
            </a:prstTxWarp>
          </a:bodyPr>
          <a:lstStyle/>
          <a:p>
            <a:pPr algn="l"/>
            <a:r>
              <a:rPr lang="zh-CN" altLang="en-US" sz="2800" b="1" dirty="0" smtClean="0">
                <a:solidFill>
                  <a:srgbClr val="F84D08"/>
                </a:solidFill>
                <a:latin typeface="黑体" pitchFamily="2" charset="-122"/>
                <a:ea typeface="黑体" pitchFamily="2" charset="-122"/>
              </a:rPr>
              <a:t>等效电路</a:t>
            </a:r>
          </a:p>
        </p:txBody>
      </p:sp>
      <p:sp>
        <p:nvSpPr>
          <p:cNvPr id="8"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2" name="Object 3"/>
          <p:cNvGraphicFramePr>
            <a:graphicFrameLocks noChangeAspect="1"/>
          </p:cNvGraphicFramePr>
          <p:nvPr/>
        </p:nvGraphicFramePr>
        <p:xfrm>
          <a:off x="3357554" y="3929066"/>
          <a:ext cx="2457450" cy="733425"/>
        </p:xfrm>
        <a:graphic>
          <a:graphicData uri="http://schemas.openxmlformats.org/presentationml/2006/ole">
            <p:oleObj spid="_x0000_s8195" name="Equation" r:id="rId4" imgW="1002960" imgH="393480" progId="Equation.3">
              <p:embed/>
            </p:oleObj>
          </a:graphicData>
        </a:graphic>
      </p:graphicFrame>
      <p:grpSp>
        <p:nvGrpSpPr>
          <p:cNvPr id="13" name="组合 12"/>
          <p:cNvGrpSpPr/>
          <p:nvPr/>
        </p:nvGrpSpPr>
        <p:grpSpPr>
          <a:xfrm>
            <a:off x="500034" y="4857760"/>
            <a:ext cx="7124729" cy="1363653"/>
            <a:chOff x="500034" y="4857760"/>
            <a:chExt cx="7124729" cy="1363653"/>
          </a:xfrm>
        </p:grpSpPr>
        <p:sp>
          <p:nvSpPr>
            <p:cNvPr id="11" name="Text Box 3"/>
            <p:cNvSpPr txBox="1">
              <a:spLocks noChangeArrowheads="1"/>
            </p:cNvSpPr>
            <p:nvPr/>
          </p:nvSpPr>
          <p:spPr bwMode="auto">
            <a:xfrm>
              <a:off x="500034" y="4857760"/>
              <a:ext cx="2500330" cy="523220"/>
            </a:xfrm>
            <a:prstGeom prst="rect">
              <a:avLst/>
            </a:prstGeom>
            <a:noFill/>
            <a:ln w="9525">
              <a:noFill/>
              <a:miter lim="800000"/>
              <a:headEnd/>
              <a:tailEnd/>
            </a:ln>
          </p:spPr>
          <p:txBody>
            <a:bodyPr wrap="square">
              <a:spAutoFit/>
            </a:bodyPr>
            <a:lstStyle/>
            <a:p>
              <a:pPr>
                <a:spcBef>
                  <a:spcPct val="50000"/>
                </a:spcBef>
              </a:pPr>
              <a:r>
                <a:rPr lang="zh-CN" altLang="en-US" b="1" dirty="0" smtClean="0">
                  <a:solidFill>
                    <a:schemeClr val="tx1"/>
                  </a:solidFill>
                  <a:latin typeface="Times New Roman" pitchFamily="18" charset="0"/>
                  <a:ea typeface="宋体" pitchFamily="2" charset="-122"/>
                </a:rPr>
                <a:t>等效灵敏度</a:t>
              </a:r>
              <a:r>
                <a:rPr lang="zh-CN" altLang="en-US" sz="2400" b="1" dirty="0" smtClean="0">
                  <a:solidFill>
                    <a:schemeClr val="tx1"/>
                  </a:solidFill>
                  <a:latin typeface="Times New Roman" pitchFamily="18" charset="0"/>
                  <a:ea typeface="宋体" pitchFamily="2" charset="-122"/>
                </a:rPr>
                <a:t>：</a:t>
              </a:r>
              <a:endParaRPr lang="en-US" altLang="zh-CN" sz="2400" b="1" i="1" baseline="30000" dirty="0">
                <a:solidFill>
                  <a:schemeClr val="tx1"/>
                </a:solidFill>
                <a:latin typeface="Times New Roman" pitchFamily="18" charset="0"/>
                <a:ea typeface="宋体" pitchFamily="2" charset="-122"/>
              </a:endParaRPr>
            </a:p>
          </p:txBody>
        </p:sp>
        <p:graphicFrame>
          <p:nvGraphicFramePr>
            <p:cNvPr id="3" name="Object 4"/>
            <p:cNvGraphicFramePr>
              <a:graphicFrameLocks noChangeAspect="1"/>
            </p:cNvGraphicFramePr>
            <p:nvPr/>
          </p:nvGraphicFramePr>
          <p:xfrm>
            <a:off x="1404938" y="5370513"/>
            <a:ext cx="6219825" cy="850900"/>
          </p:xfrm>
          <a:graphic>
            <a:graphicData uri="http://schemas.openxmlformats.org/presentationml/2006/ole">
              <p:oleObj spid="_x0000_s8196" name="Equation" r:id="rId5" imgW="2539800" imgH="45720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6"/>
          <p:cNvSpPr>
            <a:spLocks noGrp="1" noChangeArrowheads="1"/>
          </p:cNvSpPr>
          <p:nvPr>
            <p:ph type="title"/>
          </p:nvPr>
        </p:nvSpPr>
        <p:spPr bwMode="auto">
          <a:xfrm>
            <a:off x="428596" y="1500174"/>
            <a:ext cx="8229600" cy="571504"/>
          </a:xfrm>
          <a:noFill/>
          <a:ln>
            <a:miter lim="800000"/>
            <a:headEnd/>
            <a:tailEnd/>
          </a:ln>
        </p:spPr>
        <p:txBody>
          <a:bodyPr vert="horz" wrap="square" lIns="91440" tIns="45720" rIns="91440" bIns="45720" numCol="1" anchor="t" anchorCtr="0" compatLnSpc="1">
            <a:prstTxWarp prst="textNoShape">
              <a:avLst/>
            </a:prstTxWarp>
          </a:bodyPr>
          <a:lstStyle/>
          <a:p>
            <a:pPr algn="l"/>
            <a:r>
              <a:rPr lang="zh-CN" altLang="en-US" sz="2800" b="1" dirty="0" smtClean="0">
                <a:solidFill>
                  <a:srgbClr val="F84D08"/>
                </a:solidFill>
                <a:latin typeface="黑体" pitchFamily="2" charset="-122"/>
                <a:ea typeface="黑体" pitchFamily="2" charset="-122"/>
              </a:rPr>
              <a:t>等效电路</a:t>
            </a:r>
          </a:p>
        </p:txBody>
      </p:sp>
      <p:sp>
        <p:nvSpPr>
          <p:cNvPr id="8198" name="Text Box 7"/>
          <p:cNvSpPr txBox="1">
            <a:spLocks noChangeArrowheads="1"/>
          </p:cNvSpPr>
          <p:nvPr/>
        </p:nvSpPr>
        <p:spPr bwMode="auto">
          <a:xfrm>
            <a:off x="214282" y="3571876"/>
            <a:ext cx="8675687" cy="2677656"/>
          </a:xfrm>
          <a:prstGeom prst="rect">
            <a:avLst/>
          </a:prstGeom>
          <a:noFill/>
          <a:ln w="9525" algn="ctr">
            <a:noFill/>
            <a:miter lim="800000"/>
            <a:headEnd/>
            <a:tailEnd/>
          </a:ln>
        </p:spPr>
        <p:txBody>
          <a:bodyPr>
            <a:spAutoFit/>
          </a:bodyPr>
          <a:lstStyle/>
          <a:p>
            <a:pPr indent="627063" eaLnBrk="0" hangingPunct="0"/>
            <a:r>
              <a:rPr lang="zh-CN" altLang="en-US" b="1" dirty="0" smtClean="0">
                <a:solidFill>
                  <a:schemeClr val="tx1"/>
                </a:solidFill>
                <a:latin typeface="宋体" pitchFamily="2" charset="-122"/>
                <a:ea typeface="宋体" pitchFamily="2" charset="-122"/>
              </a:rPr>
              <a:t>供电</a:t>
            </a:r>
            <a:r>
              <a:rPr lang="zh-CN" altLang="en-US" b="1" dirty="0">
                <a:solidFill>
                  <a:schemeClr val="tx1"/>
                </a:solidFill>
                <a:latin typeface="宋体" pitchFamily="2" charset="-122"/>
                <a:ea typeface="宋体" pitchFamily="2" charset="-122"/>
              </a:rPr>
              <a:t>电源频率较高时，传感器灵敏度与其包括引线电缆在内的固有电感以及供电频率有关</a:t>
            </a:r>
            <a:r>
              <a:rPr lang="zh-CN" altLang="en-US" b="1" dirty="0" smtClean="0">
                <a:solidFill>
                  <a:schemeClr val="tx1"/>
                </a:solidFill>
                <a:latin typeface="宋体" pitchFamily="2" charset="-122"/>
                <a:ea typeface="宋体" pitchFamily="2" charset="-122"/>
              </a:rPr>
              <a:t>。</a:t>
            </a:r>
            <a:endParaRPr lang="en-US" altLang="zh-CN" b="1" dirty="0" smtClean="0">
              <a:solidFill>
                <a:schemeClr val="tx1"/>
              </a:solidFill>
              <a:latin typeface="宋体" pitchFamily="2" charset="-122"/>
              <a:ea typeface="宋体" pitchFamily="2" charset="-122"/>
            </a:endParaRPr>
          </a:p>
          <a:p>
            <a:pPr indent="627063" eaLnBrk="0" hangingPunct="0"/>
            <a:r>
              <a:rPr lang="zh-CN" altLang="en-US" b="1" dirty="0" smtClean="0">
                <a:solidFill>
                  <a:schemeClr val="tx1"/>
                </a:solidFill>
                <a:latin typeface="宋体" pitchFamily="2" charset="-122"/>
                <a:ea typeface="宋体" pitchFamily="2" charset="-122"/>
              </a:rPr>
              <a:t>改变</a:t>
            </a:r>
            <a:r>
              <a:rPr lang="zh-CN" altLang="en-US" b="1" dirty="0">
                <a:solidFill>
                  <a:schemeClr val="tx1"/>
                </a:solidFill>
                <a:latin typeface="宋体" pitchFamily="2" charset="-122"/>
                <a:ea typeface="宋体" pitchFamily="2" charset="-122"/>
              </a:rPr>
              <a:t>传感器供电电源频率</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即转换电路工作频率</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或更换传感器至转换电路的引线电缆后，必须对整个仪器重新</a:t>
            </a:r>
            <a:r>
              <a:rPr lang="zh-CN" altLang="en-US" b="1" dirty="0" smtClean="0">
                <a:solidFill>
                  <a:schemeClr val="tx1"/>
                </a:solidFill>
                <a:latin typeface="宋体" pitchFamily="2" charset="-122"/>
                <a:ea typeface="宋体" pitchFamily="2" charset="-122"/>
              </a:rPr>
              <a:t>标定；测量</a:t>
            </a:r>
            <a:r>
              <a:rPr lang="zh-CN" altLang="en-US" b="1" dirty="0">
                <a:solidFill>
                  <a:schemeClr val="tx1"/>
                </a:solidFill>
                <a:latin typeface="宋体" pitchFamily="2" charset="-122"/>
                <a:ea typeface="宋体" pitchFamily="2" charset="-122"/>
              </a:rPr>
              <a:t>时所用的供电频率和电缆长度应与标定时相同。</a:t>
            </a:r>
            <a:endParaRPr lang="zh-CN" altLang="en-US" sz="3200" dirty="0">
              <a:solidFill>
                <a:schemeClr val="tx1"/>
              </a:solidFill>
            </a:endParaRPr>
          </a:p>
        </p:txBody>
      </p:sp>
      <p:sp>
        <p:nvSpPr>
          <p:cNvPr id="8"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109572" name="Object 4"/>
          <p:cNvGraphicFramePr>
            <a:graphicFrameLocks noChangeAspect="1"/>
          </p:cNvGraphicFramePr>
          <p:nvPr/>
        </p:nvGraphicFramePr>
        <p:xfrm>
          <a:off x="3143240" y="1857364"/>
          <a:ext cx="2457450" cy="733425"/>
        </p:xfrm>
        <a:graphic>
          <a:graphicData uri="http://schemas.openxmlformats.org/presentationml/2006/ole">
            <p:oleObj spid="_x0000_s109572" name="Equation" r:id="rId3" imgW="1002960" imgH="393480" progId="Equation.3">
              <p:embed/>
            </p:oleObj>
          </a:graphicData>
        </a:graphic>
      </p:graphicFrame>
      <p:graphicFrame>
        <p:nvGraphicFramePr>
          <p:cNvPr id="109573" name="Object 5"/>
          <p:cNvGraphicFramePr>
            <a:graphicFrameLocks noChangeAspect="1"/>
          </p:cNvGraphicFramePr>
          <p:nvPr/>
        </p:nvGraphicFramePr>
        <p:xfrm>
          <a:off x="1500166" y="2643182"/>
          <a:ext cx="6219825" cy="850900"/>
        </p:xfrm>
        <a:graphic>
          <a:graphicData uri="http://schemas.openxmlformats.org/presentationml/2006/ole">
            <p:oleObj spid="_x0000_s109573" name="Equation" r:id="rId4" imgW="2539800" imgH="4572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09572"/>
                                        </p:tgtEl>
                                        <p:attrNameLst>
                                          <p:attrName>style.visibility</p:attrName>
                                        </p:attrNameLst>
                                      </p:cBhvr>
                                      <p:to>
                                        <p:strVal val="visible"/>
                                      </p:to>
                                    </p:set>
                                    <p:animEffect transition="in" filter="diamond(in)">
                                      <p:cBhvr>
                                        <p:cTn id="7" dur="2000"/>
                                        <p:tgtEl>
                                          <p:spTgt spid="10957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109573"/>
                                        </p:tgtEl>
                                        <p:attrNameLst>
                                          <p:attrName>style.visibility</p:attrName>
                                        </p:attrNameLst>
                                      </p:cBhvr>
                                      <p:to>
                                        <p:strVal val="visible"/>
                                      </p:to>
                                    </p:set>
                                    <p:animEffect transition="in" filter="diamond(in)">
                                      <p:cBhvr>
                                        <p:cTn id="12" dur="2000"/>
                                        <p:tgtEl>
                                          <p:spTgt spid="10957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198">
                                            <p:txEl>
                                              <p:pRg st="0" end="0"/>
                                            </p:txEl>
                                          </p:spTgt>
                                        </p:tgtEl>
                                        <p:attrNameLst>
                                          <p:attrName>style.visibility</p:attrName>
                                        </p:attrNameLst>
                                      </p:cBhvr>
                                      <p:to>
                                        <p:strVal val="visible"/>
                                      </p:to>
                                    </p:set>
                                    <p:animEffect transition="in" filter="blinds(horizontal)">
                                      <p:cBhvr>
                                        <p:cTn id="17" dur="500"/>
                                        <p:tgtEl>
                                          <p:spTgt spid="819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198">
                                            <p:txEl>
                                              <p:pRg st="1" end="1"/>
                                            </p:txEl>
                                          </p:spTgt>
                                        </p:tgtEl>
                                        <p:attrNameLst>
                                          <p:attrName>style.visibility</p:attrName>
                                        </p:attrNameLst>
                                      </p:cBhvr>
                                      <p:to>
                                        <p:strVal val="visible"/>
                                      </p:to>
                                    </p:set>
                                    <p:animEffect transition="in" filter="blinds(horizontal)">
                                      <p:cBhvr>
                                        <p:cTn id="22" dur="500"/>
                                        <p:tgtEl>
                                          <p:spTgt spid="819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8"/>
          <p:cNvSpPr>
            <a:spLocks noGrp="1" noChangeArrowheads="1"/>
          </p:cNvSpPr>
          <p:nvPr>
            <p:ph type="title"/>
          </p:nvPr>
        </p:nvSpPr>
        <p:spPr bwMode="auto">
          <a:xfrm>
            <a:off x="642910" y="1571612"/>
            <a:ext cx="7437438" cy="515927"/>
          </a:xfrm>
          <a:noFill/>
          <a:ln>
            <a:miter lim="800000"/>
            <a:headEnd/>
            <a:tailEnd/>
          </a:ln>
        </p:spPr>
        <p:txBody>
          <a:bodyPr vert="horz" wrap="square" lIns="91440" tIns="45720" rIns="91440" bIns="45720" numCol="1" anchor="t" anchorCtr="0" compatLnSpc="1">
            <a:prstTxWarp prst="textNoShape">
              <a:avLst/>
            </a:prstTxWarp>
          </a:bodyPr>
          <a:lstStyle/>
          <a:p>
            <a:pPr algn="l"/>
            <a:r>
              <a:rPr lang="zh-CN" altLang="en-US" sz="2800" b="1" dirty="0" smtClean="0">
                <a:solidFill>
                  <a:srgbClr val="F84D08"/>
                </a:solidFill>
                <a:latin typeface="黑体" pitchFamily="2" charset="-122"/>
                <a:ea typeface="黑体" pitchFamily="2" charset="-122"/>
              </a:rPr>
              <a:t>设计要点</a:t>
            </a:r>
          </a:p>
        </p:txBody>
      </p:sp>
      <p:sp>
        <p:nvSpPr>
          <p:cNvPr id="32772" name="Text Box 10"/>
          <p:cNvSpPr txBox="1">
            <a:spLocks noChangeArrowheads="1"/>
          </p:cNvSpPr>
          <p:nvPr/>
        </p:nvSpPr>
        <p:spPr bwMode="auto">
          <a:xfrm>
            <a:off x="214282" y="2143116"/>
            <a:ext cx="8715436" cy="3539430"/>
          </a:xfrm>
          <a:prstGeom prst="rect">
            <a:avLst/>
          </a:prstGeom>
          <a:noFill/>
          <a:ln w="9525" algn="ctr">
            <a:noFill/>
            <a:miter lim="800000"/>
            <a:headEnd/>
            <a:tailEnd/>
          </a:ln>
        </p:spPr>
        <p:txBody>
          <a:bodyPr wrap="square">
            <a:spAutoFit/>
          </a:bodyPr>
          <a:lstStyle/>
          <a:p>
            <a:pPr indent="541338"/>
            <a:r>
              <a:rPr lang="zh-CN" altLang="en-US" b="1" dirty="0" smtClean="0">
                <a:solidFill>
                  <a:schemeClr val="tx1"/>
                </a:solidFill>
                <a:latin typeface="宋体" pitchFamily="2" charset="-122"/>
                <a:ea typeface="宋体" pitchFamily="2" charset="-122"/>
              </a:rPr>
              <a:t>要具有</a:t>
            </a:r>
            <a:r>
              <a:rPr lang="zh-CN" altLang="en-US" b="1" dirty="0">
                <a:solidFill>
                  <a:schemeClr val="tx1"/>
                </a:solidFill>
                <a:latin typeface="宋体" pitchFamily="2" charset="-122"/>
                <a:ea typeface="宋体" pitchFamily="2" charset="-122"/>
              </a:rPr>
              <a:t>的高灵敏度、高</a:t>
            </a:r>
            <a:r>
              <a:rPr lang="zh-CN" altLang="en-US" b="1" dirty="0" smtClean="0">
                <a:solidFill>
                  <a:schemeClr val="tx1"/>
                </a:solidFill>
                <a:latin typeface="宋体" pitchFamily="2" charset="-122"/>
                <a:ea typeface="宋体" pitchFamily="2" charset="-122"/>
              </a:rPr>
              <a:t>精度，需要正确</a:t>
            </a:r>
            <a:r>
              <a:rPr lang="zh-CN" altLang="en-US" b="1" dirty="0">
                <a:solidFill>
                  <a:schemeClr val="tx1"/>
                </a:solidFill>
                <a:latin typeface="宋体" pitchFamily="2" charset="-122"/>
                <a:ea typeface="宋体" pitchFamily="2" charset="-122"/>
              </a:rPr>
              <a:t>设计、正确选材以及精细的</a:t>
            </a:r>
            <a:r>
              <a:rPr lang="zh-CN" altLang="en-US" b="1" dirty="0" smtClean="0">
                <a:solidFill>
                  <a:schemeClr val="tx1"/>
                </a:solidFill>
                <a:latin typeface="宋体" pitchFamily="2" charset="-122"/>
                <a:ea typeface="宋体" pitchFamily="2" charset="-122"/>
              </a:rPr>
              <a:t>加工。</a:t>
            </a:r>
            <a:endParaRPr lang="en-US" altLang="zh-CN" b="1" dirty="0" smtClean="0">
              <a:solidFill>
                <a:schemeClr val="tx1"/>
              </a:solidFill>
              <a:latin typeface="宋体" pitchFamily="2" charset="-122"/>
              <a:ea typeface="宋体" pitchFamily="2" charset="-122"/>
            </a:endParaRPr>
          </a:p>
          <a:p>
            <a:pPr indent="541338"/>
            <a:r>
              <a:rPr lang="zh-CN" altLang="en-US" b="1" dirty="0" smtClean="0">
                <a:solidFill>
                  <a:schemeClr val="tx1"/>
                </a:solidFill>
                <a:latin typeface="宋体" pitchFamily="2" charset="-122"/>
                <a:ea typeface="宋体" pitchFamily="2" charset="-122"/>
              </a:rPr>
              <a:t>设计</a:t>
            </a:r>
            <a:r>
              <a:rPr lang="zh-CN" altLang="en-US" b="1" dirty="0">
                <a:solidFill>
                  <a:schemeClr val="tx1"/>
                </a:solidFill>
                <a:latin typeface="宋体" pitchFamily="2" charset="-122"/>
                <a:ea typeface="宋体" pitchFamily="2" charset="-122"/>
              </a:rPr>
              <a:t>传感器的过程中，在所要求的量程、温度和压力范围内，应尽量使它具有低成本、高精度、高分辨力、稳定可靠和好的频率响应等，但一般不易达到理想程度，因此经常采用折中方案</a:t>
            </a:r>
            <a:r>
              <a:rPr lang="zh-CN" altLang="en-US" b="1" dirty="0" smtClean="0">
                <a:solidFill>
                  <a:schemeClr val="tx1"/>
                </a:solidFill>
                <a:latin typeface="宋体" pitchFamily="2" charset="-122"/>
                <a:ea typeface="宋体" pitchFamily="2" charset="-122"/>
              </a:rPr>
              <a:t>。</a:t>
            </a:r>
            <a:endParaRPr lang="en-US" altLang="zh-CN" b="1" dirty="0" smtClean="0">
              <a:solidFill>
                <a:schemeClr val="tx1"/>
              </a:solidFill>
              <a:latin typeface="宋体" pitchFamily="2" charset="-122"/>
              <a:ea typeface="宋体" pitchFamily="2" charset="-122"/>
            </a:endParaRPr>
          </a:p>
          <a:p>
            <a:pPr indent="541338"/>
            <a:r>
              <a:rPr lang="zh-CN" altLang="en-US" b="1" dirty="0" smtClean="0">
                <a:solidFill>
                  <a:schemeClr val="tx1"/>
                </a:solidFill>
                <a:latin typeface="宋体" pitchFamily="2" charset="-122"/>
                <a:ea typeface="宋体" pitchFamily="2" charset="-122"/>
              </a:rPr>
              <a:t>对于</a:t>
            </a:r>
            <a:r>
              <a:rPr lang="zh-CN" altLang="en-US" b="1" dirty="0">
                <a:solidFill>
                  <a:schemeClr val="tx1"/>
                </a:solidFill>
                <a:latin typeface="宋体" pitchFamily="2" charset="-122"/>
                <a:ea typeface="宋体" pitchFamily="2" charset="-122"/>
              </a:rPr>
              <a:t>电容式传感器，为了发扬它的特点克服不足，设计时可以从下面几个方面予以</a:t>
            </a:r>
            <a:r>
              <a:rPr lang="zh-CN" altLang="en-US" b="1" dirty="0" smtClean="0">
                <a:solidFill>
                  <a:schemeClr val="tx1"/>
                </a:solidFill>
                <a:latin typeface="宋体" pitchFamily="2" charset="-122"/>
                <a:ea typeface="宋体" pitchFamily="2" charset="-122"/>
              </a:rPr>
              <a:t>考虑：</a:t>
            </a:r>
            <a:endParaRPr lang="zh-CN" altLang="en-US" dirty="0">
              <a:solidFill>
                <a:schemeClr val="tx1"/>
              </a:solidFill>
            </a:endParaRPr>
          </a:p>
        </p:txBody>
      </p:sp>
      <p:sp>
        <p:nvSpPr>
          <p:cNvPr id="5"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2772">
                                            <p:txEl>
                                              <p:pRg st="0" end="0"/>
                                            </p:txEl>
                                          </p:spTgt>
                                        </p:tgtEl>
                                        <p:attrNameLst>
                                          <p:attrName>style.visibility</p:attrName>
                                        </p:attrNameLst>
                                      </p:cBhvr>
                                      <p:to>
                                        <p:strVal val="visible"/>
                                      </p:to>
                                    </p:set>
                                    <p:animEffect transition="in" filter="blinds(horizontal)">
                                      <p:cBhvr>
                                        <p:cTn id="7" dur="500"/>
                                        <p:tgtEl>
                                          <p:spTgt spid="327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772">
                                            <p:txEl>
                                              <p:pRg st="1" end="1"/>
                                            </p:txEl>
                                          </p:spTgt>
                                        </p:tgtEl>
                                        <p:attrNameLst>
                                          <p:attrName>style.visibility</p:attrName>
                                        </p:attrNameLst>
                                      </p:cBhvr>
                                      <p:to>
                                        <p:strVal val="visible"/>
                                      </p:to>
                                    </p:set>
                                    <p:animEffect transition="in" filter="blinds(horizontal)">
                                      <p:cBhvr>
                                        <p:cTn id="12" dur="500"/>
                                        <p:tgtEl>
                                          <p:spTgt spid="327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772">
                                            <p:txEl>
                                              <p:pRg st="2" end="2"/>
                                            </p:txEl>
                                          </p:spTgt>
                                        </p:tgtEl>
                                        <p:attrNameLst>
                                          <p:attrName>style.visibility</p:attrName>
                                        </p:attrNameLst>
                                      </p:cBhvr>
                                      <p:to>
                                        <p:strVal val="visible"/>
                                      </p:to>
                                    </p:set>
                                    <p:animEffect transition="in" filter="blinds(horizontal)">
                                      <p:cBhvr>
                                        <p:cTn id="17" dur="500"/>
                                        <p:tgtEl>
                                          <p:spTgt spid="327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3"/>
          <p:cNvSpPr txBox="1">
            <a:spLocks noChangeArrowheads="1"/>
          </p:cNvSpPr>
          <p:nvPr/>
        </p:nvSpPr>
        <p:spPr bwMode="auto">
          <a:xfrm>
            <a:off x="500034" y="2133600"/>
            <a:ext cx="8429684" cy="2677656"/>
          </a:xfrm>
          <a:prstGeom prst="rect">
            <a:avLst/>
          </a:prstGeom>
          <a:noFill/>
          <a:ln w="9525">
            <a:noFill/>
            <a:miter lim="800000"/>
            <a:headEnd/>
            <a:tailEnd/>
          </a:ln>
        </p:spPr>
        <p:txBody>
          <a:bodyPr wrap="square">
            <a:spAutoFit/>
          </a:bodyPr>
          <a:lstStyle/>
          <a:p>
            <a:pPr marL="355600" indent="-355600">
              <a:lnSpc>
                <a:spcPct val="120000"/>
              </a:lnSpc>
              <a:spcBef>
                <a:spcPts val="0"/>
              </a:spcBef>
              <a:buFont typeface="Wingdings" pitchFamily="2" charset="2"/>
              <a:buChar char="l"/>
            </a:pPr>
            <a:r>
              <a:rPr lang="zh-CN" altLang="en-US" b="1" dirty="0">
                <a:solidFill>
                  <a:schemeClr val="tx1"/>
                </a:solidFill>
                <a:latin typeface="Verdana" pitchFamily="34" charset="0"/>
                <a:ea typeface="宋体" pitchFamily="2" charset="-122"/>
              </a:rPr>
              <a:t>减小环境温度、湿度等变化所产生的误差，以保证绝缘材料的绝缘性能；</a:t>
            </a:r>
          </a:p>
          <a:p>
            <a:pPr marL="355600" indent="-355600">
              <a:lnSpc>
                <a:spcPct val="120000"/>
              </a:lnSpc>
              <a:spcBef>
                <a:spcPts val="0"/>
              </a:spcBef>
              <a:buFont typeface="Wingdings" pitchFamily="2" charset="2"/>
              <a:buChar char="l"/>
            </a:pPr>
            <a:r>
              <a:rPr lang="zh-CN" altLang="en-US" b="1" dirty="0">
                <a:solidFill>
                  <a:schemeClr val="tx1"/>
                </a:solidFill>
                <a:latin typeface="Verdana" pitchFamily="34" charset="0"/>
                <a:ea typeface="宋体" pitchFamily="2" charset="-122"/>
              </a:rPr>
              <a:t>材料的机械强度和</a:t>
            </a:r>
            <a:r>
              <a:rPr lang="zh-CN" altLang="en-US" b="1" dirty="0" smtClean="0">
                <a:solidFill>
                  <a:schemeClr val="tx1"/>
                </a:solidFill>
                <a:latin typeface="Verdana" pitchFamily="34" charset="0"/>
                <a:ea typeface="宋体" pitchFamily="2" charset="-122"/>
              </a:rPr>
              <a:t>稳定性；</a:t>
            </a:r>
            <a:endParaRPr lang="zh-CN" altLang="en-US" b="1" dirty="0">
              <a:solidFill>
                <a:schemeClr val="tx1"/>
              </a:solidFill>
              <a:latin typeface="Verdana" pitchFamily="34" charset="0"/>
              <a:ea typeface="宋体" pitchFamily="2" charset="-122"/>
            </a:endParaRPr>
          </a:p>
          <a:p>
            <a:pPr marL="355600" indent="-355600">
              <a:lnSpc>
                <a:spcPct val="120000"/>
              </a:lnSpc>
              <a:spcBef>
                <a:spcPts val="0"/>
              </a:spcBef>
              <a:buFont typeface="Wingdings" pitchFamily="2" charset="2"/>
              <a:buChar char="l"/>
            </a:pPr>
            <a:r>
              <a:rPr lang="zh-CN" altLang="en-US" b="1" dirty="0">
                <a:solidFill>
                  <a:schemeClr val="tx1"/>
                </a:solidFill>
                <a:latin typeface="Verdana" pitchFamily="34" charset="0"/>
                <a:ea typeface="宋体" pitchFamily="2" charset="-122"/>
              </a:rPr>
              <a:t>传感器的密封性能；</a:t>
            </a:r>
          </a:p>
          <a:p>
            <a:pPr marL="355600" indent="-355600">
              <a:lnSpc>
                <a:spcPct val="120000"/>
              </a:lnSpc>
              <a:spcBef>
                <a:spcPts val="0"/>
              </a:spcBef>
              <a:buFont typeface="Wingdings" pitchFamily="2" charset="2"/>
              <a:buChar char="l"/>
            </a:pPr>
            <a:r>
              <a:rPr lang="zh-CN" altLang="en-US" b="1" dirty="0">
                <a:solidFill>
                  <a:schemeClr val="tx1"/>
                </a:solidFill>
                <a:latin typeface="Verdana" pitchFamily="34" charset="0"/>
                <a:ea typeface="宋体" pitchFamily="2" charset="-122"/>
              </a:rPr>
              <a:t>采用差分对称结构；</a:t>
            </a:r>
          </a:p>
        </p:txBody>
      </p:sp>
      <p:sp>
        <p:nvSpPr>
          <p:cNvPr id="33796" name="Rectangle 8"/>
          <p:cNvSpPr>
            <a:spLocks noGrp="1" noChangeArrowheads="1"/>
          </p:cNvSpPr>
          <p:nvPr>
            <p:ph type="title"/>
          </p:nvPr>
        </p:nvSpPr>
        <p:spPr bwMode="auto">
          <a:xfrm>
            <a:off x="642910" y="1557338"/>
            <a:ext cx="8501090" cy="719137"/>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buFont typeface="Wingdings" pitchFamily="2" charset="2"/>
              <a:buChar char="u"/>
            </a:pPr>
            <a:r>
              <a:rPr lang="zh-CN" altLang="en-US" sz="2800" b="1" dirty="0" smtClean="0"/>
              <a:t> 绝缘材料</a:t>
            </a:r>
          </a:p>
        </p:txBody>
      </p:sp>
      <p:sp>
        <p:nvSpPr>
          <p:cNvPr id="7"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11"/>
          <p:cNvSpPr>
            <a:spLocks noGrp="1" noChangeArrowheads="1"/>
          </p:cNvSpPr>
          <p:nvPr>
            <p:ph type="title"/>
          </p:nvPr>
        </p:nvSpPr>
        <p:spPr bwMode="auto">
          <a:xfrm>
            <a:off x="642910" y="1571612"/>
            <a:ext cx="7812087" cy="576262"/>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buFont typeface="Wingdings" pitchFamily="2" charset="2"/>
              <a:buChar char="u"/>
            </a:pPr>
            <a:r>
              <a:rPr lang="zh-CN" altLang="en-US" sz="2800" b="1" dirty="0" smtClean="0"/>
              <a:t> 边缘效应</a:t>
            </a:r>
          </a:p>
        </p:txBody>
      </p:sp>
      <p:sp>
        <p:nvSpPr>
          <p:cNvPr id="29700" name="Text Box 12"/>
          <p:cNvSpPr txBox="1">
            <a:spLocks noChangeArrowheads="1"/>
          </p:cNvSpPr>
          <p:nvPr/>
        </p:nvSpPr>
        <p:spPr bwMode="auto">
          <a:xfrm>
            <a:off x="214282" y="2060575"/>
            <a:ext cx="8715436" cy="3212226"/>
          </a:xfrm>
          <a:prstGeom prst="rect">
            <a:avLst/>
          </a:prstGeom>
          <a:noFill/>
          <a:ln w="9525" algn="ctr">
            <a:noFill/>
            <a:miter lim="800000"/>
            <a:headEnd/>
            <a:tailEnd/>
          </a:ln>
        </p:spPr>
        <p:txBody>
          <a:bodyPr wrap="square">
            <a:spAutoFit/>
          </a:bodyPr>
          <a:lstStyle/>
          <a:p>
            <a:pPr indent="541338">
              <a:lnSpc>
                <a:spcPct val="120000"/>
              </a:lnSpc>
              <a:spcBef>
                <a:spcPct val="20000"/>
              </a:spcBef>
              <a:buClr>
                <a:schemeClr val="folHlink"/>
              </a:buClr>
              <a:buFont typeface="Wingdings" pitchFamily="2" charset="2"/>
              <a:buNone/>
            </a:pPr>
            <a:r>
              <a:rPr kumimoji="0" lang="zh-CN" altLang="en-US" b="1" dirty="0">
                <a:solidFill>
                  <a:schemeClr val="tx1"/>
                </a:solidFill>
                <a:latin typeface="宋体" pitchFamily="2" charset="-122"/>
                <a:ea typeface="宋体" pitchFamily="2" charset="-122"/>
              </a:rPr>
              <a:t>变面积型和变介电常数型</a:t>
            </a:r>
            <a:r>
              <a:rPr kumimoji="0" lang="en-US" altLang="zh-CN" b="1" dirty="0">
                <a:solidFill>
                  <a:schemeClr val="tx1"/>
                </a:solidFill>
                <a:latin typeface="宋体" pitchFamily="2" charset="-122"/>
                <a:ea typeface="宋体" pitchFamily="2" charset="-122"/>
              </a:rPr>
              <a:t>(</a:t>
            </a:r>
            <a:r>
              <a:rPr kumimoji="0" lang="zh-CN" altLang="en-US" b="1" dirty="0">
                <a:solidFill>
                  <a:schemeClr val="tx1"/>
                </a:solidFill>
                <a:latin typeface="宋体" pitchFamily="2" charset="-122"/>
                <a:ea typeface="宋体" pitchFamily="2" charset="-122"/>
              </a:rPr>
              <a:t>测厚除外</a:t>
            </a:r>
            <a:r>
              <a:rPr kumimoji="0" lang="en-US" altLang="zh-CN" b="1" dirty="0">
                <a:solidFill>
                  <a:schemeClr val="tx1"/>
                </a:solidFill>
                <a:latin typeface="宋体" pitchFamily="2" charset="-122"/>
                <a:ea typeface="宋体" pitchFamily="2" charset="-122"/>
              </a:rPr>
              <a:t>)</a:t>
            </a:r>
            <a:r>
              <a:rPr kumimoji="0" lang="zh-CN" altLang="en-US" b="1" dirty="0">
                <a:solidFill>
                  <a:schemeClr val="tx1"/>
                </a:solidFill>
                <a:latin typeface="宋体" pitchFamily="2" charset="-122"/>
                <a:ea typeface="宋体" pitchFamily="2" charset="-122"/>
              </a:rPr>
              <a:t>电容传感器具有很好的线性。但它们的结论都是忽略了</a:t>
            </a:r>
            <a:r>
              <a:rPr kumimoji="0" lang="zh-CN" altLang="en-US" b="1" dirty="0">
                <a:solidFill>
                  <a:srgbClr val="C00000"/>
                </a:solidFill>
                <a:latin typeface="宋体" pitchFamily="2" charset="-122"/>
                <a:ea typeface="宋体" pitchFamily="2" charset="-122"/>
              </a:rPr>
              <a:t>边缘效应</a:t>
            </a:r>
            <a:r>
              <a:rPr kumimoji="0" lang="zh-CN" altLang="en-US" b="1" dirty="0">
                <a:solidFill>
                  <a:schemeClr val="tx1"/>
                </a:solidFill>
                <a:latin typeface="宋体" pitchFamily="2" charset="-122"/>
                <a:ea typeface="宋体" pitchFamily="2" charset="-122"/>
              </a:rPr>
              <a:t>得到的</a:t>
            </a:r>
            <a:r>
              <a:rPr kumimoji="0" lang="zh-CN" altLang="en-US" b="1" dirty="0" smtClean="0">
                <a:solidFill>
                  <a:schemeClr val="tx1"/>
                </a:solidFill>
                <a:latin typeface="宋体" pitchFamily="2" charset="-122"/>
                <a:ea typeface="宋体" pitchFamily="2" charset="-122"/>
              </a:rPr>
              <a:t>。</a:t>
            </a:r>
            <a:endParaRPr kumimoji="0" lang="en-US" altLang="zh-CN" b="1" dirty="0" smtClean="0">
              <a:solidFill>
                <a:schemeClr val="tx1"/>
              </a:solidFill>
              <a:latin typeface="宋体" pitchFamily="2" charset="-122"/>
              <a:ea typeface="宋体" pitchFamily="2" charset="-122"/>
            </a:endParaRPr>
          </a:p>
          <a:p>
            <a:pPr indent="541338">
              <a:lnSpc>
                <a:spcPct val="120000"/>
              </a:lnSpc>
              <a:spcBef>
                <a:spcPct val="20000"/>
              </a:spcBef>
              <a:buClr>
                <a:schemeClr val="folHlink"/>
              </a:buClr>
              <a:buFont typeface="Wingdings" pitchFamily="2" charset="2"/>
              <a:buNone/>
            </a:pPr>
            <a:r>
              <a:rPr kumimoji="0" lang="zh-CN" altLang="en-US" b="1" dirty="0" smtClean="0">
                <a:solidFill>
                  <a:schemeClr val="tx1"/>
                </a:solidFill>
                <a:latin typeface="宋体" pitchFamily="2" charset="-122"/>
                <a:ea typeface="宋体" pitchFamily="2" charset="-122"/>
              </a:rPr>
              <a:t>实际上</a:t>
            </a:r>
            <a:r>
              <a:rPr kumimoji="0" lang="zh-CN" altLang="en-US" b="1" dirty="0">
                <a:solidFill>
                  <a:schemeClr val="tx1"/>
                </a:solidFill>
                <a:latin typeface="宋体" pitchFamily="2" charset="-122"/>
                <a:ea typeface="宋体" pitchFamily="2" charset="-122"/>
              </a:rPr>
              <a:t>由于边缘效应</a:t>
            </a:r>
            <a:r>
              <a:rPr lang="zh-CN" altLang="en-US" b="1" dirty="0">
                <a:solidFill>
                  <a:schemeClr val="tx1"/>
                </a:solidFill>
                <a:latin typeface="宋体" pitchFamily="2" charset="-122"/>
                <a:ea typeface="宋体" pitchFamily="2" charset="-122"/>
              </a:rPr>
              <a:t>引起漏电力线，导致极板</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或极筒</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间电场分布不均匀等因素，因此</a:t>
            </a:r>
            <a:r>
              <a:rPr kumimoji="0" lang="zh-CN" altLang="en-US" b="1" dirty="0">
                <a:solidFill>
                  <a:schemeClr val="tx1"/>
                </a:solidFill>
                <a:latin typeface="宋体" pitchFamily="2" charset="-122"/>
                <a:ea typeface="宋体" pitchFamily="2" charset="-122"/>
              </a:rPr>
              <a:t>仍存在非线性问题，且灵敏度下降，但比变极距型好得多</a:t>
            </a:r>
            <a:r>
              <a:rPr kumimoji="0" lang="zh-CN" altLang="en-US" b="1" dirty="0" smtClean="0">
                <a:solidFill>
                  <a:schemeClr val="tx1"/>
                </a:solidFill>
                <a:latin typeface="宋体" pitchFamily="2" charset="-122"/>
                <a:ea typeface="宋体" pitchFamily="2" charset="-122"/>
              </a:rPr>
              <a:t>。</a:t>
            </a:r>
            <a:endParaRPr lang="en-US" altLang="zh-CN" dirty="0"/>
          </a:p>
        </p:txBody>
      </p:sp>
      <p:sp>
        <p:nvSpPr>
          <p:cNvPr id="5"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9700">
                                            <p:txEl>
                                              <p:pRg st="0" end="0"/>
                                            </p:txEl>
                                          </p:spTgt>
                                        </p:tgtEl>
                                        <p:attrNameLst>
                                          <p:attrName>style.visibility</p:attrName>
                                        </p:attrNameLst>
                                      </p:cBhvr>
                                      <p:to>
                                        <p:strVal val="visible"/>
                                      </p:to>
                                    </p:set>
                                    <p:animEffect transition="in" filter="blinds(horizontal)">
                                      <p:cBhvr>
                                        <p:cTn id="7" dur="500"/>
                                        <p:tgtEl>
                                          <p:spTgt spid="297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700">
                                            <p:txEl>
                                              <p:pRg st="1" end="1"/>
                                            </p:txEl>
                                          </p:spTgt>
                                        </p:tgtEl>
                                        <p:attrNameLst>
                                          <p:attrName>style.visibility</p:attrName>
                                        </p:attrNameLst>
                                      </p:cBhvr>
                                      <p:to>
                                        <p:strVal val="visible"/>
                                      </p:to>
                                    </p:set>
                                    <p:animEffect transition="in" filter="blinds(horizontal)">
                                      <p:cBhvr>
                                        <p:cTn id="12" dur="500"/>
                                        <p:tgtEl>
                                          <p:spTgt spid="2970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8"/>
          <p:cNvSpPr>
            <a:spLocks noGrp="1" noChangeArrowheads="1"/>
          </p:cNvSpPr>
          <p:nvPr>
            <p:ph type="title"/>
          </p:nvPr>
        </p:nvSpPr>
        <p:spPr bwMode="auto">
          <a:xfrm>
            <a:off x="642910" y="1557338"/>
            <a:ext cx="8501090" cy="719137"/>
          </a:xfrm>
          <a:noFill/>
          <a:ln>
            <a:miter lim="800000"/>
            <a:headEnd/>
            <a:tailEnd/>
          </a:ln>
        </p:spPr>
        <p:txBody>
          <a:bodyPr vert="horz" wrap="square" lIns="91440" tIns="45720" rIns="91440" bIns="45720" numCol="1" anchor="t" anchorCtr="0" compatLnSpc="1">
            <a:prstTxWarp prst="textNoShape">
              <a:avLst/>
            </a:prstTxWarp>
          </a:bodyPr>
          <a:lstStyle/>
          <a:p>
            <a:pPr algn="l">
              <a:buFont typeface="Wingdings" pitchFamily="2" charset="2"/>
              <a:buChar char="u"/>
            </a:pPr>
            <a:r>
              <a:rPr lang="zh-CN" altLang="en-US" sz="2800" b="1" dirty="0" smtClean="0"/>
              <a:t> 消除和减小边缘效应</a:t>
            </a:r>
          </a:p>
        </p:txBody>
      </p:sp>
      <p:sp>
        <p:nvSpPr>
          <p:cNvPr id="33798" name="Text Box 10"/>
          <p:cNvSpPr txBox="1">
            <a:spLocks noChangeArrowheads="1"/>
          </p:cNvSpPr>
          <p:nvPr/>
        </p:nvSpPr>
        <p:spPr bwMode="auto">
          <a:xfrm>
            <a:off x="285720" y="2071678"/>
            <a:ext cx="8643998" cy="1643527"/>
          </a:xfrm>
          <a:prstGeom prst="rect">
            <a:avLst/>
          </a:prstGeom>
          <a:noFill/>
          <a:ln w="9525" algn="ctr">
            <a:noFill/>
            <a:miter lim="800000"/>
            <a:headEnd/>
            <a:tailEnd/>
          </a:ln>
        </p:spPr>
        <p:txBody>
          <a:bodyPr wrap="square">
            <a:spAutoFit/>
          </a:bodyPr>
          <a:lstStyle/>
          <a:p>
            <a:pPr indent="439738">
              <a:lnSpc>
                <a:spcPct val="120000"/>
              </a:lnSpc>
              <a:spcBef>
                <a:spcPct val="50000"/>
              </a:spcBef>
            </a:pPr>
            <a:r>
              <a:rPr lang="zh-CN" altLang="en-US" b="1" dirty="0">
                <a:solidFill>
                  <a:schemeClr val="tx1"/>
                </a:solidFill>
                <a:latin typeface="宋体" pitchFamily="2" charset="-122"/>
                <a:ea typeface="宋体" pitchFamily="2" charset="-122"/>
              </a:rPr>
              <a:t>边缘效应不仅使电容传感器的灵敏度降低而且产生非线性，因此应尽量消除或减小它。可以采用在结构上增设等位环来消除边缘效应。</a:t>
            </a:r>
          </a:p>
        </p:txBody>
      </p:sp>
      <p:sp>
        <p:nvSpPr>
          <p:cNvPr id="7"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110594" name="Object 4"/>
          <p:cNvGraphicFramePr>
            <a:graphicFrameLocks noChangeAspect="1"/>
          </p:cNvGraphicFramePr>
          <p:nvPr/>
        </p:nvGraphicFramePr>
        <p:xfrm>
          <a:off x="4286248" y="3643314"/>
          <a:ext cx="4695825" cy="2486025"/>
        </p:xfrm>
        <a:graphic>
          <a:graphicData uri="http://schemas.openxmlformats.org/presentationml/2006/ole">
            <p:oleObj spid="_x0000_s110594" name="图像文档" r:id="rId3" imgW="4695840" imgH="2486160" progId="">
              <p:embed/>
            </p:oleObj>
          </a:graphicData>
        </a:graphic>
      </p:graphicFrame>
      <p:sp>
        <p:nvSpPr>
          <p:cNvPr id="9" name="Text Box 5"/>
          <p:cNvSpPr txBox="1">
            <a:spLocks noChangeArrowheads="1"/>
          </p:cNvSpPr>
          <p:nvPr/>
        </p:nvSpPr>
        <p:spPr bwMode="auto">
          <a:xfrm>
            <a:off x="214282" y="3786190"/>
            <a:ext cx="4071966" cy="2751522"/>
          </a:xfrm>
          <a:prstGeom prst="rect">
            <a:avLst/>
          </a:prstGeom>
          <a:solidFill>
            <a:srgbClr val="92D050"/>
          </a:solidFill>
          <a:ln w="9525">
            <a:noFill/>
            <a:miter lim="800000"/>
            <a:headEnd/>
            <a:tailEnd/>
          </a:ln>
        </p:spPr>
        <p:txBody>
          <a:bodyPr wrap="square">
            <a:spAutoFit/>
          </a:bodyPr>
          <a:lstStyle/>
          <a:p>
            <a:pPr>
              <a:lnSpc>
                <a:spcPct val="120000"/>
              </a:lnSpc>
              <a:spcBef>
                <a:spcPct val="50000"/>
              </a:spcBef>
            </a:pPr>
            <a:r>
              <a:rPr lang="en-US" altLang="zh-CN" sz="2000" dirty="0">
                <a:solidFill>
                  <a:schemeClr val="tx1"/>
                </a:solidFill>
                <a:latin typeface="Verdana" pitchFamily="34" charset="0"/>
                <a:ea typeface="宋体" pitchFamily="2" charset="-122"/>
              </a:rPr>
              <a:t>     </a:t>
            </a:r>
            <a:r>
              <a:rPr lang="zh-CN" altLang="en-US" sz="2400" b="1" dirty="0">
                <a:solidFill>
                  <a:schemeClr val="tx1"/>
                </a:solidFill>
                <a:latin typeface="Verdana" pitchFamily="34" charset="0"/>
                <a:ea typeface="宋体" pitchFamily="2" charset="-122"/>
              </a:rPr>
              <a:t>边缘效应所引起的</a:t>
            </a:r>
            <a:r>
              <a:rPr lang="zh-CN" altLang="en-US" sz="2400" b="1" dirty="0" smtClean="0">
                <a:solidFill>
                  <a:schemeClr val="tx1"/>
                </a:solidFill>
                <a:latin typeface="Verdana" pitchFamily="34" charset="0"/>
                <a:ea typeface="宋体" pitchFamily="2" charset="-122"/>
              </a:rPr>
              <a:t>非线性，与</a:t>
            </a:r>
            <a:r>
              <a:rPr lang="zh-CN" altLang="en-US" sz="2400" b="1" dirty="0">
                <a:solidFill>
                  <a:schemeClr val="tx1"/>
                </a:solidFill>
                <a:latin typeface="Verdana" pitchFamily="34" charset="0"/>
                <a:ea typeface="宋体" pitchFamily="2" charset="-122"/>
              </a:rPr>
              <a:t>变极距型电容传感器原理上的非线性正好相反</a:t>
            </a:r>
            <a:r>
              <a:rPr lang="zh-CN" altLang="en-US" sz="2400" b="1" dirty="0" smtClean="0">
                <a:solidFill>
                  <a:schemeClr val="tx1"/>
                </a:solidFill>
                <a:latin typeface="Verdana" pitchFamily="34" charset="0"/>
                <a:ea typeface="宋体" pitchFamily="2" charset="-122"/>
              </a:rPr>
              <a:t>，在</a:t>
            </a:r>
            <a:r>
              <a:rPr lang="zh-CN" altLang="en-US" sz="2400" b="1" dirty="0">
                <a:solidFill>
                  <a:schemeClr val="tx1"/>
                </a:solidFill>
                <a:latin typeface="Verdana" pitchFamily="34" charset="0"/>
                <a:ea typeface="宋体" pitchFamily="2" charset="-122"/>
              </a:rPr>
              <a:t>一定程度上起了补偿作用，但这是牺牲了灵敏度来改善传感器的非线性。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22" name="Rectangle 12"/>
          <p:cNvSpPr>
            <a:spLocks noGrp="1" noChangeArrowheads="1"/>
          </p:cNvSpPr>
          <p:nvPr>
            <p:ph type="title"/>
          </p:nvPr>
        </p:nvSpPr>
        <p:spPr bwMode="auto">
          <a:xfrm>
            <a:off x="1116013" y="1557338"/>
            <a:ext cx="7812087" cy="1143000"/>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buFont typeface="Wingdings" pitchFamily="2" charset="2"/>
              <a:buChar char="u"/>
            </a:pPr>
            <a:r>
              <a:rPr lang="zh-CN" altLang="en-US" sz="2800" b="1" dirty="0" smtClean="0"/>
              <a:t> 消除和减小寄生电容的影响</a:t>
            </a:r>
          </a:p>
        </p:txBody>
      </p:sp>
      <p:sp>
        <p:nvSpPr>
          <p:cNvPr id="34823" name="Text Box 14"/>
          <p:cNvSpPr txBox="1">
            <a:spLocks noChangeArrowheads="1"/>
          </p:cNvSpPr>
          <p:nvPr/>
        </p:nvSpPr>
        <p:spPr bwMode="auto">
          <a:xfrm>
            <a:off x="214282" y="2071678"/>
            <a:ext cx="8750331" cy="954107"/>
          </a:xfrm>
          <a:prstGeom prst="rect">
            <a:avLst/>
          </a:prstGeom>
          <a:noFill/>
          <a:ln w="9525" algn="ctr">
            <a:noFill/>
            <a:miter lim="800000"/>
            <a:headEnd/>
            <a:tailEnd/>
          </a:ln>
        </p:spPr>
        <p:txBody>
          <a:bodyPr wrap="square">
            <a:spAutoFit/>
          </a:bodyPr>
          <a:lstStyle/>
          <a:p>
            <a:pPr indent="439738">
              <a:spcBef>
                <a:spcPct val="50000"/>
              </a:spcBef>
            </a:pPr>
            <a:r>
              <a:rPr lang="zh-CN" altLang="en-US" b="1" dirty="0">
                <a:solidFill>
                  <a:schemeClr val="tx1"/>
                </a:solidFill>
                <a:latin typeface="宋体" pitchFamily="2" charset="-122"/>
                <a:ea typeface="宋体" pitchFamily="2" charset="-122"/>
              </a:rPr>
              <a:t>寄生电容与传感器电容相关联，影响传感器的灵敏度，而它的变化则为虚假信号影响仪器的</a:t>
            </a:r>
            <a:r>
              <a:rPr lang="zh-CN" altLang="en-US" b="1" dirty="0" smtClean="0">
                <a:solidFill>
                  <a:schemeClr val="tx1"/>
                </a:solidFill>
                <a:latin typeface="宋体" pitchFamily="2" charset="-122"/>
                <a:ea typeface="宋体" pitchFamily="2" charset="-122"/>
              </a:rPr>
              <a:t>精度：</a:t>
            </a:r>
            <a:endParaRPr lang="zh-CN" altLang="en-US" b="1" dirty="0">
              <a:solidFill>
                <a:schemeClr val="tx1"/>
              </a:solidFill>
              <a:latin typeface="宋体" pitchFamily="2" charset="-122"/>
              <a:ea typeface="宋体" pitchFamily="2" charset="-122"/>
            </a:endParaRPr>
          </a:p>
        </p:txBody>
      </p:sp>
      <p:sp>
        <p:nvSpPr>
          <p:cNvPr id="8"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10" name="图示 9"/>
          <p:cNvGraphicFramePr/>
          <p:nvPr/>
        </p:nvGraphicFramePr>
        <p:xfrm>
          <a:off x="357158" y="3071810"/>
          <a:ext cx="8643998" cy="37861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graphicEl>
                                              <a:dgm id="{9A09E833-9B44-43B9-BE18-E59F788FB812}"/>
                                            </p:graphicEl>
                                          </p:spTgt>
                                        </p:tgtEl>
                                        <p:attrNameLst>
                                          <p:attrName>style.visibility</p:attrName>
                                        </p:attrNameLst>
                                      </p:cBhvr>
                                      <p:to>
                                        <p:strVal val="visible"/>
                                      </p:to>
                                    </p:set>
                                    <p:animEffect transition="in" filter="blinds(horizontal)">
                                      <p:cBhvr>
                                        <p:cTn id="7" dur="500"/>
                                        <p:tgtEl>
                                          <p:spTgt spid="10">
                                            <p:graphicEl>
                                              <a:dgm id="{9A09E833-9B44-43B9-BE18-E59F788FB812}"/>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graphicEl>
                                              <a:dgm id="{4DD48E09-4F01-442F-8651-3003A72BB9C9}"/>
                                            </p:graphicEl>
                                          </p:spTgt>
                                        </p:tgtEl>
                                        <p:attrNameLst>
                                          <p:attrName>style.visibility</p:attrName>
                                        </p:attrNameLst>
                                      </p:cBhvr>
                                      <p:to>
                                        <p:strVal val="visible"/>
                                      </p:to>
                                    </p:set>
                                    <p:animEffect transition="in" filter="blinds(horizontal)">
                                      <p:cBhvr>
                                        <p:cTn id="12" dur="500"/>
                                        <p:tgtEl>
                                          <p:spTgt spid="10">
                                            <p:graphicEl>
                                              <a:dgm id="{4DD48E09-4F01-442F-8651-3003A72BB9C9}"/>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graphicEl>
                                              <a:dgm id="{BA508FA6-DAD7-4122-A31E-AB3F4E4EA9A4}"/>
                                            </p:graphicEl>
                                          </p:spTgt>
                                        </p:tgtEl>
                                        <p:attrNameLst>
                                          <p:attrName>style.visibility</p:attrName>
                                        </p:attrNameLst>
                                      </p:cBhvr>
                                      <p:to>
                                        <p:strVal val="visible"/>
                                      </p:to>
                                    </p:set>
                                    <p:animEffect transition="in" filter="blinds(horizontal)">
                                      <p:cBhvr>
                                        <p:cTn id="17" dur="500"/>
                                        <p:tgtEl>
                                          <p:spTgt spid="10">
                                            <p:graphicEl>
                                              <a:dgm id="{BA508FA6-DAD7-4122-A31E-AB3F4E4EA9A4}"/>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
                                            <p:graphicEl>
                                              <a:dgm id="{DC6AE7EF-E088-4171-9880-A1B247F32656}"/>
                                            </p:graphicEl>
                                          </p:spTgt>
                                        </p:tgtEl>
                                        <p:attrNameLst>
                                          <p:attrName>style.visibility</p:attrName>
                                        </p:attrNameLst>
                                      </p:cBhvr>
                                      <p:to>
                                        <p:strVal val="visible"/>
                                      </p:to>
                                    </p:set>
                                    <p:animEffect transition="in" filter="blinds(horizontal)">
                                      <p:cBhvr>
                                        <p:cTn id="22" dur="500"/>
                                        <p:tgtEl>
                                          <p:spTgt spid="10">
                                            <p:graphicEl>
                                              <a:dgm id="{DC6AE7EF-E088-4171-9880-A1B247F32656}"/>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
                                            <p:graphicEl>
                                              <a:dgm id="{94C42675-3E04-4632-8C75-BAD1A437C800}"/>
                                            </p:graphicEl>
                                          </p:spTgt>
                                        </p:tgtEl>
                                        <p:attrNameLst>
                                          <p:attrName>style.visibility</p:attrName>
                                        </p:attrNameLst>
                                      </p:cBhvr>
                                      <p:to>
                                        <p:strVal val="visible"/>
                                      </p:to>
                                    </p:set>
                                    <p:animEffect transition="in" filter="blinds(horizontal)">
                                      <p:cBhvr>
                                        <p:cTn id="27" dur="500"/>
                                        <p:tgtEl>
                                          <p:spTgt spid="10">
                                            <p:graphicEl>
                                              <a:dgm id="{94C42675-3E04-4632-8C75-BAD1A437C800}"/>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
                                            <p:graphicEl>
                                              <a:dgm id="{BCFCC75E-3080-4ACF-A07B-820B1D98760A}"/>
                                            </p:graphicEl>
                                          </p:spTgt>
                                        </p:tgtEl>
                                        <p:attrNameLst>
                                          <p:attrName>style.visibility</p:attrName>
                                        </p:attrNameLst>
                                      </p:cBhvr>
                                      <p:to>
                                        <p:strVal val="visible"/>
                                      </p:to>
                                    </p:set>
                                    <p:animEffect transition="in" filter="blinds(horizontal)">
                                      <p:cBhvr>
                                        <p:cTn id="32" dur="500"/>
                                        <p:tgtEl>
                                          <p:spTgt spid="10">
                                            <p:graphicEl>
                                              <a:dgm id="{BCFCC75E-3080-4ACF-A07B-820B1D98760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Sub>
          <a:bldDgm bld="one"/>
        </p:bldSub>
      </p:bldGraphic>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74118" name="Object 6"/>
          <p:cNvGraphicFramePr>
            <a:graphicFrameLocks noChangeAspect="1"/>
          </p:cNvGraphicFramePr>
          <p:nvPr/>
        </p:nvGraphicFramePr>
        <p:xfrm>
          <a:off x="2411413" y="2276475"/>
          <a:ext cx="4057650" cy="2257425"/>
        </p:xfrm>
        <a:graphic>
          <a:graphicData uri="http://schemas.openxmlformats.org/presentationml/2006/ole">
            <p:oleObj spid="_x0000_s10242" name="图像文档" r:id="rId3" imgW="4057560" imgH="2257560" progId="">
              <p:embed/>
            </p:oleObj>
          </a:graphicData>
        </a:graphic>
      </p:graphicFrame>
      <p:sp>
        <p:nvSpPr>
          <p:cNvPr id="474119" name="Text Box 7"/>
          <p:cNvSpPr txBox="1">
            <a:spLocks noChangeArrowheads="1"/>
          </p:cNvSpPr>
          <p:nvPr/>
        </p:nvSpPr>
        <p:spPr bwMode="auto">
          <a:xfrm>
            <a:off x="285720" y="4786322"/>
            <a:ext cx="8586790" cy="1384995"/>
          </a:xfrm>
          <a:prstGeom prst="rect">
            <a:avLst/>
          </a:prstGeom>
          <a:noFill/>
          <a:ln w="9525">
            <a:noFill/>
            <a:miter lim="800000"/>
            <a:headEnd/>
            <a:tailEnd/>
          </a:ln>
        </p:spPr>
        <p:txBody>
          <a:bodyPr wrap="square">
            <a:spAutoFit/>
          </a:bodyPr>
          <a:lstStyle/>
          <a:p>
            <a:pPr>
              <a:spcBef>
                <a:spcPct val="50000"/>
              </a:spcBef>
            </a:pPr>
            <a:r>
              <a:rPr lang="en-US" altLang="zh-CN" b="1" dirty="0">
                <a:solidFill>
                  <a:schemeClr val="tx1"/>
                </a:solidFill>
                <a:latin typeface="Verdana" pitchFamily="34" charset="0"/>
                <a:ea typeface="宋体" pitchFamily="2" charset="-122"/>
              </a:rPr>
              <a:t>      </a:t>
            </a:r>
            <a:r>
              <a:rPr lang="en-US" altLang="zh-CN" b="1" dirty="0">
                <a:solidFill>
                  <a:schemeClr val="tx1"/>
                </a:solidFill>
                <a:latin typeface="Times New Roman" pitchFamily="18" charset="0"/>
                <a:ea typeface="宋体" pitchFamily="2" charset="-122"/>
              </a:rPr>
              <a:t>“</a:t>
            </a:r>
            <a:r>
              <a:rPr lang="zh-CN" altLang="en-US" b="1" dirty="0">
                <a:solidFill>
                  <a:schemeClr val="tx1"/>
                </a:solidFill>
                <a:latin typeface="Verdana" pitchFamily="34" charset="0"/>
                <a:ea typeface="宋体" pitchFamily="2" charset="-122"/>
              </a:rPr>
              <a:t>驱动电缆</a:t>
            </a:r>
            <a:r>
              <a:rPr lang="zh-CN" altLang="en-US" b="1" dirty="0">
                <a:solidFill>
                  <a:schemeClr val="tx1"/>
                </a:solidFill>
                <a:latin typeface="Times New Roman" pitchFamily="18" charset="0"/>
                <a:ea typeface="宋体" pitchFamily="2" charset="-122"/>
              </a:rPr>
              <a:t>”</a:t>
            </a:r>
            <a:r>
              <a:rPr lang="zh-CN" altLang="en-US" b="1" dirty="0">
                <a:solidFill>
                  <a:schemeClr val="tx1"/>
                </a:solidFill>
                <a:latin typeface="Verdana" pitchFamily="34" charset="0"/>
                <a:ea typeface="宋体" pitchFamily="2" charset="-122"/>
              </a:rPr>
              <a:t>技术对</a:t>
            </a:r>
            <a:r>
              <a:rPr lang="en-US" altLang="zh-CN" b="1" dirty="0">
                <a:solidFill>
                  <a:schemeClr val="tx1"/>
                </a:solidFill>
                <a:latin typeface="Verdana" pitchFamily="34" charset="0"/>
                <a:ea typeface="宋体" pitchFamily="2" charset="-122"/>
              </a:rPr>
              <a:t>1</a:t>
            </a:r>
            <a:r>
              <a:rPr lang="zh-CN" altLang="en-US" b="1" dirty="0">
                <a:solidFill>
                  <a:schemeClr val="tx1"/>
                </a:solidFill>
                <a:latin typeface="Verdana" pitchFamily="34" charset="0"/>
                <a:ea typeface="宋体" pitchFamily="2" charset="-122"/>
              </a:rPr>
              <a:t>：</a:t>
            </a:r>
            <a:r>
              <a:rPr lang="en-US" altLang="zh-CN" b="1" dirty="0">
                <a:solidFill>
                  <a:schemeClr val="tx1"/>
                </a:solidFill>
                <a:latin typeface="Verdana" pitchFamily="34" charset="0"/>
                <a:ea typeface="宋体" pitchFamily="2" charset="-122"/>
              </a:rPr>
              <a:t>1</a:t>
            </a:r>
            <a:r>
              <a:rPr lang="zh-CN" altLang="en-US" b="1" dirty="0">
                <a:solidFill>
                  <a:schemeClr val="tx1"/>
                </a:solidFill>
                <a:latin typeface="Verdana" pitchFamily="34" charset="0"/>
                <a:ea typeface="宋体" pitchFamily="2" charset="-122"/>
              </a:rPr>
              <a:t>放大器要求很高，线路复杂，但能保证电容传感器的电容值小于</a:t>
            </a:r>
            <a:r>
              <a:rPr lang="en-US" altLang="zh-CN" b="1" dirty="0">
                <a:solidFill>
                  <a:schemeClr val="tx1"/>
                </a:solidFill>
                <a:latin typeface="Verdana" pitchFamily="34" charset="0"/>
                <a:ea typeface="宋体" pitchFamily="2" charset="-122"/>
              </a:rPr>
              <a:t>1 pF</a:t>
            </a:r>
            <a:r>
              <a:rPr lang="zh-CN" altLang="en-US" b="1" dirty="0">
                <a:solidFill>
                  <a:schemeClr val="tx1"/>
                </a:solidFill>
                <a:latin typeface="Verdana" pitchFamily="34" charset="0"/>
                <a:ea typeface="宋体" pitchFamily="2" charset="-122"/>
              </a:rPr>
              <a:t>时，仪器仍能正常工作。</a:t>
            </a:r>
          </a:p>
        </p:txBody>
      </p:sp>
      <p:sp>
        <p:nvSpPr>
          <p:cNvPr id="10246" name="Rectangle 9"/>
          <p:cNvSpPr>
            <a:spLocks noGrp="1" noChangeArrowheads="1"/>
          </p:cNvSpPr>
          <p:nvPr>
            <p:ph type="title"/>
          </p:nvPr>
        </p:nvSpPr>
        <p:spPr bwMode="auto">
          <a:xfrm>
            <a:off x="500034" y="1571612"/>
            <a:ext cx="7812087" cy="514340"/>
          </a:xfrm>
          <a:noFill/>
          <a:ln>
            <a:miter lim="800000"/>
            <a:headEnd/>
            <a:tailEnd/>
          </a:ln>
        </p:spPr>
        <p:txBody>
          <a:bodyPr vert="horz" wrap="square" lIns="91440" tIns="45720" rIns="91440" bIns="45720" numCol="1" anchor="t" anchorCtr="0" compatLnSpc="1">
            <a:prstTxWarp prst="textNoShape">
              <a:avLst/>
            </a:prstTxWarp>
          </a:bodyPr>
          <a:lstStyle/>
          <a:p>
            <a:pPr algn="l">
              <a:buFont typeface="Wingdings" pitchFamily="2" charset="2"/>
              <a:buChar char="u"/>
            </a:pPr>
            <a:r>
              <a:rPr lang="zh-CN" altLang="en-US" sz="2800" b="1" dirty="0" smtClean="0">
                <a:latin typeface="Verdana" pitchFamily="34" charset="0"/>
                <a:ea typeface="宋体" pitchFamily="2" charset="-122"/>
              </a:rPr>
              <a:t> 驱动电缆</a:t>
            </a:r>
            <a:endParaRPr lang="zh-CN" altLang="en-US" sz="2800" b="1" dirty="0" smtClean="0"/>
          </a:p>
        </p:txBody>
      </p:sp>
      <p:sp>
        <p:nvSpPr>
          <p:cNvPr id="7"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74118"/>
                                        </p:tgtEl>
                                        <p:attrNameLst>
                                          <p:attrName>style.visibility</p:attrName>
                                        </p:attrNameLst>
                                      </p:cBhvr>
                                      <p:to>
                                        <p:strVal val="visible"/>
                                      </p:to>
                                    </p:set>
                                    <p:anim calcmode="lin" valueType="num">
                                      <p:cBhvr additive="base">
                                        <p:cTn id="7" dur="500" fill="hold"/>
                                        <p:tgtEl>
                                          <p:spTgt spid="474118"/>
                                        </p:tgtEl>
                                        <p:attrNameLst>
                                          <p:attrName>ppt_x</p:attrName>
                                        </p:attrNameLst>
                                      </p:cBhvr>
                                      <p:tavLst>
                                        <p:tav tm="0">
                                          <p:val>
                                            <p:strVal val="0-#ppt_w/2"/>
                                          </p:val>
                                        </p:tav>
                                        <p:tav tm="100000">
                                          <p:val>
                                            <p:strVal val="#ppt_x"/>
                                          </p:val>
                                        </p:tav>
                                      </p:tavLst>
                                    </p:anim>
                                    <p:anim calcmode="lin" valueType="num">
                                      <p:cBhvr additive="base">
                                        <p:cTn id="8" dur="500" fill="hold"/>
                                        <p:tgtEl>
                                          <p:spTgt spid="4741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42" fill="hold" grpId="0" nodeType="clickEffect">
                                  <p:stCondLst>
                                    <p:cond delay="0"/>
                                  </p:stCondLst>
                                  <p:childTnLst>
                                    <p:set>
                                      <p:cBhvr>
                                        <p:cTn id="12" dur="1" fill="hold">
                                          <p:stCondLst>
                                            <p:cond delay="0"/>
                                          </p:stCondLst>
                                        </p:cTn>
                                        <p:tgtEl>
                                          <p:spTgt spid="474119"/>
                                        </p:tgtEl>
                                        <p:attrNameLst>
                                          <p:attrName>style.visibility</p:attrName>
                                        </p:attrNameLst>
                                      </p:cBhvr>
                                      <p:to>
                                        <p:strVal val="visible"/>
                                      </p:to>
                                    </p:set>
                                    <p:animEffect transition="in" filter="barn(outHorizontal)">
                                      <p:cBhvr>
                                        <p:cTn id="13" dur="500"/>
                                        <p:tgtEl>
                                          <p:spTgt spid="474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9"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1" name="Rectangle 9"/>
          <p:cNvSpPr>
            <a:spLocks noGrp="1" noChangeArrowheads="1"/>
          </p:cNvSpPr>
          <p:nvPr>
            <p:ph type="title"/>
          </p:nvPr>
        </p:nvSpPr>
        <p:spPr bwMode="auto">
          <a:xfrm>
            <a:off x="642910" y="1571612"/>
            <a:ext cx="7812087" cy="585778"/>
          </a:xfrm>
          <a:noFill/>
          <a:ln>
            <a:miter lim="800000"/>
            <a:headEnd/>
            <a:tailEnd/>
          </a:ln>
        </p:spPr>
        <p:txBody>
          <a:bodyPr vert="horz" wrap="square" lIns="91440" tIns="45720" rIns="91440" bIns="45720" numCol="1" anchor="t" anchorCtr="0" compatLnSpc="1">
            <a:prstTxWarp prst="textNoShape">
              <a:avLst/>
            </a:prstTxWarp>
          </a:bodyPr>
          <a:lstStyle/>
          <a:p>
            <a:pPr marL="514350" lvl="1" indent="-514350" algn="l">
              <a:lnSpc>
                <a:spcPct val="90000"/>
              </a:lnSpc>
              <a:buFont typeface="Wingdings" pitchFamily="2" charset="2"/>
              <a:buChar char="u"/>
            </a:pPr>
            <a:r>
              <a:rPr lang="zh-CN" altLang="en-US" sz="2800" b="1" dirty="0" smtClean="0">
                <a:latin typeface="宋体" pitchFamily="2" charset="-122"/>
              </a:rPr>
              <a:t>运算放大器法</a:t>
            </a:r>
            <a:endParaRPr lang="zh-CN" altLang="en-US" sz="2800" b="1" dirty="0" smtClean="0"/>
          </a:p>
        </p:txBody>
      </p:sp>
      <p:graphicFrame>
        <p:nvGraphicFramePr>
          <p:cNvPr id="11266" name="Object 5"/>
          <p:cNvGraphicFramePr>
            <a:graphicFrameLocks noChangeAspect="1"/>
          </p:cNvGraphicFramePr>
          <p:nvPr/>
        </p:nvGraphicFramePr>
        <p:xfrm>
          <a:off x="2071670" y="2143116"/>
          <a:ext cx="4176713" cy="2479675"/>
        </p:xfrm>
        <a:graphic>
          <a:graphicData uri="http://schemas.openxmlformats.org/presentationml/2006/ole">
            <p:oleObj spid="_x0000_s11266" name="图像文档" r:id="rId3" imgW="3867120" imgH="2295360" progId="">
              <p:embed/>
            </p:oleObj>
          </a:graphicData>
        </a:graphic>
      </p:graphicFrame>
      <p:sp>
        <p:nvSpPr>
          <p:cNvPr id="8"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1" name="Rectangle 9"/>
          <p:cNvSpPr txBox="1">
            <a:spLocks noChangeArrowheads="1"/>
          </p:cNvSpPr>
          <p:nvPr/>
        </p:nvSpPr>
        <p:spPr bwMode="auto">
          <a:xfrm>
            <a:off x="642910" y="4857760"/>
            <a:ext cx="7812087" cy="58577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514350" marR="0" lvl="1" indent="-514350" algn="l" defTabSz="914400" rtl="0" eaLnBrk="1" fontAlgn="base" latinLnBrk="0" hangingPunct="1">
              <a:lnSpc>
                <a:spcPct val="90000"/>
              </a:lnSpc>
              <a:spcBef>
                <a:spcPct val="0"/>
              </a:spcBef>
              <a:spcAft>
                <a:spcPct val="0"/>
              </a:spcAft>
              <a:buClrTx/>
              <a:buSzTx/>
              <a:buFont typeface="Wingdings" pitchFamily="2" charset="2"/>
              <a:buChar char="u"/>
              <a:tabLst/>
              <a:defRPr/>
            </a:pPr>
            <a:r>
              <a:rPr kumimoji="0" lang="zh-CN" altLang="en-US" sz="2800" b="1" i="0" u="none" strike="noStrike" kern="0" cap="none" spc="0" normalizeH="0" baseline="0" noProof="0" dirty="0" smtClean="0">
                <a:ln>
                  <a:noFill/>
                </a:ln>
                <a:solidFill>
                  <a:schemeClr val="tx1"/>
                </a:solidFill>
                <a:effectLst/>
                <a:uLnTx/>
                <a:uFillTx/>
                <a:latin typeface="宋体" pitchFamily="2" charset="-122"/>
                <a:ea typeface="宋体" pitchFamily="2" charset="-122"/>
              </a:rPr>
              <a:t>整体屏蔽法</a:t>
            </a:r>
            <a:endParaRPr kumimoji="0" lang="zh-CN" altLang="en-US" sz="2800" b="1" i="0" u="none" strike="noStrike" kern="0" cap="none" spc="0" normalizeH="0" baseline="0" noProof="0" dirty="0" smtClean="0">
              <a:ln>
                <a:noFill/>
              </a:ln>
              <a:solidFill>
                <a:schemeClr val="tx1"/>
              </a:solidFill>
              <a:effectLst/>
              <a:uLnTx/>
              <a:uFillTx/>
              <a:latin typeface="Calibri" pitchFamily="34"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10"/>
          <p:cNvSpPr>
            <a:spLocks noGrp="1" noChangeArrowheads="1"/>
          </p:cNvSpPr>
          <p:nvPr>
            <p:ph type="title"/>
          </p:nvPr>
        </p:nvSpPr>
        <p:spPr bwMode="auto">
          <a:xfrm>
            <a:off x="642910" y="1571612"/>
            <a:ext cx="7869238" cy="649287"/>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buFont typeface="Wingdings" pitchFamily="2" charset="2"/>
              <a:buChar char="u"/>
            </a:pPr>
            <a:r>
              <a:rPr lang="zh-CN" altLang="en-US" sz="2800" b="1" dirty="0" smtClean="0"/>
              <a:t>防止和减小外界干扰</a:t>
            </a:r>
          </a:p>
        </p:txBody>
      </p:sp>
      <p:sp>
        <p:nvSpPr>
          <p:cNvPr id="35844" name="Text Box 11"/>
          <p:cNvSpPr txBox="1">
            <a:spLocks noChangeArrowheads="1"/>
          </p:cNvSpPr>
          <p:nvPr/>
        </p:nvSpPr>
        <p:spPr bwMode="auto">
          <a:xfrm>
            <a:off x="285721" y="2205038"/>
            <a:ext cx="8643997" cy="3711785"/>
          </a:xfrm>
          <a:prstGeom prst="rect">
            <a:avLst/>
          </a:prstGeom>
          <a:noFill/>
          <a:ln w="9525" algn="ctr">
            <a:noFill/>
            <a:miter lim="800000"/>
            <a:headEnd/>
            <a:tailEnd/>
          </a:ln>
        </p:spPr>
        <p:txBody>
          <a:bodyPr wrap="square">
            <a:spAutoFit/>
          </a:bodyPr>
          <a:lstStyle/>
          <a:p>
            <a:pPr marL="355600" indent="-355600">
              <a:lnSpc>
                <a:spcPct val="120000"/>
              </a:lnSpc>
              <a:buFont typeface="Wingdings" pitchFamily="2" charset="2"/>
              <a:buChar char="l"/>
            </a:pPr>
            <a:r>
              <a:rPr kumimoji="0" lang="zh-CN" altLang="en-US" b="1" dirty="0" smtClean="0">
                <a:solidFill>
                  <a:schemeClr val="tx1"/>
                </a:solidFill>
                <a:latin typeface="宋体" pitchFamily="2" charset="-122"/>
                <a:ea typeface="宋体" pitchFamily="2" charset="-122"/>
              </a:rPr>
              <a:t>屏蔽、接地；</a:t>
            </a:r>
            <a:endParaRPr kumimoji="0" lang="zh-CN" altLang="en-US" b="1" dirty="0">
              <a:solidFill>
                <a:schemeClr val="tx1"/>
              </a:solidFill>
              <a:latin typeface="宋体" pitchFamily="2" charset="-122"/>
              <a:ea typeface="宋体" pitchFamily="2" charset="-122"/>
            </a:endParaRPr>
          </a:p>
          <a:p>
            <a:pPr marL="355600" indent="-355600">
              <a:lnSpc>
                <a:spcPct val="120000"/>
              </a:lnSpc>
              <a:buFont typeface="Wingdings" pitchFamily="2" charset="2"/>
              <a:buChar char="l"/>
            </a:pPr>
            <a:r>
              <a:rPr kumimoji="0" lang="zh-CN" altLang="en-US" b="1" dirty="0">
                <a:solidFill>
                  <a:schemeClr val="tx1"/>
                </a:solidFill>
                <a:latin typeface="宋体" pitchFamily="2" charset="-122"/>
                <a:ea typeface="宋体" pitchFamily="2" charset="-122"/>
              </a:rPr>
              <a:t>增加原始电容</a:t>
            </a:r>
            <a:r>
              <a:rPr kumimoji="0" lang="zh-CN" altLang="en-US" b="1" dirty="0" smtClean="0">
                <a:solidFill>
                  <a:schemeClr val="tx1"/>
                </a:solidFill>
                <a:latin typeface="宋体" pitchFamily="2" charset="-122"/>
                <a:ea typeface="宋体" pitchFamily="2" charset="-122"/>
              </a:rPr>
              <a:t>值，降低容抗；</a:t>
            </a:r>
            <a:endParaRPr kumimoji="0" lang="zh-CN" altLang="en-US" b="1" dirty="0">
              <a:solidFill>
                <a:schemeClr val="tx1"/>
              </a:solidFill>
              <a:latin typeface="宋体" pitchFamily="2" charset="-122"/>
              <a:ea typeface="宋体" pitchFamily="2" charset="-122"/>
            </a:endParaRPr>
          </a:p>
          <a:p>
            <a:pPr marL="355600" indent="-355600">
              <a:lnSpc>
                <a:spcPct val="120000"/>
              </a:lnSpc>
              <a:buFont typeface="Wingdings" pitchFamily="2" charset="2"/>
              <a:buChar char="l"/>
            </a:pPr>
            <a:r>
              <a:rPr kumimoji="0" lang="zh-CN" altLang="en-US" b="1" dirty="0" smtClean="0">
                <a:solidFill>
                  <a:schemeClr val="tx1"/>
                </a:solidFill>
                <a:latin typeface="宋体" pitchFamily="2" charset="-122"/>
                <a:ea typeface="宋体" pitchFamily="2" charset="-122"/>
              </a:rPr>
              <a:t>减小</a:t>
            </a:r>
            <a:r>
              <a:rPr kumimoji="0" lang="zh-CN" altLang="en-US" b="1" dirty="0">
                <a:solidFill>
                  <a:schemeClr val="tx1"/>
                </a:solidFill>
                <a:latin typeface="宋体" pitchFamily="2" charset="-122"/>
                <a:ea typeface="宋体" pitchFamily="2" charset="-122"/>
              </a:rPr>
              <a:t>导线间</a:t>
            </a:r>
            <a:r>
              <a:rPr kumimoji="0" lang="zh-CN" altLang="en-US" b="1" dirty="0" smtClean="0">
                <a:solidFill>
                  <a:schemeClr val="tx1"/>
                </a:solidFill>
                <a:latin typeface="宋体" pitchFamily="2" charset="-122"/>
                <a:ea typeface="宋体" pitchFamily="2" charset="-122"/>
              </a:rPr>
              <a:t>分布电容；导线</a:t>
            </a:r>
            <a:r>
              <a:rPr kumimoji="0" lang="zh-CN" altLang="en-US" b="1" dirty="0">
                <a:solidFill>
                  <a:schemeClr val="tx1"/>
                </a:solidFill>
                <a:latin typeface="宋体" pitchFamily="2" charset="-122"/>
                <a:ea typeface="宋体" pitchFamily="2" charset="-122"/>
              </a:rPr>
              <a:t>要尽可能短，最好成直角</a:t>
            </a:r>
            <a:r>
              <a:rPr kumimoji="0" lang="zh-CN" altLang="en-US" b="1" dirty="0" smtClean="0">
                <a:solidFill>
                  <a:schemeClr val="tx1"/>
                </a:solidFill>
                <a:latin typeface="宋体" pitchFamily="2" charset="-122"/>
                <a:ea typeface="宋体" pitchFamily="2" charset="-122"/>
              </a:rPr>
              <a:t>排列；必须</a:t>
            </a:r>
            <a:r>
              <a:rPr kumimoji="0" lang="zh-CN" altLang="en-US" b="1" dirty="0">
                <a:solidFill>
                  <a:schemeClr val="tx1"/>
                </a:solidFill>
                <a:latin typeface="宋体" pitchFamily="2" charset="-122"/>
                <a:ea typeface="宋体" pitchFamily="2" charset="-122"/>
              </a:rPr>
              <a:t>平行排列时可采用同轴</a:t>
            </a:r>
            <a:r>
              <a:rPr kumimoji="0" lang="zh-CN" altLang="en-US" b="1" dirty="0" smtClean="0">
                <a:solidFill>
                  <a:schemeClr val="tx1"/>
                </a:solidFill>
                <a:latin typeface="宋体" pitchFamily="2" charset="-122"/>
                <a:ea typeface="宋体" pitchFamily="2" charset="-122"/>
              </a:rPr>
              <a:t>屏蔽线；</a:t>
            </a:r>
            <a:endParaRPr kumimoji="0" lang="zh-CN" altLang="en-US" b="1" dirty="0">
              <a:solidFill>
                <a:schemeClr val="tx1"/>
              </a:solidFill>
              <a:latin typeface="宋体" pitchFamily="2" charset="-122"/>
              <a:ea typeface="宋体" pitchFamily="2" charset="-122"/>
            </a:endParaRPr>
          </a:p>
          <a:p>
            <a:pPr marL="355600" indent="-355600">
              <a:lnSpc>
                <a:spcPct val="120000"/>
              </a:lnSpc>
              <a:buFont typeface="Wingdings" pitchFamily="2" charset="2"/>
              <a:buChar char="l"/>
            </a:pPr>
            <a:r>
              <a:rPr kumimoji="0" lang="zh-CN" altLang="en-US" b="1" dirty="0" smtClean="0">
                <a:solidFill>
                  <a:schemeClr val="tx1"/>
                </a:solidFill>
                <a:latin typeface="宋体" pitchFamily="2" charset="-122"/>
                <a:ea typeface="宋体" pitchFamily="2" charset="-122"/>
              </a:rPr>
              <a:t>避免</a:t>
            </a:r>
            <a:r>
              <a:rPr kumimoji="0" lang="zh-CN" altLang="en-US" b="1" dirty="0">
                <a:solidFill>
                  <a:schemeClr val="tx1"/>
                </a:solidFill>
                <a:latin typeface="宋体" pitchFamily="2" charset="-122"/>
                <a:ea typeface="宋体" pitchFamily="2" charset="-122"/>
              </a:rPr>
              <a:t>多点按</a:t>
            </a:r>
            <a:r>
              <a:rPr kumimoji="0" lang="zh-CN" altLang="en-US" b="1" dirty="0" smtClean="0">
                <a:solidFill>
                  <a:schemeClr val="tx1"/>
                </a:solidFill>
                <a:latin typeface="宋体" pitchFamily="2" charset="-122"/>
                <a:ea typeface="宋体" pitchFamily="2" charset="-122"/>
              </a:rPr>
              <a:t>地；地线</a:t>
            </a:r>
            <a:r>
              <a:rPr kumimoji="0" lang="zh-CN" altLang="en-US" b="1" dirty="0">
                <a:solidFill>
                  <a:schemeClr val="tx1"/>
                </a:solidFill>
                <a:latin typeface="宋体" pitchFamily="2" charset="-122"/>
                <a:ea typeface="宋体" pitchFamily="2" charset="-122"/>
              </a:rPr>
              <a:t>要用粗的良导体或宽印刷</a:t>
            </a:r>
            <a:r>
              <a:rPr kumimoji="0" lang="zh-CN" altLang="en-US" b="1" dirty="0" smtClean="0">
                <a:solidFill>
                  <a:schemeClr val="tx1"/>
                </a:solidFill>
                <a:latin typeface="宋体" pitchFamily="2" charset="-122"/>
                <a:ea typeface="宋体" pitchFamily="2" charset="-122"/>
              </a:rPr>
              <a:t>线；</a:t>
            </a:r>
            <a:endParaRPr kumimoji="0" lang="zh-CN" altLang="en-US" b="1" dirty="0">
              <a:solidFill>
                <a:schemeClr val="tx1"/>
              </a:solidFill>
              <a:latin typeface="宋体" pitchFamily="2" charset="-122"/>
              <a:ea typeface="宋体" pitchFamily="2" charset="-122"/>
            </a:endParaRPr>
          </a:p>
          <a:p>
            <a:pPr marL="355600" indent="-355600">
              <a:lnSpc>
                <a:spcPct val="120000"/>
              </a:lnSpc>
              <a:buFont typeface="Wingdings" pitchFamily="2" charset="2"/>
              <a:buChar char="l"/>
            </a:pPr>
            <a:r>
              <a:rPr kumimoji="0" lang="zh-CN" altLang="en-US" b="1" dirty="0">
                <a:solidFill>
                  <a:schemeClr val="tx1"/>
                </a:solidFill>
                <a:latin typeface="宋体" pitchFamily="2" charset="-122"/>
                <a:ea typeface="宋体" pitchFamily="2" charset="-122"/>
              </a:rPr>
              <a:t>尽量采用差动式电容传感电路，可减小非线性误差，提高传感器灵敏度，减小寄生电容的影响和干扰。</a:t>
            </a:r>
          </a:p>
        </p:txBody>
      </p:sp>
      <p:sp>
        <p:nvSpPr>
          <p:cNvPr id="5"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5844">
                                            <p:txEl>
                                              <p:pRg st="0" end="0"/>
                                            </p:txEl>
                                          </p:spTgt>
                                        </p:tgtEl>
                                        <p:attrNameLst>
                                          <p:attrName>style.visibility</p:attrName>
                                        </p:attrNameLst>
                                      </p:cBhvr>
                                      <p:to>
                                        <p:strVal val="visible"/>
                                      </p:to>
                                    </p:set>
                                    <p:animEffect transition="in" filter="checkerboard(across)">
                                      <p:cBhvr>
                                        <p:cTn id="7" dur="500"/>
                                        <p:tgtEl>
                                          <p:spTgt spid="358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5844">
                                            <p:txEl>
                                              <p:pRg st="1" end="1"/>
                                            </p:txEl>
                                          </p:spTgt>
                                        </p:tgtEl>
                                        <p:attrNameLst>
                                          <p:attrName>style.visibility</p:attrName>
                                        </p:attrNameLst>
                                      </p:cBhvr>
                                      <p:to>
                                        <p:strVal val="visible"/>
                                      </p:to>
                                    </p:set>
                                    <p:animEffect transition="in" filter="checkerboard(across)">
                                      <p:cBhvr>
                                        <p:cTn id="12" dur="500"/>
                                        <p:tgtEl>
                                          <p:spTgt spid="358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5844">
                                            <p:txEl>
                                              <p:pRg st="2" end="2"/>
                                            </p:txEl>
                                          </p:spTgt>
                                        </p:tgtEl>
                                        <p:attrNameLst>
                                          <p:attrName>style.visibility</p:attrName>
                                        </p:attrNameLst>
                                      </p:cBhvr>
                                      <p:to>
                                        <p:strVal val="visible"/>
                                      </p:to>
                                    </p:set>
                                    <p:animEffect transition="in" filter="checkerboard(across)">
                                      <p:cBhvr>
                                        <p:cTn id="17" dur="500"/>
                                        <p:tgtEl>
                                          <p:spTgt spid="3584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5844">
                                            <p:txEl>
                                              <p:pRg st="3" end="3"/>
                                            </p:txEl>
                                          </p:spTgt>
                                        </p:tgtEl>
                                        <p:attrNameLst>
                                          <p:attrName>style.visibility</p:attrName>
                                        </p:attrNameLst>
                                      </p:cBhvr>
                                      <p:to>
                                        <p:strVal val="visible"/>
                                      </p:to>
                                    </p:set>
                                    <p:animEffect transition="in" filter="checkerboard(across)">
                                      <p:cBhvr>
                                        <p:cTn id="22" dur="500"/>
                                        <p:tgtEl>
                                          <p:spTgt spid="3584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5844">
                                            <p:txEl>
                                              <p:pRg st="4" end="4"/>
                                            </p:txEl>
                                          </p:spTgt>
                                        </p:tgtEl>
                                        <p:attrNameLst>
                                          <p:attrName>style.visibility</p:attrName>
                                        </p:attrNameLst>
                                      </p:cBhvr>
                                      <p:to>
                                        <p:strVal val="visible"/>
                                      </p:to>
                                    </p:set>
                                    <p:animEffect transition="in" filter="checkerboard(across)">
                                      <p:cBhvr>
                                        <p:cTn id="27" dur="500"/>
                                        <p:tgtEl>
                                          <p:spTgt spid="3584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9"/>
          <p:cNvSpPr>
            <a:spLocks noGrp="1" noChangeArrowheads="1"/>
          </p:cNvSpPr>
          <p:nvPr>
            <p:ph type="title"/>
          </p:nvPr>
        </p:nvSpPr>
        <p:spPr bwMode="auto">
          <a:xfrm>
            <a:off x="714348" y="1500174"/>
            <a:ext cx="7885112" cy="587365"/>
          </a:xfrm>
          <a:noFill/>
          <a:ln>
            <a:miter lim="800000"/>
            <a:headEnd/>
            <a:tailEnd/>
          </a:ln>
        </p:spPr>
        <p:txBody>
          <a:bodyPr vert="horz" wrap="square" lIns="91440" tIns="45720" rIns="91440" bIns="45720" numCol="1" anchor="t" anchorCtr="0" compatLnSpc="1">
            <a:prstTxWarp prst="textNoShape">
              <a:avLst/>
            </a:prstTxWarp>
          </a:bodyPr>
          <a:lstStyle/>
          <a:p>
            <a:pPr algn="l"/>
            <a:r>
              <a:rPr lang="zh-CN" altLang="en-US" sz="2800" b="1" dirty="0" smtClean="0">
                <a:solidFill>
                  <a:srgbClr val="F84D08"/>
                </a:solidFill>
                <a:latin typeface="黑体" pitchFamily="2" charset="-122"/>
                <a:ea typeface="黑体" pitchFamily="2" charset="-122"/>
              </a:rPr>
              <a:t>转换电路</a:t>
            </a:r>
          </a:p>
        </p:txBody>
      </p:sp>
      <p:sp>
        <p:nvSpPr>
          <p:cNvPr id="36868" name="Text Box 10"/>
          <p:cNvSpPr txBox="1">
            <a:spLocks noChangeArrowheads="1"/>
          </p:cNvSpPr>
          <p:nvPr/>
        </p:nvSpPr>
        <p:spPr bwMode="auto">
          <a:xfrm>
            <a:off x="285720" y="2060575"/>
            <a:ext cx="8572560" cy="2893100"/>
          </a:xfrm>
          <a:prstGeom prst="rect">
            <a:avLst/>
          </a:prstGeom>
          <a:noFill/>
          <a:ln w="9525" algn="ctr">
            <a:noFill/>
            <a:miter lim="800000"/>
            <a:headEnd/>
            <a:tailEnd/>
          </a:ln>
        </p:spPr>
        <p:txBody>
          <a:bodyPr wrap="square">
            <a:spAutoFit/>
          </a:bodyPr>
          <a:lstStyle/>
          <a:p>
            <a:pPr indent="531813"/>
            <a:r>
              <a:rPr lang="zh-CN" altLang="en-US" b="1" dirty="0" smtClean="0">
                <a:solidFill>
                  <a:schemeClr val="tx1"/>
                </a:solidFill>
                <a:latin typeface="宋体" pitchFamily="2" charset="-122"/>
                <a:ea typeface="宋体" pitchFamily="2" charset="-122"/>
              </a:rPr>
              <a:t>根据</a:t>
            </a:r>
            <a:r>
              <a:rPr lang="zh-CN" altLang="en-US" b="1" dirty="0">
                <a:solidFill>
                  <a:schemeClr val="tx1"/>
                </a:solidFill>
                <a:latin typeface="宋体" pitchFamily="2" charset="-122"/>
                <a:ea typeface="宋体" pitchFamily="2" charset="-122"/>
              </a:rPr>
              <a:t>需要将电路参数</a:t>
            </a:r>
            <a:r>
              <a:rPr lang="en-US" altLang="zh-CN" b="1" i="1" dirty="0" smtClean="0">
                <a:solidFill>
                  <a:srgbClr val="C00000"/>
                </a:solidFill>
                <a:latin typeface="Times New Roman" pitchFamily="18" charset="0"/>
                <a:ea typeface="宋体" pitchFamily="2" charset="-122"/>
              </a:rPr>
              <a:t>C</a:t>
            </a:r>
            <a:r>
              <a:rPr lang="zh-CN" altLang="en-US" b="1" i="1" dirty="0" smtClean="0">
                <a:solidFill>
                  <a:schemeClr val="tx1"/>
                </a:solidFill>
                <a:latin typeface="Times New Roman" pitchFamily="18" charset="0"/>
                <a:ea typeface="宋体" pitchFamily="2" charset="-122"/>
              </a:rPr>
              <a:t> </a:t>
            </a:r>
            <a:r>
              <a:rPr lang="zh-CN" altLang="en-US" b="1" dirty="0" smtClean="0">
                <a:solidFill>
                  <a:schemeClr val="tx1"/>
                </a:solidFill>
                <a:latin typeface="宋体" pitchFamily="2" charset="-122"/>
                <a:ea typeface="宋体" pitchFamily="2" charset="-122"/>
              </a:rPr>
              <a:t>转换</a:t>
            </a:r>
            <a:r>
              <a:rPr lang="zh-CN" altLang="en-US" b="1" dirty="0">
                <a:solidFill>
                  <a:schemeClr val="tx1"/>
                </a:solidFill>
                <a:latin typeface="宋体" pitchFamily="2" charset="-122"/>
                <a:ea typeface="宋体" pitchFamily="2" charset="-122"/>
              </a:rPr>
              <a:t>成电压、电流、频率等电量参数。</a:t>
            </a:r>
          </a:p>
          <a:p>
            <a:pPr indent="271463">
              <a:lnSpc>
                <a:spcPct val="150000"/>
              </a:lnSpc>
            </a:pPr>
            <a:r>
              <a:rPr lang="zh-CN" altLang="en-US" b="1" dirty="0" smtClean="0">
                <a:solidFill>
                  <a:schemeClr val="tx1"/>
                </a:solidFill>
                <a:latin typeface="宋体" pitchFamily="2" charset="-122"/>
                <a:ea typeface="宋体" pitchFamily="2" charset="-122"/>
              </a:rPr>
              <a:t>转换</a:t>
            </a:r>
            <a:r>
              <a:rPr lang="zh-CN" altLang="en-US" b="1" dirty="0">
                <a:solidFill>
                  <a:schemeClr val="tx1"/>
                </a:solidFill>
                <a:latin typeface="宋体" pitchFamily="2" charset="-122"/>
                <a:ea typeface="宋体" pitchFamily="2" charset="-122"/>
              </a:rPr>
              <a:t>电路种类很多，一般归结为两大</a:t>
            </a:r>
            <a:r>
              <a:rPr lang="zh-CN" altLang="en-US" b="1" dirty="0" smtClean="0">
                <a:solidFill>
                  <a:schemeClr val="tx1"/>
                </a:solidFill>
                <a:latin typeface="宋体" pitchFamily="2" charset="-122"/>
                <a:ea typeface="宋体" pitchFamily="2" charset="-122"/>
              </a:rPr>
              <a:t>类型：</a:t>
            </a:r>
            <a:endParaRPr lang="zh-CN" altLang="en-US" b="1" dirty="0">
              <a:solidFill>
                <a:schemeClr val="tx1"/>
              </a:solidFill>
              <a:latin typeface="宋体" pitchFamily="2" charset="-122"/>
              <a:ea typeface="宋体" pitchFamily="2" charset="-122"/>
            </a:endParaRPr>
          </a:p>
          <a:p>
            <a:pPr lvl="1" indent="271463">
              <a:lnSpc>
                <a:spcPct val="150000"/>
              </a:lnSpc>
              <a:buClr>
                <a:srgbClr val="F84D08"/>
              </a:buClr>
              <a:buFont typeface="Wingdings" pitchFamily="2" charset="2"/>
              <a:buChar char="p"/>
            </a:pPr>
            <a:r>
              <a:rPr lang="zh-CN" altLang="en-US" b="1" dirty="0">
                <a:solidFill>
                  <a:schemeClr val="tx1"/>
                </a:solidFill>
                <a:latin typeface="宋体" pitchFamily="2" charset="-122"/>
                <a:ea typeface="宋体" pitchFamily="2" charset="-122"/>
              </a:rPr>
              <a:t> 调制型</a:t>
            </a:r>
          </a:p>
          <a:p>
            <a:pPr lvl="1" indent="271463">
              <a:lnSpc>
                <a:spcPct val="150000"/>
              </a:lnSpc>
              <a:buClr>
                <a:srgbClr val="F84D08"/>
              </a:buClr>
              <a:buFont typeface="Wingdings" pitchFamily="2" charset="2"/>
              <a:buChar char="p"/>
            </a:pPr>
            <a:r>
              <a:rPr lang="zh-CN" altLang="en-US" b="1" dirty="0">
                <a:solidFill>
                  <a:schemeClr val="tx1"/>
                </a:solidFill>
                <a:latin typeface="宋体" pitchFamily="2" charset="-122"/>
                <a:ea typeface="宋体" pitchFamily="2" charset="-122"/>
              </a:rPr>
              <a:t> 脉冲型</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或称为电容充放电器</a:t>
            </a:r>
            <a:r>
              <a:rPr lang="en-US" altLang="zh-CN" b="1" dirty="0">
                <a:solidFill>
                  <a:schemeClr val="tx1"/>
                </a:solidFill>
                <a:latin typeface="宋体" pitchFamily="2" charset="-122"/>
                <a:ea typeface="宋体" pitchFamily="2" charset="-122"/>
              </a:rPr>
              <a:t>)</a:t>
            </a:r>
            <a:endParaRPr lang="en-US" altLang="zh-CN" dirty="0">
              <a:solidFill>
                <a:schemeClr val="tx1"/>
              </a:solidFill>
            </a:endParaRPr>
          </a:p>
        </p:txBody>
      </p:sp>
      <p:sp>
        <p:nvSpPr>
          <p:cNvPr id="5"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4"/>
          <p:cNvGraphicFramePr>
            <a:graphicFrameLocks noChangeAspect="1"/>
          </p:cNvGraphicFramePr>
          <p:nvPr/>
        </p:nvGraphicFramePr>
        <p:xfrm>
          <a:off x="1835150" y="4797425"/>
          <a:ext cx="5438775" cy="1009650"/>
        </p:xfrm>
        <a:graphic>
          <a:graphicData uri="http://schemas.openxmlformats.org/presentationml/2006/ole">
            <p:oleObj spid="_x0000_s12290" name="图像文档" r:id="rId3" imgW="5438880" imgH="1009800" progId="">
              <p:embed/>
            </p:oleObj>
          </a:graphicData>
        </a:graphic>
      </p:graphicFrame>
      <p:graphicFrame>
        <p:nvGraphicFramePr>
          <p:cNvPr id="12291" name="Object 5"/>
          <p:cNvGraphicFramePr>
            <a:graphicFrameLocks noChangeAspect="1"/>
          </p:cNvGraphicFramePr>
          <p:nvPr/>
        </p:nvGraphicFramePr>
        <p:xfrm>
          <a:off x="2987675" y="5876925"/>
          <a:ext cx="2905125" cy="657225"/>
        </p:xfrm>
        <a:graphic>
          <a:graphicData uri="http://schemas.openxmlformats.org/presentationml/2006/ole">
            <p:oleObj spid="_x0000_s12291" name="图像文档" r:id="rId4" imgW="2905200" imgH="657360" progId="">
              <p:embed/>
            </p:oleObj>
          </a:graphicData>
        </a:graphic>
      </p:graphicFrame>
      <p:sp>
        <p:nvSpPr>
          <p:cNvPr id="12292" name="Rectangle 7"/>
          <p:cNvSpPr>
            <a:spLocks noGrp="1" noChangeArrowheads="1"/>
          </p:cNvSpPr>
          <p:nvPr>
            <p:ph type="title"/>
          </p:nvPr>
        </p:nvSpPr>
        <p:spPr bwMode="auto">
          <a:xfrm>
            <a:off x="500034" y="1571612"/>
            <a:ext cx="7869238" cy="587365"/>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buFont typeface="Wingdings" pitchFamily="2" charset="2"/>
              <a:buChar char="u"/>
            </a:pPr>
            <a:r>
              <a:rPr lang="zh-CN" altLang="en-US" sz="2800" b="1" dirty="0" smtClean="0"/>
              <a:t> 调制型电路</a:t>
            </a:r>
          </a:p>
        </p:txBody>
      </p:sp>
      <p:sp>
        <p:nvSpPr>
          <p:cNvPr id="12293" name="Text Box 8"/>
          <p:cNvSpPr txBox="1">
            <a:spLocks noChangeArrowheads="1"/>
          </p:cNvSpPr>
          <p:nvPr/>
        </p:nvSpPr>
        <p:spPr bwMode="auto">
          <a:xfrm>
            <a:off x="214282" y="2060575"/>
            <a:ext cx="8715435" cy="3295650"/>
          </a:xfrm>
          <a:prstGeom prst="rect">
            <a:avLst/>
          </a:prstGeom>
          <a:noFill/>
          <a:ln w="9525" algn="ctr">
            <a:noFill/>
            <a:miter lim="800000"/>
            <a:headEnd/>
            <a:tailEnd/>
          </a:ln>
        </p:spPr>
        <p:txBody>
          <a:bodyPr wrap="square">
            <a:spAutoFit/>
          </a:bodyPr>
          <a:lstStyle/>
          <a:p>
            <a:pPr marL="179388" lvl="1">
              <a:buFont typeface="Wingdings" pitchFamily="2" charset="2"/>
              <a:buChar char="l"/>
            </a:pPr>
            <a:r>
              <a:rPr lang="zh-CN" altLang="en-US" b="1" dirty="0" smtClean="0">
                <a:solidFill>
                  <a:schemeClr val="tx1"/>
                </a:solidFill>
                <a:latin typeface="+mn-ea"/>
                <a:ea typeface="+mn-ea"/>
              </a:rPr>
              <a:t> 调频</a:t>
            </a:r>
            <a:r>
              <a:rPr lang="zh-CN" altLang="en-US" b="1" dirty="0">
                <a:solidFill>
                  <a:schemeClr val="tx1"/>
                </a:solidFill>
                <a:latin typeface="+mn-ea"/>
                <a:ea typeface="+mn-ea"/>
              </a:rPr>
              <a:t>电路</a:t>
            </a:r>
          </a:p>
          <a:p>
            <a:pPr indent="627063"/>
            <a:r>
              <a:rPr lang="zh-CN" altLang="en-US" b="1" dirty="0" smtClean="0">
                <a:solidFill>
                  <a:schemeClr val="tx1"/>
                </a:solidFill>
                <a:latin typeface="宋体" pitchFamily="2" charset="-122"/>
                <a:ea typeface="宋体" pitchFamily="2" charset="-122"/>
              </a:rPr>
              <a:t>将</a:t>
            </a:r>
            <a:r>
              <a:rPr lang="zh-CN" altLang="en-US" b="1" dirty="0">
                <a:solidFill>
                  <a:schemeClr val="tx1"/>
                </a:solidFill>
                <a:latin typeface="宋体" pitchFamily="2" charset="-122"/>
                <a:ea typeface="宋体" pitchFamily="2" charset="-122"/>
              </a:rPr>
              <a:t>电容式传感器接入高频振荡器的</a:t>
            </a:r>
            <a:r>
              <a:rPr lang="en-US" altLang="zh-CN" b="1" i="1" dirty="0">
                <a:solidFill>
                  <a:schemeClr val="tx1"/>
                </a:solidFill>
                <a:latin typeface="Times New Roman" pitchFamily="18" charset="0"/>
                <a:ea typeface="宋体" pitchFamily="2" charset="-122"/>
                <a:cs typeface="Times New Roman" pitchFamily="18" charset="0"/>
              </a:rPr>
              <a:t>LC</a:t>
            </a:r>
            <a:r>
              <a:rPr lang="zh-CN" altLang="en-US" b="1" dirty="0">
                <a:solidFill>
                  <a:schemeClr val="tx1"/>
                </a:solidFill>
                <a:latin typeface="宋体" pitchFamily="2" charset="-122"/>
                <a:ea typeface="宋体" pitchFamily="2" charset="-122"/>
              </a:rPr>
              <a:t>谐振回路中，作为回路的一部分。当被测量变化使传感器电容改变时，振荡器的振荡频率随之改变。测定频率或经鉴频器将频率变化转换成电压幅值的变化，就可测得被测量的变化。</a:t>
            </a:r>
          </a:p>
          <a:p>
            <a:pPr>
              <a:spcBef>
                <a:spcPct val="50000"/>
              </a:spcBef>
            </a:pPr>
            <a:endParaRPr lang="en-US" altLang="zh-CN" dirty="0"/>
          </a:p>
        </p:txBody>
      </p:sp>
      <p:sp>
        <p:nvSpPr>
          <p:cNvPr id="7"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Rectangle 4"/>
          <p:cNvSpPr>
            <a:spLocks noGrp="1" noChangeArrowheads="1"/>
          </p:cNvSpPr>
          <p:nvPr>
            <p:ph type="title" sz="quarter"/>
          </p:nvPr>
        </p:nvSpPr>
        <p:spPr bwMode="auto">
          <a:xfrm>
            <a:off x="571472" y="1571612"/>
            <a:ext cx="8774141" cy="587365"/>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buFont typeface="Wingdings" pitchFamily="2" charset="2"/>
              <a:buChar char="l"/>
            </a:pPr>
            <a:r>
              <a:rPr lang="zh-CN" altLang="en-US" sz="2800" b="1" dirty="0" smtClean="0">
                <a:latin typeface="+mn-ea"/>
                <a:ea typeface="+mn-ea"/>
              </a:rPr>
              <a:t>调幅电路</a:t>
            </a:r>
          </a:p>
        </p:txBody>
      </p:sp>
      <p:graphicFrame>
        <p:nvGraphicFramePr>
          <p:cNvPr id="477191" name="Object 7"/>
          <p:cNvGraphicFramePr>
            <a:graphicFrameLocks noGrp="1" noChangeAspect="1"/>
          </p:cNvGraphicFramePr>
          <p:nvPr>
            <p:ph sz="quarter" idx="1"/>
          </p:nvPr>
        </p:nvGraphicFramePr>
        <p:xfrm>
          <a:off x="357158" y="3143248"/>
          <a:ext cx="4038600" cy="1514475"/>
        </p:xfrm>
        <a:graphic>
          <a:graphicData uri="http://schemas.openxmlformats.org/presentationml/2006/ole">
            <p:oleObj spid="_x0000_s13314" name="Image" r:id="rId3" imgW="18514286" imgH="6945306" progId="">
              <p:embed/>
            </p:oleObj>
          </a:graphicData>
        </a:graphic>
      </p:graphicFrame>
      <p:graphicFrame>
        <p:nvGraphicFramePr>
          <p:cNvPr id="13315" name="Object 10"/>
          <p:cNvGraphicFramePr>
            <a:graphicFrameLocks noGrp="1" noChangeAspect="1"/>
          </p:cNvGraphicFramePr>
          <p:nvPr>
            <p:ph sz="quarter" idx="2"/>
          </p:nvPr>
        </p:nvGraphicFramePr>
        <p:xfrm>
          <a:off x="1336675" y="5300663"/>
          <a:ext cx="2533650" cy="652462"/>
        </p:xfrm>
        <a:graphic>
          <a:graphicData uri="http://schemas.openxmlformats.org/presentationml/2006/ole">
            <p:oleObj spid="_x0000_s13315" name="Equation" r:id="rId4" imgW="1676160" imgH="431640" progId="Equation.3">
              <p:embed/>
            </p:oleObj>
          </a:graphicData>
        </a:graphic>
      </p:graphicFrame>
      <p:graphicFrame>
        <p:nvGraphicFramePr>
          <p:cNvPr id="13316" name="Object 13"/>
          <p:cNvGraphicFramePr>
            <a:graphicFrameLocks noGrp="1" noChangeAspect="1"/>
          </p:cNvGraphicFramePr>
          <p:nvPr>
            <p:ph sz="quarter" idx="3"/>
          </p:nvPr>
        </p:nvGraphicFramePr>
        <p:xfrm>
          <a:off x="1214414" y="4572008"/>
          <a:ext cx="873144" cy="676687"/>
        </p:xfrm>
        <a:graphic>
          <a:graphicData uri="http://schemas.openxmlformats.org/presentationml/2006/ole">
            <p:oleObj spid="_x0000_s13316" name="公式" r:id="rId5" imgW="507960" imgH="393480" progId="Equation.3">
              <p:embed/>
            </p:oleObj>
          </a:graphicData>
        </a:graphic>
      </p:graphicFrame>
      <p:graphicFrame>
        <p:nvGraphicFramePr>
          <p:cNvPr id="13317" name="Object 15"/>
          <p:cNvGraphicFramePr>
            <a:graphicFrameLocks noGrp="1" noChangeAspect="1"/>
          </p:cNvGraphicFramePr>
          <p:nvPr>
            <p:ph sz="quarter" idx="4"/>
          </p:nvPr>
        </p:nvGraphicFramePr>
        <p:xfrm>
          <a:off x="4214810" y="5715016"/>
          <a:ext cx="3675062" cy="923925"/>
        </p:xfrm>
        <a:graphic>
          <a:graphicData uri="http://schemas.openxmlformats.org/presentationml/2006/ole">
            <p:oleObj spid="_x0000_s13317" name="Equation" r:id="rId6" imgW="2019240" imgH="507960" progId="Equation.3">
              <p:embed/>
            </p:oleObj>
          </a:graphicData>
        </a:graphic>
      </p:graphicFrame>
      <p:sp>
        <p:nvSpPr>
          <p:cNvPr id="13319" name="Text Box 6"/>
          <p:cNvSpPr txBox="1">
            <a:spLocks noChangeArrowheads="1"/>
          </p:cNvSpPr>
          <p:nvPr/>
        </p:nvSpPr>
        <p:spPr bwMode="auto">
          <a:xfrm>
            <a:off x="214282" y="2143116"/>
            <a:ext cx="8715436" cy="946150"/>
          </a:xfrm>
          <a:prstGeom prst="rect">
            <a:avLst/>
          </a:prstGeom>
          <a:noFill/>
          <a:ln w="9525" algn="ctr">
            <a:noFill/>
            <a:miter lim="800000"/>
            <a:headEnd/>
            <a:tailEnd/>
          </a:ln>
        </p:spPr>
        <p:txBody>
          <a:bodyPr wrap="square">
            <a:spAutoFit/>
          </a:bodyPr>
          <a:lstStyle/>
          <a:p>
            <a:pPr indent="271463">
              <a:spcBef>
                <a:spcPct val="50000"/>
              </a:spcBef>
            </a:pPr>
            <a:r>
              <a:rPr lang="zh-CN" altLang="en-US" b="1" dirty="0" smtClean="0">
                <a:solidFill>
                  <a:srgbClr val="C00000"/>
                </a:solidFill>
                <a:latin typeface="宋体" pitchFamily="2" charset="-122"/>
                <a:ea typeface="宋体" pitchFamily="2" charset="-122"/>
              </a:rPr>
              <a:t>交流激励法：</a:t>
            </a:r>
            <a:r>
              <a:rPr lang="zh-CN" altLang="en-US" b="1" dirty="0" smtClean="0">
                <a:solidFill>
                  <a:schemeClr val="tx1"/>
                </a:solidFill>
                <a:latin typeface="宋体" pitchFamily="2" charset="-122"/>
                <a:ea typeface="宋体" pitchFamily="2" charset="-122"/>
              </a:rPr>
              <a:t>在</a:t>
            </a:r>
            <a:r>
              <a:rPr lang="zh-CN" altLang="en-US" b="1" dirty="0">
                <a:solidFill>
                  <a:schemeClr val="tx1"/>
                </a:solidFill>
                <a:latin typeface="宋体" pitchFamily="2" charset="-122"/>
                <a:ea typeface="宋体" pitchFamily="2" charset="-122"/>
              </a:rPr>
              <a:t>电路输出端得到具有调幅波的电压信号，其幅值近似正比于被测信号。</a:t>
            </a:r>
          </a:p>
        </p:txBody>
      </p:sp>
      <p:sp>
        <p:nvSpPr>
          <p:cNvPr id="13321" name="Text Box 12"/>
          <p:cNvSpPr txBox="1">
            <a:spLocks noChangeArrowheads="1"/>
          </p:cNvSpPr>
          <p:nvPr/>
        </p:nvSpPr>
        <p:spPr bwMode="auto">
          <a:xfrm>
            <a:off x="1042988" y="6092825"/>
            <a:ext cx="3311525" cy="519113"/>
          </a:xfrm>
          <a:prstGeom prst="rect">
            <a:avLst/>
          </a:prstGeom>
          <a:noFill/>
          <a:ln w="9525" algn="ctr">
            <a:noFill/>
            <a:miter lim="800000"/>
            <a:headEnd/>
            <a:tailEnd/>
          </a:ln>
        </p:spPr>
        <p:txBody>
          <a:bodyPr>
            <a:spAutoFit/>
          </a:bodyPr>
          <a:lstStyle/>
          <a:p>
            <a:pPr marL="838200" indent="-838200">
              <a:spcBef>
                <a:spcPct val="50000"/>
              </a:spcBef>
            </a:pPr>
            <a:r>
              <a:rPr lang="en-US" altLang="zh-CN" i="1" dirty="0" err="1">
                <a:solidFill>
                  <a:srgbClr val="CC3300"/>
                </a:solidFill>
                <a:latin typeface="Times New Roman" pitchFamily="18" charset="0"/>
                <a:ea typeface="宋体" pitchFamily="2" charset="-122"/>
              </a:rPr>
              <a:t>u</a:t>
            </a:r>
            <a:r>
              <a:rPr lang="en-US" altLang="zh-CN" i="1" baseline="-25000" dirty="0" err="1">
                <a:solidFill>
                  <a:srgbClr val="CC3300"/>
                </a:solidFill>
                <a:latin typeface="Times New Roman" pitchFamily="18" charset="0"/>
                <a:ea typeface="宋体" pitchFamily="2" charset="-122"/>
              </a:rPr>
              <a:t>c</a:t>
            </a:r>
            <a:r>
              <a:rPr lang="zh-CN" altLang="en-US" b="1" dirty="0">
                <a:solidFill>
                  <a:schemeClr val="tx1"/>
                </a:solidFill>
                <a:latin typeface="宋体" pitchFamily="2" charset="-122"/>
                <a:ea typeface="宋体" pitchFamily="2" charset="-122"/>
              </a:rPr>
              <a:t>幅值的模为：</a:t>
            </a:r>
            <a:endParaRPr lang="zh-CN" altLang="en-US" b="1" dirty="0">
              <a:solidFill>
                <a:schemeClr val="tx1"/>
              </a:solidFill>
            </a:endParaRPr>
          </a:p>
        </p:txBody>
      </p:sp>
      <p:sp>
        <p:nvSpPr>
          <p:cNvPr id="11"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12" name="直接连接符 11"/>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479239" name="Object 7"/>
          <p:cNvGraphicFramePr>
            <a:graphicFrameLocks noGrp="1" noChangeAspect="1"/>
          </p:cNvGraphicFramePr>
          <p:nvPr/>
        </p:nvGraphicFramePr>
        <p:xfrm>
          <a:off x="4714876" y="3143248"/>
          <a:ext cx="3489325" cy="2400300"/>
        </p:xfrm>
        <a:graphic>
          <a:graphicData uri="http://schemas.openxmlformats.org/presentationml/2006/ole">
            <p:oleObj spid="_x0000_s13318" name="Flash 影片" r:id="rId7" imgW="8888760" imgH="495360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477191"/>
                                        </p:tgtEl>
                                        <p:attrNameLst>
                                          <p:attrName>style.visibility</p:attrName>
                                        </p:attrNameLst>
                                      </p:cBhvr>
                                      <p:to>
                                        <p:strVal val="visible"/>
                                      </p:to>
                                    </p:set>
                                    <p:animEffect transition="in" filter="strips(downRight)">
                                      <p:cBhvr>
                                        <p:cTn id="7" dur="500"/>
                                        <p:tgtEl>
                                          <p:spTgt spid="477191"/>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479239"/>
                                        </p:tgtEl>
                                        <p:attrNameLst>
                                          <p:attrName>style.visibility</p:attrName>
                                        </p:attrNameLst>
                                      </p:cBhvr>
                                      <p:to>
                                        <p:strVal val="visible"/>
                                      </p:to>
                                    </p:set>
                                    <p:animEffect transition="in" filter="strips(downRight)">
                                      <p:cBhvr>
                                        <p:cTn id="11" dur="500"/>
                                        <p:tgtEl>
                                          <p:spTgt spid="479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Text Box 3"/>
          <p:cNvSpPr txBox="1">
            <a:spLocks noChangeArrowheads="1"/>
          </p:cNvSpPr>
          <p:nvPr/>
        </p:nvSpPr>
        <p:spPr bwMode="auto">
          <a:xfrm>
            <a:off x="214282" y="2060575"/>
            <a:ext cx="8715436" cy="1384995"/>
          </a:xfrm>
          <a:prstGeom prst="rect">
            <a:avLst/>
          </a:prstGeom>
          <a:noFill/>
          <a:ln w="9525">
            <a:noFill/>
            <a:miter lim="800000"/>
            <a:headEnd/>
            <a:tailEnd/>
          </a:ln>
        </p:spPr>
        <p:txBody>
          <a:bodyPr wrap="square">
            <a:spAutoFit/>
          </a:bodyPr>
          <a:lstStyle/>
          <a:p>
            <a:pPr indent="355600"/>
            <a:r>
              <a:rPr lang="zh-CN" altLang="en-US" b="1" dirty="0">
                <a:solidFill>
                  <a:schemeClr val="tx1"/>
                </a:solidFill>
                <a:latin typeface="Verdana" pitchFamily="34" charset="0"/>
                <a:ea typeface="宋体" pitchFamily="2" charset="-122"/>
              </a:rPr>
              <a:t>将电容传感器接入交流电桥作为电桥的一个臂或两个相邻臂，另两臂可以是电阻、电容或电感，也可以是变压器的两个二次线圈。</a:t>
            </a:r>
          </a:p>
        </p:txBody>
      </p:sp>
      <p:graphicFrame>
        <p:nvGraphicFramePr>
          <p:cNvPr id="15362" name="Object 4"/>
          <p:cNvGraphicFramePr>
            <a:graphicFrameLocks noChangeAspect="1"/>
          </p:cNvGraphicFramePr>
          <p:nvPr/>
        </p:nvGraphicFramePr>
        <p:xfrm>
          <a:off x="1214414" y="3643314"/>
          <a:ext cx="6943725" cy="1447800"/>
        </p:xfrm>
        <a:graphic>
          <a:graphicData uri="http://schemas.openxmlformats.org/presentationml/2006/ole">
            <p:oleObj spid="_x0000_s15362" name="图像文档" r:id="rId3" imgW="6943680" imgH="1695600" progId="">
              <p:embed/>
            </p:oleObj>
          </a:graphicData>
        </a:graphic>
      </p:graphicFrame>
      <p:graphicFrame>
        <p:nvGraphicFramePr>
          <p:cNvPr id="15363" name="Object 5"/>
          <p:cNvGraphicFramePr>
            <a:graphicFrameLocks noChangeAspect="1"/>
          </p:cNvGraphicFramePr>
          <p:nvPr/>
        </p:nvGraphicFramePr>
        <p:xfrm>
          <a:off x="1214414" y="5214950"/>
          <a:ext cx="7058025" cy="1371600"/>
        </p:xfrm>
        <a:graphic>
          <a:graphicData uri="http://schemas.openxmlformats.org/presentationml/2006/ole">
            <p:oleObj spid="_x0000_s15363" name="图像文档" r:id="rId4" imgW="7058160" imgH="1685880" progId="">
              <p:embed/>
            </p:oleObj>
          </a:graphicData>
        </a:graphic>
      </p:graphicFrame>
      <p:sp>
        <p:nvSpPr>
          <p:cNvPr id="15366" name="Rectangle 7"/>
          <p:cNvSpPr>
            <a:spLocks noGrp="1" noChangeArrowheads="1"/>
          </p:cNvSpPr>
          <p:nvPr>
            <p:ph type="title"/>
          </p:nvPr>
        </p:nvSpPr>
        <p:spPr bwMode="auto">
          <a:xfrm>
            <a:off x="571472" y="1500174"/>
            <a:ext cx="7740650" cy="576263"/>
          </a:xfrm>
          <a:noFill/>
          <a:ln>
            <a:miter lim="800000"/>
            <a:headEnd/>
            <a:tailEnd/>
          </a:ln>
        </p:spPr>
        <p:txBody>
          <a:bodyPr vert="horz" wrap="square" lIns="91440" tIns="45720" rIns="91440" bIns="45720" numCol="1" anchor="t" anchorCtr="0" compatLnSpc="1">
            <a:prstTxWarp prst="textNoShape">
              <a:avLst/>
            </a:prstTxWarp>
          </a:bodyPr>
          <a:lstStyle/>
          <a:p>
            <a:pPr algn="l"/>
            <a:r>
              <a:rPr lang="zh-CN" altLang="en-US" sz="2800" b="1" dirty="0" smtClean="0">
                <a:solidFill>
                  <a:srgbClr val="C00000"/>
                </a:solidFill>
                <a:latin typeface="+mn-ea"/>
                <a:ea typeface="+mn-ea"/>
              </a:rPr>
              <a:t>交流电桥法</a:t>
            </a:r>
          </a:p>
        </p:txBody>
      </p:sp>
      <p:sp>
        <p:nvSpPr>
          <p:cNvPr id="7"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8" name="直接连接符 7"/>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1" name="Rectangle 10"/>
          <p:cNvSpPr>
            <a:spLocks noGrp="1" noChangeArrowheads="1"/>
          </p:cNvSpPr>
          <p:nvPr>
            <p:ph type="title"/>
          </p:nvPr>
        </p:nvSpPr>
        <p:spPr bwMode="auto">
          <a:xfrm>
            <a:off x="642910" y="1571612"/>
            <a:ext cx="7956550" cy="587365"/>
          </a:xfrm>
          <a:noFill/>
          <a:ln>
            <a:miter lim="800000"/>
            <a:headEnd/>
            <a:tailEnd/>
          </a:ln>
        </p:spPr>
        <p:txBody>
          <a:bodyPr vert="horz" wrap="square" lIns="91440" tIns="45720" rIns="91440" bIns="45720" numCol="1" anchor="t" anchorCtr="0" compatLnSpc="1">
            <a:prstTxWarp prst="textNoShape">
              <a:avLst/>
            </a:prstTxWarp>
          </a:bodyPr>
          <a:lstStyle/>
          <a:p>
            <a:pPr algn="l"/>
            <a:r>
              <a:rPr lang="zh-CN" altLang="en-US" sz="2800" b="1" dirty="0" smtClean="0">
                <a:solidFill>
                  <a:srgbClr val="C00000"/>
                </a:solidFill>
                <a:latin typeface="+mn-ea"/>
                <a:ea typeface="+mn-ea"/>
              </a:rPr>
              <a:t>变压器式电桥</a:t>
            </a:r>
          </a:p>
        </p:txBody>
      </p:sp>
      <p:sp>
        <p:nvSpPr>
          <p:cNvPr id="16388" name="Rectangle 3"/>
          <p:cNvSpPr>
            <a:spLocks noGrp="1" noChangeArrowheads="1"/>
          </p:cNvSpPr>
          <p:nvPr>
            <p:ph idx="1"/>
          </p:nvPr>
        </p:nvSpPr>
        <p:spPr bwMode="auto">
          <a:xfrm>
            <a:off x="214282" y="2071678"/>
            <a:ext cx="6157943" cy="2303462"/>
          </a:xfrm>
          <a:noFill/>
          <a:ln>
            <a:miter lim="800000"/>
            <a:headEnd/>
            <a:tailEnd/>
          </a:ln>
        </p:spPr>
        <p:txBody>
          <a:bodyPr vert="horz" wrap="square" lIns="91440" tIns="45720" rIns="91440" bIns="45720" numCol="1" anchor="t" anchorCtr="0" compatLnSpc="1">
            <a:prstTxWarp prst="textNoShape">
              <a:avLst/>
            </a:prstTxWarp>
          </a:bodyPr>
          <a:lstStyle/>
          <a:p>
            <a:pPr marL="0" indent="627063" eaLnBrk="1" hangingPunct="1">
              <a:lnSpc>
                <a:spcPct val="90000"/>
              </a:lnSpc>
              <a:spcBef>
                <a:spcPct val="0"/>
              </a:spcBef>
              <a:buClrTx/>
              <a:buSzTx/>
              <a:buFontTx/>
              <a:buNone/>
            </a:pPr>
            <a:r>
              <a:rPr lang="zh-CN" altLang="en-US" sz="2800" b="1" dirty="0" smtClean="0">
                <a:latin typeface="宋体" pitchFamily="2" charset="-122"/>
              </a:rPr>
              <a:t>变压器式电桥使用元件最少，桥路内阻最小，目前较多采用。电桥两臂是电源变压器二次线圈。</a:t>
            </a:r>
            <a:endParaRPr lang="en-US" altLang="zh-CN" sz="2800" b="1" dirty="0" smtClean="0">
              <a:latin typeface="宋体" pitchFamily="2" charset="-122"/>
            </a:endParaRPr>
          </a:p>
          <a:p>
            <a:pPr marL="0" indent="627063" eaLnBrk="1" hangingPunct="1">
              <a:lnSpc>
                <a:spcPct val="90000"/>
              </a:lnSpc>
              <a:spcBef>
                <a:spcPct val="0"/>
              </a:spcBef>
              <a:buClrTx/>
              <a:buSzTx/>
              <a:buFontTx/>
              <a:buNone/>
            </a:pPr>
            <a:r>
              <a:rPr lang="zh-CN" altLang="en-US" sz="2800" b="1" dirty="0" smtClean="0">
                <a:latin typeface="宋体" pitchFamily="2" charset="-122"/>
              </a:rPr>
              <a:t>感应电动势为</a:t>
            </a:r>
            <a:r>
              <a:rPr lang="en-US" altLang="zh-CN" sz="2800" b="1" i="1" dirty="0" smtClean="0">
                <a:latin typeface="Times New Roman" pitchFamily="18" charset="0"/>
              </a:rPr>
              <a:t>E</a:t>
            </a:r>
            <a:r>
              <a:rPr lang="zh-CN" altLang="en-US" sz="2800" b="1" dirty="0" smtClean="0">
                <a:latin typeface="宋体" pitchFamily="2" charset="-122"/>
              </a:rPr>
              <a:t>，另一两臂为传感器的两个电容，设电桥所接的放大器的输入阻抗即电桥的负载为</a:t>
            </a:r>
            <a:r>
              <a:rPr lang="en-US" altLang="zh-CN" sz="2800" b="1" i="1" dirty="0" smtClean="0">
                <a:latin typeface="Times New Roman" pitchFamily="18" charset="0"/>
              </a:rPr>
              <a:t>R</a:t>
            </a:r>
            <a:r>
              <a:rPr lang="zh-CN" altLang="en-US" sz="2800" b="1" dirty="0" smtClean="0">
                <a:latin typeface="宋体" pitchFamily="2" charset="-122"/>
              </a:rPr>
              <a:t>，则电桥输出为</a:t>
            </a:r>
          </a:p>
        </p:txBody>
      </p:sp>
      <p:graphicFrame>
        <p:nvGraphicFramePr>
          <p:cNvPr id="16386" name="Object 5"/>
          <p:cNvGraphicFramePr>
            <a:graphicFrameLocks noChangeAspect="1"/>
          </p:cNvGraphicFramePr>
          <p:nvPr/>
        </p:nvGraphicFramePr>
        <p:xfrm>
          <a:off x="1571604" y="4429132"/>
          <a:ext cx="3019425" cy="571500"/>
        </p:xfrm>
        <a:graphic>
          <a:graphicData uri="http://schemas.openxmlformats.org/presentationml/2006/ole">
            <p:oleObj spid="_x0000_s16386" name="图像文档" r:id="rId3" imgW="3019320" imgH="571680" progId="">
              <p:embed/>
            </p:oleObj>
          </a:graphicData>
        </a:graphic>
      </p:graphicFrame>
      <p:sp>
        <p:nvSpPr>
          <p:cNvPr id="16389" name="Text Box 6"/>
          <p:cNvSpPr txBox="1">
            <a:spLocks noChangeArrowheads="1"/>
          </p:cNvSpPr>
          <p:nvPr/>
        </p:nvSpPr>
        <p:spPr bwMode="auto">
          <a:xfrm>
            <a:off x="214282" y="5072074"/>
            <a:ext cx="2214578" cy="523220"/>
          </a:xfrm>
          <a:prstGeom prst="rect">
            <a:avLst/>
          </a:prstGeom>
          <a:noFill/>
          <a:ln w="9525">
            <a:noFill/>
            <a:miter lim="800000"/>
            <a:headEnd/>
            <a:tailEnd/>
          </a:ln>
        </p:spPr>
        <p:txBody>
          <a:bodyPr wrap="square">
            <a:spAutoFit/>
          </a:bodyPr>
          <a:lstStyle/>
          <a:p>
            <a:pPr>
              <a:spcBef>
                <a:spcPct val="50000"/>
              </a:spcBef>
            </a:pPr>
            <a:r>
              <a:rPr lang="zh-CN" altLang="en-US" b="1" dirty="0">
                <a:solidFill>
                  <a:schemeClr val="tx1"/>
                </a:solidFill>
                <a:latin typeface="Verdana" pitchFamily="34" charset="0"/>
                <a:ea typeface="宋体" pitchFamily="2" charset="-122"/>
              </a:rPr>
              <a:t>当</a:t>
            </a:r>
            <a:r>
              <a:rPr lang="en-US" altLang="zh-CN" b="1" i="1" dirty="0">
                <a:solidFill>
                  <a:schemeClr val="tx1"/>
                </a:solidFill>
                <a:latin typeface="Times New Roman" pitchFamily="18" charset="0"/>
                <a:ea typeface="宋体" pitchFamily="2" charset="-122"/>
              </a:rPr>
              <a:t>R</a:t>
            </a:r>
            <a:r>
              <a:rPr lang="zh-CN" altLang="en-US" b="1" dirty="0">
                <a:solidFill>
                  <a:schemeClr val="tx1"/>
                </a:solidFill>
                <a:latin typeface="Verdana" pitchFamily="34" charset="0"/>
                <a:ea typeface="宋体" pitchFamily="2" charset="-122"/>
              </a:rPr>
              <a:t>很大时：</a:t>
            </a:r>
          </a:p>
        </p:txBody>
      </p:sp>
      <p:graphicFrame>
        <p:nvGraphicFramePr>
          <p:cNvPr id="16387" name="Object 7"/>
          <p:cNvGraphicFramePr>
            <a:graphicFrameLocks noChangeAspect="1"/>
          </p:cNvGraphicFramePr>
          <p:nvPr/>
        </p:nvGraphicFramePr>
        <p:xfrm>
          <a:off x="2285984" y="5072074"/>
          <a:ext cx="1819275" cy="523875"/>
        </p:xfrm>
        <a:graphic>
          <a:graphicData uri="http://schemas.openxmlformats.org/presentationml/2006/ole">
            <p:oleObj spid="_x0000_s16387" name="图像文档" r:id="rId4" imgW="1819440" imgH="523800" progId="">
              <p:embed/>
            </p:oleObj>
          </a:graphicData>
        </a:graphic>
      </p:graphicFrame>
      <p:pic>
        <p:nvPicPr>
          <p:cNvPr id="16390" name="Picture 9"/>
          <p:cNvPicPr>
            <a:picLocks noChangeAspect="1" noChangeArrowheads="1"/>
          </p:cNvPicPr>
          <p:nvPr/>
        </p:nvPicPr>
        <p:blipFill>
          <a:blip r:embed="rId5"/>
          <a:srcRect/>
          <a:stretch>
            <a:fillRect/>
          </a:stretch>
        </p:blipFill>
        <p:spPr bwMode="auto">
          <a:xfrm>
            <a:off x="6356350" y="2349500"/>
            <a:ext cx="2787650" cy="2305050"/>
          </a:xfrm>
          <a:prstGeom prst="rect">
            <a:avLst/>
          </a:prstGeom>
          <a:noFill/>
          <a:ln w="9525">
            <a:noFill/>
            <a:miter lim="800000"/>
            <a:headEnd/>
            <a:tailEnd/>
          </a:ln>
        </p:spPr>
      </p:pic>
      <p:sp>
        <p:nvSpPr>
          <p:cNvPr id="9"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10" name="直接连接符 9"/>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1" name="Text Box 3"/>
          <p:cNvSpPr txBox="1">
            <a:spLocks noChangeArrowheads="1"/>
          </p:cNvSpPr>
          <p:nvPr/>
        </p:nvSpPr>
        <p:spPr bwMode="auto">
          <a:xfrm>
            <a:off x="214282" y="5572140"/>
            <a:ext cx="8715436" cy="1144929"/>
          </a:xfrm>
          <a:prstGeom prst="rect">
            <a:avLst/>
          </a:prstGeom>
          <a:solidFill>
            <a:srgbClr val="92D050"/>
          </a:solidFill>
          <a:ln w="9525">
            <a:noFill/>
            <a:miter lim="800000"/>
            <a:headEnd/>
            <a:tailEnd/>
          </a:ln>
        </p:spPr>
        <p:txBody>
          <a:bodyPr wrap="square">
            <a:spAutoFit/>
          </a:bodyPr>
          <a:lstStyle/>
          <a:p>
            <a:pPr>
              <a:lnSpc>
                <a:spcPct val="90000"/>
              </a:lnSpc>
            </a:pPr>
            <a:r>
              <a:rPr lang="en-US" altLang="zh-CN" b="1" dirty="0">
                <a:solidFill>
                  <a:srgbClr val="0000FF"/>
                </a:solidFill>
                <a:latin typeface="宋体" pitchFamily="2" charset="-122"/>
                <a:ea typeface="宋体" pitchFamily="2" charset="-122"/>
              </a:rPr>
              <a:t>   </a:t>
            </a:r>
            <a:r>
              <a:rPr lang="zh-CN" altLang="en-US" sz="2400" b="1" dirty="0">
                <a:solidFill>
                  <a:schemeClr val="tx1"/>
                </a:solidFill>
                <a:latin typeface="宋体" pitchFamily="2" charset="-122"/>
                <a:ea typeface="宋体" pitchFamily="2" charset="-122"/>
              </a:rPr>
              <a:t>差分式电容传感器接入变压器式电桥中，当放大器输入阻抗极大时，对任何类型的电容式传感器</a:t>
            </a:r>
            <a:r>
              <a:rPr lang="en-US" altLang="zh-CN" sz="2400" b="1" dirty="0">
                <a:solidFill>
                  <a:schemeClr val="tx1"/>
                </a:solidFill>
                <a:latin typeface="宋体" pitchFamily="2" charset="-122"/>
                <a:ea typeface="宋体" pitchFamily="2" charset="-122"/>
              </a:rPr>
              <a:t>(</a:t>
            </a:r>
            <a:r>
              <a:rPr lang="zh-CN" altLang="en-US" sz="2400" b="1" dirty="0">
                <a:solidFill>
                  <a:schemeClr val="tx1"/>
                </a:solidFill>
                <a:latin typeface="宋体" pitchFamily="2" charset="-122"/>
                <a:ea typeface="宋体" pitchFamily="2" charset="-122"/>
              </a:rPr>
              <a:t>包括变极距型等</a:t>
            </a:r>
            <a:r>
              <a:rPr lang="en-US" altLang="zh-CN" sz="2400" b="1" dirty="0">
                <a:solidFill>
                  <a:schemeClr val="tx1"/>
                </a:solidFill>
                <a:latin typeface="宋体" pitchFamily="2" charset="-122"/>
                <a:ea typeface="宋体" pitchFamily="2" charset="-122"/>
              </a:rPr>
              <a:t>)</a:t>
            </a:r>
            <a:r>
              <a:rPr lang="zh-CN" altLang="en-US" sz="2400" b="1" dirty="0">
                <a:solidFill>
                  <a:schemeClr val="tx1"/>
                </a:solidFill>
                <a:latin typeface="宋体" pitchFamily="2" charset="-122"/>
                <a:ea typeface="宋体" pitchFamily="2" charset="-122"/>
              </a:rPr>
              <a:t>，电桥的输出电压与输入量均成线性关系。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8"/>
          <p:cNvSpPr>
            <a:spLocks noGrp="1" noChangeArrowheads="1"/>
          </p:cNvSpPr>
          <p:nvPr>
            <p:ph type="title"/>
          </p:nvPr>
        </p:nvSpPr>
        <p:spPr bwMode="auto">
          <a:xfrm>
            <a:off x="642910" y="1571612"/>
            <a:ext cx="7956550" cy="587365"/>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r>
              <a:rPr lang="zh-CN" altLang="en-US" sz="2800" b="1" dirty="0" smtClean="0">
                <a:solidFill>
                  <a:srgbClr val="C00000"/>
                </a:solidFill>
                <a:latin typeface="+mn-ea"/>
                <a:ea typeface="+mn-ea"/>
              </a:rPr>
              <a:t>变压器式电桥</a:t>
            </a:r>
          </a:p>
        </p:txBody>
      </p:sp>
      <p:sp>
        <p:nvSpPr>
          <p:cNvPr id="5" name="矩形 4"/>
          <p:cNvSpPr>
            <a:spLocks noChangeArrowheads="1"/>
          </p:cNvSpPr>
          <p:nvPr/>
        </p:nvSpPr>
        <p:spPr bwMode="auto">
          <a:xfrm>
            <a:off x="214282" y="2285992"/>
            <a:ext cx="8715436" cy="3643113"/>
          </a:xfrm>
          <a:prstGeom prst="rect">
            <a:avLst/>
          </a:prstGeom>
          <a:noFill/>
          <a:ln w="9525">
            <a:noFill/>
            <a:miter lim="800000"/>
            <a:headEnd/>
            <a:tailEnd/>
          </a:ln>
        </p:spPr>
        <p:txBody>
          <a:bodyPr wrap="square">
            <a:spAutoFit/>
          </a:bodyPr>
          <a:lstStyle/>
          <a:p>
            <a:pPr marL="627063" indent="-531813">
              <a:lnSpc>
                <a:spcPct val="120000"/>
              </a:lnSpc>
              <a:buFont typeface="Wingdings" pitchFamily="2" charset="2"/>
              <a:buChar char="n"/>
            </a:pPr>
            <a:r>
              <a:rPr lang="zh-CN" altLang="en-US" b="1" dirty="0">
                <a:solidFill>
                  <a:schemeClr val="tx1"/>
                </a:solidFill>
                <a:latin typeface="宋体" pitchFamily="2" charset="-122"/>
                <a:ea typeface="宋体" pitchFamily="2" charset="-122"/>
              </a:rPr>
              <a:t> 由于电桥输出电压与电源电压成比例，因此要求电源电压波动极小，需采用稳幅、稳频等措施</a:t>
            </a:r>
            <a:r>
              <a:rPr lang="zh-CN" altLang="en-US" b="1" dirty="0" smtClean="0">
                <a:solidFill>
                  <a:schemeClr val="tx1"/>
                </a:solidFill>
                <a:latin typeface="宋体" pitchFamily="2" charset="-122"/>
                <a:ea typeface="宋体" pitchFamily="2" charset="-122"/>
              </a:rPr>
              <a:t>；</a:t>
            </a:r>
            <a:endParaRPr lang="en-US" altLang="zh-CN" b="1" dirty="0" smtClean="0">
              <a:solidFill>
                <a:schemeClr val="tx1"/>
              </a:solidFill>
              <a:latin typeface="宋体" pitchFamily="2" charset="-122"/>
              <a:ea typeface="宋体" pitchFamily="2" charset="-122"/>
            </a:endParaRPr>
          </a:p>
          <a:p>
            <a:pPr marL="627063" indent="-531813">
              <a:lnSpc>
                <a:spcPct val="120000"/>
              </a:lnSpc>
              <a:buFont typeface="Wingdings" pitchFamily="2" charset="2"/>
              <a:buChar char="n"/>
            </a:pPr>
            <a:r>
              <a:rPr lang="zh-CN" altLang="en-US" b="1" dirty="0" smtClean="0">
                <a:solidFill>
                  <a:schemeClr val="tx1"/>
                </a:solidFill>
                <a:latin typeface="宋体" pitchFamily="2" charset="-122"/>
                <a:ea typeface="宋体" pitchFamily="2" charset="-122"/>
              </a:rPr>
              <a:t>传感器</a:t>
            </a:r>
            <a:r>
              <a:rPr lang="zh-CN" altLang="en-US" b="1" dirty="0">
                <a:solidFill>
                  <a:schemeClr val="tx1"/>
                </a:solidFill>
                <a:latin typeface="宋体" pitchFamily="2" charset="-122"/>
                <a:ea typeface="宋体" pitchFamily="2" charset="-122"/>
              </a:rPr>
              <a:t>必须工作在平衡位置附近，否则电桥非线性将增大</a:t>
            </a:r>
            <a:r>
              <a:rPr lang="zh-CN" altLang="en-US" b="1" dirty="0" smtClean="0">
                <a:solidFill>
                  <a:schemeClr val="tx1"/>
                </a:solidFill>
                <a:latin typeface="宋体" pitchFamily="2" charset="-122"/>
                <a:ea typeface="宋体" pitchFamily="2" charset="-122"/>
              </a:rPr>
              <a:t>；</a:t>
            </a:r>
            <a:endParaRPr lang="en-US" altLang="zh-CN" b="1" dirty="0" smtClean="0">
              <a:solidFill>
                <a:schemeClr val="tx1"/>
              </a:solidFill>
              <a:latin typeface="宋体" pitchFamily="2" charset="-122"/>
              <a:ea typeface="宋体" pitchFamily="2" charset="-122"/>
            </a:endParaRPr>
          </a:p>
          <a:p>
            <a:pPr marL="627063" indent="-531813">
              <a:lnSpc>
                <a:spcPct val="120000"/>
              </a:lnSpc>
              <a:buFont typeface="Wingdings" pitchFamily="2" charset="2"/>
              <a:buChar char="n"/>
            </a:pPr>
            <a:r>
              <a:rPr lang="zh-CN" altLang="en-US" b="1" dirty="0" smtClean="0">
                <a:solidFill>
                  <a:schemeClr val="tx1"/>
                </a:solidFill>
                <a:latin typeface="宋体" pitchFamily="2" charset="-122"/>
                <a:ea typeface="宋体" pitchFamily="2" charset="-122"/>
              </a:rPr>
              <a:t>接</a:t>
            </a:r>
            <a:r>
              <a:rPr lang="zh-CN" altLang="en-US" b="1" dirty="0">
                <a:solidFill>
                  <a:schemeClr val="tx1"/>
                </a:solidFill>
                <a:latin typeface="宋体" pitchFamily="2" charset="-122"/>
                <a:ea typeface="宋体" pitchFamily="2" charset="-122"/>
              </a:rPr>
              <a:t>有电容传感器的交流电桥输出阻抗很高</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一般达几兆欧至几十兆欧</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，输出电压幅值又小，所以必须后接高输入阻抗放大器将信号放大后才能测量。</a:t>
            </a:r>
            <a:endParaRPr lang="zh-CN" altLang="en-US" dirty="0">
              <a:solidFill>
                <a:schemeClr val="tx1"/>
              </a:solidFill>
            </a:endParaRPr>
          </a:p>
        </p:txBody>
      </p:sp>
      <p:sp>
        <p:nvSpPr>
          <p:cNvPr id="6"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7" name="直接连接符 6"/>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9"/>
          <p:cNvSpPr>
            <a:spLocks noGrp="1" noChangeArrowheads="1"/>
          </p:cNvSpPr>
          <p:nvPr>
            <p:ph type="title"/>
          </p:nvPr>
        </p:nvSpPr>
        <p:spPr bwMode="auto">
          <a:xfrm>
            <a:off x="571472" y="1571612"/>
            <a:ext cx="7797800" cy="585778"/>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buFont typeface="Wingdings" pitchFamily="2" charset="2"/>
              <a:buChar char="u"/>
            </a:pPr>
            <a:r>
              <a:rPr lang="zh-CN" altLang="en-US" sz="2800" b="1" dirty="0" smtClean="0"/>
              <a:t> 脉冲型电路</a:t>
            </a:r>
          </a:p>
        </p:txBody>
      </p:sp>
      <p:graphicFrame>
        <p:nvGraphicFramePr>
          <p:cNvPr id="456716" name="Object 12"/>
          <p:cNvGraphicFramePr>
            <a:graphicFrameLocks noGrp="1" noChangeAspect="1"/>
          </p:cNvGraphicFramePr>
          <p:nvPr>
            <p:ph sz="half" idx="1"/>
          </p:nvPr>
        </p:nvGraphicFramePr>
        <p:xfrm>
          <a:off x="4859338" y="1844675"/>
          <a:ext cx="4038600" cy="2782888"/>
        </p:xfrm>
        <a:graphic>
          <a:graphicData uri="http://schemas.openxmlformats.org/presentationml/2006/ole">
            <p:oleObj spid="_x0000_s17410" name="Flash 影片" r:id="rId3" imgW="5572800" imgH="3837960" progId="">
              <p:embed/>
            </p:oleObj>
          </a:graphicData>
        </a:graphic>
      </p:graphicFrame>
      <p:graphicFrame>
        <p:nvGraphicFramePr>
          <p:cNvPr id="456718" name="Object 14"/>
          <p:cNvGraphicFramePr>
            <a:graphicFrameLocks noGrp="1" noChangeAspect="1"/>
          </p:cNvGraphicFramePr>
          <p:nvPr>
            <p:ph sz="half" idx="2"/>
          </p:nvPr>
        </p:nvGraphicFramePr>
        <p:xfrm>
          <a:off x="1643042" y="4643446"/>
          <a:ext cx="5507038" cy="2024062"/>
        </p:xfrm>
        <a:graphic>
          <a:graphicData uri="http://schemas.openxmlformats.org/presentationml/2006/ole">
            <p:oleObj spid="_x0000_s17411" name="Flash 影片" r:id="rId4" imgW="10637640" imgH="3910320" progId="">
              <p:embed/>
            </p:oleObj>
          </a:graphicData>
        </a:graphic>
      </p:graphicFrame>
      <p:sp>
        <p:nvSpPr>
          <p:cNvPr id="17414" name="Text Box 16"/>
          <p:cNvSpPr txBox="1">
            <a:spLocks noChangeArrowheads="1"/>
          </p:cNvSpPr>
          <p:nvPr/>
        </p:nvSpPr>
        <p:spPr bwMode="auto">
          <a:xfrm>
            <a:off x="642910" y="2214554"/>
            <a:ext cx="3024188" cy="519113"/>
          </a:xfrm>
          <a:prstGeom prst="rect">
            <a:avLst/>
          </a:prstGeom>
          <a:noFill/>
          <a:ln w="9525" algn="ctr">
            <a:noFill/>
            <a:miter lim="800000"/>
            <a:headEnd/>
            <a:tailEnd/>
          </a:ln>
        </p:spPr>
        <p:txBody>
          <a:bodyPr>
            <a:spAutoFit/>
          </a:bodyPr>
          <a:lstStyle/>
          <a:p>
            <a:pPr marL="838200" indent="-838200">
              <a:spcBef>
                <a:spcPct val="50000"/>
              </a:spcBef>
            </a:pPr>
            <a:r>
              <a:rPr lang="zh-CN" altLang="en-US" b="1" dirty="0">
                <a:solidFill>
                  <a:srgbClr val="CC3300"/>
                </a:solidFill>
                <a:latin typeface="楷体_GB2312" pitchFamily="49" charset="-122"/>
                <a:ea typeface="楷体_GB2312" pitchFamily="49" charset="-122"/>
              </a:rPr>
              <a:t>双</a:t>
            </a:r>
            <a:r>
              <a:rPr lang="en-US" altLang="zh-CN" b="1" dirty="0">
                <a:solidFill>
                  <a:srgbClr val="CC3300"/>
                </a:solidFill>
                <a:latin typeface="楷体_GB2312" pitchFamily="49" charset="-122"/>
                <a:ea typeface="楷体_GB2312" pitchFamily="49" charset="-122"/>
              </a:rPr>
              <a:t>T</a:t>
            </a:r>
            <a:r>
              <a:rPr lang="zh-CN" altLang="en-US" b="1" dirty="0">
                <a:solidFill>
                  <a:srgbClr val="CC3300"/>
                </a:solidFill>
                <a:latin typeface="楷体_GB2312" pitchFamily="49" charset="-122"/>
                <a:ea typeface="楷体_GB2312" pitchFamily="49" charset="-122"/>
              </a:rPr>
              <a:t>型充放电网络</a:t>
            </a:r>
          </a:p>
        </p:txBody>
      </p:sp>
      <p:sp>
        <p:nvSpPr>
          <p:cNvPr id="17415" name="Text Box 17"/>
          <p:cNvSpPr txBox="1">
            <a:spLocks noChangeArrowheads="1"/>
          </p:cNvSpPr>
          <p:nvPr/>
        </p:nvSpPr>
        <p:spPr bwMode="auto">
          <a:xfrm>
            <a:off x="214282" y="2924175"/>
            <a:ext cx="4502181" cy="954107"/>
          </a:xfrm>
          <a:prstGeom prst="rect">
            <a:avLst/>
          </a:prstGeom>
          <a:noFill/>
          <a:ln w="9525" algn="ctr">
            <a:noFill/>
            <a:miter lim="800000"/>
            <a:headEnd/>
            <a:tailEnd/>
          </a:ln>
        </p:spPr>
        <p:txBody>
          <a:bodyPr wrap="square">
            <a:spAutoFit/>
          </a:bodyPr>
          <a:lstStyle/>
          <a:p>
            <a:pPr indent="355600">
              <a:spcBef>
                <a:spcPct val="50000"/>
              </a:spcBef>
            </a:pPr>
            <a:r>
              <a:rPr lang="zh-CN" altLang="en-US" b="1" dirty="0">
                <a:solidFill>
                  <a:schemeClr val="tx1"/>
                </a:solidFill>
                <a:latin typeface="宋体" pitchFamily="2" charset="-122"/>
                <a:ea typeface="宋体" pitchFamily="2" charset="-122"/>
              </a:rPr>
              <a:t>需要严格控制</a:t>
            </a:r>
            <a:r>
              <a:rPr lang="zh-CN" altLang="en-US" b="1" dirty="0">
                <a:solidFill>
                  <a:srgbClr val="FF0000"/>
                </a:solidFill>
                <a:latin typeface="宋体" pitchFamily="2" charset="-122"/>
                <a:ea typeface="宋体" pitchFamily="2" charset="-122"/>
              </a:rPr>
              <a:t>高频电源</a:t>
            </a:r>
            <a:r>
              <a:rPr lang="zh-CN" altLang="en-US" b="1" dirty="0">
                <a:solidFill>
                  <a:schemeClr val="tx1"/>
                </a:solidFill>
                <a:latin typeface="宋体" pitchFamily="2" charset="-122"/>
                <a:ea typeface="宋体" pitchFamily="2" charset="-122"/>
              </a:rPr>
              <a:t>的电压和频率稳定度（</a:t>
            </a:r>
            <a:r>
              <a:rPr lang="en-US" altLang="zh-CN" b="1" dirty="0" smtClean="0">
                <a:solidFill>
                  <a:schemeClr val="tx1"/>
                </a:solidFill>
                <a:latin typeface="宋体" pitchFamily="2" charset="-122"/>
                <a:ea typeface="宋体" pitchFamily="2" charset="-122"/>
              </a:rPr>
              <a:t>P82</a:t>
            </a:r>
            <a:r>
              <a:rPr lang="zh-CN" altLang="en-US" b="1" dirty="0" smtClean="0">
                <a:solidFill>
                  <a:schemeClr val="tx1"/>
                </a:solidFill>
                <a:latin typeface="宋体" pitchFamily="2" charset="-122"/>
                <a:ea typeface="宋体" pitchFamily="2" charset="-122"/>
              </a:rPr>
              <a:t>）</a:t>
            </a:r>
            <a:endParaRPr lang="zh-CN" altLang="en-US" b="1" dirty="0">
              <a:solidFill>
                <a:schemeClr val="tx1"/>
              </a:solidFill>
              <a:latin typeface="宋体" pitchFamily="2" charset="-122"/>
              <a:ea typeface="宋体" pitchFamily="2" charset="-122"/>
            </a:endParaRPr>
          </a:p>
        </p:txBody>
      </p:sp>
      <p:sp>
        <p:nvSpPr>
          <p:cNvPr id="8"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456716"/>
                                        </p:tgtEl>
                                        <p:attrNameLst>
                                          <p:attrName>style.visibility</p:attrName>
                                        </p:attrNameLst>
                                      </p:cBhvr>
                                      <p:to>
                                        <p:strVal val="visible"/>
                                      </p:to>
                                    </p:set>
                                    <p:animEffect transition="in" filter="strips(downRight)">
                                      <p:cBhvr>
                                        <p:cTn id="7" dur="500"/>
                                        <p:tgtEl>
                                          <p:spTgt spid="456716"/>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456718"/>
                                        </p:tgtEl>
                                        <p:attrNameLst>
                                          <p:attrName>style.visibility</p:attrName>
                                        </p:attrNameLst>
                                      </p:cBhvr>
                                      <p:to>
                                        <p:strVal val="visible"/>
                                      </p:to>
                                    </p:set>
                                    <p:animEffect transition="in" filter="strips(downRight)">
                                      <p:cBhvr>
                                        <p:cTn id="11" dur="500"/>
                                        <p:tgtEl>
                                          <p:spTgt spid="456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2"/>
          <p:cNvGraphicFramePr>
            <a:graphicFrameLocks noChangeAspect="1"/>
          </p:cNvGraphicFramePr>
          <p:nvPr/>
        </p:nvGraphicFramePr>
        <p:xfrm>
          <a:off x="228600" y="2590800"/>
          <a:ext cx="5124450" cy="2724150"/>
        </p:xfrm>
        <a:graphic>
          <a:graphicData uri="http://schemas.openxmlformats.org/presentationml/2006/ole">
            <p:oleObj spid="_x0000_s18434" name="图像文档" r:id="rId3" imgW="5124600" imgH="2724120" progId="">
              <p:embed/>
            </p:oleObj>
          </a:graphicData>
        </a:graphic>
      </p:graphicFrame>
      <p:sp>
        <p:nvSpPr>
          <p:cNvPr id="18439" name="Rectangle 7"/>
          <p:cNvSpPr>
            <a:spLocks noGrp="1" noChangeArrowheads="1"/>
          </p:cNvSpPr>
          <p:nvPr>
            <p:ph type="title"/>
          </p:nvPr>
        </p:nvSpPr>
        <p:spPr bwMode="auto">
          <a:xfrm>
            <a:off x="642910" y="1571612"/>
            <a:ext cx="7812087" cy="515927"/>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r>
              <a:rPr lang="zh-CN" altLang="en-US" sz="2800" b="1" dirty="0" smtClean="0">
                <a:solidFill>
                  <a:srgbClr val="CC3300"/>
                </a:solidFill>
                <a:latin typeface="楷体_GB2312" pitchFamily="49" charset="-122"/>
                <a:ea typeface="楷体_GB2312" pitchFamily="49" charset="-122"/>
              </a:rPr>
              <a:t>差动脉冲调宽电路</a:t>
            </a:r>
          </a:p>
        </p:txBody>
      </p:sp>
      <p:sp>
        <p:nvSpPr>
          <p:cNvPr id="18437" name="Rectangle 3"/>
          <p:cNvSpPr>
            <a:spLocks noGrp="1" noChangeArrowheads="1"/>
          </p:cNvSpPr>
          <p:nvPr>
            <p:ph idx="1"/>
          </p:nvPr>
        </p:nvSpPr>
        <p:spPr bwMode="auto">
          <a:xfrm>
            <a:off x="214282" y="2071678"/>
            <a:ext cx="8701118" cy="571504"/>
          </a:xfrm>
          <a:noFill/>
          <a:ln>
            <a:miter lim="800000"/>
            <a:headEnd/>
            <a:tailEnd/>
          </a:ln>
        </p:spPr>
        <p:txBody>
          <a:bodyPr vert="horz" wrap="square" lIns="91440" tIns="45720" rIns="91440" bIns="45720" numCol="1" anchor="t" anchorCtr="0" compatLnSpc="1">
            <a:prstTxWarp prst="textNoShape">
              <a:avLst/>
            </a:prstTxWarp>
          </a:bodyPr>
          <a:lstStyle/>
          <a:p>
            <a:pPr lvl="1" indent="-742950" eaLnBrk="1" hangingPunct="1">
              <a:buFont typeface="Wingdings" pitchFamily="2" charset="2"/>
              <a:buNone/>
            </a:pPr>
            <a:r>
              <a:rPr lang="zh-CN" altLang="en-US" b="1" dirty="0" smtClean="0">
                <a:latin typeface="Lucida Sans" pitchFamily="34" charset="0"/>
              </a:rPr>
              <a:t>利用电容充放电时间随电容量变化而使输出脉冲变化。</a:t>
            </a:r>
            <a:endParaRPr lang="en-US" altLang="zh-CN" dirty="0" smtClean="0">
              <a:solidFill>
                <a:srgbClr val="0000FF"/>
              </a:solidFill>
              <a:latin typeface="Lucida Sans" pitchFamily="34" charset="0"/>
            </a:endParaRPr>
          </a:p>
        </p:txBody>
      </p:sp>
      <p:sp>
        <p:nvSpPr>
          <p:cNvPr id="18438" name="Text Box 4"/>
          <p:cNvSpPr txBox="1">
            <a:spLocks noChangeArrowheads="1"/>
          </p:cNvSpPr>
          <p:nvPr/>
        </p:nvSpPr>
        <p:spPr bwMode="auto">
          <a:xfrm>
            <a:off x="609600" y="5181600"/>
            <a:ext cx="4572000" cy="1006475"/>
          </a:xfrm>
          <a:prstGeom prst="rect">
            <a:avLst/>
          </a:prstGeom>
          <a:solidFill>
            <a:srgbClr val="92D050"/>
          </a:solidFill>
          <a:ln w="9525">
            <a:noFill/>
            <a:miter lim="800000"/>
            <a:headEnd/>
            <a:tailEnd/>
          </a:ln>
        </p:spPr>
        <p:txBody>
          <a:bodyPr>
            <a:spAutoFit/>
          </a:bodyPr>
          <a:lstStyle/>
          <a:p>
            <a:r>
              <a:rPr lang="en-US" altLang="zh-CN" sz="2000" b="1" dirty="0">
                <a:solidFill>
                  <a:schemeClr val="tx1"/>
                </a:solidFill>
                <a:latin typeface="Verdana" pitchFamily="34" charset="0"/>
                <a:ea typeface="宋体" pitchFamily="2" charset="-122"/>
              </a:rPr>
              <a:t>    </a:t>
            </a:r>
            <a:r>
              <a:rPr lang="zh-CN" altLang="en-US" sz="2000" b="1" dirty="0">
                <a:solidFill>
                  <a:schemeClr val="tx1"/>
                </a:solidFill>
                <a:latin typeface="Verdana" pitchFamily="34" charset="0"/>
                <a:ea typeface="宋体" pitchFamily="2" charset="-122"/>
              </a:rPr>
              <a:t>差动脉冲调宽电路采用直流电源，要求直流电源的电压稳定度较高，输出为矩形波，有较强的抗干扰能力。</a:t>
            </a:r>
          </a:p>
        </p:txBody>
      </p:sp>
      <p:graphicFrame>
        <p:nvGraphicFramePr>
          <p:cNvPr id="18435" name="Object 5"/>
          <p:cNvGraphicFramePr>
            <a:graphicFrameLocks noChangeAspect="1"/>
          </p:cNvGraphicFramePr>
          <p:nvPr/>
        </p:nvGraphicFramePr>
        <p:xfrm>
          <a:off x="5410200" y="2667000"/>
          <a:ext cx="3733800" cy="4191000"/>
        </p:xfrm>
        <a:graphic>
          <a:graphicData uri="http://schemas.openxmlformats.org/presentationml/2006/ole">
            <p:oleObj spid="_x0000_s18435" name="图像文档" r:id="rId4" imgW="3733920" imgH="4191120" progId="">
              <p:embed/>
            </p:oleObj>
          </a:graphicData>
        </a:graphic>
      </p:graphicFrame>
      <p:graphicFrame>
        <p:nvGraphicFramePr>
          <p:cNvPr id="18436" name="Object 6"/>
          <p:cNvGraphicFramePr>
            <a:graphicFrameLocks noChangeAspect="1"/>
          </p:cNvGraphicFramePr>
          <p:nvPr/>
        </p:nvGraphicFramePr>
        <p:xfrm>
          <a:off x="1447800" y="6267450"/>
          <a:ext cx="3067050" cy="590550"/>
        </p:xfrm>
        <a:graphic>
          <a:graphicData uri="http://schemas.openxmlformats.org/presentationml/2006/ole">
            <p:oleObj spid="_x0000_s18436" name="图像文档" r:id="rId5" imgW="3067200" imgH="590400" progId="">
              <p:embed/>
            </p:oleObj>
          </a:graphicData>
        </a:graphic>
      </p:graphicFrame>
      <p:sp>
        <p:nvSpPr>
          <p:cNvPr id="9"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10" name="直接连接符 9"/>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8"/>
                                        </p:tgtEl>
                                        <p:attrNameLst>
                                          <p:attrName>style.visibility</p:attrName>
                                        </p:attrNameLst>
                                      </p:cBhvr>
                                      <p:to>
                                        <p:strVal val="visible"/>
                                      </p:to>
                                    </p:set>
                                    <p:animEffect transition="in" filter="blinds(horizontal)">
                                      <p:cBhvr>
                                        <p:cTn id="7" dur="500"/>
                                        <p:tgtEl>
                                          <p:spTgt spid="18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bwMode="auto">
          <a:xfrm>
            <a:off x="714348" y="1571612"/>
            <a:ext cx="8915400" cy="647700"/>
          </a:xfrm>
          <a:noFill/>
          <a:ln>
            <a:miter lim="800000"/>
            <a:headEnd/>
            <a:tailEnd/>
          </a:ln>
        </p:spPr>
        <p:txBody>
          <a:bodyPr vert="horz" wrap="square" lIns="91440" tIns="45720" rIns="91440" bIns="45720" numCol="1" anchor="t" anchorCtr="0" compatLnSpc="1">
            <a:prstTxWarp prst="textNoShape">
              <a:avLst/>
            </a:prstTxWarp>
          </a:bodyPr>
          <a:lstStyle/>
          <a:p>
            <a:pPr marL="0" lvl="1" indent="0" eaLnBrk="1" hangingPunct="1">
              <a:lnSpc>
                <a:spcPct val="90000"/>
              </a:lnSpc>
              <a:buFont typeface="Wingdings" pitchFamily="2" charset="2"/>
              <a:buNone/>
            </a:pPr>
            <a:r>
              <a:rPr lang="zh-CN" altLang="en-US" b="1" dirty="0" smtClean="0">
                <a:solidFill>
                  <a:srgbClr val="CC3300"/>
                </a:solidFill>
                <a:latin typeface="楷体_GB2312" pitchFamily="49" charset="-122"/>
                <a:ea typeface="楷体_GB2312" pitchFamily="49" charset="-122"/>
              </a:rPr>
              <a:t>运算放大器式电路</a:t>
            </a:r>
            <a:r>
              <a:rPr lang="zh-CN" altLang="en-US" sz="2000" dirty="0" smtClean="0">
                <a:solidFill>
                  <a:srgbClr val="0000FF"/>
                </a:solidFill>
              </a:rPr>
              <a:t>    </a:t>
            </a:r>
            <a:endParaRPr lang="zh-CN" altLang="en-US" sz="2400" i="1" dirty="0" smtClean="0">
              <a:solidFill>
                <a:schemeClr val="folHlink"/>
              </a:solidFill>
              <a:latin typeface="Times New Roman" pitchFamily="18" charset="0"/>
            </a:endParaRPr>
          </a:p>
        </p:txBody>
      </p:sp>
      <p:graphicFrame>
        <p:nvGraphicFramePr>
          <p:cNvPr id="19458" name="Object 4"/>
          <p:cNvGraphicFramePr>
            <a:graphicFrameLocks noChangeAspect="1"/>
          </p:cNvGraphicFramePr>
          <p:nvPr/>
        </p:nvGraphicFramePr>
        <p:xfrm>
          <a:off x="5214942" y="2786058"/>
          <a:ext cx="3459163" cy="1952625"/>
        </p:xfrm>
        <a:graphic>
          <a:graphicData uri="http://schemas.openxmlformats.org/presentationml/2006/ole">
            <p:oleObj spid="_x0000_s19458" name="Image" r:id="rId3" imgW="8933286" imgH="5044829" progId="Photoshop.Image.6">
              <p:embed/>
            </p:oleObj>
          </a:graphicData>
        </a:graphic>
      </p:graphicFrame>
      <p:sp>
        <p:nvSpPr>
          <p:cNvPr id="19460" name="Text Box 5"/>
          <p:cNvSpPr txBox="1">
            <a:spLocks noChangeArrowheads="1"/>
          </p:cNvSpPr>
          <p:nvPr/>
        </p:nvSpPr>
        <p:spPr bwMode="auto">
          <a:xfrm>
            <a:off x="285720" y="3571876"/>
            <a:ext cx="4549775" cy="1384995"/>
          </a:xfrm>
          <a:prstGeom prst="rect">
            <a:avLst/>
          </a:prstGeom>
          <a:noFill/>
          <a:ln w="9525">
            <a:noFill/>
            <a:miter lim="800000"/>
            <a:headEnd/>
            <a:tailEnd/>
          </a:ln>
        </p:spPr>
        <p:txBody>
          <a:bodyPr>
            <a:spAutoFit/>
          </a:bodyPr>
          <a:lstStyle/>
          <a:p>
            <a:r>
              <a:rPr lang="zh-CN" altLang="en-US" b="1" dirty="0">
                <a:solidFill>
                  <a:schemeClr val="tx1"/>
                </a:solidFill>
                <a:latin typeface="Times New Roman" pitchFamily="18" charset="0"/>
                <a:ea typeface="宋体" pitchFamily="2" charset="-122"/>
              </a:rPr>
              <a:t>与 </a:t>
            </a:r>
            <a:r>
              <a:rPr lang="en-US" altLang="zh-CN" b="1" i="1" dirty="0">
                <a:solidFill>
                  <a:schemeClr val="tx1"/>
                </a:solidFill>
                <a:latin typeface="Times New Roman" pitchFamily="18" charset="0"/>
                <a:ea typeface="宋体" pitchFamily="2" charset="-122"/>
                <a:sym typeface="Symbol" pitchFamily="18" charset="2"/>
              </a:rPr>
              <a:t>d</a:t>
            </a:r>
            <a:r>
              <a:rPr lang="zh-CN" altLang="en-US" b="1" dirty="0">
                <a:solidFill>
                  <a:schemeClr val="tx1"/>
                </a:solidFill>
                <a:latin typeface="Times New Roman" pitchFamily="18" charset="0"/>
                <a:ea typeface="宋体" pitchFamily="2" charset="-122"/>
                <a:sym typeface="Symbol" pitchFamily="18" charset="2"/>
              </a:rPr>
              <a:t>成线性关系，能克服变极距型电容式传感器的非线性。      </a:t>
            </a:r>
          </a:p>
        </p:txBody>
      </p:sp>
      <p:sp>
        <p:nvSpPr>
          <p:cNvPr id="19462" name="Text Box 9"/>
          <p:cNvSpPr txBox="1">
            <a:spLocks noChangeArrowheads="1"/>
          </p:cNvSpPr>
          <p:nvPr/>
        </p:nvSpPr>
        <p:spPr bwMode="auto">
          <a:xfrm>
            <a:off x="214282" y="2143116"/>
            <a:ext cx="8715436" cy="1373188"/>
          </a:xfrm>
          <a:prstGeom prst="rect">
            <a:avLst/>
          </a:prstGeom>
          <a:noFill/>
          <a:ln w="9525" algn="ctr">
            <a:noFill/>
            <a:miter lim="800000"/>
            <a:headEnd/>
            <a:tailEnd/>
          </a:ln>
        </p:spPr>
        <p:txBody>
          <a:bodyPr wrap="square">
            <a:spAutoFit/>
          </a:bodyPr>
          <a:lstStyle/>
          <a:p>
            <a:pPr marL="179388" lvl="1" indent="352425"/>
            <a:r>
              <a:rPr lang="zh-CN" altLang="en-US" b="1" dirty="0">
                <a:solidFill>
                  <a:schemeClr val="tx1"/>
                </a:solidFill>
                <a:latin typeface="Times New Roman" pitchFamily="18" charset="0"/>
                <a:ea typeface="宋体" pitchFamily="2" charset="-122"/>
              </a:rPr>
              <a:t>将电容式传感器接入运算放大器电路中，作为电路的反馈元件，输出电压为：</a:t>
            </a:r>
          </a:p>
          <a:p>
            <a:pPr marL="179388" lvl="1" indent="812800"/>
            <a:r>
              <a:rPr lang="en-US" altLang="zh-CN" b="1" i="1" dirty="0">
                <a:solidFill>
                  <a:srgbClr val="CC3300"/>
                </a:solidFill>
                <a:latin typeface="Times New Roman" pitchFamily="18" charset="0"/>
                <a:ea typeface="宋体" pitchFamily="2" charset="-122"/>
              </a:rPr>
              <a:t>u</a:t>
            </a:r>
            <a:r>
              <a:rPr lang="en-US" altLang="zh-CN" b="1" i="1" baseline="-25000" dirty="0">
                <a:solidFill>
                  <a:srgbClr val="CC3300"/>
                </a:solidFill>
                <a:latin typeface="Times New Roman" pitchFamily="18" charset="0"/>
                <a:ea typeface="宋体" pitchFamily="2" charset="-122"/>
              </a:rPr>
              <a:t>0</a:t>
            </a:r>
            <a:r>
              <a:rPr lang="en-US" altLang="zh-CN" b="1" i="1" dirty="0">
                <a:solidFill>
                  <a:srgbClr val="CC3300"/>
                </a:solidFill>
                <a:latin typeface="Times New Roman" pitchFamily="18" charset="0"/>
                <a:ea typeface="宋体" pitchFamily="2" charset="-122"/>
              </a:rPr>
              <a:t> = -Cu/</a:t>
            </a:r>
            <a:r>
              <a:rPr lang="en-US" altLang="zh-CN" b="1" i="1" dirty="0" err="1">
                <a:solidFill>
                  <a:srgbClr val="CC3300"/>
                </a:solidFill>
                <a:latin typeface="Times New Roman" pitchFamily="18" charset="0"/>
                <a:ea typeface="宋体" pitchFamily="2" charset="-122"/>
              </a:rPr>
              <a:t>Cx</a:t>
            </a:r>
            <a:r>
              <a:rPr lang="en-US" altLang="zh-CN" b="1" i="1" dirty="0">
                <a:solidFill>
                  <a:srgbClr val="CC3300"/>
                </a:solidFill>
                <a:latin typeface="Times New Roman" pitchFamily="18" charset="0"/>
                <a:ea typeface="宋体" pitchFamily="2" charset="-122"/>
              </a:rPr>
              <a:t> = -</a:t>
            </a:r>
            <a:r>
              <a:rPr lang="en-US" altLang="zh-CN" b="1" i="1" dirty="0" err="1">
                <a:solidFill>
                  <a:srgbClr val="CC3300"/>
                </a:solidFill>
                <a:latin typeface="Times New Roman" pitchFamily="18" charset="0"/>
                <a:ea typeface="宋体" pitchFamily="2" charset="-122"/>
              </a:rPr>
              <a:t>uC</a:t>
            </a:r>
            <a:r>
              <a:rPr lang="en-US" altLang="zh-CN" b="1" i="1" dirty="0" err="1">
                <a:solidFill>
                  <a:srgbClr val="CC3300"/>
                </a:solidFill>
                <a:latin typeface="Times New Roman" pitchFamily="18" charset="0"/>
                <a:ea typeface="宋体" pitchFamily="2" charset="-122"/>
                <a:sym typeface="Symbol" pitchFamily="18" charset="2"/>
              </a:rPr>
              <a:t>d</a:t>
            </a:r>
            <a:r>
              <a:rPr lang="en-US" altLang="zh-CN" b="1" i="1" dirty="0">
                <a:solidFill>
                  <a:srgbClr val="CC3300"/>
                </a:solidFill>
                <a:latin typeface="Times New Roman" pitchFamily="18" charset="0"/>
                <a:ea typeface="宋体" pitchFamily="2" charset="-122"/>
                <a:sym typeface="Symbol" pitchFamily="18" charset="2"/>
              </a:rPr>
              <a:t>/S</a:t>
            </a:r>
            <a:endParaRPr lang="en-US" altLang="zh-CN" b="1" i="1" dirty="0">
              <a:solidFill>
                <a:srgbClr val="CC3300"/>
              </a:solidFill>
              <a:latin typeface="Times New Roman" pitchFamily="18" charset="0"/>
              <a:ea typeface="宋体" pitchFamily="2" charset="-122"/>
            </a:endParaRPr>
          </a:p>
        </p:txBody>
      </p:sp>
      <p:sp>
        <p:nvSpPr>
          <p:cNvPr id="7" name="矩形 6"/>
          <p:cNvSpPr>
            <a:spLocks noChangeArrowheads="1"/>
          </p:cNvSpPr>
          <p:nvPr/>
        </p:nvSpPr>
        <p:spPr bwMode="auto">
          <a:xfrm>
            <a:off x="214282" y="5000636"/>
            <a:ext cx="8715436" cy="1384995"/>
          </a:xfrm>
          <a:prstGeom prst="rect">
            <a:avLst/>
          </a:prstGeom>
          <a:noFill/>
          <a:ln w="9525">
            <a:noFill/>
            <a:miter lim="800000"/>
            <a:headEnd/>
            <a:tailEnd/>
          </a:ln>
        </p:spPr>
        <p:txBody>
          <a:bodyPr wrap="square">
            <a:spAutoFit/>
          </a:bodyPr>
          <a:lstStyle/>
          <a:p>
            <a:pPr indent="627063"/>
            <a:r>
              <a:rPr lang="zh-CN" altLang="en-US" b="1" dirty="0">
                <a:solidFill>
                  <a:schemeClr val="tx1"/>
                </a:solidFill>
                <a:latin typeface="Times New Roman" pitchFamily="18" charset="0"/>
                <a:ea typeface="宋体" pitchFamily="2" charset="-122"/>
                <a:sym typeface="Symbol" pitchFamily="18" charset="2"/>
              </a:rPr>
              <a:t>  </a:t>
            </a:r>
            <a:r>
              <a:rPr lang="zh-CN" altLang="en-US" b="1" dirty="0" smtClean="0">
                <a:solidFill>
                  <a:schemeClr val="tx1"/>
                </a:solidFill>
                <a:latin typeface="Times New Roman" pitchFamily="18" charset="0"/>
                <a:ea typeface="宋体" pitchFamily="2" charset="-122"/>
                <a:sym typeface="Symbol" pitchFamily="18" charset="2"/>
              </a:rPr>
              <a:t>为了</a:t>
            </a:r>
            <a:r>
              <a:rPr lang="zh-CN" altLang="en-US" b="1" dirty="0">
                <a:solidFill>
                  <a:schemeClr val="tx1"/>
                </a:solidFill>
                <a:latin typeface="Times New Roman" pitchFamily="18" charset="0"/>
                <a:ea typeface="宋体" pitchFamily="2" charset="-122"/>
                <a:sym typeface="Symbol" pitchFamily="18" charset="2"/>
              </a:rPr>
              <a:t>防止干扰和减小寄生电容的影响，传感器和运放之间要用低电容屏蔽电缆连接。为减少屏蔽电缆本身电容的影响，需对电缆采取驱动措施。</a:t>
            </a:r>
            <a:endParaRPr lang="zh-CN" altLang="en-US" dirty="0">
              <a:solidFill>
                <a:schemeClr val="tx1"/>
              </a:solidFill>
            </a:endParaRPr>
          </a:p>
        </p:txBody>
      </p:sp>
      <p:sp>
        <p:nvSpPr>
          <p:cNvPr id="8"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8"/>
          <p:cNvSpPr>
            <a:spLocks noGrp="1" noChangeArrowheads="1"/>
          </p:cNvSpPr>
          <p:nvPr>
            <p:ph type="title"/>
          </p:nvPr>
        </p:nvSpPr>
        <p:spPr bwMode="auto">
          <a:xfrm>
            <a:off x="571472" y="1571612"/>
            <a:ext cx="7726363" cy="515927"/>
          </a:xfrm>
          <a:noFill/>
          <a:ln>
            <a:miter lim="800000"/>
            <a:headEnd/>
            <a:tailEnd/>
          </a:ln>
        </p:spPr>
        <p:txBody>
          <a:bodyPr vert="horz" wrap="square" lIns="91440" tIns="45720" rIns="91440" bIns="45720" numCol="1" anchor="t" anchorCtr="0" compatLnSpc="1">
            <a:prstTxWarp prst="textNoShape">
              <a:avLst/>
            </a:prstTxWarp>
          </a:bodyPr>
          <a:lstStyle/>
          <a:p>
            <a:pPr algn="l"/>
            <a:r>
              <a:rPr lang="zh-CN" altLang="en-US" sz="2800" b="1" dirty="0" smtClean="0">
                <a:solidFill>
                  <a:srgbClr val="F84D08"/>
                </a:solidFill>
                <a:latin typeface="黑体" pitchFamily="2" charset="-122"/>
                <a:ea typeface="黑体" pitchFamily="2" charset="-122"/>
              </a:rPr>
              <a:t>应用</a:t>
            </a:r>
          </a:p>
        </p:txBody>
      </p:sp>
      <p:sp>
        <p:nvSpPr>
          <p:cNvPr id="38916" name="Text Box 9"/>
          <p:cNvSpPr txBox="1">
            <a:spLocks noChangeArrowheads="1"/>
          </p:cNvSpPr>
          <p:nvPr/>
        </p:nvSpPr>
        <p:spPr bwMode="auto">
          <a:xfrm>
            <a:off x="214282" y="2143116"/>
            <a:ext cx="8715436" cy="2677656"/>
          </a:xfrm>
          <a:prstGeom prst="rect">
            <a:avLst/>
          </a:prstGeom>
          <a:noFill/>
          <a:ln w="9525" algn="ctr">
            <a:noFill/>
            <a:miter lim="800000"/>
            <a:headEnd/>
            <a:tailEnd/>
          </a:ln>
        </p:spPr>
        <p:txBody>
          <a:bodyPr wrap="square">
            <a:spAutoFit/>
          </a:bodyPr>
          <a:lstStyle/>
          <a:p>
            <a:pPr indent="627063">
              <a:lnSpc>
                <a:spcPct val="120000"/>
              </a:lnSpc>
            </a:pPr>
            <a:r>
              <a:rPr lang="zh-CN" altLang="en-US" b="1" dirty="0" smtClean="0">
                <a:solidFill>
                  <a:schemeClr val="tx1"/>
                </a:solidFill>
                <a:latin typeface="宋体" pitchFamily="2" charset="-122"/>
                <a:ea typeface="宋体" pitchFamily="2" charset="-122"/>
              </a:rPr>
              <a:t>可用</a:t>
            </a:r>
            <a:r>
              <a:rPr lang="zh-CN" altLang="en-US" b="1" dirty="0">
                <a:solidFill>
                  <a:schemeClr val="tx1"/>
                </a:solidFill>
                <a:latin typeface="宋体" pitchFamily="2" charset="-122"/>
                <a:ea typeface="宋体" pitchFamily="2" charset="-122"/>
              </a:rPr>
              <a:t>来测量直线位移、角位移，振动</a:t>
            </a:r>
            <a:r>
              <a:rPr lang="zh-CN" altLang="en-US" b="1" dirty="0" smtClean="0">
                <a:solidFill>
                  <a:schemeClr val="tx1"/>
                </a:solidFill>
                <a:latin typeface="宋体" pitchFamily="2" charset="-122"/>
                <a:ea typeface="宋体" pitchFamily="2" charset="-122"/>
              </a:rPr>
              <a:t>振幅，</a:t>
            </a:r>
            <a:r>
              <a:rPr lang="zh-CN" altLang="en-US" b="1" dirty="0">
                <a:solidFill>
                  <a:schemeClr val="tx1"/>
                </a:solidFill>
                <a:latin typeface="宋体" pitchFamily="2" charset="-122"/>
                <a:ea typeface="宋体" pitchFamily="2" charset="-122"/>
              </a:rPr>
              <a:t>尤其适合测量高频振动振幅、精密轴系回转精度、加速度等机械量，还可用来测量压力、差压力、液位、料面、粮食中的水分含量、非金属材料的涂层、油膜厚度、测量电介质的湿度、密度、厚度。</a:t>
            </a:r>
          </a:p>
        </p:txBody>
      </p:sp>
      <p:sp>
        <p:nvSpPr>
          <p:cNvPr id="5" name="矩形 4"/>
          <p:cNvSpPr>
            <a:spLocks noChangeArrowheads="1"/>
          </p:cNvSpPr>
          <p:nvPr/>
        </p:nvSpPr>
        <p:spPr bwMode="auto">
          <a:xfrm>
            <a:off x="214282" y="4857760"/>
            <a:ext cx="8715436" cy="1574855"/>
          </a:xfrm>
          <a:prstGeom prst="rect">
            <a:avLst/>
          </a:prstGeom>
          <a:noFill/>
          <a:ln w="9525">
            <a:noFill/>
            <a:miter lim="800000"/>
            <a:headEnd/>
            <a:tailEnd/>
          </a:ln>
        </p:spPr>
        <p:txBody>
          <a:bodyPr wrap="square">
            <a:spAutoFit/>
          </a:bodyPr>
          <a:lstStyle/>
          <a:p>
            <a:pPr indent="627063">
              <a:lnSpc>
                <a:spcPct val="120000"/>
              </a:lnSpc>
            </a:pPr>
            <a:r>
              <a:rPr lang="zh-CN" altLang="en-US" b="1" dirty="0">
                <a:solidFill>
                  <a:schemeClr val="tx1"/>
                </a:solidFill>
                <a:latin typeface="宋体" pitchFamily="2" charset="-122"/>
                <a:ea typeface="宋体" pitchFamily="2" charset="-122"/>
              </a:rPr>
              <a:t>测量金属表面状况、距离尺寸、振动振幅时，往往采用单电极式变极距型电容传感器，这时被测物是电容器的一个电极，另一个电极则在传感器内。</a:t>
            </a:r>
          </a:p>
        </p:txBody>
      </p:sp>
      <p:sp>
        <p:nvSpPr>
          <p:cNvPr id="6"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7" name="直接连接符 6"/>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3"/>
          <p:cNvSpPr txBox="1">
            <a:spLocks noChangeArrowheads="1"/>
          </p:cNvSpPr>
          <p:nvPr/>
        </p:nvSpPr>
        <p:spPr bwMode="auto">
          <a:xfrm>
            <a:off x="214282" y="2205038"/>
            <a:ext cx="8715436" cy="946150"/>
          </a:xfrm>
          <a:prstGeom prst="rect">
            <a:avLst/>
          </a:prstGeom>
          <a:noFill/>
          <a:ln w="9525">
            <a:noFill/>
            <a:miter lim="800000"/>
            <a:headEnd/>
            <a:tailEnd/>
          </a:ln>
        </p:spPr>
        <p:txBody>
          <a:bodyPr wrap="square">
            <a:spAutoFit/>
          </a:bodyPr>
          <a:lstStyle/>
          <a:p>
            <a:pPr indent="627063"/>
            <a:r>
              <a:rPr lang="zh-CN" altLang="en-US" b="1" dirty="0" smtClean="0">
                <a:solidFill>
                  <a:schemeClr val="tx1"/>
                </a:solidFill>
                <a:latin typeface="Verdana" pitchFamily="34" charset="0"/>
                <a:ea typeface="宋体" pitchFamily="2" charset="-122"/>
              </a:rPr>
              <a:t>结构</a:t>
            </a:r>
            <a:r>
              <a:rPr lang="zh-CN" altLang="en-US" b="1" dirty="0">
                <a:solidFill>
                  <a:schemeClr val="tx1"/>
                </a:solidFill>
                <a:latin typeface="Verdana" pitchFamily="34" charset="0"/>
                <a:ea typeface="宋体" pitchFamily="2" charset="-122"/>
              </a:rPr>
              <a:t>简单，灵敏度高，响应速度快。能测量微小差压真空和微小绝对压力。</a:t>
            </a:r>
          </a:p>
        </p:txBody>
      </p:sp>
      <p:graphicFrame>
        <p:nvGraphicFramePr>
          <p:cNvPr id="20482" name="Object 4"/>
          <p:cNvGraphicFramePr>
            <a:graphicFrameLocks noChangeAspect="1"/>
          </p:cNvGraphicFramePr>
          <p:nvPr/>
        </p:nvGraphicFramePr>
        <p:xfrm>
          <a:off x="1331913" y="3213100"/>
          <a:ext cx="7062787" cy="3287713"/>
        </p:xfrm>
        <a:graphic>
          <a:graphicData uri="http://schemas.openxmlformats.org/presentationml/2006/ole">
            <p:oleObj spid="_x0000_s20482" name="Image" r:id="rId3" imgW="14448288" imgH="6722203" progId="Photoshop.Image.6">
              <p:embed/>
            </p:oleObj>
          </a:graphicData>
        </a:graphic>
      </p:graphicFrame>
      <p:sp>
        <p:nvSpPr>
          <p:cNvPr id="20485" name="Rectangle 9"/>
          <p:cNvSpPr>
            <a:spLocks noGrp="1" noChangeArrowheads="1"/>
          </p:cNvSpPr>
          <p:nvPr>
            <p:ph type="title"/>
          </p:nvPr>
        </p:nvSpPr>
        <p:spPr bwMode="auto">
          <a:xfrm>
            <a:off x="714348" y="1571612"/>
            <a:ext cx="7885112" cy="587365"/>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buFont typeface="Wingdings" pitchFamily="2" charset="2"/>
              <a:buChar char="u"/>
            </a:pPr>
            <a:r>
              <a:rPr lang="zh-CN" altLang="en-US" sz="2800" b="1" dirty="0" smtClean="0"/>
              <a:t> 电容式差压传感器</a:t>
            </a:r>
          </a:p>
        </p:txBody>
      </p:sp>
      <p:sp>
        <p:nvSpPr>
          <p:cNvPr id="6"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7" name="直接连接符 6"/>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5"/>
          <p:cNvSpPr>
            <a:spLocks noGrp="1" noChangeArrowheads="1"/>
          </p:cNvSpPr>
          <p:nvPr>
            <p:ph type="title"/>
          </p:nvPr>
        </p:nvSpPr>
        <p:spPr bwMode="auto">
          <a:xfrm>
            <a:off x="714348" y="1643050"/>
            <a:ext cx="8229600" cy="514340"/>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buFont typeface="Wingdings" pitchFamily="2" charset="2"/>
              <a:buChar char="u"/>
            </a:pPr>
            <a:r>
              <a:rPr lang="zh-CN" altLang="en-US" sz="2800" b="1" dirty="0" smtClean="0"/>
              <a:t>电容式振动位移传感器</a:t>
            </a:r>
          </a:p>
        </p:txBody>
      </p:sp>
      <p:pic>
        <p:nvPicPr>
          <p:cNvPr id="2" name="Picture 3"/>
          <p:cNvPicPr>
            <a:picLocks noChangeAspect="1" noChangeArrowheads="1"/>
          </p:cNvPicPr>
          <p:nvPr/>
        </p:nvPicPr>
        <p:blipFill>
          <a:blip r:embed="rId2"/>
          <a:srcRect/>
          <a:stretch>
            <a:fillRect/>
          </a:stretch>
        </p:blipFill>
        <p:spPr bwMode="auto">
          <a:xfrm>
            <a:off x="1571604" y="2857496"/>
            <a:ext cx="5981700" cy="2590800"/>
          </a:xfrm>
          <a:prstGeom prst="rect">
            <a:avLst/>
          </a:prstGeom>
          <a:noFill/>
          <a:ln w="9525">
            <a:noFill/>
            <a:miter lim="800000"/>
            <a:headEnd/>
            <a:tailEnd/>
          </a:ln>
          <a:effectLst/>
        </p:spPr>
      </p:pic>
      <p:sp>
        <p:nvSpPr>
          <p:cNvPr id="9"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章 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10" name="直接连接符 9"/>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 Box 4"/>
          <p:cNvSpPr txBox="1">
            <a:spLocks noChangeArrowheads="1"/>
          </p:cNvSpPr>
          <p:nvPr/>
        </p:nvSpPr>
        <p:spPr bwMode="auto">
          <a:xfrm>
            <a:off x="971550" y="4797425"/>
            <a:ext cx="3381375" cy="1815882"/>
          </a:xfrm>
          <a:prstGeom prst="rect">
            <a:avLst/>
          </a:prstGeom>
          <a:noFill/>
          <a:ln w="9525">
            <a:noFill/>
            <a:miter lim="800000"/>
            <a:headEnd/>
            <a:tailEnd/>
          </a:ln>
        </p:spPr>
        <p:txBody>
          <a:bodyPr>
            <a:spAutoFit/>
          </a:bodyPr>
          <a:lstStyle/>
          <a:p>
            <a:r>
              <a:rPr lang="zh-CN" altLang="en-US" sz="2000" b="1" dirty="0">
                <a:solidFill>
                  <a:schemeClr val="tx1"/>
                </a:solidFill>
                <a:latin typeface="Verdana" pitchFamily="34" charset="0"/>
                <a:ea typeface="宋体" pitchFamily="2" charset="-122"/>
              </a:rPr>
              <a:t>长容栅</a:t>
            </a:r>
          </a:p>
          <a:p>
            <a:pPr algn="ctr"/>
            <a:r>
              <a:rPr lang="en-US" altLang="zh-CN" sz="2400" b="1" i="1" dirty="0" err="1">
                <a:solidFill>
                  <a:srgbClr val="CC3300"/>
                </a:solidFill>
                <a:latin typeface="Times New Roman" pitchFamily="18" charset="0"/>
                <a:ea typeface="宋体" pitchFamily="2" charset="-122"/>
              </a:rPr>
              <a:t>C</a:t>
            </a:r>
            <a:r>
              <a:rPr lang="en-US" altLang="zh-CN" sz="2400" b="1" i="1" baseline="-25000" dirty="0" err="1">
                <a:solidFill>
                  <a:srgbClr val="CC3300"/>
                </a:solidFill>
                <a:latin typeface="Times New Roman" pitchFamily="18" charset="0"/>
                <a:ea typeface="宋体" pitchFamily="2" charset="-122"/>
              </a:rPr>
              <a:t>max</a:t>
            </a:r>
            <a:r>
              <a:rPr lang="en-US" altLang="zh-CN" sz="2400" b="1" i="1" dirty="0">
                <a:solidFill>
                  <a:srgbClr val="CC3300"/>
                </a:solidFill>
                <a:latin typeface="Times New Roman" pitchFamily="18" charset="0"/>
                <a:ea typeface="宋体" pitchFamily="2" charset="-122"/>
              </a:rPr>
              <a:t> = </a:t>
            </a:r>
            <a:r>
              <a:rPr lang="en-US" altLang="zh-CN" sz="2400" b="1" i="1" dirty="0" err="1">
                <a:solidFill>
                  <a:srgbClr val="CC3300"/>
                </a:solidFill>
                <a:latin typeface="Times New Roman" pitchFamily="18" charset="0"/>
                <a:ea typeface="宋体" pitchFamily="2" charset="-122"/>
              </a:rPr>
              <a:t>n</a:t>
            </a:r>
            <a:r>
              <a:rPr lang="en-US" altLang="zh-CN" sz="2400" b="1" i="1" dirty="0" err="1">
                <a:solidFill>
                  <a:srgbClr val="CC3300"/>
                </a:solidFill>
                <a:latin typeface="Times New Roman" pitchFamily="18" charset="0"/>
                <a:ea typeface="宋体" pitchFamily="2" charset="-122"/>
                <a:sym typeface="Symbol" pitchFamily="18" charset="2"/>
              </a:rPr>
              <a:t>ab</a:t>
            </a:r>
            <a:r>
              <a:rPr lang="en-US" altLang="zh-CN" sz="2400" b="1" i="1" dirty="0">
                <a:solidFill>
                  <a:srgbClr val="CC3300"/>
                </a:solidFill>
                <a:latin typeface="Times New Roman" pitchFamily="18" charset="0"/>
                <a:ea typeface="宋体" pitchFamily="2" charset="-122"/>
                <a:sym typeface="Symbol" pitchFamily="18" charset="2"/>
              </a:rPr>
              <a:t>/</a:t>
            </a:r>
          </a:p>
          <a:p>
            <a:r>
              <a:rPr lang="zh-CN" altLang="en-US" sz="2000" b="1" dirty="0">
                <a:solidFill>
                  <a:schemeClr val="tx1"/>
                </a:solidFill>
                <a:latin typeface="宋体" pitchFamily="2" charset="-122"/>
                <a:ea typeface="宋体" pitchFamily="2" charset="-122"/>
              </a:rPr>
              <a:t>圆</a:t>
            </a:r>
            <a:r>
              <a:rPr lang="zh-CN" altLang="en-US" sz="2000" b="1" dirty="0">
                <a:solidFill>
                  <a:schemeClr val="tx1"/>
                </a:solidFill>
                <a:latin typeface="Verdana" pitchFamily="34" charset="0"/>
                <a:ea typeface="宋体" pitchFamily="2" charset="-122"/>
              </a:rPr>
              <a:t>容栅</a:t>
            </a:r>
          </a:p>
          <a:p>
            <a:pPr algn="ctr"/>
            <a:r>
              <a:rPr lang="en-US" altLang="zh-CN" sz="2400" b="1" i="1" dirty="0" err="1">
                <a:solidFill>
                  <a:srgbClr val="CC3300"/>
                </a:solidFill>
                <a:latin typeface="Times New Roman" pitchFamily="18" charset="0"/>
                <a:ea typeface="宋体" pitchFamily="2" charset="-122"/>
              </a:rPr>
              <a:t>C</a:t>
            </a:r>
            <a:r>
              <a:rPr lang="en-US" altLang="zh-CN" sz="2400" b="1" i="1" baseline="-25000" dirty="0" err="1">
                <a:solidFill>
                  <a:srgbClr val="CC3300"/>
                </a:solidFill>
                <a:latin typeface="Times New Roman" pitchFamily="18" charset="0"/>
                <a:ea typeface="宋体" pitchFamily="2" charset="-122"/>
              </a:rPr>
              <a:t>max</a:t>
            </a:r>
            <a:r>
              <a:rPr lang="en-US" altLang="zh-CN" sz="2400" b="1" i="1" dirty="0">
                <a:solidFill>
                  <a:srgbClr val="CC3300"/>
                </a:solidFill>
                <a:latin typeface="Times New Roman" pitchFamily="18" charset="0"/>
                <a:ea typeface="宋体" pitchFamily="2" charset="-122"/>
              </a:rPr>
              <a:t> = n</a:t>
            </a:r>
            <a:r>
              <a:rPr lang="en-US" altLang="zh-CN" sz="2400" b="1" i="1" dirty="0">
                <a:solidFill>
                  <a:srgbClr val="CC3300"/>
                </a:solidFill>
                <a:latin typeface="Times New Roman" pitchFamily="18" charset="0"/>
                <a:ea typeface="宋体" pitchFamily="2" charset="-122"/>
                <a:sym typeface="Symbol" pitchFamily="18" charset="2"/>
              </a:rPr>
              <a:t></a:t>
            </a:r>
            <a:r>
              <a:rPr lang="zh-CN" altLang="en-US" sz="2400" b="1" i="1" dirty="0">
                <a:solidFill>
                  <a:srgbClr val="CC3300"/>
                </a:solidFill>
                <a:latin typeface="Times New Roman" pitchFamily="18" charset="0"/>
                <a:ea typeface="宋体" pitchFamily="2" charset="-122"/>
                <a:sym typeface="Symbol" pitchFamily="18" charset="2"/>
              </a:rPr>
              <a:t>（</a:t>
            </a:r>
            <a:r>
              <a:rPr lang="en-US" altLang="zh-CN" sz="2400" b="1" i="1" dirty="0">
                <a:solidFill>
                  <a:srgbClr val="CC3300"/>
                </a:solidFill>
                <a:latin typeface="Times New Roman" pitchFamily="18" charset="0"/>
                <a:ea typeface="宋体" pitchFamily="2" charset="-122"/>
                <a:sym typeface="Symbol" pitchFamily="18" charset="2"/>
              </a:rPr>
              <a:t>r</a:t>
            </a:r>
            <a:r>
              <a:rPr lang="en-US" altLang="zh-CN" sz="2400" b="1" i="1" baseline="-25000" dirty="0">
                <a:solidFill>
                  <a:srgbClr val="CC3300"/>
                </a:solidFill>
                <a:latin typeface="Times New Roman" pitchFamily="18" charset="0"/>
                <a:ea typeface="宋体" pitchFamily="2" charset="-122"/>
                <a:sym typeface="Symbol" pitchFamily="18" charset="2"/>
              </a:rPr>
              <a:t>2</a:t>
            </a:r>
            <a:r>
              <a:rPr lang="en-US" altLang="zh-CN" sz="2400" b="1" i="1" baseline="30000" dirty="0">
                <a:solidFill>
                  <a:srgbClr val="CC3300"/>
                </a:solidFill>
                <a:latin typeface="Times New Roman" pitchFamily="18" charset="0"/>
                <a:ea typeface="宋体" pitchFamily="2" charset="-122"/>
                <a:sym typeface="Symbol" pitchFamily="18" charset="2"/>
              </a:rPr>
              <a:t>2</a:t>
            </a:r>
            <a:r>
              <a:rPr lang="en-US" altLang="zh-CN" sz="2400" b="1" i="1" dirty="0">
                <a:solidFill>
                  <a:srgbClr val="CC3300"/>
                </a:solidFill>
                <a:latin typeface="Times New Roman" pitchFamily="18" charset="0"/>
                <a:ea typeface="宋体" pitchFamily="2" charset="-122"/>
                <a:sym typeface="Symbol" pitchFamily="18" charset="2"/>
              </a:rPr>
              <a:t>-r</a:t>
            </a:r>
            <a:r>
              <a:rPr lang="en-US" altLang="zh-CN" sz="2400" b="1" i="1" baseline="-25000" dirty="0">
                <a:solidFill>
                  <a:srgbClr val="CC3300"/>
                </a:solidFill>
                <a:latin typeface="Times New Roman" pitchFamily="18" charset="0"/>
                <a:ea typeface="宋体" pitchFamily="2" charset="-122"/>
                <a:sym typeface="Symbol" pitchFamily="18" charset="2"/>
              </a:rPr>
              <a:t>1</a:t>
            </a:r>
            <a:r>
              <a:rPr lang="en-US" altLang="zh-CN" sz="2400" b="1" i="1" baseline="30000" dirty="0">
                <a:solidFill>
                  <a:srgbClr val="CC3300"/>
                </a:solidFill>
                <a:latin typeface="Times New Roman" pitchFamily="18" charset="0"/>
                <a:ea typeface="宋体" pitchFamily="2" charset="-122"/>
                <a:sym typeface="Symbol" pitchFamily="18" charset="2"/>
              </a:rPr>
              <a:t>2</a:t>
            </a:r>
            <a:r>
              <a:rPr lang="en-US" altLang="zh-CN" sz="2400" b="1" i="1" dirty="0">
                <a:solidFill>
                  <a:srgbClr val="CC3300"/>
                </a:solidFill>
                <a:latin typeface="Times New Roman" pitchFamily="18" charset="0"/>
                <a:ea typeface="宋体" pitchFamily="2" charset="-122"/>
                <a:sym typeface="Symbol" pitchFamily="18" charset="2"/>
              </a:rPr>
              <a:t>)/2</a:t>
            </a:r>
          </a:p>
          <a:p>
            <a:endParaRPr lang="en-US" altLang="zh-CN" sz="2400" b="1" i="1" dirty="0">
              <a:solidFill>
                <a:srgbClr val="CC3300"/>
              </a:solidFill>
              <a:latin typeface="Times New Roman" pitchFamily="18" charset="0"/>
              <a:ea typeface="宋体" pitchFamily="2" charset="-122"/>
            </a:endParaRPr>
          </a:p>
        </p:txBody>
      </p:sp>
      <p:graphicFrame>
        <p:nvGraphicFramePr>
          <p:cNvPr id="22530" name="Object 5"/>
          <p:cNvGraphicFramePr>
            <a:graphicFrameLocks noChangeAspect="1"/>
          </p:cNvGraphicFramePr>
          <p:nvPr/>
        </p:nvGraphicFramePr>
        <p:xfrm>
          <a:off x="4500563" y="4456113"/>
          <a:ext cx="4643437" cy="2401887"/>
        </p:xfrm>
        <a:graphic>
          <a:graphicData uri="http://schemas.openxmlformats.org/presentationml/2006/ole">
            <p:oleObj spid="_x0000_s22530" name="Image" r:id="rId3" imgW="20751147" imgH="10737734" progId="Photoshop.Image.6">
              <p:embed/>
            </p:oleObj>
          </a:graphicData>
        </a:graphic>
      </p:graphicFrame>
      <p:sp>
        <p:nvSpPr>
          <p:cNvPr id="22532" name="Text Box 6"/>
          <p:cNvSpPr txBox="1">
            <a:spLocks noChangeArrowheads="1"/>
          </p:cNvSpPr>
          <p:nvPr/>
        </p:nvSpPr>
        <p:spPr bwMode="auto">
          <a:xfrm>
            <a:off x="4140200" y="4437063"/>
            <a:ext cx="641350" cy="366712"/>
          </a:xfrm>
          <a:prstGeom prst="rect">
            <a:avLst/>
          </a:prstGeom>
          <a:noFill/>
          <a:ln w="9525">
            <a:noFill/>
            <a:miter lim="800000"/>
            <a:headEnd/>
            <a:tailEnd/>
          </a:ln>
        </p:spPr>
        <p:txBody>
          <a:bodyPr wrap="none">
            <a:spAutoFit/>
          </a:bodyPr>
          <a:lstStyle/>
          <a:p>
            <a:r>
              <a:rPr lang="zh-CN" altLang="en-US" sz="1800">
                <a:solidFill>
                  <a:srgbClr val="FF0000"/>
                </a:solidFill>
                <a:latin typeface="Verdana" pitchFamily="34" charset="0"/>
                <a:ea typeface="宋体" pitchFamily="2" charset="-122"/>
              </a:rPr>
              <a:t>定尺</a:t>
            </a:r>
          </a:p>
        </p:txBody>
      </p:sp>
      <p:sp>
        <p:nvSpPr>
          <p:cNvPr id="22533" name="Text Box 7"/>
          <p:cNvSpPr txBox="1">
            <a:spLocks noChangeArrowheads="1"/>
          </p:cNvSpPr>
          <p:nvPr/>
        </p:nvSpPr>
        <p:spPr bwMode="auto">
          <a:xfrm>
            <a:off x="4427538" y="5229225"/>
            <a:ext cx="692150" cy="396875"/>
          </a:xfrm>
          <a:prstGeom prst="rect">
            <a:avLst/>
          </a:prstGeom>
          <a:noFill/>
          <a:ln w="9525">
            <a:noFill/>
            <a:miter lim="800000"/>
            <a:headEnd/>
            <a:tailEnd/>
          </a:ln>
        </p:spPr>
        <p:txBody>
          <a:bodyPr wrap="none">
            <a:spAutoFit/>
          </a:bodyPr>
          <a:lstStyle/>
          <a:p>
            <a:r>
              <a:rPr lang="zh-CN" altLang="en-US" sz="2000">
                <a:solidFill>
                  <a:srgbClr val="FF0000"/>
                </a:solidFill>
                <a:latin typeface="Verdana" pitchFamily="34" charset="0"/>
                <a:ea typeface="宋体" pitchFamily="2" charset="-122"/>
              </a:rPr>
              <a:t>动尺</a:t>
            </a:r>
          </a:p>
        </p:txBody>
      </p:sp>
      <p:sp>
        <p:nvSpPr>
          <p:cNvPr id="22535" name="Rectangle 10"/>
          <p:cNvSpPr>
            <a:spLocks noGrp="1" noChangeArrowheads="1"/>
          </p:cNvSpPr>
          <p:nvPr>
            <p:ph type="title"/>
          </p:nvPr>
        </p:nvSpPr>
        <p:spPr bwMode="auto">
          <a:xfrm>
            <a:off x="571472" y="1571612"/>
            <a:ext cx="8229600" cy="515927"/>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buFont typeface="Wingdings" pitchFamily="2" charset="2"/>
              <a:buChar char="u"/>
            </a:pPr>
            <a:r>
              <a:rPr lang="zh-CN" altLang="en-US" sz="2800" b="1" dirty="0" smtClean="0"/>
              <a:t>容栅式传感器</a:t>
            </a:r>
            <a:endParaRPr lang="zh-CN" altLang="en-US" sz="2000" b="1" dirty="0" smtClean="0">
              <a:latin typeface="黑体" pitchFamily="2" charset="-122"/>
              <a:ea typeface="黑体" pitchFamily="2" charset="-122"/>
            </a:endParaRPr>
          </a:p>
        </p:txBody>
      </p:sp>
      <p:sp>
        <p:nvSpPr>
          <p:cNvPr id="22536" name="Text Box 12"/>
          <p:cNvSpPr txBox="1">
            <a:spLocks noChangeArrowheads="1"/>
          </p:cNvSpPr>
          <p:nvPr/>
        </p:nvSpPr>
        <p:spPr bwMode="auto">
          <a:xfrm>
            <a:off x="214282" y="2060575"/>
            <a:ext cx="8715436" cy="2117503"/>
          </a:xfrm>
          <a:prstGeom prst="rect">
            <a:avLst/>
          </a:prstGeom>
          <a:noFill/>
          <a:ln w="9525" algn="ctr">
            <a:noFill/>
            <a:miter lim="800000"/>
            <a:headEnd/>
            <a:tailEnd/>
          </a:ln>
        </p:spPr>
        <p:txBody>
          <a:bodyPr wrap="square">
            <a:spAutoFit/>
          </a:bodyPr>
          <a:lstStyle/>
          <a:p>
            <a:pPr marL="179388" lvl="1" indent="447675">
              <a:lnSpc>
                <a:spcPct val="90000"/>
              </a:lnSpc>
              <a:spcBef>
                <a:spcPct val="20000"/>
              </a:spcBef>
              <a:buClr>
                <a:schemeClr val="hlink"/>
              </a:buClr>
              <a:buSzPct val="55000"/>
              <a:buFont typeface="Wingdings" pitchFamily="2" charset="2"/>
              <a:buNone/>
            </a:pPr>
            <a:r>
              <a:rPr lang="zh-CN" altLang="en-US" b="1" dirty="0">
                <a:solidFill>
                  <a:schemeClr val="tx1"/>
                </a:solidFill>
                <a:latin typeface="宋体" pitchFamily="2" charset="-122"/>
                <a:ea typeface="宋体" pitchFamily="2" charset="-122"/>
              </a:rPr>
              <a:t>变面积型电容</a:t>
            </a:r>
            <a:r>
              <a:rPr lang="zh-CN" altLang="en-US" b="1" dirty="0" smtClean="0">
                <a:solidFill>
                  <a:schemeClr val="tx1"/>
                </a:solidFill>
                <a:latin typeface="宋体" pitchFamily="2" charset="-122"/>
                <a:ea typeface="宋体" pitchFamily="2" charset="-122"/>
              </a:rPr>
              <a:t>传感器，动态响应</a:t>
            </a:r>
            <a:r>
              <a:rPr lang="zh-CN" altLang="en-US" b="1" dirty="0">
                <a:solidFill>
                  <a:schemeClr val="tx1"/>
                </a:solidFill>
                <a:latin typeface="宋体" pitchFamily="2" charset="-122"/>
                <a:ea typeface="宋体" pitchFamily="2" charset="-122"/>
              </a:rPr>
              <a:t>快、结构简单、易实现非接触测量，还因多极电容及其平均效应</a:t>
            </a:r>
            <a:r>
              <a:rPr lang="zh-CN" altLang="en-US" b="1" dirty="0" smtClean="0">
                <a:solidFill>
                  <a:schemeClr val="tx1"/>
                </a:solidFill>
                <a:latin typeface="宋体" pitchFamily="2" charset="-122"/>
                <a:ea typeface="宋体" pitchFamily="2" charset="-122"/>
              </a:rPr>
              <a:t>，抗干扰</a:t>
            </a:r>
            <a:r>
              <a:rPr lang="zh-CN" altLang="en-US" b="1" dirty="0">
                <a:solidFill>
                  <a:schemeClr val="tx1"/>
                </a:solidFill>
                <a:latin typeface="宋体" pitchFamily="2" charset="-122"/>
                <a:ea typeface="宋体" pitchFamily="2" charset="-122"/>
              </a:rPr>
              <a:t>能力强，精度</a:t>
            </a:r>
            <a:r>
              <a:rPr lang="zh-CN" altLang="en-US" b="1" dirty="0" smtClean="0">
                <a:solidFill>
                  <a:schemeClr val="tx1"/>
                </a:solidFill>
                <a:latin typeface="宋体" pitchFamily="2" charset="-122"/>
                <a:ea typeface="宋体" pitchFamily="2" charset="-122"/>
              </a:rPr>
              <a:t>高；</a:t>
            </a:r>
            <a:endParaRPr lang="en-US" altLang="zh-CN" b="1" dirty="0">
              <a:solidFill>
                <a:schemeClr val="tx1"/>
              </a:solidFill>
              <a:latin typeface="宋体" pitchFamily="2" charset="-122"/>
              <a:ea typeface="宋体" pitchFamily="2" charset="-122"/>
            </a:endParaRPr>
          </a:p>
          <a:p>
            <a:pPr marL="179388" lvl="1" indent="447675">
              <a:lnSpc>
                <a:spcPct val="90000"/>
              </a:lnSpc>
              <a:spcBef>
                <a:spcPct val="20000"/>
              </a:spcBef>
              <a:buClr>
                <a:schemeClr val="hlink"/>
              </a:buClr>
              <a:buSzPct val="55000"/>
              <a:buFont typeface="Wingdings" pitchFamily="2" charset="2"/>
              <a:buNone/>
            </a:pPr>
            <a:r>
              <a:rPr lang="zh-CN" altLang="en-US" b="1" dirty="0">
                <a:solidFill>
                  <a:schemeClr val="tx1"/>
                </a:solidFill>
                <a:latin typeface="宋体" pitchFamily="2" charset="-122"/>
                <a:ea typeface="宋体" pitchFamily="2" charset="-122"/>
              </a:rPr>
              <a:t>对刻制和安装精度要求不高，量程</a:t>
            </a:r>
            <a:r>
              <a:rPr lang="zh-CN" altLang="en-US" b="1" dirty="0" smtClean="0">
                <a:solidFill>
                  <a:schemeClr val="tx1"/>
                </a:solidFill>
                <a:latin typeface="宋体" pitchFamily="2" charset="-122"/>
                <a:ea typeface="宋体" pitchFamily="2" charset="-122"/>
              </a:rPr>
              <a:t>大，</a:t>
            </a:r>
            <a:r>
              <a:rPr lang="zh-CN" altLang="en-US" b="1" dirty="0">
                <a:solidFill>
                  <a:schemeClr val="tx1"/>
                </a:solidFill>
                <a:latin typeface="宋体" pitchFamily="2" charset="-122"/>
                <a:ea typeface="宋体" pitchFamily="2" charset="-122"/>
              </a:rPr>
              <a:t>已应用于数显量具</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如数显卡尺、数显千分尺</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及雷达测角系统中。</a:t>
            </a:r>
            <a:endParaRPr lang="zh-CN" altLang="en-US" sz="3200" b="1" dirty="0">
              <a:solidFill>
                <a:schemeClr val="tx1"/>
              </a:solidFill>
              <a:latin typeface="宋体" pitchFamily="2" charset="-122"/>
              <a:ea typeface="宋体" pitchFamily="2" charset="-122"/>
            </a:endParaRPr>
          </a:p>
        </p:txBody>
      </p:sp>
      <p:sp>
        <p:nvSpPr>
          <p:cNvPr id="9" name="Rectangle 7"/>
          <p:cNvSpPr txBox="1">
            <a:spLocks noChangeArrowheads="1"/>
          </p:cNvSpPr>
          <p:nvPr/>
        </p:nvSpPr>
        <p:spPr bwMode="auto">
          <a:xfrm>
            <a:off x="1643041" y="714356"/>
            <a:ext cx="5929355"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第</a:t>
            </a:r>
            <a:r>
              <a:rPr kumimoji="0" lang="en-US" altLang="zh-CN" sz="4400" b="1" i="0" u="none" strike="noStrike" kern="1200" cap="none" spc="0" normalizeH="0" baseline="0" noProof="0" smtClean="0">
                <a:ln>
                  <a:noFill/>
                </a:ln>
                <a:solidFill>
                  <a:schemeClr val="tx2"/>
                </a:solidFill>
                <a:effectLst/>
                <a:uLnTx/>
                <a:uFillTx/>
                <a:latin typeface="黑体" pitchFamily="49" charset="-122"/>
                <a:ea typeface="黑体" pitchFamily="49" charset="-122"/>
                <a:cs typeface="+mj-cs"/>
              </a:rPr>
              <a:t>5</a:t>
            </a:r>
            <a:r>
              <a:rPr kumimoji="0" lang="zh-CN" altLang="en-US" sz="4400" b="1" i="0" u="none" strike="noStrike" kern="1200" cap="none" spc="0" normalizeH="0" baseline="0" noProof="0" smtClean="0">
                <a:ln>
                  <a:noFill/>
                </a:ln>
                <a:solidFill>
                  <a:schemeClr val="tx2"/>
                </a:solidFill>
                <a:effectLst/>
                <a:uLnTx/>
                <a:uFillTx/>
                <a:latin typeface="黑体" pitchFamily="49" charset="-122"/>
                <a:ea typeface="黑体" pitchFamily="49" charset="-122"/>
                <a:cs typeface="+mj-cs"/>
              </a:rPr>
              <a:t>章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电容式传感器</a:t>
            </a:r>
            <a:endParaRPr kumimoji="0" lang="zh-CN" altLang="en-US" sz="4400" b="0" i="0" u="none" strike="noStrike" kern="1200" cap="none" spc="0" normalizeH="0" baseline="0" noProof="0" dirty="0" smtClean="0">
              <a:ln>
                <a:noFill/>
              </a:ln>
              <a:solidFill>
                <a:srgbClr val="F84D08"/>
              </a:solidFill>
              <a:effectLst/>
              <a:uLnTx/>
              <a:uFillTx/>
              <a:latin typeface="黑体" pitchFamily="2" charset="-122"/>
              <a:ea typeface="黑体" pitchFamily="2" charset="-122"/>
              <a:cs typeface="+mj-cs"/>
            </a:endParaRPr>
          </a:p>
        </p:txBody>
      </p:sp>
      <p:cxnSp>
        <p:nvCxnSpPr>
          <p:cNvPr id="10" name="直接连接符 9"/>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7"/>
          <p:cNvSpPr>
            <a:spLocks noGrp="1" noChangeArrowheads="1"/>
          </p:cNvSpPr>
          <p:nvPr>
            <p:ph type="title"/>
          </p:nvPr>
        </p:nvSpPr>
        <p:spPr bwMode="auto">
          <a:xfrm>
            <a:off x="1643042" y="714356"/>
            <a:ext cx="5214974" cy="714380"/>
          </a:xfrm>
          <a:noFill/>
          <a:ln>
            <a:miter lim="800000"/>
            <a:headEnd/>
            <a:tailEnd/>
          </a:ln>
        </p:spPr>
        <p:txBody>
          <a:bodyPr vert="horz" wrap="square" lIns="91440" tIns="45720" rIns="91440" bIns="45720" numCol="1" anchor="t" anchorCtr="0" compatLnSpc="1">
            <a:prstTxWarp prst="textNoShape">
              <a:avLst/>
            </a:prstTxWarp>
          </a:bodyPr>
          <a:lstStyle/>
          <a:p>
            <a:pPr>
              <a:defRPr/>
            </a:pPr>
            <a:r>
              <a:rPr lang="zh-CN" altLang="en-US" b="1" dirty="0" smtClean="0">
                <a:solidFill>
                  <a:schemeClr val="tx2"/>
                </a:solidFill>
                <a:latin typeface="黑体" pitchFamily="49" charset="-122"/>
                <a:ea typeface="黑体" pitchFamily="49" charset="-122"/>
              </a:rPr>
              <a:t>本章要点</a:t>
            </a:r>
          </a:p>
        </p:txBody>
      </p:sp>
      <p:sp>
        <p:nvSpPr>
          <p:cNvPr id="489481" name="Rectangle 9"/>
          <p:cNvSpPr>
            <a:spLocks noRot="1" noChangeArrowheads="1"/>
          </p:cNvSpPr>
          <p:nvPr/>
        </p:nvSpPr>
        <p:spPr bwMode="auto">
          <a:xfrm>
            <a:off x="1214414" y="1785926"/>
            <a:ext cx="7227887" cy="4710112"/>
          </a:xfrm>
          <a:prstGeom prst="rect">
            <a:avLst/>
          </a:prstGeom>
          <a:noFill/>
          <a:ln w="9525">
            <a:noFill/>
            <a:miter lim="800000"/>
            <a:headEnd/>
            <a:tailEnd/>
          </a:ln>
        </p:spPr>
        <p:txBody>
          <a:bodyPr/>
          <a:lstStyle/>
          <a:p>
            <a:pPr marL="342900" indent="-342900">
              <a:lnSpc>
                <a:spcPct val="150000"/>
              </a:lnSpc>
              <a:spcBef>
                <a:spcPct val="20000"/>
              </a:spcBef>
              <a:buSzPct val="100000"/>
              <a:buFont typeface="Wingdings" pitchFamily="2" charset="2"/>
              <a:buChar char="|"/>
            </a:pPr>
            <a:r>
              <a:rPr lang="zh-CN" altLang="en-US" b="1" dirty="0">
                <a:solidFill>
                  <a:schemeClr val="tx1"/>
                </a:solidFill>
                <a:latin typeface="Tahoma" pitchFamily="34" charset="0"/>
                <a:ea typeface="宋体" pitchFamily="2" charset="-122"/>
              </a:rPr>
              <a:t>电容式传感器</a:t>
            </a:r>
          </a:p>
          <a:p>
            <a:pPr marL="800100" lvl="1" indent="-342900">
              <a:lnSpc>
                <a:spcPct val="130000"/>
              </a:lnSpc>
              <a:spcBef>
                <a:spcPct val="20000"/>
              </a:spcBef>
              <a:buSzPct val="100000"/>
              <a:buFont typeface="Wingdings" pitchFamily="2" charset="2"/>
              <a:buChar char="n"/>
            </a:pPr>
            <a:r>
              <a:rPr lang="zh-CN" altLang="en-US" b="1" dirty="0">
                <a:solidFill>
                  <a:schemeClr val="tx1"/>
                </a:solidFill>
                <a:latin typeface="Tahoma" pitchFamily="34" charset="0"/>
                <a:ea typeface="宋体" pitchFamily="2" charset="-122"/>
              </a:rPr>
              <a:t>工作原理</a:t>
            </a:r>
          </a:p>
          <a:p>
            <a:pPr marL="800100" lvl="1" indent="-342900">
              <a:lnSpc>
                <a:spcPct val="130000"/>
              </a:lnSpc>
              <a:spcBef>
                <a:spcPct val="20000"/>
              </a:spcBef>
              <a:buSzPct val="100000"/>
              <a:buFont typeface="Wingdings" pitchFamily="2" charset="2"/>
              <a:buChar char="n"/>
            </a:pPr>
            <a:r>
              <a:rPr lang="zh-CN" altLang="en-US" b="1" dirty="0">
                <a:solidFill>
                  <a:schemeClr val="tx1"/>
                </a:solidFill>
                <a:latin typeface="Tahoma" pitchFamily="34" charset="0"/>
                <a:ea typeface="宋体" pitchFamily="2" charset="-122"/>
              </a:rPr>
              <a:t>灵敏度及非线性</a:t>
            </a:r>
          </a:p>
          <a:p>
            <a:pPr marL="800100" lvl="1" indent="-342900">
              <a:lnSpc>
                <a:spcPct val="130000"/>
              </a:lnSpc>
              <a:spcBef>
                <a:spcPct val="20000"/>
              </a:spcBef>
              <a:buSzPct val="100000"/>
              <a:buFont typeface="Wingdings" pitchFamily="2" charset="2"/>
              <a:buChar char="n"/>
            </a:pPr>
            <a:r>
              <a:rPr lang="zh-CN" altLang="en-US" b="1" dirty="0">
                <a:solidFill>
                  <a:schemeClr val="tx1"/>
                </a:solidFill>
                <a:latin typeface="Tahoma" pitchFamily="34" charset="0"/>
                <a:ea typeface="宋体" pitchFamily="2" charset="-122"/>
              </a:rPr>
              <a:t>特点及等效电路</a:t>
            </a:r>
          </a:p>
          <a:p>
            <a:pPr marL="800100" lvl="1" indent="-342900">
              <a:lnSpc>
                <a:spcPct val="130000"/>
              </a:lnSpc>
              <a:spcBef>
                <a:spcPct val="20000"/>
              </a:spcBef>
              <a:buSzPct val="100000"/>
              <a:buFont typeface="Wingdings" pitchFamily="2" charset="2"/>
              <a:buChar char="n"/>
            </a:pPr>
            <a:r>
              <a:rPr lang="zh-CN" altLang="en-US" b="1" dirty="0">
                <a:solidFill>
                  <a:schemeClr val="tx1"/>
                </a:solidFill>
                <a:latin typeface="Tahoma" pitchFamily="34" charset="0"/>
                <a:ea typeface="宋体" pitchFamily="2" charset="-122"/>
              </a:rPr>
              <a:t>设计要点</a:t>
            </a:r>
          </a:p>
          <a:p>
            <a:pPr marL="800100" lvl="1" indent="-342900">
              <a:lnSpc>
                <a:spcPct val="130000"/>
              </a:lnSpc>
              <a:spcBef>
                <a:spcPct val="20000"/>
              </a:spcBef>
              <a:buSzPct val="100000"/>
              <a:buFont typeface="Wingdings" pitchFamily="2" charset="2"/>
              <a:buChar char="n"/>
            </a:pPr>
            <a:r>
              <a:rPr lang="zh-CN" altLang="en-US" b="1" dirty="0">
                <a:solidFill>
                  <a:schemeClr val="tx1"/>
                </a:solidFill>
                <a:latin typeface="Tahoma" pitchFamily="34" charset="0"/>
                <a:ea typeface="宋体" pitchFamily="2" charset="-122"/>
              </a:rPr>
              <a:t>转换电路</a:t>
            </a:r>
          </a:p>
        </p:txBody>
      </p:sp>
      <p:cxnSp>
        <p:nvCxnSpPr>
          <p:cNvPr id="5" name="直接连接符 4"/>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89481"/>
                                        </p:tgtEl>
                                        <p:attrNameLst>
                                          <p:attrName>style.visibility</p:attrName>
                                        </p:attrNameLst>
                                      </p:cBhvr>
                                      <p:to>
                                        <p:strVal val="visible"/>
                                      </p:to>
                                    </p:set>
                                    <p:animEffect transition="in" filter="checkerboard(across)">
                                      <p:cBhvr>
                                        <p:cTn id="7" dur="500"/>
                                        <p:tgtEl>
                                          <p:spTgt spid="4894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481" grpId="0" autoUpdateAnimBg="0"/>
    </p:bldLst>
  </p:timing>
</p:sld>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主题1">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C:\WINDOWS\Application Data\Microsoft\Templates\211答辩.pot</Template>
  <TotalTime>3249</TotalTime>
  <Words>2372</Words>
  <Application>Microsoft PowerPoint</Application>
  <PresentationFormat>全屏显示(4:3)</PresentationFormat>
  <Paragraphs>203</Paragraphs>
  <Slides>38</Slides>
  <Notes>0</Notes>
  <HiddenSlides>0</HiddenSlides>
  <MMClips>0</MMClips>
  <ScaleCrop>false</ScaleCrop>
  <HeadingPairs>
    <vt:vector size="6" baseType="variant">
      <vt:variant>
        <vt:lpstr>主题</vt:lpstr>
      </vt:variant>
      <vt:variant>
        <vt:i4>2</vt:i4>
      </vt:variant>
      <vt:variant>
        <vt:lpstr>嵌入 OLE 服务器</vt:lpstr>
      </vt:variant>
      <vt:variant>
        <vt:i4>6</vt:i4>
      </vt:variant>
      <vt:variant>
        <vt:lpstr>幻灯片标题</vt:lpstr>
      </vt:variant>
      <vt:variant>
        <vt:i4>38</vt:i4>
      </vt:variant>
    </vt:vector>
  </HeadingPairs>
  <TitlesOfParts>
    <vt:vector size="46" baseType="lpstr">
      <vt:lpstr>自定义设计方案</vt:lpstr>
      <vt:lpstr>主题1</vt:lpstr>
      <vt:lpstr>Equation</vt:lpstr>
      <vt:lpstr>图像文档</vt:lpstr>
      <vt:lpstr>Image</vt:lpstr>
      <vt:lpstr>公式</vt:lpstr>
      <vt:lpstr>Microsoft 公式 3.0</vt:lpstr>
      <vt:lpstr>Flash 影片</vt:lpstr>
      <vt:lpstr>第5章 电容式传感器</vt:lpstr>
      <vt:lpstr>第5章 电容式传感器</vt:lpstr>
      <vt:lpstr>工作原理</vt:lpstr>
      <vt:lpstr>类型</vt:lpstr>
      <vt:lpstr> 变极距型</vt:lpstr>
      <vt:lpstr>灵敏度</vt:lpstr>
      <vt:lpstr>灵敏度</vt:lpstr>
      <vt:lpstr>灵敏度</vt:lpstr>
      <vt:lpstr>  变面积型</vt:lpstr>
      <vt:lpstr>变面积型</vt:lpstr>
      <vt:lpstr> 变介电常数型</vt:lpstr>
      <vt:lpstr>特点</vt:lpstr>
      <vt:lpstr>特点</vt:lpstr>
      <vt:lpstr>等效电路</vt:lpstr>
      <vt:lpstr>等效电路</vt:lpstr>
      <vt:lpstr>等效电路</vt:lpstr>
      <vt:lpstr>设计要点</vt:lpstr>
      <vt:lpstr> 绝缘材料</vt:lpstr>
      <vt:lpstr> 边缘效应</vt:lpstr>
      <vt:lpstr> 消除和减小边缘效应</vt:lpstr>
      <vt:lpstr> 消除和减小寄生电容的影响</vt:lpstr>
      <vt:lpstr> 驱动电缆</vt:lpstr>
      <vt:lpstr>运算放大器法</vt:lpstr>
      <vt:lpstr>防止和减小外界干扰</vt:lpstr>
      <vt:lpstr>转换电路</vt:lpstr>
      <vt:lpstr> 调制型电路</vt:lpstr>
      <vt:lpstr>调幅电路</vt:lpstr>
      <vt:lpstr>交流电桥法</vt:lpstr>
      <vt:lpstr>变压器式电桥</vt:lpstr>
      <vt:lpstr>变压器式电桥</vt:lpstr>
      <vt:lpstr> 脉冲型电路</vt:lpstr>
      <vt:lpstr>差动脉冲调宽电路</vt:lpstr>
      <vt:lpstr>幻灯片 33</vt:lpstr>
      <vt:lpstr>应用</vt:lpstr>
      <vt:lpstr> 电容式差压传感器</vt:lpstr>
      <vt:lpstr>电容式振动位移传感器</vt:lpstr>
      <vt:lpstr>容栅式传感器</vt:lpstr>
      <vt:lpstr>本章要点</vt:lpstr>
    </vt:vector>
  </TitlesOfParts>
  <Company>buaa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航空航天精密仪器系统技术</dc:title>
  <dc:creator>zgj</dc:creator>
  <cp:lastModifiedBy>徐平</cp:lastModifiedBy>
  <cp:revision>334</cp:revision>
  <dcterms:created xsi:type="dcterms:W3CDTF">2002-10-13T05:45:24Z</dcterms:created>
  <dcterms:modified xsi:type="dcterms:W3CDTF">2013-04-08T03:11:32Z</dcterms:modified>
</cp:coreProperties>
</file>