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Default Extension="wav" ContentType="audio/wav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8" r:id="rId1"/>
  </p:sldMasterIdLst>
  <p:notesMasterIdLst>
    <p:notesMasterId r:id="rId37"/>
  </p:notesMasterIdLst>
  <p:sldIdLst>
    <p:sldId id="363" r:id="rId2"/>
    <p:sldId id="336" r:id="rId3"/>
    <p:sldId id="337" r:id="rId4"/>
    <p:sldId id="338" r:id="rId5"/>
    <p:sldId id="364" r:id="rId6"/>
    <p:sldId id="341" r:id="rId7"/>
    <p:sldId id="366" r:id="rId8"/>
    <p:sldId id="367" r:id="rId9"/>
    <p:sldId id="353" r:id="rId10"/>
    <p:sldId id="354" r:id="rId11"/>
    <p:sldId id="355" r:id="rId12"/>
    <p:sldId id="379" r:id="rId13"/>
    <p:sldId id="343" r:id="rId14"/>
    <p:sldId id="356" r:id="rId15"/>
    <p:sldId id="344" r:id="rId16"/>
    <p:sldId id="368" r:id="rId17"/>
    <p:sldId id="345" r:id="rId18"/>
    <p:sldId id="357" r:id="rId19"/>
    <p:sldId id="369" r:id="rId20"/>
    <p:sldId id="347" r:id="rId21"/>
    <p:sldId id="371" r:id="rId22"/>
    <p:sldId id="370" r:id="rId23"/>
    <p:sldId id="373" r:id="rId24"/>
    <p:sldId id="358" r:id="rId25"/>
    <p:sldId id="359" r:id="rId26"/>
    <p:sldId id="375" r:id="rId27"/>
    <p:sldId id="374" r:id="rId28"/>
    <p:sldId id="360" r:id="rId29"/>
    <p:sldId id="376" r:id="rId30"/>
    <p:sldId id="361" r:id="rId31"/>
    <p:sldId id="351" r:id="rId32"/>
    <p:sldId id="377" r:id="rId33"/>
    <p:sldId id="378" r:id="rId34"/>
    <p:sldId id="352" r:id="rId35"/>
    <p:sldId id="362" r:id="rId36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黑体" pitchFamily="2" charset="-122"/>
        <a:ea typeface="黑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黑体" pitchFamily="2" charset="-122"/>
        <a:ea typeface="黑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黑体" pitchFamily="2" charset="-122"/>
        <a:ea typeface="黑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黑体" pitchFamily="2" charset="-122"/>
        <a:ea typeface="黑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黑体" pitchFamily="2" charset="-122"/>
        <a:ea typeface="黑体" pitchFamily="2" charset="-122"/>
        <a:cs typeface="+mn-cs"/>
      </a:defRPr>
    </a:lvl5pPr>
    <a:lvl6pPr marL="2286000" algn="l" defTabSz="914400" rtl="0" eaLnBrk="1" latinLnBrk="0" hangingPunct="1">
      <a:defRPr kumimoji="1" sz="2800" kern="1200">
        <a:solidFill>
          <a:schemeClr val="tx2"/>
        </a:solidFill>
        <a:latin typeface="黑体" pitchFamily="2" charset="-122"/>
        <a:ea typeface="黑体" pitchFamily="2" charset="-122"/>
        <a:cs typeface="+mn-cs"/>
      </a:defRPr>
    </a:lvl6pPr>
    <a:lvl7pPr marL="2743200" algn="l" defTabSz="914400" rtl="0" eaLnBrk="1" latinLnBrk="0" hangingPunct="1">
      <a:defRPr kumimoji="1" sz="2800" kern="1200">
        <a:solidFill>
          <a:schemeClr val="tx2"/>
        </a:solidFill>
        <a:latin typeface="黑体" pitchFamily="2" charset="-122"/>
        <a:ea typeface="黑体" pitchFamily="2" charset="-122"/>
        <a:cs typeface="+mn-cs"/>
      </a:defRPr>
    </a:lvl7pPr>
    <a:lvl8pPr marL="3200400" algn="l" defTabSz="914400" rtl="0" eaLnBrk="1" latinLnBrk="0" hangingPunct="1">
      <a:defRPr kumimoji="1" sz="2800" kern="1200">
        <a:solidFill>
          <a:schemeClr val="tx2"/>
        </a:solidFill>
        <a:latin typeface="黑体" pitchFamily="2" charset="-122"/>
        <a:ea typeface="黑体" pitchFamily="2" charset="-122"/>
        <a:cs typeface="+mn-cs"/>
      </a:defRPr>
    </a:lvl8pPr>
    <a:lvl9pPr marL="3657600" algn="l" defTabSz="914400" rtl="0" eaLnBrk="1" latinLnBrk="0" hangingPunct="1">
      <a:defRPr kumimoji="1" sz="2800" kern="1200">
        <a:solidFill>
          <a:schemeClr val="tx2"/>
        </a:solidFill>
        <a:latin typeface="黑体" pitchFamily="2" charset="-122"/>
        <a:ea typeface="黑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3300"/>
    <a:srgbClr val="F84D08"/>
    <a:srgbClr val="0099FF"/>
    <a:srgbClr val="CC0066"/>
    <a:srgbClr val="CC3300"/>
    <a:srgbClr val="660066"/>
    <a:srgbClr val="FF0066"/>
    <a:srgbClr val="FF00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615" autoAdjust="0"/>
    <p:restoredTop sz="86340" autoAdjust="0"/>
  </p:normalViewPr>
  <p:slideViewPr>
    <p:cSldViewPr>
      <p:cViewPr>
        <p:scale>
          <a:sx n="60" d="100"/>
          <a:sy n="60" d="100"/>
        </p:scale>
        <p:origin x="-666" y="-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37" d="100"/>
          <a:sy n="37" d="100"/>
        </p:scale>
        <p:origin x="-1470" y="-96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4D903F-4B90-4FAE-9947-F6D1ABF8F1D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7278BFF0-022C-4EEF-B845-31F346EFA70C}">
      <dgm:prSet phldrT="[文本]"/>
      <dgm:spPr>
        <a:noFill/>
      </dgm:spPr>
      <dgm:t>
        <a:bodyPr/>
        <a:lstStyle/>
        <a:p>
          <a:r>
            <a:rPr kumimoji="0" lang="zh-CN" altLang="en-US" b="1" dirty="0" smtClean="0">
              <a:solidFill>
                <a:srgbClr val="FF0000"/>
              </a:solidFill>
              <a:latin typeface="黑体" pitchFamily="49" charset="-122"/>
              <a:ea typeface="黑体" pitchFamily="49" charset="-122"/>
            </a:rPr>
            <a:t>磁电感应式传感器</a:t>
          </a:r>
          <a:endParaRPr lang="zh-CN" altLang="en-US" dirty="0">
            <a:solidFill>
              <a:srgbClr val="FF0000"/>
            </a:solidFill>
            <a:latin typeface="黑体" pitchFamily="49" charset="-122"/>
            <a:ea typeface="黑体" pitchFamily="49" charset="-122"/>
          </a:endParaRPr>
        </a:p>
      </dgm:t>
    </dgm:pt>
    <dgm:pt modelId="{4BED108E-C864-433C-AEBB-850ECA9F7097}" type="parTrans" cxnId="{4C3EA5A4-1EDA-4549-B219-B66C264770A7}">
      <dgm:prSet/>
      <dgm:spPr/>
      <dgm:t>
        <a:bodyPr/>
        <a:lstStyle/>
        <a:p>
          <a:endParaRPr lang="zh-CN" altLang="en-US"/>
        </a:p>
      </dgm:t>
    </dgm:pt>
    <dgm:pt modelId="{27AB0E76-EB91-4161-9334-04226198E41B}" type="sibTrans" cxnId="{4C3EA5A4-1EDA-4549-B219-B66C264770A7}">
      <dgm:prSet/>
      <dgm:spPr/>
      <dgm:t>
        <a:bodyPr/>
        <a:lstStyle/>
        <a:p>
          <a:endParaRPr lang="zh-CN" altLang="en-US"/>
        </a:p>
      </dgm:t>
    </dgm:pt>
    <dgm:pt modelId="{D7E8DC14-4530-45A7-B4C6-81AC33AF2E28}">
      <dgm:prSet phldrT="[文本]" custT="1"/>
      <dgm:spPr/>
      <dgm:t>
        <a:bodyPr/>
        <a:lstStyle/>
        <a:p>
          <a:r>
            <a:rPr kumimoji="0" lang="zh-CN" altLang="en-US" sz="2800" b="1" dirty="0" smtClean="0">
              <a:latin typeface="宋体" pitchFamily="2" charset="-122"/>
              <a:ea typeface="宋体" pitchFamily="2" charset="-122"/>
            </a:rPr>
            <a:t>利用导体和磁场发生</a:t>
          </a:r>
          <a:r>
            <a:rPr kumimoji="0" lang="zh-CN" altLang="en-US" sz="2800" b="1" dirty="0" smtClean="0">
              <a:solidFill>
                <a:srgbClr val="CC3300"/>
              </a:solidFill>
              <a:latin typeface="宋体" pitchFamily="2" charset="-122"/>
              <a:ea typeface="宋体" pitchFamily="2" charset="-122"/>
            </a:rPr>
            <a:t>相对运动</a:t>
          </a:r>
          <a:r>
            <a:rPr kumimoji="0" lang="zh-CN" altLang="en-US" sz="2800" b="1" dirty="0" smtClean="0">
              <a:latin typeface="宋体" pitchFamily="2" charset="-122"/>
              <a:ea typeface="宋体" pitchFamily="2" charset="-122"/>
            </a:rPr>
            <a:t>产生感应电势；</a:t>
          </a:r>
          <a:endParaRPr lang="zh-CN" altLang="en-US" sz="2800" dirty="0"/>
        </a:p>
      </dgm:t>
    </dgm:pt>
    <dgm:pt modelId="{C5D9E6F6-CA38-40DA-9199-C6B3A8D07F0C}" type="parTrans" cxnId="{470E170A-4230-44C3-A6FA-44839608599A}">
      <dgm:prSet/>
      <dgm:spPr/>
      <dgm:t>
        <a:bodyPr/>
        <a:lstStyle/>
        <a:p>
          <a:endParaRPr lang="zh-CN" altLang="en-US"/>
        </a:p>
      </dgm:t>
    </dgm:pt>
    <dgm:pt modelId="{74828162-99D4-4639-9E3D-878181ABE06E}" type="sibTrans" cxnId="{470E170A-4230-44C3-A6FA-44839608599A}">
      <dgm:prSet/>
      <dgm:spPr/>
      <dgm:t>
        <a:bodyPr/>
        <a:lstStyle/>
        <a:p>
          <a:endParaRPr lang="zh-CN" altLang="en-US"/>
        </a:p>
      </dgm:t>
    </dgm:pt>
    <dgm:pt modelId="{2E911E2F-E99F-44AA-893B-B910B4F71FEF}">
      <dgm:prSet phldrT="[文本]"/>
      <dgm:spPr>
        <a:noFill/>
      </dgm:spPr>
      <dgm:t>
        <a:bodyPr/>
        <a:lstStyle/>
        <a:p>
          <a:r>
            <a:rPr kumimoji="0" lang="zh-CN" altLang="en-US" b="1" dirty="0" smtClean="0">
              <a:solidFill>
                <a:srgbClr val="FF0000"/>
              </a:solidFill>
              <a:latin typeface="黑体" pitchFamily="49" charset="-122"/>
              <a:ea typeface="黑体" pitchFamily="49" charset="-122"/>
            </a:rPr>
            <a:t>霍尔式传感器</a:t>
          </a:r>
        </a:p>
      </dgm:t>
    </dgm:pt>
    <dgm:pt modelId="{FE5CA56F-49AF-4496-B1FF-9AEE332F2652}" type="parTrans" cxnId="{CA8A0D0B-61EA-4B7F-83D4-8DA8FBD78579}">
      <dgm:prSet/>
      <dgm:spPr/>
      <dgm:t>
        <a:bodyPr/>
        <a:lstStyle/>
        <a:p>
          <a:endParaRPr lang="zh-CN" altLang="en-US"/>
        </a:p>
      </dgm:t>
    </dgm:pt>
    <dgm:pt modelId="{5133890D-0C01-4F20-BE0A-225F2B690CFA}" type="sibTrans" cxnId="{CA8A0D0B-61EA-4B7F-83D4-8DA8FBD78579}">
      <dgm:prSet/>
      <dgm:spPr/>
      <dgm:t>
        <a:bodyPr/>
        <a:lstStyle/>
        <a:p>
          <a:endParaRPr lang="zh-CN" altLang="en-US"/>
        </a:p>
      </dgm:t>
    </dgm:pt>
    <dgm:pt modelId="{994896CD-07B9-411D-9973-65829595886B}">
      <dgm:prSet phldrT="[文本]" custT="1"/>
      <dgm:spPr/>
      <dgm:t>
        <a:bodyPr/>
        <a:lstStyle/>
        <a:p>
          <a:r>
            <a:rPr kumimoji="0" lang="zh-CN" altLang="en-US" sz="2800" b="1" dirty="0" smtClean="0">
              <a:latin typeface="宋体" pitchFamily="2" charset="-122"/>
              <a:ea typeface="宋体" pitchFamily="2" charset="-122"/>
            </a:rPr>
            <a:t>载流半导体在磁场中的电磁效应</a:t>
          </a:r>
          <a:r>
            <a:rPr kumimoji="0" lang="en-US" altLang="zh-CN" sz="2800" b="1" dirty="0" smtClean="0">
              <a:latin typeface="宋体" pitchFamily="2" charset="-122"/>
              <a:ea typeface="宋体" pitchFamily="2" charset="-122"/>
            </a:rPr>
            <a:t>(</a:t>
          </a:r>
          <a:r>
            <a:rPr kumimoji="0" lang="zh-CN" altLang="en-US" sz="2800" b="1" dirty="0" smtClean="0">
              <a:solidFill>
                <a:srgbClr val="CC3300"/>
              </a:solidFill>
              <a:latin typeface="宋体" pitchFamily="2" charset="-122"/>
              <a:ea typeface="宋体" pitchFamily="2" charset="-122"/>
            </a:rPr>
            <a:t>霍尔效应</a:t>
          </a:r>
          <a:r>
            <a:rPr kumimoji="0" lang="en-US" altLang="zh-CN" sz="2800" b="1" dirty="0" smtClean="0">
              <a:latin typeface="宋体" pitchFamily="2" charset="-122"/>
              <a:ea typeface="宋体" pitchFamily="2" charset="-122"/>
            </a:rPr>
            <a:t>)</a:t>
          </a:r>
          <a:r>
            <a:rPr kumimoji="0" lang="zh-CN" altLang="en-US" sz="2800" b="1" dirty="0" smtClean="0">
              <a:latin typeface="宋体" pitchFamily="2" charset="-122"/>
              <a:ea typeface="宋体" pitchFamily="2" charset="-122"/>
            </a:rPr>
            <a:t>而输出电势；</a:t>
          </a:r>
          <a:endParaRPr lang="zh-CN" altLang="en-US" sz="2800" dirty="0"/>
        </a:p>
      </dgm:t>
    </dgm:pt>
    <dgm:pt modelId="{7959C4BF-58FB-4F84-A50D-214A5922E357}" type="parTrans" cxnId="{F95B71B5-8CD3-4910-A416-369EF362A594}">
      <dgm:prSet/>
      <dgm:spPr/>
      <dgm:t>
        <a:bodyPr/>
        <a:lstStyle/>
        <a:p>
          <a:endParaRPr lang="zh-CN" altLang="en-US"/>
        </a:p>
      </dgm:t>
    </dgm:pt>
    <dgm:pt modelId="{E114CB51-EF26-4002-8536-BE75139253E8}" type="sibTrans" cxnId="{F95B71B5-8CD3-4910-A416-369EF362A594}">
      <dgm:prSet/>
      <dgm:spPr/>
      <dgm:t>
        <a:bodyPr/>
        <a:lstStyle/>
        <a:p>
          <a:endParaRPr lang="zh-CN" altLang="en-US"/>
        </a:p>
      </dgm:t>
    </dgm:pt>
    <dgm:pt modelId="{93FE4498-8101-4264-852D-978FB9623FED}" type="pres">
      <dgm:prSet presAssocID="{954D903F-4B90-4FAE-9947-F6D1ABF8F1D1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69709721-5D5E-4847-8B27-4E53C16583C8}" type="pres">
      <dgm:prSet presAssocID="{7278BFF0-022C-4EEF-B845-31F346EFA70C}" presName="parentText" presStyleLbl="node1" presStyleIdx="0" presStyleCnt="2" custScaleX="43333" custScaleY="56646" custLinFactNeighborX="-28333" custLinFactNeighborY="-1210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7A813D7-E905-474C-90C1-23DD7F3E798E}" type="pres">
      <dgm:prSet presAssocID="{7278BFF0-022C-4EEF-B845-31F346EFA70C}" presName="childText" presStyleLbl="revTx" presStyleIdx="0" presStyleCnt="2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2E2C418-E504-481C-96FF-1FCDB1401B39}" type="pres">
      <dgm:prSet presAssocID="{2E911E2F-E99F-44AA-893B-B910B4F71FEF}" presName="parentText" presStyleLbl="node1" presStyleIdx="1" presStyleCnt="2" custScaleX="33885" custScaleY="50242" custLinFactNeighborX="-33884" custLinFactNeighborY="-28704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0854ABD1-39D7-464A-9CB1-FE12ADBCC248}" type="pres">
      <dgm:prSet presAssocID="{2E911E2F-E99F-44AA-893B-B910B4F71FEF}" presName="childText" presStyleLbl="revTx" presStyleIdx="1" presStyleCnt="2" custLinFactNeighborY="-1117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95396583-FFA6-4F57-B050-8320B1CBF3A2}" type="presOf" srcId="{994896CD-07B9-411D-9973-65829595886B}" destId="{0854ABD1-39D7-464A-9CB1-FE12ADBCC248}" srcOrd="0" destOrd="0" presId="urn:microsoft.com/office/officeart/2005/8/layout/vList2"/>
    <dgm:cxn modelId="{4C3EA5A4-1EDA-4549-B219-B66C264770A7}" srcId="{954D903F-4B90-4FAE-9947-F6D1ABF8F1D1}" destId="{7278BFF0-022C-4EEF-B845-31F346EFA70C}" srcOrd="0" destOrd="0" parTransId="{4BED108E-C864-433C-AEBB-850ECA9F7097}" sibTransId="{27AB0E76-EB91-4161-9334-04226198E41B}"/>
    <dgm:cxn modelId="{7F21022B-F263-41F3-962B-76BAD31371C6}" type="presOf" srcId="{2E911E2F-E99F-44AA-893B-B910B4F71FEF}" destId="{C2E2C418-E504-481C-96FF-1FCDB1401B39}" srcOrd="0" destOrd="0" presId="urn:microsoft.com/office/officeart/2005/8/layout/vList2"/>
    <dgm:cxn modelId="{470E170A-4230-44C3-A6FA-44839608599A}" srcId="{7278BFF0-022C-4EEF-B845-31F346EFA70C}" destId="{D7E8DC14-4530-45A7-B4C6-81AC33AF2E28}" srcOrd="0" destOrd="0" parTransId="{C5D9E6F6-CA38-40DA-9199-C6B3A8D07F0C}" sibTransId="{74828162-99D4-4639-9E3D-878181ABE06E}"/>
    <dgm:cxn modelId="{CA8A0D0B-61EA-4B7F-83D4-8DA8FBD78579}" srcId="{954D903F-4B90-4FAE-9947-F6D1ABF8F1D1}" destId="{2E911E2F-E99F-44AA-893B-B910B4F71FEF}" srcOrd="1" destOrd="0" parTransId="{FE5CA56F-49AF-4496-B1FF-9AEE332F2652}" sibTransId="{5133890D-0C01-4F20-BE0A-225F2B690CFA}"/>
    <dgm:cxn modelId="{38FA57AC-7C05-47B5-B7B4-93DE8C281094}" type="presOf" srcId="{954D903F-4B90-4FAE-9947-F6D1ABF8F1D1}" destId="{93FE4498-8101-4264-852D-978FB9623FED}" srcOrd="0" destOrd="0" presId="urn:microsoft.com/office/officeart/2005/8/layout/vList2"/>
    <dgm:cxn modelId="{B5684A6B-6C77-4C0F-8DAB-1BD71AA2AB2C}" type="presOf" srcId="{7278BFF0-022C-4EEF-B845-31F346EFA70C}" destId="{69709721-5D5E-4847-8B27-4E53C16583C8}" srcOrd="0" destOrd="0" presId="urn:microsoft.com/office/officeart/2005/8/layout/vList2"/>
    <dgm:cxn modelId="{F95B71B5-8CD3-4910-A416-369EF362A594}" srcId="{2E911E2F-E99F-44AA-893B-B910B4F71FEF}" destId="{994896CD-07B9-411D-9973-65829595886B}" srcOrd="0" destOrd="0" parTransId="{7959C4BF-58FB-4F84-A50D-214A5922E357}" sibTransId="{E114CB51-EF26-4002-8536-BE75139253E8}"/>
    <dgm:cxn modelId="{89607EF7-050B-4B40-B43F-82DFEA772CAF}" type="presOf" srcId="{D7E8DC14-4530-45A7-B4C6-81AC33AF2E28}" destId="{37A813D7-E905-474C-90C1-23DD7F3E798E}" srcOrd="0" destOrd="0" presId="urn:microsoft.com/office/officeart/2005/8/layout/vList2"/>
    <dgm:cxn modelId="{568221C6-81B8-4D0D-B7FC-EC4C3464EB9B}" type="presParOf" srcId="{93FE4498-8101-4264-852D-978FB9623FED}" destId="{69709721-5D5E-4847-8B27-4E53C16583C8}" srcOrd="0" destOrd="0" presId="urn:microsoft.com/office/officeart/2005/8/layout/vList2"/>
    <dgm:cxn modelId="{CAA2B1EF-621E-4641-8497-55314C2775E8}" type="presParOf" srcId="{93FE4498-8101-4264-852D-978FB9623FED}" destId="{37A813D7-E905-474C-90C1-23DD7F3E798E}" srcOrd="1" destOrd="0" presId="urn:microsoft.com/office/officeart/2005/8/layout/vList2"/>
    <dgm:cxn modelId="{6466FB8C-5A20-4620-B9CA-4A0668C296FD}" type="presParOf" srcId="{93FE4498-8101-4264-852D-978FB9623FED}" destId="{C2E2C418-E504-481C-96FF-1FCDB1401B39}" srcOrd="2" destOrd="0" presId="urn:microsoft.com/office/officeart/2005/8/layout/vList2"/>
    <dgm:cxn modelId="{8B4C0462-2374-4C8D-8C8C-933AB03B856B}" type="presParOf" srcId="{93FE4498-8101-4264-852D-978FB9623FED}" destId="{0854ABD1-39D7-464A-9CB1-FE12ADBCC248}" srcOrd="3" destOrd="0" presId="urn:microsoft.com/office/officeart/2005/8/layout/vList2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18.wmf"/><Relationship Id="rId4" Type="http://schemas.openxmlformats.org/officeDocument/2006/relationships/image" Target="../media/image23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542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42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42049318-C3A6-4E21-9DBC-E2BCEAA9096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049318-C3A6-4E21-9DBC-E2BCEAA90960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4E7BF8-815E-432E-97E6-131D1B0B78D8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533C2-60E6-4266-9BD9-FD048B064E0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7" name="Picture 12" descr="xh"/>
          <p:cNvPicPr>
            <a:picLocks noChangeAspect="1" noChangeArrowheads="1"/>
          </p:cNvPicPr>
          <p:nvPr userDrawn="1"/>
        </p:nvPicPr>
        <p:blipFill>
          <a:blip r:embed="rId2">
            <a:lum bright="54000" contrast="-6000"/>
          </a:blip>
          <a:srcRect/>
          <a:stretch>
            <a:fillRect/>
          </a:stretch>
        </p:blipFill>
        <p:spPr bwMode="auto">
          <a:xfrm>
            <a:off x="179388" y="188913"/>
            <a:ext cx="682625" cy="66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9" descr="buaa2"/>
          <p:cNvPicPr>
            <a:picLocks noChangeAspect="1" noChangeArrowheads="1"/>
          </p:cNvPicPr>
          <p:nvPr userDrawn="1"/>
        </p:nvPicPr>
        <p:blipFill>
          <a:blip r:embed="rId3">
            <a:lum bright="48000"/>
          </a:blip>
          <a:srcRect/>
          <a:stretch>
            <a:fillRect/>
          </a:stretch>
        </p:blipFill>
        <p:spPr bwMode="auto">
          <a:xfrm>
            <a:off x="1000125" y="285750"/>
            <a:ext cx="2560638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C85CF6-7A98-4199-AEA6-6309CE72A298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20E716-B79A-4DA4-8B02-1C816EB51F8B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7A0563-8B27-4A55-9D33-B237E42AF7DF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E58033-C211-43F7-86E5-2C9F51C2E8D0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946443-82F9-4ACF-89A7-95BD02D3DF19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B6DC2D-38D7-4BC5-9149-FD58D523C2F2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C70892-4E4D-4B72-891B-A561DC57BFBE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BF41E9-125D-49FD-9E96-ADCF9DBC32A5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C8169B-CEED-4181-8B1F-84352171E54C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C44A08-038E-4E03-B25B-66737764DED3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8B928A-EF30-4C48-80B9-A18F22D7B9F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E9EFF"/>
            </a:gs>
            <a:gs pos="999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37891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宋体" pitchFamily="2" charset="-122"/>
              </a:defRPr>
            </a:lvl1pPr>
          </a:lstStyle>
          <a:p>
            <a:pPr>
              <a:defRPr/>
            </a:pPr>
            <a:fld id="{53C85CF6-7A98-4199-AEA6-6309CE72A298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37895" name="Picture 12" descr="xh"/>
          <p:cNvPicPr>
            <a:picLocks noChangeAspect="1" noChangeArrowheads="1"/>
          </p:cNvPicPr>
          <p:nvPr/>
        </p:nvPicPr>
        <p:blipFill>
          <a:blip r:embed="rId15">
            <a:lum bright="54000" contrast="-6000"/>
          </a:blip>
          <a:srcRect/>
          <a:stretch>
            <a:fillRect/>
          </a:stretch>
        </p:blipFill>
        <p:spPr bwMode="auto">
          <a:xfrm>
            <a:off x="179388" y="188913"/>
            <a:ext cx="682625" cy="66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896" name="Picture 9" descr="buaa2"/>
          <p:cNvPicPr>
            <a:picLocks noChangeAspect="1" noChangeArrowheads="1"/>
          </p:cNvPicPr>
          <p:nvPr/>
        </p:nvPicPr>
        <p:blipFill>
          <a:blip r:embed="rId16">
            <a:lum bright="48000"/>
          </a:blip>
          <a:srcRect/>
          <a:stretch>
            <a:fillRect/>
          </a:stretch>
        </p:blipFill>
        <p:spPr bwMode="auto">
          <a:xfrm>
            <a:off x="1000125" y="285750"/>
            <a:ext cx="2560638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12" descr="xh"/>
          <p:cNvPicPr>
            <a:picLocks noChangeAspect="1" noChangeArrowheads="1"/>
          </p:cNvPicPr>
          <p:nvPr userDrawn="1"/>
        </p:nvPicPr>
        <p:blipFill>
          <a:blip r:embed="rId15">
            <a:lum bright="54000" contrast="-6000"/>
          </a:blip>
          <a:srcRect/>
          <a:stretch>
            <a:fillRect/>
          </a:stretch>
        </p:blipFill>
        <p:spPr bwMode="auto">
          <a:xfrm>
            <a:off x="179388" y="188913"/>
            <a:ext cx="682625" cy="66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9" descr="buaa2"/>
          <p:cNvPicPr>
            <a:picLocks noChangeAspect="1" noChangeArrowheads="1"/>
          </p:cNvPicPr>
          <p:nvPr userDrawn="1"/>
        </p:nvPicPr>
        <p:blipFill>
          <a:blip r:embed="rId16">
            <a:lum bright="48000"/>
          </a:blip>
          <a:srcRect/>
          <a:stretch>
            <a:fillRect/>
          </a:stretch>
        </p:blipFill>
        <p:spPr bwMode="auto">
          <a:xfrm>
            <a:off x="1000125" y="285750"/>
            <a:ext cx="2560638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5" Type="http://schemas.openxmlformats.org/officeDocument/2006/relationships/oleObject" Target="../embeddings/oleObject3.bin"/><Relationship Id="rId4" Type="http://schemas.openxmlformats.org/officeDocument/2006/relationships/oleObject" Target="../embeddings/oleObject2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oleObject" Target="../embeddings/oleObject11.bin"/><Relationship Id="rId4" Type="http://schemas.openxmlformats.org/officeDocument/2006/relationships/oleObject" Target="../embeddings/oleObject10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5.bin"/><Relationship Id="rId5" Type="http://schemas.openxmlformats.org/officeDocument/2006/relationships/oleObject" Target="../embeddings/oleObject14.bin"/><Relationship Id="rId4" Type="http://schemas.openxmlformats.org/officeDocument/2006/relationships/oleObject" Target="../embeddings/oleObject13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071563" y="1857375"/>
            <a:ext cx="6572250" cy="862013"/>
          </a:xfrm>
        </p:spPr>
        <p:txBody>
          <a:bodyPr anchor="b"/>
          <a:lstStyle/>
          <a:p>
            <a:r>
              <a:rPr lang="zh-CN" altLang="en-US" sz="5400" b="1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第</a:t>
            </a:r>
            <a:r>
              <a:rPr lang="en-US" altLang="zh-CN" sz="5400" b="1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6</a:t>
            </a:r>
            <a:r>
              <a:rPr lang="zh-CN" altLang="en-US" sz="5400" b="1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章</a:t>
            </a:r>
            <a:r>
              <a:rPr lang="zh-CN" altLang="en-US" sz="5400" b="1" dirty="0" smtClean="0">
                <a:latin typeface="黑体" pitchFamily="49" charset="-122"/>
                <a:ea typeface="黑体" pitchFamily="49" charset="-122"/>
              </a:rPr>
              <a:t> 磁电式传感器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idx="1"/>
          </p:nvPr>
        </p:nvSpPr>
        <p:spPr>
          <a:xfrm>
            <a:off x="857250" y="3429000"/>
            <a:ext cx="7772400" cy="2451100"/>
          </a:xfrm>
        </p:spPr>
        <p:txBody>
          <a:bodyPr rtlCol="0">
            <a:normAutofit fontScale="70000" lnSpcReduction="20000"/>
          </a:bodyPr>
          <a:lstStyle/>
          <a:p>
            <a:pPr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endParaRPr lang="en-US" altLang="zh-CN" sz="6400" b="1" dirty="0">
              <a:latin typeface="黑体" pitchFamily="49" charset="-122"/>
              <a:ea typeface="黑体" pitchFamily="49" charset="-122"/>
              <a:cs typeface="+mj-cs"/>
            </a:endParaRPr>
          </a:p>
          <a:p>
            <a:pPr algn="ctr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zh-CN" altLang="en-US" sz="3900" b="1" dirty="0" smtClean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主讲教师：徐 平</a:t>
            </a:r>
          </a:p>
          <a:p>
            <a:pPr algn="ctr" eaLnBrk="1" fontAlgn="auto" hangingPunct="1">
              <a:lnSpc>
                <a:spcPct val="160000"/>
              </a:lnSpc>
              <a:spcBef>
                <a:spcPct val="5000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zh-CN" b="1" dirty="0" smtClean="0">
                <a:solidFill>
                  <a:srgbClr val="660066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xuping@buaa.edu.cn</a:t>
            </a:r>
          </a:p>
          <a:p>
            <a:pPr algn="ctr" eaLnBrk="1" fontAlgn="auto" hangingPunct="1">
              <a:lnSpc>
                <a:spcPct val="16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r>
              <a:rPr lang="zh-CN" altLang="en-US" sz="40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行楷" pitchFamily="2" charset="-122"/>
                <a:ea typeface="华文行楷" pitchFamily="2" charset="-122"/>
              </a:rPr>
              <a:t>物理科学与核能工程</a:t>
            </a:r>
            <a:r>
              <a:rPr lang="zh-CN" altLang="en-US" sz="4000" b="1" dirty="0" smtClean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行楷" pitchFamily="2" charset="-122"/>
                <a:ea typeface="华文行楷" pitchFamily="2" charset="-122"/>
              </a:rPr>
              <a:t>学院</a:t>
            </a:r>
            <a:endParaRPr lang="en-US" altLang="zh-CN" sz="2800" dirty="0">
              <a:solidFill>
                <a:srgbClr val="0099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785786" y="642918"/>
            <a:ext cx="7812087" cy="719137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 dirty="0" smtClean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第</a:t>
            </a:r>
            <a:r>
              <a:rPr lang="en-US" altLang="zh-CN" b="1" dirty="0" smtClean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6</a:t>
            </a:r>
            <a:r>
              <a:rPr lang="zh-CN" altLang="en-US" b="1" dirty="0" smtClean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章 磁电式传感器</a:t>
            </a:r>
            <a:endParaRPr lang="zh-CN" altLang="en-US" dirty="0" smtClean="0">
              <a:solidFill>
                <a:srgbClr val="F84D08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3316" name="Text Box 8"/>
          <p:cNvSpPr txBox="1">
            <a:spLocks noChangeArrowheads="1"/>
          </p:cNvSpPr>
          <p:nvPr/>
        </p:nvSpPr>
        <p:spPr bwMode="auto">
          <a:xfrm>
            <a:off x="285720" y="1643050"/>
            <a:ext cx="8572560" cy="95410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536575" algn="just">
              <a:spcBef>
                <a:spcPct val="20000"/>
              </a:spcBef>
              <a:buClr>
                <a:schemeClr val="folHlink"/>
              </a:buClr>
              <a:buFont typeface="Wingdings" pitchFamily="2" charset="2"/>
              <a:buNone/>
            </a:pPr>
            <a:r>
              <a:rPr kumimoji="0" lang="zh-CN" altLang="en-US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磁电式传感器是通过磁电作用将被测量</a:t>
            </a:r>
            <a:r>
              <a:rPr kumimoji="0" lang="en-US" altLang="zh-CN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(</a:t>
            </a:r>
            <a:r>
              <a:rPr kumimoji="0" lang="zh-CN" altLang="en-US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如振动、位移、转速等</a:t>
            </a:r>
            <a:r>
              <a:rPr kumimoji="0" lang="en-US" altLang="zh-CN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)</a:t>
            </a:r>
            <a:r>
              <a:rPr kumimoji="0" lang="zh-CN" altLang="en-US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转换成电信号的一种传感器</a:t>
            </a:r>
            <a:r>
              <a:rPr kumimoji="0" lang="zh-CN" altLang="en-US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。</a:t>
            </a:r>
            <a:endParaRPr kumimoji="0" lang="en-US" altLang="zh-CN" b="1" dirty="0" smtClean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714375" y="1500188"/>
            <a:ext cx="7643813" cy="15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图示 5"/>
          <p:cNvGraphicFramePr/>
          <p:nvPr/>
        </p:nvGraphicFramePr>
        <p:xfrm>
          <a:off x="285720" y="2714620"/>
          <a:ext cx="8643998" cy="34210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矩形 6"/>
          <p:cNvSpPr/>
          <p:nvPr/>
        </p:nvSpPr>
        <p:spPr>
          <a:xfrm>
            <a:off x="285720" y="5990070"/>
            <a:ext cx="8643998" cy="480131"/>
          </a:xfrm>
          <a:prstGeom prst="rect">
            <a:avLst/>
          </a:prstGeom>
          <a:solidFill>
            <a:srgbClr val="0099FF"/>
          </a:solidFill>
        </p:spPr>
        <p:txBody>
          <a:bodyPr wrap="square">
            <a:spAutoFit/>
          </a:bodyPr>
          <a:lstStyle/>
          <a:p>
            <a:pPr indent="352425"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Wingdings" pitchFamily="2" charset="2"/>
              <a:buNone/>
            </a:pPr>
            <a:r>
              <a:rPr kumimoji="0" lang="zh-CN" altLang="en-US" b="1" dirty="0" smtClean="0">
                <a:solidFill>
                  <a:srgbClr val="FFFF00"/>
                </a:solidFill>
                <a:latin typeface="宋体" pitchFamily="2" charset="-122"/>
                <a:ea typeface="宋体" pitchFamily="2" charset="-122"/>
              </a:rPr>
              <a:t>它们原理并不完全相同，有各自特点和应用范围。</a:t>
            </a:r>
            <a:endParaRPr kumimoji="0" lang="zh-CN" altLang="en-US" b="1" dirty="0">
              <a:solidFill>
                <a:srgbClr val="FFFF00"/>
              </a:solidFill>
              <a:latin typeface="宋体" pitchFamily="2" charset="-122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69709721-5D5E-4847-8B27-4E53C16583C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graphicEl>
                                              <a:dgm id="{69709721-5D5E-4847-8B27-4E53C16583C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7A813D7-E905-474C-90C1-23DD7F3E798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graphicEl>
                                              <a:dgm id="{37A813D7-E905-474C-90C1-23DD7F3E798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C2E2C418-E504-481C-96FF-1FCDB1401B3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graphicEl>
                                              <a:dgm id="{C2E2C418-E504-481C-96FF-1FCDB1401B3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0854ABD1-39D7-464A-9CB1-FE12ADBCC2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graphicEl>
                                              <a:dgm id="{0854ABD1-39D7-464A-9CB1-FE12ADBCC24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Dgm bld="one"/>
        </p:bldSub>
      </p:bldGraphic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000100" y="642918"/>
            <a:ext cx="7812087" cy="719137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b="1" dirty="0" smtClean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6.1 </a:t>
            </a:r>
            <a:r>
              <a:rPr lang="zh-CN" altLang="en-US" b="1" dirty="0" smtClean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磁电感应式传感器</a:t>
            </a:r>
          </a:p>
        </p:txBody>
      </p:sp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214282" y="1643050"/>
            <a:ext cx="8643998" cy="163121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536575" algn="just">
              <a:lnSpc>
                <a:spcPts val="4000"/>
              </a:lnSpc>
              <a:spcBef>
                <a:spcPct val="20000"/>
              </a:spcBef>
              <a:buClr>
                <a:schemeClr val="folHlink"/>
              </a:buClr>
              <a:buFont typeface="Wingdings" pitchFamily="2" charset="2"/>
              <a:buNone/>
            </a:pPr>
            <a:r>
              <a:rPr kumimoji="0" lang="zh-CN" altLang="en-US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也</a:t>
            </a:r>
            <a:r>
              <a:rPr kumimoji="0" lang="zh-CN" altLang="en-US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称为电动式传感器，或感应式传感器。它</a:t>
            </a:r>
            <a:r>
              <a:rPr kumimoji="0" lang="zh-CN" altLang="en-US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是一</a:t>
            </a:r>
            <a:r>
              <a:rPr kumimoji="0" lang="zh-CN" altLang="en-US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种</a:t>
            </a:r>
            <a:r>
              <a:rPr kumimoji="0" lang="zh-CN" altLang="en-US" b="1" dirty="0">
                <a:solidFill>
                  <a:srgbClr val="C00000"/>
                </a:solidFill>
                <a:latin typeface="宋体" pitchFamily="2" charset="-122"/>
                <a:ea typeface="宋体" pitchFamily="2" charset="-122"/>
              </a:rPr>
              <a:t>机</a:t>
            </a:r>
            <a:r>
              <a:rPr kumimoji="0" lang="en-US" altLang="zh-CN" b="1" dirty="0">
                <a:solidFill>
                  <a:srgbClr val="C00000"/>
                </a:solidFill>
                <a:latin typeface="宋体" pitchFamily="2" charset="-122"/>
                <a:ea typeface="宋体" pitchFamily="2" charset="-122"/>
              </a:rPr>
              <a:t>-</a:t>
            </a:r>
            <a:r>
              <a:rPr kumimoji="0" lang="zh-CN" altLang="en-US" b="1" dirty="0">
                <a:solidFill>
                  <a:srgbClr val="C00000"/>
                </a:solidFill>
                <a:latin typeface="宋体" pitchFamily="2" charset="-122"/>
                <a:ea typeface="宋体" pitchFamily="2" charset="-122"/>
              </a:rPr>
              <a:t>电能量换型</a:t>
            </a:r>
            <a:r>
              <a:rPr kumimoji="0" lang="zh-CN" altLang="en-US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传感器，不需供电电源</a:t>
            </a:r>
            <a:r>
              <a:rPr kumimoji="0" lang="zh-CN" altLang="en-US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，直接</a:t>
            </a:r>
            <a:r>
              <a:rPr kumimoji="0" lang="zh-CN" altLang="en-US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从被测物体吸取机械能量并转换成电信号输出。</a:t>
            </a:r>
          </a:p>
        </p:txBody>
      </p:sp>
      <p:sp>
        <p:nvSpPr>
          <p:cNvPr id="14341" name="Text Box 5"/>
          <p:cNvSpPr txBox="1">
            <a:spLocks noChangeArrowheads="1"/>
          </p:cNvSpPr>
          <p:nvPr/>
        </p:nvSpPr>
        <p:spPr bwMode="auto">
          <a:xfrm>
            <a:off x="285720" y="3571876"/>
            <a:ext cx="8572560" cy="163121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536575" algn="just">
              <a:lnSpc>
                <a:spcPts val="4000"/>
              </a:lnSpc>
              <a:spcBef>
                <a:spcPct val="20000"/>
              </a:spcBef>
              <a:buClr>
                <a:schemeClr val="folHlink"/>
              </a:buClr>
            </a:pPr>
            <a:r>
              <a:rPr kumimoji="0" lang="zh-CN" altLang="en-US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具有电路简单、性能稳定、输出阻抗小，又具有一定的频率响应范围</a:t>
            </a:r>
            <a:r>
              <a:rPr kumimoji="0" lang="en-US" altLang="zh-CN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(</a:t>
            </a:r>
            <a:r>
              <a:rPr kumimoji="0" lang="zh-CN" altLang="en-US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一般为</a:t>
            </a:r>
            <a:r>
              <a:rPr kumimoji="0" lang="en-US" altLang="zh-CN" b="1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10-1000 Hz</a:t>
            </a:r>
            <a:r>
              <a:rPr kumimoji="0" lang="en-US" altLang="zh-CN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)</a:t>
            </a:r>
            <a:r>
              <a:rPr kumimoji="0" lang="zh-CN" altLang="en-US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，适用于振动、转速、扭矩等测量。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714375" y="1500188"/>
            <a:ext cx="7643813" cy="15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71473" y="1484313"/>
            <a:ext cx="8572528" cy="58736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zh-CN" altLang="en-US" sz="2800" b="1" dirty="0" smtClean="0">
                <a:solidFill>
                  <a:srgbClr val="F84D08"/>
                </a:solidFill>
                <a:latin typeface="黑体" pitchFamily="49" charset="-122"/>
                <a:ea typeface="黑体" pitchFamily="49" charset="-122"/>
              </a:rPr>
              <a:t>工作原理和结构</a:t>
            </a:r>
          </a:p>
        </p:txBody>
      </p:sp>
      <p:graphicFrame>
        <p:nvGraphicFramePr>
          <p:cNvPr id="493574" name="Object 6"/>
          <p:cNvGraphicFramePr>
            <a:graphicFrameLocks noGrp="1" noChangeAspect="1"/>
          </p:cNvGraphicFramePr>
          <p:nvPr>
            <p:ph idx="1"/>
          </p:nvPr>
        </p:nvGraphicFramePr>
        <p:xfrm>
          <a:off x="2643174" y="3000372"/>
          <a:ext cx="2124075" cy="876300"/>
        </p:xfrm>
        <a:graphic>
          <a:graphicData uri="http://schemas.openxmlformats.org/presentationml/2006/ole">
            <p:oleObj spid="_x0000_s1026" name="Flash 影片" r:id="rId3" imgW="1223640" imgH="504360" progId="">
              <p:embed/>
            </p:oleObj>
          </a:graphicData>
        </a:graphic>
      </p:graphicFrame>
      <p:sp>
        <p:nvSpPr>
          <p:cNvPr id="1029" name="Text Box 4"/>
          <p:cNvSpPr txBox="1">
            <a:spLocks noChangeArrowheads="1"/>
          </p:cNvSpPr>
          <p:nvPr/>
        </p:nvSpPr>
        <p:spPr bwMode="auto">
          <a:xfrm>
            <a:off x="285720" y="1989138"/>
            <a:ext cx="8572560" cy="95410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536575">
              <a:spcBef>
                <a:spcPct val="20000"/>
              </a:spcBef>
              <a:buClr>
                <a:schemeClr val="folHlink"/>
              </a:buClr>
              <a:buFont typeface="Wingdings" pitchFamily="2" charset="2"/>
              <a:buNone/>
            </a:pPr>
            <a:r>
              <a:rPr kumimoji="0" lang="zh-CN" altLang="en-US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根据</a:t>
            </a:r>
            <a:r>
              <a:rPr kumimoji="0" lang="zh-CN" altLang="en-US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电磁感应定律，线圈两端的感应电动势正比于线圈所包围的磁链对时间的变化率，即</a:t>
            </a:r>
          </a:p>
        </p:txBody>
      </p:sp>
      <p:sp>
        <p:nvSpPr>
          <p:cNvPr id="493576" name="Text Box 8"/>
          <p:cNvSpPr txBox="1">
            <a:spLocks noChangeArrowheads="1"/>
          </p:cNvSpPr>
          <p:nvPr/>
        </p:nvSpPr>
        <p:spPr bwMode="auto">
          <a:xfrm>
            <a:off x="4929190" y="3071810"/>
            <a:ext cx="3929090" cy="1040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Font typeface="Wingdings" pitchFamily="2" charset="2"/>
              <a:buNone/>
            </a:pPr>
            <a:r>
              <a:rPr kumimoji="0" lang="en-US" altLang="zh-CN" b="1" i="1" dirty="0">
                <a:solidFill>
                  <a:srgbClr val="CC3300"/>
                </a:solidFill>
                <a:latin typeface="Times New Roman" pitchFamily="18" charset="0"/>
                <a:ea typeface="宋体" pitchFamily="2" charset="-122"/>
              </a:rPr>
              <a:t>W</a:t>
            </a:r>
            <a:r>
              <a:rPr kumimoji="0" lang="en-US" altLang="zh-CN" b="1" dirty="0">
                <a:latin typeface="Arial" charset="0"/>
                <a:ea typeface="宋体" pitchFamily="2" charset="-122"/>
              </a:rPr>
              <a:t>--</a:t>
            </a:r>
            <a:r>
              <a:rPr kumimoji="0" lang="zh-CN" altLang="en-US" b="1" dirty="0">
                <a:latin typeface="Arial" charset="0"/>
                <a:ea typeface="宋体" pitchFamily="2" charset="-122"/>
              </a:rPr>
              <a:t>线圈匝</a:t>
            </a:r>
            <a:r>
              <a:rPr kumimoji="0" lang="zh-CN" altLang="en-US" b="1" dirty="0" smtClean="0">
                <a:latin typeface="Arial" charset="0"/>
                <a:ea typeface="宋体" pitchFamily="2" charset="-122"/>
              </a:rPr>
              <a:t>数</a:t>
            </a:r>
            <a:endParaRPr kumimoji="0" lang="zh-CN" altLang="en-US" b="1" dirty="0">
              <a:latin typeface="Arial" charset="0"/>
              <a:ea typeface="宋体" pitchFamily="2" charset="-122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Font typeface="Wingdings" pitchFamily="2" charset="2"/>
              <a:buNone/>
            </a:pPr>
            <a:r>
              <a:rPr kumimoji="0" lang="en-US" altLang="zh-CN" b="1" i="1" dirty="0">
                <a:solidFill>
                  <a:srgbClr val="CC3300"/>
                </a:solidFill>
                <a:latin typeface="Times New Roman" pitchFamily="18" charset="0"/>
                <a:ea typeface="宋体" pitchFamily="2" charset="-122"/>
              </a:rPr>
              <a:t>Φ</a:t>
            </a:r>
            <a:r>
              <a:rPr kumimoji="0" lang="en-US" altLang="zh-CN" b="1" dirty="0">
                <a:latin typeface="Arial" charset="0"/>
                <a:ea typeface="宋体" pitchFamily="2" charset="-122"/>
              </a:rPr>
              <a:t>--</a:t>
            </a:r>
            <a:r>
              <a:rPr kumimoji="0" lang="zh-CN" altLang="en-US" b="1" dirty="0">
                <a:latin typeface="Arial" charset="0"/>
                <a:ea typeface="宋体" pitchFamily="2" charset="-122"/>
              </a:rPr>
              <a:t>线圈所包围的</a:t>
            </a:r>
            <a:r>
              <a:rPr kumimoji="0" lang="zh-CN" altLang="en-US" b="1" dirty="0" smtClean="0">
                <a:latin typeface="Arial" charset="0"/>
                <a:ea typeface="宋体" pitchFamily="2" charset="-122"/>
              </a:rPr>
              <a:t>磁通量</a:t>
            </a:r>
            <a:endParaRPr kumimoji="0" lang="zh-CN" altLang="en-US" b="1" dirty="0">
              <a:latin typeface="Arial" charset="0"/>
              <a:ea typeface="宋体" pitchFamily="2" charset="-122"/>
            </a:endParaRPr>
          </a:p>
        </p:txBody>
      </p:sp>
      <p:sp>
        <p:nvSpPr>
          <p:cNvPr id="493577" name="Text Box 9"/>
          <p:cNvSpPr txBox="1">
            <a:spLocks noChangeArrowheads="1"/>
          </p:cNvSpPr>
          <p:nvPr/>
        </p:nvSpPr>
        <p:spPr bwMode="auto">
          <a:xfrm>
            <a:off x="285720" y="4149725"/>
            <a:ext cx="8623330" cy="2160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536575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Font typeface="Wingdings" pitchFamily="2" charset="2"/>
              <a:buNone/>
            </a:pPr>
            <a:r>
              <a:rPr kumimoji="0" lang="zh-CN" altLang="en-US" b="1" dirty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若线圈相对磁场运动为速度</a:t>
            </a:r>
            <a:r>
              <a:rPr kumimoji="0" lang="en-US" altLang="zh-CN" b="1" i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v</a:t>
            </a:r>
            <a:r>
              <a:rPr kumimoji="0" lang="zh-CN" altLang="en-US" b="1" dirty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或角转度</a:t>
            </a:r>
            <a:r>
              <a:rPr kumimoji="0" lang="en-US" altLang="zh-CN" b="1" i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ω</a:t>
            </a:r>
            <a:r>
              <a:rPr kumimoji="0" lang="zh-CN" altLang="en-US" b="1" dirty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时，则上式可改写为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Font typeface="Wingdings" pitchFamily="2" charset="2"/>
              <a:buNone/>
            </a:pPr>
            <a:r>
              <a:rPr kumimoji="0" lang="zh-CN" altLang="en-US" b="1" dirty="0">
                <a:latin typeface="Arial" charset="0"/>
                <a:ea typeface="宋体" pitchFamily="2" charset="-122"/>
              </a:rPr>
              <a:t>              </a:t>
            </a:r>
            <a:r>
              <a:rPr kumimoji="0" lang="zh-CN" altLang="en-US" b="1" dirty="0" smtClean="0">
                <a:latin typeface="Arial" charset="0"/>
                <a:ea typeface="宋体" pitchFamily="2" charset="-122"/>
              </a:rPr>
              <a:t>                      </a:t>
            </a:r>
            <a:r>
              <a:rPr kumimoji="0" lang="en-US" altLang="zh-CN" b="1" i="1" dirty="0">
                <a:solidFill>
                  <a:srgbClr val="CC3300"/>
                </a:solidFill>
                <a:latin typeface="Times New Roman" pitchFamily="18" charset="0"/>
                <a:ea typeface="宋体" pitchFamily="2" charset="-122"/>
              </a:rPr>
              <a:t>e</a:t>
            </a:r>
            <a:r>
              <a:rPr kumimoji="0" lang="zh-CN" altLang="en-US" b="1" i="1" dirty="0">
                <a:solidFill>
                  <a:srgbClr val="CC3300"/>
                </a:solidFill>
                <a:latin typeface="Times New Roman" pitchFamily="18" charset="0"/>
                <a:ea typeface="宋体" pitchFamily="2" charset="-122"/>
              </a:rPr>
              <a:t>＝</a:t>
            </a:r>
            <a:r>
              <a:rPr kumimoji="0" lang="en-US" altLang="zh-CN" b="1" i="1" dirty="0">
                <a:solidFill>
                  <a:srgbClr val="CC3300"/>
                </a:solidFill>
                <a:latin typeface="Times New Roman" pitchFamily="18" charset="0"/>
                <a:ea typeface="宋体" pitchFamily="2" charset="-122"/>
              </a:rPr>
              <a:t>-</a:t>
            </a:r>
            <a:r>
              <a:rPr kumimoji="0" lang="en-US" altLang="zh-CN" b="1" i="1" dirty="0" err="1">
                <a:solidFill>
                  <a:srgbClr val="CC3300"/>
                </a:solidFill>
                <a:latin typeface="Times New Roman" pitchFamily="18" charset="0"/>
                <a:ea typeface="宋体" pitchFamily="2" charset="-122"/>
              </a:rPr>
              <a:t>WBlv</a:t>
            </a:r>
            <a:r>
              <a:rPr kumimoji="0" lang="en-US" altLang="zh-CN" b="1" dirty="0">
                <a:latin typeface="Arial" charset="0"/>
                <a:ea typeface="宋体" pitchFamily="2" charset="-122"/>
              </a:rPr>
              <a:t>          </a:t>
            </a:r>
            <a:endParaRPr kumimoji="0" lang="en-US" altLang="zh-CN" b="1" dirty="0" smtClean="0">
              <a:latin typeface="Arial" charset="0"/>
              <a:ea typeface="宋体" pitchFamily="2" charset="-122"/>
            </a:endParaRP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Font typeface="Wingdings" pitchFamily="2" charset="2"/>
              <a:buNone/>
            </a:pPr>
            <a:r>
              <a:rPr kumimoji="0" lang="zh-CN" altLang="en-US" b="1" dirty="0" smtClean="0">
                <a:latin typeface="Arial" charset="0"/>
                <a:ea typeface="宋体" pitchFamily="2" charset="-122"/>
              </a:rPr>
              <a:t>或                                 </a:t>
            </a:r>
            <a:r>
              <a:rPr kumimoji="0" lang="en-US" altLang="zh-CN" b="1" i="1" dirty="0" smtClean="0">
                <a:solidFill>
                  <a:srgbClr val="CC3300"/>
                </a:solidFill>
                <a:latin typeface="Times New Roman" pitchFamily="18" charset="0"/>
                <a:ea typeface="宋体" pitchFamily="2" charset="-122"/>
              </a:rPr>
              <a:t>e</a:t>
            </a:r>
            <a:r>
              <a:rPr kumimoji="0" lang="zh-CN" altLang="en-US" b="1" i="1" dirty="0">
                <a:solidFill>
                  <a:srgbClr val="CC3300"/>
                </a:solidFill>
                <a:latin typeface="Times New Roman" pitchFamily="18" charset="0"/>
                <a:ea typeface="宋体" pitchFamily="2" charset="-122"/>
              </a:rPr>
              <a:t>＝</a:t>
            </a:r>
            <a:r>
              <a:rPr kumimoji="0" lang="en-US" altLang="zh-CN" b="1" i="1" dirty="0">
                <a:solidFill>
                  <a:srgbClr val="CC3300"/>
                </a:solidFill>
                <a:latin typeface="Times New Roman" pitchFamily="18" charset="0"/>
                <a:ea typeface="宋体" pitchFamily="2" charset="-122"/>
              </a:rPr>
              <a:t>-</a:t>
            </a:r>
            <a:r>
              <a:rPr kumimoji="0" lang="en-US" altLang="zh-CN" b="1" i="1" dirty="0" err="1" smtClean="0">
                <a:solidFill>
                  <a:srgbClr val="CC3300"/>
                </a:solidFill>
                <a:latin typeface="Times New Roman" pitchFamily="18" charset="0"/>
                <a:ea typeface="宋体" pitchFamily="2" charset="-122"/>
              </a:rPr>
              <a:t>WBSω</a:t>
            </a:r>
            <a:endParaRPr kumimoji="0" lang="en-US" altLang="zh-CN" b="1" i="1" dirty="0">
              <a:solidFill>
                <a:srgbClr val="CC3300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000100" y="642918"/>
            <a:ext cx="7812087" cy="719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6.1 </a:t>
            </a:r>
            <a:r>
              <a:rPr kumimoji="0" lang="zh-CN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磁电感应式传感器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714375" y="1500188"/>
            <a:ext cx="7643813" cy="15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圆角矩形标注 9"/>
          <p:cNvSpPr/>
          <p:nvPr/>
        </p:nvSpPr>
        <p:spPr>
          <a:xfrm>
            <a:off x="2428860" y="4714884"/>
            <a:ext cx="2000264" cy="571480"/>
          </a:xfrm>
          <a:prstGeom prst="wedgeRoundRectCallout">
            <a:avLst>
              <a:gd name="adj1" fmla="val 80053"/>
              <a:gd name="adj2" fmla="val 59741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solidFill>
                  <a:schemeClr val="tx1"/>
                </a:solidFill>
              </a:rPr>
              <a:t>磁感应强度</a:t>
            </a:r>
            <a:endParaRPr lang="zh-CN" altLang="en-US" sz="2400" b="1" dirty="0">
              <a:solidFill>
                <a:schemeClr val="tx1"/>
              </a:solidFill>
            </a:endParaRPr>
          </a:p>
        </p:txBody>
      </p:sp>
      <p:sp>
        <p:nvSpPr>
          <p:cNvPr id="11" name="圆角矩形标注 10"/>
          <p:cNvSpPr/>
          <p:nvPr/>
        </p:nvSpPr>
        <p:spPr>
          <a:xfrm>
            <a:off x="6000760" y="4714884"/>
            <a:ext cx="1857388" cy="642942"/>
          </a:xfrm>
          <a:prstGeom prst="wedgeRoundRectCallout">
            <a:avLst>
              <a:gd name="adj1" fmla="val -91526"/>
              <a:gd name="adj2" fmla="val 45028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solidFill>
                  <a:schemeClr val="tx1"/>
                </a:solidFill>
              </a:rPr>
              <a:t>每匝线圈平均长度</a:t>
            </a:r>
            <a:endParaRPr lang="zh-CN" altLang="en-US" sz="2400" b="1" dirty="0">
              <a:solidFill>
                <a:schemeClr val="tx1"/>
              </a:solidFill>
            </a:endParaRPr>
          </a:p>
        </p:txBody>
      </p:sp>
      <p:sp>
        <p:nvSpPr>
          <p:cNvPr id="13" name="圆角矩形标注 12"/>
          <p:cNvSpPr/>
          <p:nvPr/>
        </p:nvSpPr>
        <p:spPr>
          <a:xfrm>
            <a:off x="6286512" y="6215058"/>
            <a:ext cx="1857388" cy="642942"/>
          </a:xfrm>
          <a:prstGeom prst="wedgeRoundRectCallout">
            <a:avLst>
              <a:gd name="adj1" fmla="val -100014"/>
              <a:gd name="adj2" fmla="val -60412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solidFill>
                  <a:schemeClr val="tx1"/>
                </a:solidFill>
              </a:rPr>
              <a:t>每匝线圈平均截面积</a:t>
            </a:r>
            <a:endParaRPr lang="zh-CN" altLang="en-US" sz="2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93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93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93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3576" grpId="0"/>
      <p:bldP spid="493577" grpId="1"/>
      <p:bldP spid="10" grpId="0" animBg="1"/>
      <p:bldP spid="11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577" name="Text Box 9"/>
          <p:cNvSpPr txBox="1">
            <a:spLocks noChangeArrowheads="1"/>
          </p:cNvSpPr>
          <p:nvPr/>
        </p:nvSpPr>
        <p:spPr bwMode="auto">
          <a:xfrm>
            <a:off x="214282" y="1643050"/>
            <a:ext cx="8623330" cy="20744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Font typeface="Wingdings" pitchFamily="2" charset="2"/>
              <a:buNone/>
            </a:pPr>
            <a:r>
              <a:rPr kumimoji="0" lang="en-US" altLang="zh-CN" b="1" i="1" dirty="0" smtClean="0">
                <a:solidFill>
                  <a:srgbClr val="CC3300"/>
                </a:solidFill>
                <a:latin typeface="Times New Roman" pitchFamily="18" charset="0"/>
                <a:ea typeface="宋体" pitchFamily="2" charset="-122"/>
              </a:rPr>
              <a:t>e</a:t>
            </a:r>
            <a:r>
              <a:rPr kumimoji="0" lang="zh-CN" altLang="en-US" b="1" i="1" dirty="0">
                <a:solidFill>
                  <a:srgbClr val="CC3300"/>
                </a:solidFill>
                <a:latin typeface="Times New Roman" pitchFamily="18" charset="0"/>
                <a:ea typeface="宋体" pitchFamily="2" charset="-122"/>
              </a:rPr>
              <a:t>＝</a:t>
            </a:r>
            <a:r>
              <a:rPr kumimoji="0" lang="en-US" altLang="zh-CN" b="1" i="1" dirty="0">
                <a:solidFill>
                  <a:srgbClr val="CC3300"/>
                </a:solidFill>
                <a:latin typeface="Times New Roman" pitchFamily="18" charset="0"/>
                <a:ea typeface="宋体" pitchFamily="2" charset="-122"/>
              </a:rPr>
              <a:t>-</a:t>
            </a:r>
            <a:r>
              <a:rPr kumimoji="0" lang="en-US" altLang="zh-CN" b="1" i="1" dirty="0" err="1">
                <a:solidFill>
                  <a:srgbClr val="CC3300"/>
                </a:solidFill>
                <a:latin typeface="Times New Roman" pitchFamily="18" charset="0"/>
                <a:ea typeface="宋体" pitchFamily="2" charset="-122"/>
              </a:rPr>
              <a:t>WBlv</a:t>
            </a:r>
            <a:r>
              <a:rPr kumimoji="0" lang="en-US" altLang="zh-CN" b="1" dirty="0">
                <a:latin typeface="Arial" charset="0"/>
                <a:ea typeface="宋体" pitchFamily="2" charset="-122"/>
              </a:rPr>
              <a:t>          </a:t>
            </a:r>
            <a:r>
              <a:rPr kumimoji="0" lang="zh-CN" altLang="en-US" b="1" dirty="0">
                <a:latin typeface="Arial" charset="0"/>
                <a:ea typeface="宋体" pitchFamily="2" charset="-122"/>
              </a:rPr>
              <a:t>或          </a:t>
            </a:r>
            <a:r>
              <a:rPr kumimoji="0" lang="en-US" altLang="zh-CN" b="1" i="1" dirty="0">
                <a:solidFill>
                  <a:srgbClr val="CC3300"/>
                </a:solidFill>
                <a:latin typeface="Times New Roman" pitchFamily="18" charset="0"/>
                <a:ea typeface="宋体" pitchFamily="2" charset="-122"/>
              </a:rPr>
              <a:t>e</a:t>
            </a:r>
            <a:r>
              <a:rPr kumimoji="0" lang="zh-CN" altLang="en-US" b="1" i="1" dirty="0">
                <a:solidFill>
                  <a:srgbClr val="CC3300"/>
                </a:solidFill>
                <a:latin typeface="Times New Roman" pitchFamily="18" charset="0"/>
                <a:ea typeface="宋体" pitchFamily="2" charset="-122"/>
              </a:rPr>
              <a:t>＝</a:t>
            </a:r>
            <a:r>
              <a:rPr kumimoji="0" lang="en-US" altLang="zh-CN" b="1" i="1" dirty="0">
                <a:solidFill>
                  <a:srgbClr val="CC3300"/>
                </a:solidFill>
                <a:latin typeface="Times New Roman" pitchFamily="18" charset="0"/>
                <a:ea typeface="宋体" pitchFamily="2" charset="-122"/>
              </a:rPr>
              <a:t>-</a:t>
            </a:r>
            <a:r>
              <a:rPr kumimoji="0" lang="en-US" altLang="zh-CN" b="1" i="1" dirty="0" err="1" smtClean="0">
                <a:solidFill>
                  <a:srgbClr val="CC3300"/>
                </a:solidFill>
                <a:latin typeface="Times New Roman" pitchFamily="18" charset="0"/>
                <a:ea typeface="宋体" pitchFamily="2" charset="-122"/>
              </a:rPr>
              <a:t>WBSω</a:t>
            </a:r>
            <a:endParaRPr kumimoji="0" lang="en-US" altLang="zh-CN" b="1" i="1" dirty="0">
              <a:solidFill>
                <a:srgbClr val="CC3300"/>
              </a:solidFill>
              <a:latin typeface="Times New Roman" pitchFamily="18" charset="0"/>
              <a:ea typeface="宋体" pitchFamily="2" charset="-122"/>
            </a:endParaRPr>
          </a:p>
          <a:p>
            <a:pPr indent="630238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Font typeface="Wingdings" pitchFamily="2" charset="2"/>
              <a:buNone/>
            </a:pPr>
            <a:r>
              <a:rPr kumimoji="0" lang="zh-CN" altLang="en-US" b="1" dirty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在传感器中，当结构参数确定后．即</a:t>
            </a:r>
            <a:r>
              <a:rPr kumimoji="0" lang="en-US" altLang="zh-CN" b="1" i="1" dirty="0">
                <a:solidFill>
                  <a:srgbClr val="CC3300"/>
                </a:solidFill>
                <a:latin typeface="Times New Roman" pitchFamily="18" charset="0"/>
                <a:ea typeface="宋体" pitchFamily="2" charset="-122"/>
              </a:rPr>
              <a:t>B</a:t>
            </a:r>
            <a:r>
              <a:rPr kumimoji="0" lang="zh-CN" altLang="en-US" b="1" i="1" dirty="0">
                <a:solidFill>
                  <a:srgbClr val="CC3300"/>
                </a:solidFill>
                <a:latin typeface="Times New Roman" pitchFamily="18" charset="0"/>
                <a:ea typeface="宋体" pitchFamily="2" charset="-122"/>
              </a:rPr>
              <a:t>、</a:t>
            </a:r>
            <a:r>
              <a:rPr kumimoji="0" lang="en-US" altLang="zh-CN" b="1" i="1" dirty="0">
                <a:solidFill>
                  <a:srgbClr val="CC3300"/>
                </a:solidFill>
                <a:latin typeface="Times New Roman" pitchFamily="18" charset="0"/>
                <a:ea typeface="宋体" pitchFamily="2" charset="-122"/>
              </a:rPr>
              <a:t>l</a:t>
            </a:r>
            <a:r>
              <a:rPr kumimoji="0" lang="zh-CN" altLang="en-US" b="1" i="1" dirty="0">
                <a:solidFill>
                  <a:srgbClr val="CC3300"/>
                </a:solidFill>
                <a:latin typeface="Times New Roman" pitchFamily="18" charset="0"/>
                <a:ea typeface="宋体" pitchFamily="2" charset="-122"/>
              </a:rPr>
              <a:t>、</a:t>
            </a:r>
            <a:r>
              <a:rPr kumimoji="0" lang="en-US" altLang="zh-CN" b="1" i="1" dirty="0">
                <a:solidFill>
                  <a:srgbClr val="CC3300"/>
                </a:solidFill>
                <a:latin typeface="Times New Roman" pitchFamily="18" charset="0"/>
                <a:ea typeface="宋体" pitchFamily="2" charset="-122"/>
              </a:rPr>
              <a:t>W</a:t>
            </a:r>
            <a:r>
              <a:rPr kumimoji="0" lang="zh-CN" altLang="en-US" b="1" i="1" dirty="0" smtClean="0">
                <a:solidFill>
                  <a:srgbClr val="CC3300"/>
                </a:solidFill>
                <a:latin typeface="Times New Roman" pitchFamily="18" charset="0"/>
                <a:ea typeface="宋体" pitchFamily="2" charset="-122"/>
              </a:rPr>
              <a:t>、</a:t>
            </a:r>
            <a:r>
              <a:rPr kumimoji="0" lang="en-US" altLang="zh-CN" b="1" i="1" dirty="0" smtClean="0">
                <a:solidFill>
                  <a:srgbClr val="CC3300"/>
                </a:solidFill>
                <a:latin typeface="Times New Roman" pitchFamily="18" charset="0"/>
                <a:ea typeface="宋体" pitchFamily="2" charset="-122"/>
              </a:rPr>
              <a:t>S</a:t>
            </a:r>
            <a:r>
              <a:rPr kumimoji="0" lang="zh-CN" altLang="en-US" b="1" dirty="0" smtClean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均</a:t>
            </a:r>
            <a:r>
              <a:rPr kumimoji="0" lang="zh-CN" altLang="en-US" b="1" dirty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为定值，那么感应</a:t>
            </a:r>
            <a:r>
              <a:rPr kumimoji="0" lang="zh-CN" altLang="en-US" b="1" dirty="0" smtClean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电势 </a:t>
            </a:r>
            <a:r>
              <a:rPr kumimoji="0" lang="en-US" altLang="zh-CN" b="1" i="1" dirty="0" smtClean="0">
                <a:solidFill>
                  <a:srgbClr val="CC3300"/>
                </a:solidFill>
                <a:latin typeface="Times New Roman" pitchFamily="18" charset="0"/>
                <a:ea typeface="宋体" pitchFamily="2" charset="-122"/>
              </a:rPr>
              <a:t>e</a:t>
            </a:r>
            <a:r>
              <a:rPr kumimoji="0" lang="zh-CN" altLang="en-US" b="1" dirty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与线圈相对磁场的运动速度</a:t>
            </a:r>
            <a:r>
              <a:rPr kumimoji="0" lang="en-US" altLang="zh-CN" b="1" dirty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(</a:t>
            </a:r>
            <a:r>
              <a:rPr kumimoji="0" lang="en-US" altLang="zh-CN" b="1" i="1" dirty="0">
                <a:solidFill>
                  <a:srgbClr val="CC3300"/>
                </a:solidFill>
                <a:latin typeface="Times New Roman" pitchFamily="18" charset="0"/>
                <a:ea typeface="宋体" pitchFamily="2" charset="-122"/>
              </a:rPr>
              <a:t>v</a:t>
            </a:r>
            <a:r>
              <a:rPr kumimoji="0" lang="zh-CN" altLang="en-US" b="1" dirty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或</a:t>
            </a:r>
            <a:r>
              <a:rPr kumimoji="0" lang="en-US" altLang="zh-CN" b="1" i="1" dirty="0">
                <a:solidFill>
                  <a:srgbClr val="CC3300"/>
                </a:solidFill>
                <a:latin typeface="Times New Roman" pitchFamily="18" charset="0"/>
                <a:ea typeface="宋体" pitchFamily="2" charset="-122"/>
              </a:rPr>
              <a:t>ω</a:t>
            </a:r>
            <a:r>
              <a:rPr kumimoji="0" lang="en-US" altLang="zh-CN" b="1" dirty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)</a:t>
            </a:r>
            <a:r>
              <a:rPr kumimoji="0" lang="zh-CN" altLang="en-US" b="1" dirty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成正比</a:t>
            </a:r>
            <a:r>
              <a:rPr kumimoji="0" lang="zh-CN" altLang="en-US" b="1" dirty="0" smtClean="0">
                <a:latin typeface="Arial" charset="0"/>
                <a:ea typeface="宋体" pitchFamily="2" charset="-122"/>
              </a:rPr>
              <a:t>。</a:t>
            </a:r>
            <a:endParaRPr kumimoji="0" lang="zh-CN" altLang="en-US" b="1" dirty="0">
              <a:latin typeface="Arial" charset="0"/>
              <a:ea typeface="宋体" pitchFamily="2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714375" y="1500188"/>
            <a:ext cx="7643813" cy="15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1214414" y="785794"/>
            <a:ext cx="7143800" cy="714380"/>
          </a:xfrm>
        </p:spPr>
        <p:txBody>
          <a:bodyPr/>
          <a:lstStyle/>
          <a:p>
            <a:pPr lvl="0"/>
            <a:r>
              <a:rPr lang="en-US" altLang="zh-CN" b="1" dirty="0" smtClean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6.1 </a:t>
            </a:r>
            <a:r>
              <a:rPr lang="zh-CN" altLang="en-US" b="1" dirty="0" smtClean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磁电感应式传感器</a:t>
            </a:r>
            <a:endParaRPr lang="zh-CN" altLang="en-US" dirty="0"/>
          </a:p>
        </p:txBody>
      </p:sp>
      <p:sp>
        <p:nvSpPr>
          <p:cNvPr id="12" name="Text Box 9"/>
          <p:cNvSpPr txBox="1">
            <a:spLocks noChangeArrowheads="1"/>
          </p:cNvSpPr>
          <p:nvPr/>
        </p:nvSpPr>
        <p:spPr bwMode="auto">
          <a:xfrm>
            <a:off x="285720" y="3786190"/>
            <a:ext cx="8623330" cy="1686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536575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Font typeface="Wingdings" pitchFamily="2" charset="2"/>
              <a:buNone/>
            </a:pPr>
            <a:r>
              <a:rPr kumimoji="0" lang="zh-CN" altLang="en-US" b="1" dirty="0" smtClean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根据此原理可以设计出两种</a:t>
            </a:r>
            <a:r>
              <a:rPr kumimoji="0" lang="zh-CN" altLang="en-US" b="1" dirty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类型的结构</a:t>
            </a:r>
            <a:r>
              <a:rPr kumimoji="0" lang="zh-CN" altLang="en-US" b="1" dirty="0" smtClean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：</a:t>
            </a:r>
            <a:endParaRPr kumimoji="0" lang="en-US" altLang="zh-CN" b="1" dirty="0" smtClean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  <a:p>
            <a:pPr lvl="3" indent="536575">
              <a:lnSpc>
                <a:spcPct val="110000"/>
              </a:lnSpc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u"/>
            </a:pPr>
            <a:r>
              <a:rPr kumimoji="0" lang="zh-CN" altLang="en-US" b="1" dirty="0" smtClean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变</a:t>
            </a:r>
            <a:r>
              <a:rPr kumimoji="0" lang="zh-CN" altLang="en-US" b="1" dirty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磁通式</a:t>
            </a:r>
            <a:r>
              <a:rPr kumimoji="0" lang="zh-CN" altLang="en-US" b="1" dirty="0" smtClean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；</a:t>
            </a:r>
            <a:endParaRPr kumimoji="0" lang="en-US" altLang="zh-CN" b="1" dirty="0" smtClean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  <a:p>
            <a:pPr lvl="3" indent="536575">
              <a:lnSpc>
                <a:spcPct val="110000"/>
              </a:lnSpc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u"/>
            </a:pPr>
            <a:r>
              <a:rPr kumimoji="0" lang="zh-CN" altLang="en-US" b="1" dirty="0" smtClean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恒定</a:t>
            </a:r>
            <a:r>
              <a:rPr kumimoji="0" lang="zh-CN" altLang="en-US" b="1" dirty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磁通式。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571472" y="1643050"/>
            <a:ext cx="5429288" cy="444489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838200" indent="-838200" algn="l">
              <a:spcBef>
                <a:spcPct val="50000"/>
              </a:spcBef>
            </a:pPr>
            <a:r>
              <a:rPr lang="zh-CN" altLang="en-US" sz="2800" b="1" dirty="0" smtClean="0">
                <a:latin typeface="楷体_GB2312" pitchFamily="49" charset="-122"/>
                <a:ea typeface="楷体_GB2312" pitchFamily="49" charset="-122"/>
              </a:rPr>
              <a:t>变磁通式</a:t>
            </a:r>
            <a:r>
              <a:rPr lang="en-US" altLang="zh-CN" sz="2800" b="1" dirty="0" smtClean="0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800" b="1" dirty="0" smtClean="0">
                <a:latin typeface="楷体_GB2312" pitchFamily="49" charset="-122"/>
                <a:ea typeface="楷体_GB2312" pitchFamily="49" charset="-122"/>
              </a:rPr>
              <a:t>变磁阻式，变气隙式</a:t>
            </a:r>
            <a:r>
              <a:rPr lang="en-US" altLang="zh-CN" sz="2800" b="1" dirty="0" smtClean="0">
                <a:latin typeface="楷体_GB2312" pitchFamily="49" charset="-122"/>
                <a:ea typeface="楷体_GB2312" pitchFamily="49" charset="-122"/>
              </a:rPr>
              <a:t>)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" name="标题 9"/>
          <p:cNvSpPr txBox="1">
            <a:spLocks/>
          </p:cNvSpPr>
          <p:nvPr/>
        </p:nvSpPr>
        <p:spPr bwMode="auto">
          <a:xfrm>
            <a:off x="1357290" y="785794"/>
            <a:ext cx="6715172" cy="714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6.1 </a:t>
            </a:r>
            <a:r>
              <a:rPr kumimoji="0" lang="zh-CN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磁电感应式传感器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714375" y="1500188"/>
            <a:ext cx="7643813" cy="15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3071802" y="2786058"/>
            <a:ext cx="2609624" cy="2390491"/>
            <a:chOff x="2928926" y="2571744"/>
            <a:chExt cx="2609624" cy="2390491"/>
          </a:xfrm>
        </p:grpSpPr>
        <p:sp>
          <p:nvSpPr>
            <p:cNvPr id="2054" name="Text Box 13"/>
            <p:cNvSpPr txBox="1">
              <a:spLocks noChangeArrowheads="1"/>
            </p:cNvSpPr>
            <p:nvPr/>
          </p:nvSpPr>
          <p:spPr bwMode="auto">
            <a:xfrm>
              <a:off x="2928926" y="4500570"/>
              <a:ext cx="2571768" cy="4616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838200" indent="-838200">
                <a:spcBef>
                  <a:spcPct val="50000"/>
                </a:spcBef>
              </a:pPr>
              <a:r>
                <a:rPr lang="zh-CN" altLang="en-US" sz="2400" b="1" dirty="0" smtClean="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rPr>
                <a:t>开磁路变</a:t>
              </a:r>
              <a:r>
                <a:rPr lang="zh-CN" altLang="en-US" sz="2400" b="1" dirty="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rPr>
                <a:t>磁通式</a:t>
              </a:r>
            </a:p>
          </p:txBody>
        </p:sp>
        <p:pic>
          <p:nvPicPr>
            <p:cNvPr id="2" name="Picture 4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928926" y="2571744"/>
              <a:ext cx="2609624" cy="19097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15" name="圆角矩形标注 14"/>
          <p:cNvSpPr/>
          <p:nvPr/>
        </p:nvSpPr>
        <p:spPr>
          <a:xfrm>
            <a:off x="4214810" y="2143116"/>
            <a:ext cx="1000132" cy="642942"/>
          </a:xfrm>
          <a:prstGeom prst="wedgeRoundRectCallout">
            <a:avLst>
              <a:gd name="adj1" fmla="val -44478"/>
              <a:gd name="adj2" fmla="val 187557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solidFill>
                  <a:schemeClr val="tx1"/>
                </a:solidFill>
              </a:rPr>
              <a:t>线圈</a:t>
            </a:r>
            <a:endParaRPr lang="zh-CN" altLang="en-US" sz="2400" b="1" dirty="0">
              <a:solidFill>
                <a:schemeClr val="tx1"/>
              </a:solidFill>
            </a:endParaRPr>
          </a:p>
        </p:txBody>
      </p:sp>
      <p:sp>
        <p:nvSpPr>
          <p:cNvPr id="16" name="圆角矩形标注 15"/>
          <p:cNvSpPr/>
          <p:nvPr/>
        </p:nvSpPr>
        <p:spPr>
          <a:xfrm>
            <a:off x="5715008" y="3071810"/>
            <a:ext cx="1000132" cy="785818"/>
          </a:xfrm>
          <a:prstGeom prst="wedgeRoundRectCallout">
            <a:avLst>
              <a:gd name="adj1" fmla="val -112261"/>
              <a:gd name="adj2" fmla="val 89250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solidFill>
                  <a:schemeClr val="tx1"/>
                </a:solidFill>
              </a:rPr>
              <a:t>永久磁铁</a:t>
            </a:r>
            <a:endParaRPr lang="zh-CN" altLang="en-US" sz="2400" b="1" dirty="0">
              <a:solidFill>
                <a:schemeClr val="tx1"/>
              </a:solidFill>
            </a:endParaRPr>
          </a:p>
        </p:txBody>
      </p:sp>
      <p:sp>
        <p:nvSpPr>
          <p:cNvPr id="17" name="圆角矩形标注 16"/>
          <p:cNvSpPr/>
          <p:nvPr/>
        </p:nvSpPr>
        <p:spPr>
          <a:xfrm>
            <a:off x="5786446" y="2000240"/>
            <a:ext cx="1000132" cy="785818"/>
          </a:xfrm>
          <a:prstGeom prst="wedgeRoundRectCallout">
            <a:avLst>
              <a:gd name="adj1" fmla="val -184773"/>
              <a:gd name="adj2" fmla="val 197588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solidFill>
                  <a:schemeClr val="tx1"/>
                </a:solidFill>
              </a:rPr>
              <a:t>软铁</a:t>
            </a:r>
            <a:endParaRPr lang="zh-CN" altLang="en-US" sz="2400" b="1" dirty="0">
              <a:solidFill>
                <a:schemeClr val="tx1"/>
              </a:solidFill>
            </a:endParaRPr>
          </a:p>
        </p:txBody>
      </p:sp>
      <p:sp>
        <p:nvSpPr>
          <p:cNvPr id="18" name="圆角矩形标注 17"/>
          <p:cNvSpPr/>
          <p:nvPr/>
        </p:nvSpPr>
        <p:spPr>
          <a:xfrm>
            <a:off x="2143108" y="2143116"/>
            <a:ext cx="1000132" cy="785818"/>
          </a:xfrm>
          <a:prstGeom prst="wedgeRoundRectCallout">
            <a:avLst>
              <a:gd name="adj1" fmla="val 100545"/>
              <a:gd name="adj2" fmla="val 147432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solidFill>
                  <a:schemeClr val="tx1"/>
                </a:solidFill>
              </a:rPr>
              <a:t>导磁材料</a:t>
            </a:r>
            <a:endParaRPr lang="zh-CN" altLang="en-US" sz="2400" b="1" dirty="0">
              <a:solidFill>
                <a:schemeClr val="tx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14282" y="3071810"/>
            <a:ext cx="278608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536575"/>
            <a:r>
              <a:rPr lang="zh-CN" altLang="en-US" b="1" dirty="0" smtClean="0">
                <a:solidFill>
                  <a:schemeClr val="tx1"/>
                </a:solidFill>
                <a:latin typeface="+mn-ea"/>
                <a:ea typeface="+mn-ea"/>
              </a:rPr>
              <a:t>每转动一齿，磁阻变化一次；感应电动势的变化频率等于齿数和转速的乘积</a:t>
            </a:r>
            <a:r>
              <a:rPr lang="zh-CN" altLang="en-US" b="1" dirty="0" smtClean="0">
                <a:latin typeface="+mn-ea"/>
                <a:ea typeface="+mn-ea"/>
              </a:rPr>
              <a:t>。</a:t>
            </a:r>
            <a:endParaRPr lang="zh-CN" altLang="en-US" b="1" dirty="0">
              <a:latin typeface="+mn-ea"/>
              <a:ea typeface="+mn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14282" y="5357826"/>
            <a:ext cx="8715436" cy="52322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indent="536575"/>
            <a:r>
              <a:rPr lang="zh-CN" altLang="en-US" b="1" dirty="0" smtClean="0">
                <a:latin typeface="+mn-ea"/>
                <a:ea typeface="+mn-ea"/>
              </a:rPr>
              <a:t>感应电动势较小，不适合测量高速（离心力）。</a:t>
            </a:r>
            <a:endParaRPr lang="zh-CN" altLang="en-US" b="1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571472" y="1643050"/>
            <a:ext cx="5429288" cy="444489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838200" indent="-838200" algn="l">
              <a:spcBef>
                <a:spcPct val="50000"/>
              </a:spcBef>
            </a:pPr>
            <a:r>
              <a:rPr lang="zh-CN" altLang="en-US" sz="2800" b="1" dirty="0" smtClean="0">
                <a:latin typeface="楷体_GB2312" pitchFamily="49" charset="-122"/>
                <a:ea typeface="楷体_GB2312" pitchFamily="49" charset="-122"/>
              </a:rPr>
              <a:t>变磁通式</a:t>
            </a:r>
            <a:r>
              <a:rPr lang="en-US" altLang="zh-CN" sz="2800" b="1" dirty="0" smtClean="0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800" b="1" dirty="0" smtClean="0">
                <a:latin typeface="楷体_GB2312" pitchFamily="49" charset="-122"/>
                <a:ea typeface="楷体_GB2312" pitchFamily="49" charset="-122"/>
              </a:rPr>
              <a:t>变磁阻式，变气隙式</a:t>
            </a:r>
            <a:r>
              <a:rPr lang="en-US" altLang="zh-CN" sz="2800" b="1" dirty="0" smtClean="0">
                <a:latin typeface="楷体_GB2312" pitchFamily="49" charset="-122"/>
                <a:ea typeface="楷体_GB2312" pitchFamily="49" charset="-122"/>
              </a:rPr>
              <a:t>)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" name="标题 9"/>
          <p:cNvSpPr txBox="1">
            <a:spLocks/>
          </p:cNvSpPr>
          <p:nvPr/>
        </p:nvSpPr>
        <p:spPr bwMode="auto">
          <a:xfrm>
            <a:off x="1357290" y="785794"/>
            <a:ext cx="6715172" cy="714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6.1 </a:t>
            </a:r>
            <a:r>
              <a:rPr kumimoji="0" lang="zh-CN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磁电感应式传感器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714375" y="1500188"/>
            <a:ext cx="7643813" cy="15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14282" y="3071810"/>
            <a:ext cx="278608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536575"/>
            <a:r>
              <a:rPr lang="zh-CN" altLang="en-US" b="1" dirty="0" smtClean="0">
                <a:solidFill>
                  <a:schemeClr val="tx1"/>
                </a:solidFill>
                <a:latin typeface="+mn-ea"/>
                <a:ea typeface="+mn-ea"/>
              </a:rPr>
              <a:t>感应电动势的变化频率与转速成正比。</a:t>
            </a:r>
            <a:endParaRPr lang="zh-CN" altLang="en-US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3071802" y="2643182"/>
            <a:ext cx="2571768" cy="2533367"/>
            <a:chOff x="3071802" y="2643182"/>
            <a:chExt cx="2571768" cy="2533367"/>
          </a:xfrm>
        </p:grpSpPr>
        <p:sp>
          <p:nvSpPr>
            <p:cNvPr id="2054" name="Text Box 13"/>
            <p:cNvSpPr txBox="1">
              <a:spLocks noChangeArrowheads="1"/>
            </p:cNvSpPr>
            <p:nvPr/>
          </p:nvSpPr>
          <p:spPr bwMode="auto">
            <a:xfrm>
              <a:off x="3071802" y="4714884"/>
              <a:ext cx="2571768" cy="4616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838200" indent="-838200">
                <a:spcBef>
                  <a:spcPct val="50000"/>
                </a:spcBef>
              </a:pPr>
              <a:r>
                <a:rPr lang="zh-CN" altLang="en-US" sz="2400" b="1" dirty="0" smtClean="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rPr>
                <a:t>闭磁路变</a:t>
              </a:r>
              <a:r>
                <a:rPr lang="zh-CN" altLang="en-US" sz="2400" b="1" dirty="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rPr>
                <a:t>磁通式</a:t>
              </a:r>
            </a:p>
          </p:txBody>
        </p:sp>
        <p:pic>
          <p:nvPicPr>
            <p:cNvPr id="43010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3143240" y="2643182"/>
              <a:ext cx="2286016" cy="20574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15" name="圆角矩形标注 14"/>
          <p:cNvSpPr/>
          <p:nvPr/>
        </p:nvSpPr>
        <p:spPr>
          <a:xfrm>
            <a:off x="4214810" y="2143116"/>
            <a:ext cx="1000132" cy="642942"/>
          </a:xfrm>
          <a:prstGeom prst="wedgeRoundRectCallout">
            <a:avLst>
              <a:gd name="adj1" fmla="val -49207"/>
              <a:gd name="adj2" fmla="val 165488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solidFill>
                  <a:schemeClr val="tx1"/>
                </a:solidFill>
              </a:rPr>
              <a:t>铁心</a:t>
            </a:r>
            <a:endParaRPr lang="zh-CN" altLang="en-US" sz="2400" b="1" dirty="0">
              <a:solidFill>
                <a:schemeClr val="tx1"/>
              </a:solidFill>
            </a:endParaRPr>
          </a:p>
        </p:txBody>
      </p:sp>
      <p:sp>
        <p:nvSpPr>
          <p:cNvPr id="17" name="圆角矩形标注 16"/>
          <p:cNvSpPr/>
          <p:nvPr/>
        </p:nvSpPr>
        <p:spPr>
          <a:xfrm>
            <a:off x="5786446" y="2000240"/>
            <a:ext cx="1214446" cy="785818"/>
          </a:xfrm>
          <a:prstGeom prst="wedgeRoundRectCallout">
            <a:avLst>
              <a:gd name="adj1" fmla="val -130250"/>
              <a:gd name="adj2" fmla="val 147432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solidFill>
                  <a:schemeClr val="tx1"/>
                </a:solidFill>
              </a:rPr>
              <a:t>软铁（极掌）</a:t>
            </a:r>
            <a:endParaRPr lang="zh-CN" altLang="en-US" sz="2400" b="1" dirty="0">
              <a:solidFill>
                <a:schemeClr val="tx1"/>
              </a:solidFill>
            </a:endParaRPr>
          </a:p>
        </p:txBody>
      </p:sp>
      <p:sp>
        <p:nvSpPr>
          <p:cNvPr id="16" name="圆角矩形标注 15"/>
          <p:cNvSpPr/>
          <p:nvPr/>
        </p:nvSpPr>
        <p:spPr>
          <a:xfrm>
            <a:off x="5715008" y="3071810"/>
            <a:ext cx="1000132" cy="785818"/>
          </a:xfrm>
          <a:prstGeom prst="wedgeRoundRectCallout">
            <a:avLst>
              <a:gd name="adj1" fmla="val -189502"/>
              <a:gd name="adj2" fmla="val 121350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solidFill>
                  <a:schemeClr val="tx1"/>
                </a:solidFill>
              </a:rPr>
              <a:t>永久磁铁</a:t>
            </a:r>
            <a:endParaRPr lang="zh-CN" altLang="en-US" sz="2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571472" y="1643050"/>
            <a:ext cx="5429288" cy="444489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838200" indent="-838200" algn="l">
              <a:spcBef>
                <a:spcPct val="50000"/>
              </a:spcBef>
            </a:pPr>
            <a:r>
              <a:rPr lang="zh-CN" altLang="en-US" sz="2800" b="1" dirty="0" smtClean="0">
                <a:latin typeface="楷体_GB2312" pitchFamily="49" charset="-122"/>
                <a:ea typeface="楷体_GB2312" pitchFamily="49" charset="-122"/>
              </a:rPr>
              <a:t>恒定磁通式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" name="标题 9"/>
          <p:cNvSpPr txBox="1">
            <a:spLocks/>
          </p:cNvSpPr>
          <p:nvPr/>
        </p:nvSpPr>
        <p:spPr bwMode="auto">
          <a:xfrm>
            <a:off x="1357290" y="785794"/>
            <a:ext cx="6715172" cy="714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6.1 </a:t>
            </a:r>
            <a:r>
              <a:rPr kumimoji="0" lang="zh-CN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磁电感应式传感器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714375" y="1500188"/>
            <a:ext cx="7643813" cy="15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9" name="组合 28"/>
          <p:cNvGrpSpPr/>
          <p:nvPr/>
        </p:nvGrpSpPr>
        <p:grpSpPr>
          <a:xfrm>
            <a:off x="0" y="2500306"/>
            <a:ext cx="4500562" cy="4143404"/>
            <a:chOff x="0" y="2500306"/>
            <a:chExt cx="4500562" cy="4143404"/>
          </a:xfrm>
        </p:grpSpPr>
        <p:sp>
          <p:nvSpPr>
            <p:cNvPr id="26" name="圆角矩形 25"/>
            <p:cNvSpPr/>
            <p:nvPr/>
          </p:nvSpPr>
          <p:spPr>
            <a:xfrm>
              <a:off x="0" y="2500306"/>
              <a:ext cx="4500562" cy="4143404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57158" y="5643578"/>
              <a:ext cx="4000528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536575"/>
              <a:r>
                <a:rPr lang="zh-CN" altLang="en-US" b="1" dirty="0" smtClean="0">
                  <a:solidFill>
                    <a:schemeClr val="tx1"/>
                  </a:solidFill>
                  <a:latin typeface="+mn-ea"/>
                  <a:ea typeface="+mn-ea"/>
                </a:rPr>
                <a:t>磁场恒定，工作气隙不变；线圈发生运动。</a:t>
              </a:r>
              <a:endParaRPr lang="zh-CN" altLang="en-US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714348" y="2857496"/>
              <a:ext cx="2230025" cy="2747681"/>
              <a:chOff x="3218268" y="2928934"/>
              <a:chExt cx="2230025" cy="2747681"/>
            </a:xfrm>
          </p:grpSpPr>
          <p:pic>
            <p:nvPicPr>
              <p:cNvPr id="44034" name="Picture 2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3218268" y="2928934"/>
                <a:ext cx="2230025" cy="2252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13" name="TextBox 12"/>
              <p:cNvSpPr txBox="1"/>
              <p:nvPr/>
            </p:nvSpPr>
            <p:spPr>
              <a:xfrm>
                <a:off x="3714744" y="5214950"/>
                <a:ext cx="128588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 smtClean="0">
                    <a:solidFill>
                      <a:schemeClr val="tx1"/>
                    </a:solidFill>
                    <a:latin typeface="+mj-ea"/>
                    <a:ea typeface="+mj-ea"/>
                  </a:rPr>
                  <a:t>动圈式</a:t>
                </a:r>
                <a:endParaRPr lang="zh-CN" altLang="en-US" sz="2400" b="1" dirty="0">
                  <a:solidFill>
                    <a:schemeClr val="tx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16" name="圆角矩形标注 15"/>
            <p:cNvSpPr/>
            <p:nvPr/>
          </p:nvSpPr>
          <p:spPr>
            <a:xfrm>
              <a:off x="3211088" y="3000372"/>
              <a:ext cx="1000132" cy="785818"/>
            </a:xfrm>
            <a:prstGeom prst="wedgeRoundRectCallout">
              <a:avLst>
                <a:gd name="adj1" fmla="val -189502"/>
                <a:gd name="adj2" fmla="val 121350"/>
                <a:gd name="adj3" fmla="val 16667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 smtClean="0">
                  <a:solidFill>
                    <a:schemeClr val="tx1"/>
                  </a:solidFill>
                </a:rPr>
                <a:t>永久磁铁</a:t>
              </a:r>
              <a:endParaRPr lang="zh-CN" altLang="en-US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15" name="圆角矩形标注 14"/>
            <p:cNvSpPr/>
            <p:nvPr/>
          </p:nvSpPr>
          <p:spPr>
            <a:xfrm>
              <a:off x="0" y="5000636"/>
              <a:ext cx="1000132" cy="642942"/>
            </a:xfrm>
            <a:prstGeom prst="wedgeRoundRectCallout">
              <a:avLst>
                <a:gd name="adj1" fmla="val 95817"/>
                <a:gd name="adj2" fmla="val -167996"/>
                <a:gd name="adj3" fmla="val 16667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 smtClean="0">
                  <a:solidFill>
                    <a:schemeClr val="tx1"/>
                  </a:solidFill>
                </a:rPr>
                <a:t>线圈</a:t>
              </a:r>
              <a:endParaRPr lang="zh-CN" altLang="en-US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24" name="圆角矩形标注 23"/>
            <p:cNvSpPr/>
            <p:nvPr/>
          </p:nvSpPr>
          <p:spPr>
            <a:xfrm>
              <a:off x="3143240" y="4429132"/>
              <a:ext cx="1000132" cy="642942"/>
            </a:xfrm>
            <a:prstGeom prst="wedgeRoundRectCallout">
              <a:avLst>
                <a:gd name="adj1" fmla="val -124871"/>
                <a:gd name="adj2" fmla="val 18363"/>
                <a:gd name="adj3" fmla="val 16667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 smtClean="0">
                  <a:solidFill>
                    <a:schemeClr val="tx1"/>
                  </a:solidFill>
                </a:rPr>
                <a:t>壳体</a:t>
              </a:r>
              <a:endParaRPr lang="zh-CN" altLang="en-US" sz="24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4643438" y="2500306"/>
            <a:ext cx="4500562" cy="4143404"/>
            <a:chOff x="4643438" y="2500306"/>
            <a:chExt cx="4500562" cy="4143404"/>
          </a:xfrm>
        </p:grpSpPr>
        <p:sp>
          <p:nvSpPr>
            <p:cNvPr id="27" name="圆角矩形 26"/>
            <p:cNvSpPr/>
            <p:nvPr/>
          </p:nvSpPr>
          <p:spPr>
            <a:xfrm>
              <a:off x="4643438" y="2500306"/>
              <a:ext cx="4500562" cy="4143404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0" name="组合 19"/>
            <p:cNvGrpSpPr/>
            <p:nvPr/>
          </p:nvGrpSpPr>
          <p:grpSpPr>
            <a:xfrm>
              <a:off x="5643570" y="2786058"/>
              <a:ext cx="1857388" cy="2961995"/>
              <a:chOff x="5643570" y="2786058"/>
              <a:chExt cx="1857388" cy="2961995"/>
            </a:xfrm>
          </p:grpSpPr>
          <p:pic>
            <p:nvPicPr>
              <p:cNvPr id="44035" name="Picture 3"/>
              <p:cNvPicPr>
                <a:picLocks noChangeAspect="1"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>
                <a:off x="5643570" y="2786058"/>
                <a:ext cx="1857388" cy="24757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18" name="TextBox 17"/>
              <p:cNvSpPr txBox="1"/>
              <p:nvPr/>
            </p:nvSpPr>
            <p:spPr>
              <a:xfrm>
                <a:off x="6000760" y="5286388"/>
                <a:ext cx="128588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 smtClean="0">
                    <a:solidFill>
                      <a:schemeClr val="tx1"/>
                    </a:solidFill>
                    <a:latin typeface="+mj-ea"/>
                    <a:ea typeface="+mj-ea"/>
                  </a:rPr>
                  <a:t>动铁式</a:t>
                </a:r>
                <a:endParaRPr lang="zh-CN" altLang="en-US" sz="2400" b="1" dirty="0">
                  <a:solidFill>
                    <a:schemeClr val="tx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21" name="TextBox 20"/>
            <p:cNvSpPr txBox="1"/>
            <p:nvPr/>
          </p:nvSpPr>
          <p:spPr>
            <a:xfrm>
              <a:off x="4786314" y="5929330"/>
              <a:ext cx="40005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536575"/>
              <a:r>
                <a:rPr lang="zh-CN" altLang="en-US" b="1" dirty="0" smtClean="0">
                  <a:solidFill>
                    <a:schemeClr val="tx1"/>
                  </a:solidFill>
                  <a:latin typeface="+mn-ea"/>
                  <a:ea typeface="+mn-ea"/>
                </a:rPr>
                <a:t>线圈不动，磁铁运动。</a:t>
              </a:r>
              <a:endParaRPr lang="zh-CN" altLang="en-US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22" name="圆角矩形标注 21"/>
            <p:cNvSpPr/>
            <p:nvPr/>
          </p:nvSpPr>
          <p:spPr>
            <a:xfrm>
              <a:off x="7572396" y="2857496"/>
              <a:ext cx="1000132" cy="642942"/>
            </a:xfrm>
            <a:prstGeom prst="wedgeRoundRectCallout">
              <a:avLst>
                <a:gd name="adj1" fmla="val -150093"/>
                <a:gd name="adj2" fmla="val 8554"/>
                <a:gd name="adj3" fmla="val 16667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 smtClean="0">
                  <a:solidFill>
                    <a:schemeClr val="tx1"/>
                  </a:solidFill>
                </a:rPr>
                <a:t>弹簧</a:t>
              </a:r>
              <a:endParaRPr lang="zh-CN" altLang="en-US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23" name="圆角矩形标注 22"/>
            <p:cNvSpPr/>
            <p:nvPr/>
          </p:nvSpPr>
          <p:spPr>
            <a:xfrm>
              <a:off x="4714876" y="4357694"/>
              <a:ext cx="1000132" cy="642942"/>
            </a:xfrm>
            <a:prstGeom prst="wedgeRoundRectCallout">
              <a:avLst>
                <a:gd name="adj1" fmla="val 95817"/>
                <a:gd name="adj2" fmla="val -167996"/>
                <a:gd name="adj3" fmla="val 16667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 smtClean="0">
                  <a:solidFill>
                    <a:schemeClr val="tx1"/>
                  </a:solidFill>
                </a:rPr>
                <a:t>线圈</a:t>
              </a:r>
              <a:endParaRPr lang="zh-CN" altLang="en-US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25" name="圆角矩形标注 24"/>
            <p:cNvSpPr/>
            <p:nvPr/>
          </p:nvSpPr>
          <p:spPr>
            <a:xfrm>
              <a:off x="7786710" y="4357694"/>
              <a:ext cx="1000132" cy="642942"/>
            </a:xfrm>
            <a:prstGeom prst="wedgeRoundRectCallout">
              <a:avLst>
                <a:gd name="adj1" fmla="val -124871"/>
                <a:gd name="adj2" fmla="val 18363"/>
                <a:gd name="adj3" fmla="val 16667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 smtClean="0">
                  <a:solidFill>
                    <a:schemeClr val="tx1"/>
                  </a:solidFill>
                </a:rPr>
                <a:t>壳体</a:t>
              </a:r>
              <a:endParaRPr lang="zh-CN" altLang="en-US" sz="24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3143240" y="1785926"/>
            <a:ext cx="4000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+mn-ea"/>
                <a:ea typeface="+mn-ea"/>
              </a:rPr>
              <a:t>壳体与被测物一起振动</a:t>
            </a:r>
            <a:endParaRPr lang="zh-CN" altLang="en-US" b="1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09" name="Text Box 9"/>
          <p:cNvSpPr txBox="1">
            <a:spLocks noChangeArrowheads="1"/>
          </p:cNvSpPr>
          <p:nvPr/>
        </p:nvSpPr>
        <p:spPr bwMode="auto">
          <a:xfrm>
            <a:off x="285721" y="2205038"/>
            <a:ext cx="8501122" cy="3280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Font typeface="Wingdings" pitchFamily="2" charset="2"/>
              <a:buNone/>
            </a:pPr>
            <a:r>
              <a:rPr kumimoji="0" lang="en-US" altLang="zh-CN" sz="2200" b="1" dirty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        </a:t>
            </a:r>
            <a:r>
              <a:rPr kumimoji="0" lang="zh-CN" altLang="en-US" b="1" dirty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磁电感应式传感器只适用于</a:t>
            </a:r>
            <a:r>
              <a:rPr kumimoji="0" lang="zh-CN" altLang="en-US" b="1" dirty="0">
                <a:solidFill>
                  <a:srgbClr val="CC3300"/>
                </a:solidFill>
                <a:latin typeface="Arial" charset="0"/>
                <a:ea typeface="宋体" pitchFamily="2" charset="-122"/>
              </a:rPr>
              <a:t>测量动态物理量</a:t>
            </a:r>
            <a:r>
              <a:rPr kumimoji="0" lang="zh-CN" altLang="en-US" b="1" dirty="0">
                <a:latin typeface="Arial" charset="0"/>
                <a:ea typeface="宋体" pitchFamily="2" charset="-122"/>
              </a:rPr>
              <a:t>，</a:t>
            </a:r>
            <a:r>
              <a:rPr kumimoji="0" lang="zh-CN" altLang="en-US" b="1" dirty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因此动态特性是这种传感器的主要性能</a:t>
            </a:r>
            <a:r>
              <a:rPr kumimoji="0" lang="zh-CN" altLang="en-US" b="1" dirty="0" smtClean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。</a:t>
            </a:r>
            <a:endParaRPr kumimoji="0" lang="en-US" altLang="zh-CN" b="1" dirty="0" smtClean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  <a:p>
            <a:pPr indent="536575" algn="just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Font typeface="Wingdings" pitchFamily="2" charset="2"/>
              <a:buNone/>
            </a:pPr>
            <a:r>
              <a:rPr kumimoji="0" lang="zh-CN" altLang="en-US" b="1" dirty="0" smtClean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在此类传感器动态特性分析中，用</a:t>
            </a:r>
            <a:r>
              <a:rPr kumimoji="0" lang="zh-CN" altLang="en-US" b="1" dirty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机械阻抗概念分析机械振动</a:t>
            </a:r>
            <a:r>
              <a:rPr kumimoji="0" lang="zh-CN" altLang="en-US" b="1" dirty="0" smtClean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系统，可以</a:t>
            </a:r>
            <a:r>
              <a:rPr kumimoji="0" lang="zh-CN" altLang="en-US" b="1" dirty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用简单的代数方法解出描述系统动态特性的传递函数方程，而不必去</a:t>
            </a:r>
            <a:r>
              <a:rPr kumimoji="0" lang="zh-CN" altLang="en-US" b="1" dirty="0" smtClean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解运动微分方程，较为方便。</a:t>
            </a:r>
            <a:endParaRPr kumimoji="0" lang="zh-CN" altLang="en-US" b="1" dirty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5363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500034" y="1571612"/>
            <a:ext cx="8229600" cy="58736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/>
            <a:r>
              <a:rPr lang="zh-CN" altLang="en-US" sz="2800" b="1" dirty="0" smtClean="0">
                <a:solidFill>
                  <a:srgbClr val="F84D08"/>
                </a:solidFill>
                <a:latin typeface="黑体" pitchFamily="49" charset="-122"/>
                <a:ea typeface="黑体" pitchFamily="49" charset="-122"/>
              </a:rPr>
              <a:t>动态特性分析</a:t>
            </a:r>
          </a:p>
        </p:txBody>
      </p:sp>
      <p:sp>
        <p:nvSpPr>
          <p:cNvPr id="5" name="标题 9"/>
          <p:cNvSpPr txBox="1">
            <a:spLocks/>
          </p:cNvSpPr>
          <p:nvPr/>
        </p:nvSpPr>
        <p:spPr bwMode="auto">
          <a:xfrm>
            <a:off x="1357290" y="785794"/>
            <a:ext cx="6715172" cy="714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6.1 </a:t>
            </a:r>
            <a:r>
              <a:rPr kumimoji="0" lang="zh-CN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磁电感应式传感器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714375" y="1500188"/>
            <a:ext cx="7643813" cy="15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0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20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09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42910" y="1571612"/>
            <a:ext cx="6858000" cy="715963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838200" indent="-838200" algn="l"/>
            <a:r>
              <a:rPr lang="zh-CN" altLang="en-US" sz="2800" b="1" dirty="0" smtClean="0">
                <a:solidFill>
                  <a:srgbClr val="F84D08"/>
                </a:solidFill>
                <a:latin typeface="黑体" pitchFamily="49" charset="-122"/>
                <a:ea typeface="黑体" pitchFamily="49" charset="-122"/>
              </a:rPr>
              <a:t>测量电路</a:t>
            </a:r>
          </a:p>
        </p:txBody>
      </p:sp>
      <p:sp>
        <p:nvSpPr>
          <p:cNvPr id="513027" name="Rectangle 3"/>
          <p:cNvSpPr>
            <a:spLocks noRot="1" noChangeArrowheads="1"/>
          </p:cNvSpPr>
          <p:nvPr/>
        </p:nvSpPr>
        <p:spPr bwMode="auto">
          <a:xfrm>
            <a:off x="214282" y="2143116"/>
            <a:ext cx="8715436" cy="35115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indent="630238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b="1" dirty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磁电感应式传感器直接输出感应</a:t>
            </a:r>
            <a:r>
              <a:rPr lang="zh-CN" altLang="en-US" b="1" dirty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电势，所以</a:t>
            </a:r>
            <a:r>
              <a:rPr lang="zh-CN" altLang="en-US" b="1" dirty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任何具有一定工作频带的电压表或示波器都可采用</a:t>
            </a:r>
            <a:r>
              <a:rPr lang="zh-CN" altLang="en-US" b="1" dirty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。</a:t>
            </a:r>
            <a:endParaRPr lang="en-US" altLang="zh-CN" b="1" dirty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  <a:p>
            <a:pPr indent="630238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b="1" dirty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由于</a:t>
            </a:r>
            <a:r>
              <a:rPr lang="zh-CN" altLang="en-US" b="1" dirty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该传感器通常具有较高的灵敏度，所以一般不需要增益放大器</a:t>
            </a:r>
            <a:r>
              <a:rPr lang="zh-CN" altLang="en-US" b="1" dirty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。</a:t>
            </a:r>
            <a:endParaRPr lang="en-US" altLang="zh-CN" b="1" dirty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  <a:p>
            <a:pPr indent="630238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b="1" dirty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磁</a:t>
            </a:r>
            <a:r>
              <a:rPr lang="zh-CN" altLang="en-US" b="1" dirty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电感应式传感器是速度传感器，如要获取位移或加速度信号，就需配用积分电路或微分电路。</a:t>
            </a:r>
          </a:p>
        </p:txBody>
      </p:sp>
      <p:sp>
        <p:nvSpPr>
          <p:cNvPr id="5" name="标题 9"/>
          <p:cNvSpPr txBox="1">
            <a:spLocks/>
          </p:cNvSpPr>
          <p:nvPr/>
        </p:nvSpPr>
        <p:spPr bwMode="auto">
          <a:xfrm>
            <a:off x="1357290" y="785794"/>
            <a:ext cx="6715172" cy="714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6.1 </a:t>
            </a:r>
            <a:r>
              <a:rPr kumimoji="0" lang="zh-CN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磁电感应式传感器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714375" y="1500188"/>
            <a:ext cx="7643813" cy="15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3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3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3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3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3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3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027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1557338"/>
            <a:ext cx="8229600" cy="11430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838200" indent="-838200" algn="l"/>
            <a:r>
              <a:rPr lang="zh-CN" altLang="en-US" sz="2800" b="1" dirty="0" smtClean="0">
                <a:solidFill>
                  <a:srgbClr val="F84D08"/>
                </a:solidFill>
                <a:latin typeface="黑体" pitchFamily="49" charset="-122"/>
                <a:ea typeface="黑体" pitchFamily="49" charset="-122"/>
              </a:rPr>
              <a:t>应用举例</a:t>
            </a:r>
          </a:p>
        </p:txBody>
      </p:sp>
      <p:graphicFrame>
        <p:nvGraphicFramePr>
          <p:cNvPr id="514068" name="Object 20"/>
          <p:cNvGraphicFramePr>
            <a:graphicFrameLocks noGrp="1" noChangeAspect="1"/>
          </p:cNvGraphicFramePr>
          <p:nvPr>
            <p:ph sz="half" idx="1"/>
          </p:nvPr>
        </p:nvGraphicFramePr>
        <p:xfrm>
          <a:off x="827088" y="2349500"/>
          <a:ext cx="4606925" cy="2095500"/>
        </p:xfrm>
        <a:graphic>
          <a:graphicData uri="http://schemas.openxmlformats.org/presentationml/2006/ole">
            <p:oleObj spid="_x0000_s3074" name="Image" r:id="rId4" imgW="25459592" imgH="11578776" progId="">
              <p:embed/>
            </p:oleObj>
          </a:graphicData>
        </a:graphic>
      </p:graphicFrame>
      <p:graphicFrame>
        <p:nvGraphicFramePr>
          <p:cNvPr id="514070" name="Object 22"/>
          <p:cNvGraphicFramePr>
            <a:graphicFrameLocks noGrp="1" noChangeAspect="1"/>
          </p:cNvGraphicFramePr>
          <p:nvPr>
            <p:ph sz="half" idx="2"/>
          </p:nvPr>
        </p:nvGraphicFramePr>
        <p:xfrm>
          <a:off x="5508625" y="2276475"/>
          <a:ext cx="3249613" cy="2952750"/>
        </p:xfrm>
        <a:graphic>
          <a:graphicData uri="http://schemas.openxmlformats.org/presentationml/2006/ole">
            <p:oleObj spid="_x0000_s3075" name="Image" r:id="rId5" imgW="12744490" imgH="11578776" progId="">
              <p:embed/>
            </p:oleObj>
          </a:graphicData>
        </a:graphic>
      </p:graphicFrame>
      <p:sp>
        <p:nvSpPr>
          <p:cNvPr id="3077" name="Text Box 24"/>
          <p:cNvSpPr txBox="1">
            <a:spLocks noChangeArrowheads="1"/>
          </p:cNvSpPr>
          <p:nvPr/>
        </p:nvSpPr>
        <p:spPr bwMode="auto">
          <a:xfrm>
            <a:off x="1619250" y="4652963"/>
            <a:ext cx="2736850" cy="5191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838200" indent="-838200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振动速度传感器</a:t>
            </a:r>
          </a:p>
        </p:txBody>
      </p:sp>
      <p:sp>
        <p:nvSpPr>
          <p:cNvPr id="3078" name="Text Box 25"/>
          <p:cNvSpPr txBox="1">
            <a:spLocks noChangeArrowheads="1"/>
          </p:cNvSpPr>
          <p:nvPr/>
        </p:nvSpPr>
        <p:spPr bwMode="auto">
          <a:xfrm>
            <a:off x="6156325" y="5373688"/>
            <a:ext cx="2232025" cy="5191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838200" indent="-838200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转速传感器</a:t>
            </a:r>
          </a:p>
        </p:txBody>
      </p:sp>
      <p:sp>
        <p:nvSpPr>
          <p:cNvPr id="8" name="标题 9"/>
          <p:cNvSpPr txBox="1">
            <a:spLocks/>
          </p:cNvSpPr>
          <p:nvPr/>
        </p:nvSpPr>
        <p:spPr bwMode="auto">
          <a:xfrm>
            <a:off x="1357290" y="785794"/>
            <a:ext cx="6715172" cy="714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6.1 </a:t>
            </a:r>
            <a:r>
              <a:rPr kumimoji="0" lang="zh-CN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磁电感应式传感器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714375" y="1500188"/>
            <a:ext cx="7643813" cy="15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" dur="500"/>
                                        <p:tgtEl>
                                          <p:spTgt spid="5140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514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514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4050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714348" y="714356"/>
            <a:ext cx="8027987" cy="658803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838200" lvl="0" indent="-838200"/>
            <a:r>
              <a:rPr lang="en-US" altLang="zh-CN" b="1" dirty="0" smtClean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6.2 </a:t>
            </a:r>
            <a:r>
              <a:rPr lang="zh-CN" altLang="en-US" b="1" dirty="0" smtClean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霍尔式传感器</a:t>
            </a:r>
            <a:r>
              <a:rPr lang="zh-CN" altLang="en-US" sz="2800" b="1" dirty="0" smtClean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2800" b="1" dirty="0" smtClean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</a:br>
            <a:endParaRPr lang="zh-CN" altLang="en-US" sz="2800" b="1" dirty="0" smtClean="0">
              <a:solidFill>
                <a:srgbClr val="F84D08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102" name="Text Box 12"/>
          <p:cNvSpPr txBox="1">
            <a:spLocks noChangeArrowheads="1"/>
          </p:cNvSpPr>
          <p:nvPr/>
        </p:nvSpPr>
        <p:spPr bwMode="auto">
          <a:xfrm>
            <a:off x="285720" y="1785926"/>
            <a:ext cx="8643998" cy="18158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531813">
              <a:spcBef>
                <a:spcPct val="20000"/>
              </a:spcBef>
              <a:buClr>
                <a:schemeClr val="folHlink"/>
              </a:buClr>
              <a:buFont typeface="Wingdings" pitchFamily="2" charset="2"/>
              <a:buNone/>
            </a:pPr>
            <a:r>
              <a:rPr lang="zh-CN" altLang="en-US" b="1" dirty="0" smtClean="0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</a:rPr>
              <a:t>霍尔效应是磁电效应的一种，这一现象是霍尔（</a:t>
            </a:r>
            <a:r>
              <a:rPr lang="en-US" altLang="zh-CN" b="1" dirty="0" smtClean="0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</a:rPr>
              <a:t>A.</a:t>
            </a:r>
            <a:r>
              <a:rPr lang="zh-CN" altLang="en-US" b="1" dirty="0" smtClean="0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</a:rPr>
              <a:t> </a:t>
            </a:r>
            <a:r>
              <a:rPr lang="en-US" altLang="zh-CN" b="1" dirty="0" smtClean="0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</a:rPr>
              <a:t>H.</a:t>
            </a:r>
            <a:r>
              <a:rPr lang="zh-CN" altLang="en-US" b="1" dirty="0" smtClean="0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</a:rPr>
              <a:t> </a:t>
            </a:r>
            <a:r>
              <a:rPr lang="en-US" altLang="zh-CN" b="1" dirty="0" smtClean="0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</a:rPr>
              <a:t>Hall</a:t>
            </a:r>
            <a:r>
              <a:rPr lang="zh-CN" altLang="en-US" b="1" dirty="0" smtClean="0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</a:rPr>
              <a:t>，</a:t>
            </a:r>
            <a:r>
              <a:rPr lang="en-US" altLang="zh-CN" b="1" dirty="0" smtClean="0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</a:rPr>
              <a:t>1855—1938</a:t>
            </a:r>
            <a:r>
              <a:rPr lang="zh-CN" altLang="en-US" b="1" dirty="0" smtClean="0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</a:rPr>
              <a:t>）于</a:t>
            </a:r>
            <a:r>
              <a:rPr lang="en-US" altLang="zh-CN" b="1" dirty="0" smtClean="0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</a:rPr>
              <a:t>1879</a:t>
            </a:r>
            <a:r>
              <a:rPr lang="zh-CN" altLang="en-US" b="1" dirty="0" smtClean="0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</a:rPr>
              <a:t>年在研究金属的导电机构时发现的。后来发现半导体、导电流体等也有这种效应，而半导体的霍尔效应比金属强得多。</a:t>
            </a:r>
            <a:endParaRPr lang="zh-CN" altLang="en-US" b="1" dirty="0">
              <a:solidFill>
                <a:schemeClr val="tx1"/>
              </a:solidFill>
              <a:latin typeface="华文楷体" pitchFamily="2" charset="-122"/>
              <a:ea typeface="华文楷体" pitchFamily="2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14375" y="1500188"/>
            <a:ext cx="7643813" cy="15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285720" y="3786190"/>
            <a:ext cx="600079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31813"/>
            <a:r>
              <a:rPr lang="zh-CN" altLang="en-US" b="1" dirty="0" smtClean="0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</a:rPr>
              <a:t>霍尔效应是研究半导体材料性能的基本方法。通过霍尔效应实验测定的霍尔系数，能够判断半导体材料的导电类型、载流子浓度及载流子迁移率等重要参数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pic>
        <p:nvPicPr>
          <p:cNvPr id="10" name="图片 9" descr="2e6fa7380c759781d56225ce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5073" y="3929066"/>
            <a:ext cx="2857519" cy="21431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1071538" y="714356"/>
            <a:ext cx="7724775" cy="857256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b="1" dirty="0" smtClean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6.2 </a:t>
            </a:r>
            <a:r>
              <a:rPr lang="zh-CN" altLang="en-US" b="1" dirty="0" smtClean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霍尔式传感器</a:t>
            </a:r>
          </a:p>
        </p:txBody>
      </p:sp>
      <p:sp>
        <p:nvSpPr>
          <p:cNvPr id="17412" name="Text Box 11"/>
          <p:cNvSpPr txBox="1">
            <a:spLocks noChangeArrowheads="1"/>
          </p:cNvSpPr>
          <p:nvPr/>
        </p:nvSpPr>
        <p:spPr bwMode="auto">
          <a:xfrm>
            <a:off x="214282" y="1714488"/>
            <a:ext cx="8715436" cy="151426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79388" lvl="1" indent="36195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霍尔式传感器是利用霍尔元件基于</a:t>
            </a:r>
            <a:r>
              <a:rPr lang="zh-CN" altLang="en-US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霍尔效应</a:t>
            </a:r>
            <a:r>
              <a:rPr lang="zh-CN" altLang="en-US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原理而将被</a:t>
            </a:r>
            <a:r>
              <a:rPr lang="zh-CN" altLang="en-US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测量</a:t>
            </a:r>
            <a:r>
              <a:rPr lang="en-US" altLang="zh-CN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( </a:t>
            </a:r>
            <a:r>
              <a:rPr lang="zh-CN" altLang="en-US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如</a:t>
            </a:r>
            <a:r>
              <a:rPr lang="zh-CN" altLang="en-US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电流、磁场、位移、</a:t>
            </a:r>
            <a:r>
              <a:rPr lang="zh-CN" altLang="en-US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压力等 </a:t>
            </a:r>
            <a:r>
              <a:rPr lang="en-US" altLang="zh-CN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)</a:t>
            </a:r>
            <a:r>
              <a:rPr lang="zh-CN" altLang="en-US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转换</a:t>
            </a:r>
            <a:r>
              <a:rPr lang="zh-CN" altLang="en-US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成电动势输出的一种传感器</a:t>
            </a:r>
            <a:r>
              <a:rPr lang="zh-CN" altLang="en-US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。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714375" y="1500188"/>
            <a:ext cx="7643813" cy="15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285720" y="5903893"/>
            <a:ext cx="8643998" cy="954107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/>
          <a:p>
            <a:pPr indent="536575"/>
            <a:r>
              <a:rPr lang="zh-CN" altLang="en-US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在测量技术、自动化技术和信息处理等方面有广泛的应用。</a:t>
            </a:r>
            <a:endParaRPr lang="zh-CN" altLang="en-US" dirty="0"/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285720" y="3214686"/>
          <a:ext cx="8643998" cy="2535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29354"/>
                <a:gridCol w="2714644"/>
              </a:tblGrid>
              <a:tr h="50006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2800" b="1" dirty="0" smtClean="0">
                          <a:solidFill>
                            <a:srgbClr val="FF0000"/>
                          </a:solidFill>
                          <a:latin typeface="黑体" pitchFamily="49" charset="-122"/>
                          <a:ea typeface="黑体" pitchFamily="49" charset="-122"/>
                        </a:rPr>
                        <a:t>优点</a:t>
                      </a:r>
                      <a:endParaRPr lang="zh-CN" altLang="en-US" sz="2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2800" b="1" kern="1200" dirty="0" smtClean="0">
                          <a:solidFill>
                            <a:srgbClr val="FF0000"/>
                          </a:solidFill>
                          <a:latin typeface="黑体" pitchFamily="49" charset="-122"/>
                          <a:ea typeface="黑体" pitchFamily="49" charset="-122"/>
                          <a:cs typeface="+mn-cs"/>
                        </a:rPr>
                        <a:t>缺点</a:t>
                      </a:r>
                    </a:p>
                  </a:txBody>
                  <a:tcPr anchor="ctr"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</a:tr>
              <a:tr h="2017420">
                <a:tc>
                  <a:txBody>
                    <a:bodyPr/>
                    <a:lstStyle/>
                    <a:p>
                      <a:pPr marL="441325" indent="-441325">
                        <a:buFont typeface="Wingdings" pitchFamily="2" charset="2"/>
                        <a:buChar char="u"/>
                      </a:pPr>
                      <a:r>
                        <a:rPr lang="zh-CN" altLang="en-US" sz="2400" b="1" dirty="0" smtClean="0">
                          <a:solidFill>
                            <a:schemeClr val="tx1"/>
                          </a:solidFill>
                          <a:latin typeface="楷体" pitchFamily="49" charset="-122"/>
                          <a:ea typeface="楷体" pitchFamily="49" charset="-122"/>
                        </a:rPr>
                        <a:t>结构简单、坚固，体积小；</a:t>
                      </a:r>
                      <a:endParaRPr lang="en-US" altLang="zh-CN" sz="2400" b="1" dirty="0" smtClean="0">
                        <a:solidFill>
                          <a:schemeClr val="tx1"/>
                        </a:solidFill>
                        <a:latin typeface="楷体" pitchFamily="49" charset="-122"/>
                        <a:ea typeface="楷体" pitchFamily="49" charset="-122"/>
                      </a:endParaRPr>
                    </a:p>
                    <a:p>
                      <a:pPr marL="441325" indent="-441325">
                        <a:buFont typeface="Wingdings" pitchFamily="2" charset="2"/>
                        <a:buChar char="u"/>
                      </a:pPr>
                      <a:r>
                        <a:rPr lang="zh-CN" altLang="en-US" sz="2400" b="1" dirty="0" smtClean="0">
                          <a:solidFill>
                            <a:schemeClr val="tx1"/>
                          </a:solidFill>
                          <a:latin typeface="楷体" pitchFamily="49" charset="-122"/>
                          <a:ea typeface="楷体" pitchFamily="49" charset="-122"/>
                        </a:rPr>
                        <a:t>频率响应宽</a:t>
                      </a:r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楷体" pitchFamily="49" charset="-122"/>
                          <a:ea typeface="楷体" pitchFamily="49" charset="-122"/>
                        </a:rPr>
                        <a:t>(</a:t>
                      </a:r>
                      <a:r>
                        <a:rPr lang="zh-CN" altLang="en-US" sz="2400" b="1" dirty="0" smtClean="0">
                          <a:solidFill>
                            <a:schemeClr val="tx1"/>
                          </a:solidFill>
                          <a:latin typeface="楷体" pitchFamily="49" charset="-122"/>
                          <a:ea typeface="楷体" pitchFamily="49" charset="-122"/>
                        </a:rPr>
                        <a:t>从直流到微波</a:t>
                      </a:r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楷体" pitchFamily="49" charset="-122"/>
                          <a:ea typeface="楷体" pitchFamily="49" charset="-122"/>
                        </a:rPr>
                        <a:t>)</a:t>
                      </a:r>
                      <a:r>
                        <a:rPr lang="zh-CN" altLang="en-US" sz="2400" b="1" dirty="0" smtClean="0">
                          <a:solidFill>
                            <a:schemeClr val="tx1"/>
                          </a:solidFill>
                          <a:latin typeface="楷体" pitchFamily="49" charset="-122"/>
                          <a:ea typeface="楷体" pitchFamily="49" charset="-122"/>
                        </a:rPr>
                        <a:t>；</a:t>
                      </a:r>
                      <a:endParaRPr lang="en-US" altLang="zh-CN" sz="2400" b="1" dirty="0" smtClean="0">
                        <a:solidFill>
                          <a:schemeClr val="tx1"/>
                        </a:solidFill>
                        <a:latin typeface="楷体" pitchFamily="49" charset="-122"/>
                        <a:ea typeface="楷体" pitchFamily="49" charset="-122"/>
                      </a:endParaRPr>
                    </a:p>
                    <a:p>
                      <a:pPr marL="441325" indent="-441325">
                        <a:buFont typeface="Wingdings" pitchFamily="2" charset="2"/>
                        <a:buChar char="u"/>
                      </a:pPr>
                      <a:r>
                        <a:rPr lang="zh-CN" altLang="en-US" sz="2400" b="1" dirty="0" smtClean="0">
                          <a:solidFill>
                            <a:schemeClr val="tx1"/>
                          </a:solidFill>
                          <a:latin typeface="楷体" pitchFamily="49" charset="-122"/>
                          <a:ea typeface="楷体" pitchFamily="49" charset="-122"/>
                        </a:rPr>
                        <a:t>动态范围</a:t>
                      </a:r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楷体" pitchFamily="49" charset="-122"/>
                          <a:ea typeface="楷体" pitchFamily="49" charset="-122"/>
                        </a:rPr>
                        <a:t>(</a:t>
                      </a:r>
                      <a:r>
                        <a:rPr lang="zh-CN" altLang="en-US" sz="2400" b="1" dirty="0" smtClean="0">
                          <a:solidFill>
                            <a:schemeClr val="tx1"/>
                          </a:solidFill>
                          <a:latin typeface="楷体" pitchFamily="49" charset="-122"/>
                          <a:ea typeface="楷体" pitchFamily="49" charset="-122"/>
                        </a:rPr>
                        <a:t>输出电势的变化</a:t>
                      </a:r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楷体" pitchFamily="49" charset="-122"/>
                          <a:ea typeface="楷体" pitchFamily="49" charset="-122"/>
                        </a:rPr>
                        <a:t>)</a:t>
                      </a:r>
                      <a:r>
                        <a:rPr lang="zh-CN" altLang="en-US" sz="2400" b="1" dirty="0" smtClean="0">
                          <a:solidFill>
                            <a:schemeClr val="tx1"/>
                          </a:solidFill>
                          <a:latin typeface="楷体" pitchFamily="49" charset="-122"/>
                          <a:ea typeface="楷体" pitchFamily="49" charset="-122"/>
                        </a:rPr>
                        <a:t>大；</a:t>
                      </a:r>
                      <a:endParaRPr lang="en-US" altLang="zh-CN" sz="2400" b="1" dirty="0" smtClean="0">
                        <a:solidFill>
                          <a:schemeClr val="tx1"/>
                        </a:solidFill>
                        <a:latin typeface="楷体" pitchFamily="49" charset="-122"/>
                        <a:ea typeface="楷体" pitchFamily="49" charset="-122"/>
                      </a:endParaRPr>
                    </a:p>
                    <a:p>
                      <a:pPr marL="441325" indent="-441325">
                        <a:buFont typeface="Wingdings" pitchFamily="2" charset="2"/>
                        <a:buChar char="u"/>
                      </a:pPr>
                      <a:r>
                        <a:rPr lang="zh-CN" altLang="en-US" sz="2400" b="1" dirty="0" smtClean="0">
                          <a:solidFill>
                            <a:schemeClr val="tx1"/>
                          </a:solidFill>
                          <a:latin typeface="楷体" pitchFamily="49" charset="-122"/>
                          <a:ea typeface="楷体" pitchFamily="49" charset="-122"/>
                        </a:rPr>
                        <a:t>无触点，使用寿命长，可靠性高；</a:t>
                      </a:r>
                      <a:endParaRPr lang="en-US" altLang="zh-CN" sz="2400" b="1" dirty="0" smtClean="0">
                        <a:solidFill>
                          <a:schemeClr val="tx1"/>
                        </a:solidFill>
                        <a:latin typeface="楷体" pitchFamily="49" charset="-122"/>
                        <a:ea typeface="楷体" pitchFamily="49" charset="-122"/>
                      </a:endParaRPr>
                    </a:p>
                    <a:p>
                      <a:pPr marL="441325" indent="-441325">
                        <a:buFont typeface="Wingdings" pitchFamily="2" charset="2"/>
                        <a:buChar char="u"/>
                      </a:pPr>
                      <a:r>
                        <a:rPr lang="zh-CN" altLang="en-US" sz="2400" b="1" dirty="0" smtClean="0">
                          <a:solidFill>
                            <a:schemeClr val="tx1"/>
                          </a:solidFill>
                          <a:latin typeface="楷体" pitchFamily="49" charset="-122"/>
                          <a:ea typeface="楷体" pitchFamily="49" charset="-122"/>
                        </a:rPr>
                        <a:t>易微型化和集成电路化。</a:t>
                      </a:r>
                      <a:endParaRPr lang="zh-CN" altLang="en-US" sz="2400" dirty="0">
                        <a:latin typeface="楷体" pitchFamily="49" charset="-122"/>
                        <a:ea typeface="楷体" pitchFamily="49" charset="-122"/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441325" indent="-441325" algn="l" defTabSz="914400" rtl="0" eaLnBrk="1" latinLnBrk="0" hangingPunct="1">
                        <a:buFont typeface="Wingdings" pitchFamily="2" charset="2"/>
                        <a:buChar char="u"/>
                      </a:pPr>
                      <a:r>
                        <a:rPr lang="zh-CN" altLang="en-US" sz="2400" b="1" kern="1200" dirty="0" smtClean="0">
                          <a:solidFill>
                            <a:schemeClr val="tx1"/>
                          </a:solidFill>
                          <a:latin typeface="楷体" pitchFamily="49" charset="-122"/>
                          <a:ea typeface="楷体" pitchFamily="49" charset="-122"/>
                          <a:cs typeface="+mn-cs"/>
                        </a:rPr>
                        <a:t>转换效率较低；</a:t>
                      </a:r>
                      <a:endParaRPr lang="en-US" altLang="zh-CN" sz="2400" b="1" kern="1200" dirty="0" smtClean="0">
                        <a:solidFill>
                          <a:schemeClr val="tx1"/>
                        </a:solidFill>
                        <a:latin typeface="楷体" pitchFamily="49" charset="-122"/>
                        <a:ea typeface="楷体" pitchFamily="49" charset="-122"/>
                        <a:cs typeface="+mn-cs"/>
                      </a:endParaRPr>
                    </a:p>
                    <a:p>
                      <a:pPr marL="441325" indent="-441325" algn="l" defTabSz="914400" rtl="0" eaLnBrk="1" latinLnBrk="0" hangingPunct="1">
                        <a:buFont typeface="Wingdings" pitchFamily="2" charset="2"/>
                        <a:buChar char="u"/>
                      </a:pPr>
                      <a:r>
                        <a:rPr lang="zh-CN" altLang="en-US" sz="2400" b="1" kern="1200" dirty="0" smtClean="0">
                          <a:solidFill>
                            <a:schemeClr val="tx1"/>
                          </a:solidFill>
                          <a:latin typeface="楷体" pitchFamily="49" charset="-122"/>
                          <a:ea typeface="楷体" pitchFamily="49" charset="-122"/>
                          <a:cs typeface="+mn-cs"/>
                        </a:rPr>
                        <a:t>温度影响大；</a:t>
                      </a:r>
                      <a:endParaRPr lang="en-US" altLang="zh-CN" sz="2400" b="1" kern="1200" dirty="0" smtClean="0">
                        <a:solidFill>
                          <a:schemeClr val="tx1"/>
                        </a:solidFill>
                        <a:latin typeface="楷体" pitchFamily="49" charset="-122"/>
                        <a:ea typeface="楷体" pitchFamily="49" charset="-122"/>
                        <a:cs typeface="+mn-cs"/>
                      </a:endParaRPr>
                    </a:p>
                    <a:p>
                      <a:pPr marL="441325" indent="-441325" algn="l" defTabSz="914400" rtl="0" eaLnBrk="1" latinLnBrk="0" hangingPunct="1">
                        <a:buFont typeface="Wingdings" pitchFamily="2" charset="2"/>
                        <a:buChar char="u"/>
                      </a:pPr>
                      <a:r>
                        <a:rPr lang="zh-CN" altLang="en-US" sz="2400" b="1" kern="1200" dirty="0" smtClean="0">
                          <a:solidFill>
                            <a:schemeClr val="tx1"/>
                          </a:solidFill>
                          <a:latin typeface="楷体" pitchFamily="49" charset="-122"/>
                          <a:ea typeface="楷体" pitchFamily="49" charset="-122"/>
                          <a:cs typeface="+mn-cs"/>
                        </a:rPr>
                        <a:t>要求转换精度较高时必须进行温度补偿。</a:t>
                      </a:r>
                    </a:p>
                  </a:txBody>
                  <a:tcPr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285720" y="2133600"/>
            <a:ext cx="8643998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536575">
              <a:buClr>
                <a:srgbClr val="F84D08"/>
              </a:buClr>
            </a:pPr>
            <a:r>
              <a:rPr lang="zh-CN" altLang="en-US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金属</a:t>
            </a:r>
            <a:r>
              <a:rPr lang="zh-CN" altLang="en-US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或半导体薄片置于磁场中，当有电流流过时，在垂直于电流和磁场的方向上将产生电动势，这种物理现象称为</a:t>
            </a:r>
            <a:r>
              <a:rPr lang="zh-CN" altLang="en-US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霍尔效应</a:t>
            </a:r>
            <a:r>
              <a:rPr lang="zh-CN" altLang="en-US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。</a:t>
            </a:r>
          </a:p>
        </p:txBody>
      </p:sp>
      <p:sp>
        <p:nvSpPr>
          <p:cNvPr id="4101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428596" y="1571612"/>
            <a:ext cx="8027987" cy="58736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838200" indent="-838200" algn="l"/>
            <a:r>
              <a:rPr lang="zh-CN" altLang="en-US" sz="2800" b="1" dirty="0" smtClean="0">
                <a:solidFill>
                  <a:srgbClr val="F84D08"/>
                </a:solidFill>
                <a:latin typeface="黑体" pitchFamily="49" charset="-122"/>
                <a:ea typeface="黑体" pitchFamily="49" charset="-122"/>
              </a:rPr>
              <a:t>霍尔效应</a:t>
            </a:r>
          </a:p>
        </p:txBody>
      </p:sp>
      <p:sp>
        <p:nvSpPr>
          <p:cNvPr id="4102" name="Text Box 12"/>
          <p:cNvSpPr txBox="1">
            <a:spLocks noChangeArrowheads="1"/>
          </p:cNvSpPr>
          <p:nvPr/>
        </p:nvSpPr>
        <p:spPr bwMode="auto">
          <a:xfrm>
            <a:off x="1214414" y="6072206"/>
            <a:ext cx="6000792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355600">
              <a:spcBef>
                <a:spcPct val="20000"/>
              </a:spcBef>
              <a:buClr>
                <a:schemeClr val="folHlink"/>
              </a:buClr>
              <a:buFont typeface="Wingdings" pitchFamily="2" charset="2"/>
              <a:buNone/>
            </a:pPr>
            <a:r>
              <a:rPr kumimoji="0" lang="zh-CN" altLang="en-US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霍尔</a:t>
            </a:r>
            <a:r>
              <a:rPr kumimoji="0" lang="zh-CN" altLang="en-US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式</a:t>
            </a:r>
            <a:r>
              <a:rPr kumimoji="0" lang="zh-CN" altLang="en-US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传感器由</a:t>
            </a:r>
            <a:r>
              <a:rPr kumimoji="0" lang="zh-CN" altLang="en-US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霍尔元件所组成</a:t>
            </a:r>
            <a:r>
              <a:rPr kumimoji="0" lang="zh-CN" altLang="en-US" b="1" dirty="0">
                <a:solidFill>
                  <a:schemeClr val="tx1"/>
                </a:solidFill>
              </a:rPr>
              <a:t>。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" name="Rectangle 8"/>
          <p:cNvSpPr txBox="1">
            <a:spLocks noChangeArrowheads="1"/>
          </p:cNvSpPr>
          <p:nvPr/>
        </p:nvSpPr>
        <p:spPr bwMode="auto">
          <a:xfrm>
            <a:off x="1071538" y="714356"/>
            <a:ext cx="7724775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6.2 </a:t>
            </a:r>
            <a:r>
              <a:rPr kumimoji="0" lang="zh-CN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霍尔式传感器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714375" y="1500188"/>
            <a:ext cx="7643813" cy="15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85918" y="3500438"/>
            <a:ext cx="4701811" cy="2357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5"/>
          <p:cNvSpPr txBox="1">
            <a:spLocks noChangeArrowheads="1"/>
          </p:cNvSpPr>
          <p:nvPr/>
        </p:nvSpPr>
        <p:spPr bwMode="auto">
          <a:xfrm>
            <a:off x="214282" y="2133600"/>
            <a:ext cx="8715436" cy="95410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79388" lvl="1"/>
            <a:r>
              <a:rPr lang="en-US" altLang="zh-CN" b="1" dirty="0">
                <a:latin typeface="Times New Roman" pitchFamily="18" charset="0"/>
                <a:ea typeface="宋体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电子按一定速度</a:t>
            </a:r>
            <a:r>
              <a:rPr lang="zh-CN" altLang="en-US" b="1" i="1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v</a:t>
            </a:r>
            <a:r>
              <a:rPr lang="en-US" altLang="zh-CN" b="1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在磁场 </a:t>
            </a:r>
            <a:r>
              <a:rPr lang="en-US" altLang="zh-CN" b="1" i="1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的作用下运动，受到的洛伦兹力的作用为 </a:t>
            </a:r>
            <a:r>
              <a:rPr lang="zh-CN" altLang="en-US" b="1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：</a:t>
            </a:r>
            <a:r>
              <a:rPr lang="en-US" altLang="zh-CN" b="1" i="1" dirty="0" smtClean="0">
                <a:solidFill>
                  <a:srgbClr val="CC33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b="1" i="1" baseline="-25000" dirty="0" smtClean="0">
                <a:solidFill>
                  <a:srgbClr val="CC3300"/>
                </a:solidFill>
                <a:latin typeface="Times New Roman" pitchFamily="18" charset="0"/>
                <a:ea typeface="宋体" pitchFamily="2" charset="-122"/>
              </a:rPr>
              <a:t>l </a:t>
            </a:r>
            <a:r>
              <a:rPr lang="en-US" altLang="zh-CN" b="1" i="1" dirty="0">
                <a:solidFill>
                  <a:srgbClr val="CC3300"/>
                </a:solidFill>
                <a:latin typeface="Times New Roman" pitchFamily="18" charset="0"/>
                <a:ea typeface="宋体" pitchFamily="2" charset="-122"/>
              </a:rPr>
              <a:t>= </a:t>
            </a:r>
            <a:r>
              <a:rPr lang="en-US" altLang="zh-CN" b="1" i="1" dirty="0" err="1" smtClean="0">
                <a:solidFill>
                  <a:srgbClr val="CC3300"/>
                </a:solidFill>
                <a:latin typeface="Times New Roman" pitchFamily="18" charset="0"/>
                <a:ea typeface="宋体" pitchFamily="2" charset="-122"/>
              </a:rPr>
              <a:t>evB</a:t>
            </a:r>
            <a:endParaRPr lang="en-US" altLang="zh-CN" b="1" i="1" dirty="0">
              <a:solidFill>
                <a:srgbClr val="CC3300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8436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571472" y="1571612"/>
            <a:ext cx="8101012" cy="444489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/>
            <a:r>
              <a:rPr lang="zh-CN" altLang="en-US" sz="2800" b="1" dirty="0" smtClean="0">
                <a:solidFill>
                  <a:srgbClr val="F84D08"/>
                </a:solidFill>
                <a:latin typeface="黑体" pitchFamily="49" charset="-122"/>
                <a:ea typeface="黑体" pitchFamily="49" charset="-122"/>
              </a:rPr>
              <a:t>霍尔效应</a:t>
            </a:r>
            <a:endParaRPr lang="zh-CN" altLang="en-US" sz="2800" dirty="0" smtClean="0"/>
          </a:p>
        </p:txBody>
      </p:sp>
      <p:sp>
        <p:nvSpPr>
          <p:cNvPr id="5" name="Rectangle 8"/>
          <p:cNvSpPr txBox="1">
            <a:spLocks noChangeArrowheads="1"/>
          </p:cNvSpPr>
          <p:nvPr/>
        </p:nvSpPr>
        <p:spPr bwMode="auto">
          <a:xfrm>
            <a:off x="1071538" y="714356"/>
            <a:ext cx="7724775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6.2 </a:t>
            </a:r>
            <a:r>
              <a:rPr kumimoji="0" lang="zh-CN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霍尔式传感器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714375" y="1500188"/>
            <a:ext cx="7643813" cy="15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214282" y="3143248"/>
            <a:ext cx="8929718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79388" lvl="1"/>
            <a:r>
              <a:rPr lang="zh-CN" altLang="en-US" b="1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受到</a:t>
            </a:r>
            <a:r>
              <a:rPr lang="zh-CN" altLang="en-US" b="1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电场作用力</a:t>
            </a:r>
            <a:r>
              <a:rPr lang="zh-CN" altLang="en-US" b="1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为：</a:t>
            </a:r>
            <a:r>
              <a:rPr lang="zh-CN" altLang="en-US" b="1" dirty="0" smtClean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</a:rPr>
              <a:t>  </a:t>
            </a:r>
            <a:r>
              <a:rPr lang="en-US" altLang="zh-CN" b="1" i="1" dirty="0">
                <a:solidFill>
                  <a:srgbClr val="CC0066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b="1" i="1" baseline="-25000" dirty="0">
                <a:solidFill>
                  <a:srgbClr val="CC0066"/>
                </a:solidFill>
                <a:latin typeface="Times New Roman" pitchFamily="18" charset="0"/>
                <a:ea typeface="宋体" pitchFamily="2" charset="-122"/>
              </a:rPr>
              <a:t>H</a:t>
            </a:r>
            <a:r>
              <a:rPr lang="en-US" altLang="zh-CN" b="1" i="1" dirty="0">
                <a:solidFill>
                  <a:srgbClr val="CC0066"/>
                </a:solidFill>
                <a:latin typeface="Times New Roman" pitchFamily="18" charset="0"/>
                <a:ea typeface="宋体" pitchFamily="2" charset="-122"/>
              </a:rPr>
              <a:t> = - </a:t>
            </a:r>
            <a:r>
              <a:rPr lang="en-US" altLang="zh-CN" b="1" i="1" dirty="0" err="1">
                <a:solidFill>
                  <a:srgbClr val="CC0066"/>
                </a:solidFill>
                <a:latin typeface="Times New Roman" pitchFamily="18" charset="0"/>
                <a:ea typeface="宋体" pitchFamily="2" charset="-122"/>
              </a:rPr>
              <a:t>eE</a:t>
            </a:r>
            <a:r>
              <a:rPr lang="en-US" altLang="zh-CN" b="1" i="1" baseline="-25000" dirty="0" err="1">
                <a:solidFill>
                  <a:srgbClr val="CC0066"/>
                </a:solidFill>
                <a:latin typeface="Times New Roman" pitchFamily="18" charset="0"/>
                <a:ea typeface="宋体" pitchFamily="2" charset="-122"/>
              </a:rPr>
              <a:t>H</a:t>
            </a:r>
            <a:r>
              <a:rPr lang="en-US" altLang="zh-CN" b="1" i="1" dirty="0">
                <a:solidFill>
                  <a:srgbClr val="CC0066"/>
                </a:solidFill>
                <a:latin typeface="Times New Roman" pitchFamily="18" charset="0"/>
                <a:ea typeface="宋体" pitchFamily="2" charset="-122"/>
              </a:rPr>
              <a:t> = - </a:t>
            </a:r>
            <a:r>
              <a:rPr lang="en-US" altLang="zh-CN" b="1" i="1" dirty="0" err="1" smtClean="0">
                <a:solidFill>
                  <a:srgbClr val="CC0066"/>
                </a:solidFill>
                <a:latin typeface="Times New Roman" pitchFamily="18" charset="0"/>
                <a:ea typeface="宋体" pitchFamily="2" charset="-122"/>
              </a:rPr>
              <a:t>eU</a:t>
            </a:r>
            <a:r>
              <a:rPr lang="en-US" altLang="zh-CN" b="1" i="1" baseline="-25000" dirty="0" err="1" smtClean="0">
                <a:solidFill>
                  <a:srgbClr val="CC0066"/>
                </a:solidFill>
                <a:latin typeface="Times New Roman" pitchFamily="18" charset="0"/>
                <a:ea typeface="宋体" pitchFamily="2" charset="-122"/>
              </a:rPr>
              <a:t>H</a:t>
            </a:r>
            <a:r>
              <a:rPr lang="zh-CN" altLang="en-US" b="1" i="1" baseline="-25000" dirty="0" smtClean="0">
                <a:solidFill>
                  <a:srgbClr val="CC0066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b="1" i="1" dirty="0" smtClean="0">
                <a:solidFill>
                  <a:srgbClr val="CC0066"/>
                </a:solidFill>
                <a:latin typeface="Times New Roman" pitchFamily="18" charset="0"/>
                <a:ea typeface="宋体" pitchFamily="2" charset="-122"/>
              </a:rPr>
              <a:t>/</a:t>
            </a:r>
            <a:r>
              <a:rPr lang="zh-CN" altLang="en-US" b="1" i="1" dirty="0" smtClean="0">
                <a:solidFill>
                  <a:srgbClr val="CC0066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b="1" i="1" dirty="0" smtClean="0">
                <a:solidFill>
                  <a:srgbClr val="CC0066"/>
                </a:solidFill>
                <a:latin typeface="Times New Roman" pitchFamily="18" charset="0"/>
                <a:ea typeface="宋体" pitchFamily="2" charset="-122"/>
              </a:rPr>
              <a:t>b </a:t>
            </a:r>
            <a:endParaRPr lang="en-US" altLang="zh-CN" b="1" i="1" dirty="0">
              <a:solidFill>
                <a:srgbClr val="CC0066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428564" y="3929066"/>
            <a:ext cx="8715436" cy="95410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79388" lvl="1"/>
            <a:r>
              <a:rPr lang="zh-CN" altLang="en-US" b="1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当</a:t>
            </a:r>
            <a:r>
              <a:rPr lang="zh-CN" altLang="en-US" b="1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电子积累达到</a:t>
            </a:r>
            <a:r>
              <a:rPr lang="zh-CN" altLang="en-US" b="1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力平衡时，</a:t>
            </a:r>
            <a:r>
              <a:rPr lang="en-US" altLang="zh-CN" b="1" i="1" dirty="0" smtClean="0">
                <a:solidFill>
                  <a:srgbClr val="CC3300"/>
                </a:solidFill>
                <a:latin typeface="Times New Roman" pitchFamily="18" charset="0"/>
                <a:ea typeface="宋体" pitchFamily="2" charset="-122"/>
              </a:rPr>
              <a:t> F</a:t>
            </a:r>
            <a:r>
              <a:rPr lang="en-US" altLang="zh-CN" b="1" i="1" baseline="-25000" dirty="0" smtClean="0">
                <a:solidFill>
                  <a:srgbClr val="CC3300"/>
                </a:solidFill>
                <a:latin typeface="Times New Roman" pitchFamily="18" charset="0"/>
                <a:ea typeface="宋体" pitchFamily="2" charset="-122"/>
              </a:rPr>
              <a:t>l </a:t>
            </a:r>
            <a:r>
              <a:rPr lang="en-US" altLang="zh-CN" b="1" i="1" dirty="0" smtClean="0">
                <a:solidFill>
                  <a:srgbClr val="CC3300"/>
                </a:solidFill>
                <a:latin typeface="Times New Roman" pitchFamily="18" charset="0"/>
                <a:ea typeface="宋体" pitchFamily="2" charset="-122"/>
              </a:rPr>
              <a:t>+</a:t>
            </a:r>
            <a:r>
              <a:rPr lang="en-US" altLang="zh-CN" b="1" i="1" dirty="0" smtClean="0">
                <a:solidFill>
                  <a:srgbClr val="CC0066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b="1" i="1" baseline="-25000" dirty="0" smtClean="0">
                <a:solidFill>
                  <a:srgbClr val="CC0066"/>
                </a:solidFill>
                <a:latin typeface="Times New Roman" pitchFamily="18" charset="0"/>
                <a:ea typeface="宋体" pitchFamily="2" charset="-122"/>
              </a:rPr>
              <a:t>H </a:t>
            </a:r>
            <a:r>
              <a:rPr lang="en-US" altLang="zh-CN" b="1" i="1" dirty="0" smtClean="0">
                <a:solidFill>
                  <a:srgbClr val="CC0066"/>
                </a:solidFill>
                <a:latin typeface="Times New Roman" pitchFamily="18" charset="0"/>
                <a:ea typeface="宋体" pitchFamily="2" charset="-122"/>
              </a:rPr>
              <a:t>=</a:t>
            </a:r>
            <a:r>
              <a:rPr lang="zh-CN" altLang="en-US" b="1" i="1" dirty="0" smtClean="0">
                <a:solidFill>
                  <a:srgbClr val="CC0066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b="1" i="1" dirty="0" smtClean="0">
                <a:solidFill>
                  <a:srgbClr val="CC0066"/>
                </a:solidFill>
                <a:latin typeface="Times New Roman" pitchFamily="18" charset="0"/>
                <a:ea typeface="宋体" pitchFamily="2" charset="-122"/>
              </a:rPr>
              <a:t>0</a:t>
            </a:r>
            <a:r>
              <a:rPr lang="zh-CN" altLang="en-US" b="1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，</a:t>
            </a:r>
            <a:r>
              <a:rPr lang="zh-CN" altLang="en-US" b="1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有：</a:t>
            </a:r>
          </a:p>
          <a:p>
            <a:pPr marL="179388" lvl="1" algn="ctr"/>
            <a:r>
              <a:rPr lang="en-US" altLang="zh-CN" b="1" i="1" dirty="0">
                <a:solidFill>
                  <a:srgbClr val="CC0066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b="1" i="1" baseline="-25000" dirty="0">
                <a:solidFill>
                  <a:srgbClr val="CC0066"/>
                </a:solidFill>
                <a:latin typeface="Times New Roman" pitchFamily="18" charset="0"/>
                <a:ea typeface="宋体" pitchFamily="2" charset="-122"/>
              </a:rPr>
              <a:t>H</a:t>
            </a:r>
            <a:r>
              <a:rPr lang="en-US" altLang="zh-CN" b="1" i="1" dirty="0">
                <a:solidFill>
                  <a:srgbClr val="CC0066"/>
                </a:solidFill>
                <a:latin typeface="Times New Roman" pitchFamily="18" charset="0"/>
                <a:ea typeface="宋体" pitchFamily="2" charset="-122"/>
              </a:rPr>
              <a:t> = </a:t>
            </a:r>
            <a:r>
              <a:rPr lang="en-US" altLang="zh-CN" b="1" i="1" dirty="0" err="1" smtClean="0">
                <a:solidFill>
                  <a:srgbClr val="CC0066"/>
                </a:solidFill>
                <a:latin typeface="Times New Roman" pitchFamily="18" charset="0"/>
                <a:ea typeface="宋体" pitchFamily="2" charset="-122"/>
              </a:rPr>
              <a:t>bvB</a:t>
            </a:r>
            <a:r>
              <a:rPr lang="en-US" altLang="zh-CN" b="1" i="1" dirty="0" smtClean="0">
                <a:solidFill>
                  <a:srgbClr val="CC0066"/>
                </a:solidFill>
                <a:latin typeface="Times New Roman" pitchFamily="18" charset="0"/>
                <a:ea typeface="宋体" pitchFamily="2" charset="-122"/>
              </a:rPr>
              <a:t> </a:t>
            </a:r>
            <a:endParaRPr lang="en-US" altLang="zh-CN" b="1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143108" y="6000768"/>
            <a:ext cx="5000660" cy="52322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b="1" i="1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b="1" i="1" baseline="-25000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H</a:t>
            </a:r>
            <a:r>
              <a:rPr lang="en-US" altLang="zh-CN" b="1" i="1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= -IB/</a:t>
            </a:r>
            <a:r>
              <a:rPr lang="en-US" altLang="zh-CN" b="1" i="1" dirty="0" err="1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ned</a:t>
            </a:r>
            <a:r>
              <a:rPr lang="en-US" altLang="zh-CN" b="1" i="1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= R</a:t>
            </a:r>
            <a:r>
              <a:rPr lang="en-US" altLang="zh-CN" b="1" i="1" baseline="-25000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H</a:t>
            </a:r>
            <a:r>
              <a:rPr lang="en-US" altLang="zh-CN" b="1" i="1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IB/d = </a:t>
            </a:r>
            <a:r>
              <a:rPr lang="en-US" altLang="zh-CN" b="1" i="1" dirty="0" err="1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k</a:t>
            </a:r>
            <a:r>
              <a:rPr lang="en-US" altLang="zh-CN" b="1" i="1" baseline="-25000" dirty="0" err="1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H</a:t>
            </a:r>
            <a:r>
              <a:rPr lang="en-US" altLang="zh-CN" b="1" i="1" dirty="0" err="1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IB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428564" y="5042118"/>
            <a:ext cx="8715436" cy="95410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79388" lvl="1"/>
            <a:r>
              <a:rPr lang="zh-CN" altLang="en-US" b="1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电流密度</a:t>
            </a:r>
            <a:r>
              <a:rPr lang="zh-CN" altLang="en-US" b="1" dirty="0" smtClean="0">
                <a:solidFill>
                  <a:srgbClr val="CC0066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b="1" i="1" dirty="0">
                <a:solidFill>
                  <a:srgbClr val="CC0066"/>
                </a:solidFill>
                <a:latin typeface="Times New Roman" pitchFamily="18" charset="0"/>
                <a:ea typeface="宋体" pitchFamily="2" charset="-122"/>
              </a:rPr>
              <a:t>j = - </a:t>
            </a:r>
            <a:r>
              <a:rPr lang="en-US" altLang="zh-CN" b="1" i="1" dirty="0" err="1">
                <a:solidFill>
                  <a:srgbClr val="CC0066"/>
                </a:solidFill>
                <a:latin typeface="Times New Roman" pitchFamily="18" charset="0"/>
                <a:ea typeface="宋体" pitchFamily="2" charset="-122"/>
              </a:rPr>
              <a:t>nev</a:t>
            </a:r>
            <a:r>
              <a:rPr lang="zh-CN" altLang="en-US" b="1" i="1" dirty="0" smtClean="0">
                <a:solidFill>
                  <a:srgbClr val="CC0066"/>
                </a:solidFill>
                <a:latin typeface="Times New Roman" pitchFamily="18" charset="0"/>
                <a:ea typeface="宋体" pitchFamily="2" charset="-122"/>
              </a:rPr>
              <a:t>，</a:t>
            </a:r>
            <a:r>
              <a:rPr lang="zh-CN" altLang="en-US" b="1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电流</a:t>
            </a:r>
            <a:r>
              <a:rPr lang="zh-CN" altLang="en-US" b="1" dirty="0" smtClean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b="1" i="1" dirty="0" smtClean="0">
                <a:solidFill>
                  <a:srgbClr val="CC0066"/>
                </a:solidFill>
                <a:latin typeface="Times New Roman" pitchFamily="18" charset="0"/>
                <a:ea typeface="宋体" pitchFamily="2" charset="-122"/>
              </a:rPr>
              <a:t>I </a:t>
            </a:r>
            <a:r>
              <a:rPr lang="en-US" altLang="zh-CN" b="1" i="1" dirty="0">
                <a:solidFill>
                  <a:srgbClr val="CC0066"/>
                </a:solidFill>
                <a:latin typeface="Times New Roman" pitchFamily="18" charset="0"/>
                <a:ea typeface="宋体" pitchFamily="2" charset="-122"/>
              </a:rPr>
              <a:t>= </a:t>
            </a:r>
            <a:r>
              <a:rPr lang="en-US" altLang="zh-CN" b="1" i="1" dirty="0" err="1">
                <a:solidFill>
                  <a:srgbClr val="CC0066"/>
                </a:solidFill>
                <a:latin typeface="Times New Roman" pitchFamily="18" charset="0"/>
                <a:ea typeface="宋体" pitchFamily="2" charset="-122"/>
              </a:rPr>
              <a:t>jS</a:t>
            </a:r>
            <a:r>
              <a:rPr lang="en-US" altLang="zh-CN" b="1" i="1" dirty="0">
                <a:solidFill>
                  <a:srgbClr val="CC0066"/>
                </a:solidFill>
                <a:latin typeface="Times New Roman" pitchFamily="18" charset="0"/>
                <a:ea typeface="宋体" pitchFamily="2" charset="-122"/>
              </a:rPr>
              <a:t> = -</a:t>
            </a:r>
            <a:r>
              <a:rPr lang="en-US" altLang="zh-CN" b="1" i="1" dirty="0" err="1">
                <a:solidFill>
                  <a:srgbClr val="CC0066"/>
                </a:solidFill>
                <a:latin typeface="Times New Roman" pitchFamily="18" charset="0"/>
                <a:ea typeface="宋体" pitchFamily="2" charset="-122"/>
              </a:rPr>
              <a:t>nevbd</a:t>
            </a:r>
            <a:endParaRPr lang="en-US" altLang="zh-CN" b="1" dirty="0">
              <a:solidFill>
                <a:srgbClr val="CC0066"/>
              </a:solidFill>
              <a:latin typeface="Times New Roman" pitchFamily="18" charset="0"/>
              <a:ea typeface="宋体" pitchFamily="2" charset="-122"/>
            </a:endParaRPr>
          </a:p>
          <a:p>
            <a:pPr marL="179388" lvl="1"/>
            <a:r>
              <a:rPr lang="zh-CN" altLang="en-US" b="1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可</a:t>
            </a:r>
            <a:r>
              <a:rPr lang="zh-CN" altLang="en-US" b="1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得</a:t>
            </a:r>
            <a:endParaRPr lang="en-US" altLang="zh-CN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/>
      <p:bldP spid="7" grpId="0"/>
      <p:bldP spid="8" grpId="0"/>
      <p:bldP spid="9" grpId="0" animBg="1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571472" y="1500174"/>
            <a:ext cx="8101012" cy="11430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/>
            <a:r>
              <a:rPr lang="en-US" altLang="zh-CN" sz="2800" b="1" dirty="0" smtClean="0">
                <a:solidFill>
                  <a:srgbClr val="F84D08"/>
                </a:solidFill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sz="2800" b="1" dirty="0" smtClean="0">
                <a:solidFill>
                  <a:srgbClr val="F84D08"/>
                </a:solidFill>
                <a:latin typeface="黑体" pitchFamily="49" charset="-122"/>
                <a:ea typeface="黑体" pitchFamily="49" charset="-122"/>
              </a:rPr>
              <a:t>霍尔效应 </a:t>
            </a:r>
          </a:p>
        </p:txBody>
      </p:sp>
      <p:sp>
        <p:nvSpPr>
          <p:cNvPr id="19460" name="Text Box 7"/>
          <p:cNvSpPr txBox="1">
            <a:spLocks noChangeArrowheads="1"/>
          </p:cNvSpPr>
          <p:nvPr/>
        </p:nvSpPr>
        <p:spPr bwMode="auto">
          <a:xfrm>
            <a:off x="785786" y="3714752"/>
            <a:ext cx="7820050" cy="95410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b="1" i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</a:t>
            </a:r>
            <a:r>
              <a:rPr lang="en-US" altLang="zh-CN" b="1" i="1" baseline="-25000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H</a:t>
            </a:r>
            <a:r>
              <a:rPr lang="en-US" altLang="zh-CN" b="1" i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= -</a:t>
            </a:r>
            <a:r>
              <a:rPr lang="en-US" altLang="zh-CN" b="1" i="1" dirty="0">
                <a:solidFill>
                  <a:srgbClr val="C00000"/>
                </a:solidFill>
                <a:latin typeface="Symbol" pitchFamily="18" charset="2"/>
                <a:ea typeface="宋体" pitchFamily="2" charset="-122"/>
                <a:cs typeface="Times New Roman" pitchFamily="18" charset="0"/>
              </a:rPr>
              <a:t>1</a:t>
            </a:r>
            <a:r>
              <a:rPr lang="en-US" altLang="zh-CN" b="1" i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/ne</a:t>
            </a:r>
            <a:r>
              <a:rPr lang="en-US" altLang="zh-CN" b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为霍尔系数</a:t>
            </a:r>
          </a:p>
          <a:p>
            <a:r>
              <a:rPr lang="en-US" altLang="zh-CN" b="1" i="1" dirty="0" err="1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k</a:t>
            </a:r>
            <a:r>
              <a:rPr lang="en-US" altLang="zh-CN" b="1" i="1" baseline="-25000" dirty="0" err="1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H</a:t>
            </a:r>
            <a:r>
              <a:rPr lang="en-US" altLang="zh-CN" b="1" i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 = </a:t>
            </a:r>
            <a:r>
              <a:rPr lang="en-US" altLang="zh-CN" b="1" i="1" dirty="0" smtClean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R</a:t>
            </a:r>
            <a:r>
              <a:rPr lang="en-US" altLang="zh-CN" b="1" i="1" baseline="-25000" dirty="0" smtClean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H</a:t>
            </a:r>
            <a:r>
              <a:rPr lang="zh-CN" altLang="en-US" b="1" i="1" baseline="-25000" dirty="0" smtClean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b="1" i="1" dirty="0" smtClean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/</a:t>
            </a:r>
            <a:r>
              <a:rPr lang="en-US" altLang="zh-CN" b="1" i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d</a:t>
            </a:r>
            <a:r>
              <a:rPr lang="en-US" altLang="zh-CN" b="1" dirty="0">
                <a:solidFill>
                  <a:srgbClr val="C00000"/>
                </a:solidFill>
                <a:latin typeface="宋体" pitchFamily="2" charset="-122"/>
                <a:ea typeface="宋体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为灵敏度</a:t>
            </a:r>
            <a:r>
              <a:rPr lang="zh-CN" altLang="en-US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系数</a:t>
            </a:r>
            <a:endParaRPr lang="en-US" altLang="zh-CN" dirty="0" smtClean="0">
              <a:solidFill>
                <a:schemeClr val="folHlink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6" name="Rectangle 8"/>
          <p:cNvSpPr txBox="1">
            <a:spLocks noChangeArrowheads="1"/>
          </p:cNvSpPr>
          <p:nvPr/>
        </p:nvSpPr>
        <p:spPr bwMode="auto">
          <a:xfrm>
            <a:off x="1071538" y="714356"/>
            <a:ext cx="7724775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6.2 </a:t>
            </a:r>
            <a:r>
              <a:rPr kumimoji="0" lang="zh-CN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霍尔式传感器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714375" y="1500188"/>
            <a:ext cx="7643813" cy="15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2071670" y="2071678"/>
            <a:ext cx="5572165" cy="500066"/>
          </a:xfrm>
          <a:solidFill>
            <a:srgbClr val="FFFF00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1" algn="ctr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b="1" i="1" dirty="0" smtClean="0">
                <a:latin typeface="Times New Roman" pitchFamily="18" charset="0"/>
              </a:rPr>
              <a:t>U</a:t>
            </a:r>
            <a:r>
              <a:rPr lang="en-US" altLang="zh-CN" b="1" i="1" baseline="-25000" dirty="0" smtClean="0">
                <a:latin typeface="Times New Roman" pitchFamily="18" charset="0"/>
              </a:rPr>
              <a:t>H</a:t>
            </a:r>
            <a:r>
              <a:rPr lang="en-US" altLang="zh-CN" b="1" i="1" dirty="0" smtClean="0">
                <a:latin typeface="Times New Roman" pitchFamily="18" charset="0"/>
              </a:rPr>
              <a:t> = -IB/</a:t>
            </a:r>
            <a:r>
              <a:rPr lang="en-US" altLang="zh-CN" b="1" i="1" dirty="0" err="1" smtClean="0">
                <a:latin typeface="Times New Roman" pitchFamily="18" charset="0"/>
              </a:rPr>
              <a:t>ned</a:t>
            </a:r>
            <a:r>
              <a:rPr lang="en-US" altLang="zh-CN" b="1" i="1" dirty="0" smtClean="0">
                <a:latin typeface="Times New Roman" pitchFamily="18" charset="0"/>
              </a:rPr>
              <a:t> = R</a:t>
            </a:r>
            <a:r>
              <a:rPr lang="en-US" altLang="zh-CN" b="1" i="1" baseline="-25000" dirty="0" smtClean="0">
                <a:latin typeface="Times New Roman" pitchFamily="18" charset="0"/>
              </a:rPr>
              <a:t>H</a:t>
            </a:r>
            <a:r>
              <a:rPr lang="en-US" altLang="zh-CN" b="1" i="1" dirty="0" smtClean="0">
                <a:latin typeface="Times New Roman" pitchFamily="18" charset="0"/>
              </a:rPr>
              <a:t>IB/d = </a:t>
            </a:r>
            <a:r>
              <a:rPr lang="en-US" altLang="zh-CN" b="1" i="1" dirty="0" err="1" smtClean="0">
                <a:latin typeface="Times New Roman" pitchFamily="18" charset="0"/>
              </a:rPr>
              <a:t>k</a:t>
            </a:r>
            <a:r>
              <a:rPr lang="en-US" altLang="zh-CN" b="1" i="1" baseline="-25000" dirty="0" err="1" smtClean="0">
                <a:latin typeface="Times New Roman" pitchFamily="18" charset="0"/>
              </a:rPr>
              <a:t>H</a:t>
            </a:r>
            <a:r>
              <a:rPr lang="en-US" altLang="zh-CN" b="1" i="1" dirty="0" err="1" smtClean="0">
                <a:latin typeface="Times New Roman" pitchFamily="18" charset="0"/>
              </a:rPr>
              <a:t>IB</a:t>
            </a:r>
            <a:endParaRPr lang="en-US" altLang="zh-CN" sz="1800" i="1" dirty="0" smtClean="0">
              <a:latin typeface="Times New Roman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14282" y="4714884"/>
            <a:ext cx="864399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36575"/>
            <a:r>
              <a:rPr lang="zh-CN" altLang="en-US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与霍尔元件的厚度成反比，因此为提高灵敏度，通常霍尔元件都很薄。</a:t>
            </a:r>
          </a:p>
          <a:p>
            <a:r>
              <a:rPr lang="zh-CN" altLang="en-US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    具有上述霍尔效应的元件称为</a:t>
            </a:r>
            <a:r>
              <a:rPr lang="zh-CN" altLang="en-US" b="1" dirty="0" smtClean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霍尔元件</a:t>
            </a:r>
            <a:r>
              <a:rPr lang="zh-CN" altLang="en-US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。霍尔式传感器就是由霍尔元件所组成。</a:t>
            </a:r>
            <a:r>
              <a:rPr lang="zh-CN" altLang="en-US" dirty="0" smtClean="0">
                <a:solidFill>
                  <a:srgbClr val="0000FF"/>
                </a:solidFill>
                <a:latin typeface="宋体" pitchFamily="2" charset="-122"/>
                <a:ea typeface="宋体" pitchFamily="2" charset="-122"/>
              </a:rPr>
              <a:t>    </a:t>
            </a:r>
            <a:endParaRPr lang="zh-CN" altLang="en-US" dirty="0"/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285720" y="2643183"/>
            <a:ext cx="8858280" cy="997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441325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Verdana" pitchFamily="34" charset="0"/>
                <a:ea typeface="宋体" pitchFamily="2" charset="-122"/>
              </a:rPr>
              <a:t>如果磁场与霍尔传感器的法线方向有夹角</a:t>
            </a:r>
            <a:r>
              <a:rPr lang="en-US" altLang="zh-CN" b="1" i="1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α</a:t>
            </a:r>
            <a:r>
              <a:rPr lang="zh-CN" altLang="en-US" b="1" dirty="0">
                <a:solidFill>
                  <a:schemeClr val="tx1"/>
                </a:solidFill>
                <a:latin typeface="Verdana" pitchFamily="34" charset="0"/>
                <a:ea typeface="宋体" pitchFamily="2" charset="-122"/>
              </a:rPr>
              <a:t>，则</a:t>
            </a:r>
          </a:p>
          <a:p>
            <a:pPr lvl="1" algn="ctr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None/>
            </a:pPr>
            <a:r>
              <a:rPr lang="en-US" altLang="zh-CN" b="1" i="1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b="1" i="1" baseline="-250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H</a:t>
            </a:r>
            <a:r>
              <a:rPr lang="en-US" altLang="zh-CN" b="1" i="1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=</a:t>
            </a:r>
            <a:r>
              <a:rPr lang="en-US" altLang="zh-CN" b="1" i="1" dirty="0" err="1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k</a:t>
            </a:r>
            <a:r>
              <a:rPr lang="en-US" altLang="zh-CN" b="1" i="1" baseline="-25000" dirty="0" err="1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H</a:t>
            </a:r>
            <a:r>
              <a:rPr lang="en-US" altLang="zh-CN" b="1" i="1" dirty="0" err="1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IBcosα</a:t>
            </a:r>
            <a:endParaRPr lang="en-US" altLang="zh-CN" sz="2000" i="1" dirty="0">
              <a:solidFill>
                <a:schemeClr val="tx1"/>
              </a:solidFill>
              <a:latin typeface="Verdana" pitchFamily="34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714348" y="1571612"/>
            <a:ext cx="8101012" cy="58736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/>
            <a:r>
              <a:rPr lang="en-US" altLang="zh-CN" sz="2800" b="1" dirty="0" smtClean="0">
                <a:solidFill>
                  <a:srgbClr val="F84D08"/>
                </a:solidFill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sz="2800" b="1" dirty="0" smtClean="0">
                <a:solidFill>
                  <a:srgbClr val="F84D08"/>
                </a:solidFill>
                <a:latin typeface="黑体" pitchFamily="49" charset="-122"/>
                <a:ea typeface="黑体" pitchFamily="49" charset="-122"/>
              </a:rPr>
              <a:t>霍尔效应 </a:t>
            </a:r>
          </a:p>
        </p:txBody>
      </p:sp>
      <p:sp>
        <p:nvSpPr>
          <p:cNvPr id="19460" name="Text Box 7"/>
          <p:cNvSpPr txBox="1">
            <a:spLocks noChangeArrowheads="1"/>
          </p:cNvSpPr>
          <p:nvPr/>
        </p:nvSpPr>
        <p:spPr bwMode="auto">
          <a:xfrm>
            <a:off x="285720" y="3429000"/>
            <a:ext cx="8643998" cy="18158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536575"/>
            <a:r>
              <a:rPr lang="zh-CN" altLang="en-US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金属材料</a:t>
            </a:r>
            <a:r>
              <a:rPr lang="zh-CN" altLang="en-US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中自由电子浓度</a:t>
            </a:r>
            <a:r>
              <a:rPr lang="en-US" altLang="zh-CN" b="1" i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n</a:t>
            </a:r>
            <a:r>
              <a:rPr lang="zh-CN" altLang="en-US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很高，因此霍尔系数很小，使输出霍尔电势极小，不宜作霍尔元件</a:t>
            </a:r>
            <a:r>
              <a:rPr lang="zh-CN" altLang="en-US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。</a:t>
            </a:r>
            <a:endParaRPr lang="en-US" altLang="zh-CN" b="1" dirty="0" smtClean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pPr indent="536575"/>
            <a:r>
              <a:rPr lang="zh-CN" altLang="en-US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霍尔元件一般由半导体材料制成。由于</a:t>
            </a:r>
            <a:r>
              <a:rPr lang="zh-CN" altLang="en-US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电子迁移率大于空穴迁移率，因此霍尔元件多用</a:t>
            </a:r>
            <a:r>
              <a:rPr lang="en-US" altLang="zh-CN" b="1" dirty="0">
                <a:solidFill>
                  <a:srgbClr val="C00000"/>
                </a:solidFill>
                <a:latin typeface="宋体" pitchFamily="2" charset="-122"/>
                <a:ea typeface="宋体" pitchFamily="2" charset="-122"/>
              </a:rPr>
              <a:t>N</a:t>
            </a:r>
            <a:r>
              <a:rPr lang="zh-CN" altLang="en-US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型半导体材料。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6" name="Rectangle 8"/>
          <p:cNvSpPr txBox="1">
            <a:spLocks noChangeArrowheads="1"/>
          </p:cNvSpPr>
          <p:nvPr/>
        </p:nvSpPr>
        <p:spPr bwMode="auto">
          <a:xfrm>
            <a:off x="1071538" y="714356"/>
            <a:ext cx="7724775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6.2 </a:t>
            </a:r>
            <a:r>
              <a:rPr kumimoji="0" lang="zh-CN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霍尔式传感器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714375" y="1500188"/>
            <a:ext cx="7643813" cy="15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1000100" y="2285992"/>
            <a:ext cx="7820050" cy="95410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b="1" i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</a:t>
            </a:r>
            <a:r>
              <a:rPr lang="en-US" altLang="zh-CN" b="1" i="1" baseline="-25000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H</a:t>
            </a:r>
            <a:r>
              <a:rPr lang="en-US" altLang="zh-CN" b="1" i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= -</a:t>
            </a:r>
            <a:r>
              <a:rPr lang="en-US" altLang="zh-CN" b="1" i="1" dirty="0">
                <a:solidFill>
                  <a:srgbClr val="C00000"/>
                </a:solidFill>
                <a:latin typeface="Symbol" pitchFamily="18" charset="2"/>
                <a:ea typeface="宋体" pitchFamily="2" charset="-122"/>
                <a:cs typeface="Times New Roman" pitchFamily="18" charset="0"/>
              </a:rPr>
              <a:t>1</a:t>
            </a:r>
            <a:r>
              <a:rPr lang="en-US" altLang="zh-CN" b="1" i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/ne</a:t>
            </a:r>
            <a:r>
              <a:rPr lang="en-US" altLang="zh-CN" b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为霍尔系数</a:t>
            </a:r>
          </a:p>
          <a:p>
            <a:r>
              <a:rPr lang="en-US" altLang="zh-CN" b="1" i="1" dirty="0" err="1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k</a:t>
            </a:r>
            <a:r>
              <a:rPr lang="en-US" altLang="zh-CN" b="1" i="1" baseline="-25000" dirty="0" err="1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H</a:t>
            </a:r>
            <a:r>
              <a:rPr lang="en-US" altLang="zh-CN" b="1" i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 = </a:t>
            </a:r>
            <a:r>
              <a:rPr lang="en-US" altLang="zh-CN" b="1" i="1" dirty="0" smtClean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R</a:t>
            </a:r>
            <a:r>
              <a:rPr lang="en-US" altLang="zh-CN" b="1" i="1" baseline="-25000" dirty="0" smtClean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H</a:t>
            </a:r>
            <a:r>
              <a:rPr lang="zh-CN" altLang="en-US" b="1" i="1" baseline="-25000" dirty="0" smtClean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b="1" i="1" dirty="0" smtClean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/</a:t>
            </a:r>
            <a:r>
              <a:rPr lang="en-US" altLang="zh-CN" b="1" i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d</a:t>
            </a:r>
            <a:r>
              <a:rPr lang="en-US" altLang="zh-CN" b="1" dirty="0">
                <a:solidFill>
                  <a:srgbClr val="C00000"/>
                </a:solidFill>
                <a:latin typeface="宋体" pitchFamily="2" charset="-122"/>
                <a:ea typeface="宋体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为灵敏度</a:t>
            </a:r>
            <a:r>
              <a:rPr lang="zh-CN" altLang="en-US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系数</a:t>
            </a:r>
            <a:endParaRPr lang="en-US" altLang="zh-CN" dirty="0" smtClean="0">
              <a:solidFill>
                <a:schemeClr val="folHlink"/>
              </a:solidFill>
              <a:latin typeface="宋体" pitchFamily="2" charset="-122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4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3"/>
          <p:cNvSpPr txBox="1">
            <a:spLocks noChangeArrowheads="1"/>
          </p:cNvSpPr>
          <p:nvPr/>
        </p:nvSpPr>
        <p:spPr bwMode="auto">
          <a:xfrm>
            <a:off x="2786050" y="2071678"/>
            <a:ext cx="3286148" cy="480131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1" algn="ctr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None/>
            </a:pPr>
            <a:r>
              <a:rPr lang="en-US" altLang="zh-CN" b="1" i="1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b="1" i="1" baseline="-25000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H</a:t>
            </a:r>
            <a:r>
              <a:rPr lang="en-US" altLang="zh-CN" b="1" i="1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=</a:t>
            </a:r>
            <a:r>
              <a:rPr lang="en-US" altLang="zh-CN" b="1" i="1" dirty="0" err="1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k</a:t>
            </a:r>
            <a:r>
              <a:rPr lang="en-US" altLang="zh-CN" b="1" i="1" baseline="-25000" dirty="0" err="1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H</a:t>
            </a:r>
            <a:r>
              <a:rPr lang="en-US" altLang="zh-CN" b="1" i="1" dirty="0" err="1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IBcosα</a:t>
            </a:r>
            <a:endParaRPr lang="en-US" altLang="zh-CN" sz="2000" i="1" dirty="0">
              <a:solidFill>
                <a:schemeClr val="tx1"/>
              </a:solidFill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20484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714348" y="1571612"/>
            <a:ext cx="8101012" cy="515927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/>
            <a:r>
              <a:rPr lang="en-US" altLang="zh-CN" sz="2800" b="1" dirty="0" smtClean="0">
                <a:solidFill>
                  <a:srgbClr val="F84D08"/>
                </a:solidFill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sz="2800" b="1" dirty="0" smtClean="0">
                <a:solidFill>
                  <a:srgbClr val="F84D08"/>
                </a:solidFill>
                <a:latin typeface="黑体" pitchFamily="49" charset="-122"/>
                <a:ea typeface="黑体" pitchFamily="49" charset="-122"/>
              </a:rPr>
              <a:t>霍尔效应</a:t>
            </a:r>
          </a:p>
        </p:txBody>
      </p:sp>
      <p:sp>
        <p:nvSpPr>
          <p:cNvPr id="20485" name="Text Box 8"/>
          <p:cNvSpPr txBox="1">
            <a:spLocks noChangeArrowheads="1"/>
          </p:cNvSpPr>
          <p:nvPr/>
        </p:nvSpPr>
        <p:spPr bwMode="auto">
          <a:xfrm>
            <a:off x="214282" y="2714620"/>
            <a:ext cx="8715436" cy="138499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536575" lvl="1" indent="-357188">
              <a:buFont typeface="Wingdings" pitchFamily="2" charset="2"/>
              <a:buChar char="u"/>
            </a:pPr>
            <a:r>
              <a:rPr lang="zh-CN" altLang="en-US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当</a:t>
            </a:r>
            <a:r>
              <a:rPr lang="zh-CN" altLang="en-US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控制电流</a:t>
            </a:r>
            <a:r>
              <a:rPr lang="en-US" altLang="zh-CN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(</a:t>
            </a:r>
            <a:r>
              <a:rPr lang="zh-CN" altLang="en-US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或磁场</a:t>
            </a:r>
            <a:r>
              <a:rPr lang="en-US" altLang="zh-CN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方向改变时，霍尔电势方向也将</a:t>
            </a:r>
            <a:r>
              <a:rPr lang="zh-CN" altLang="en-US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改变；</a:t>
            </a:r>
            <a:endParaRPr lang="en-US" altLang="zh-CN" b="1" dirty="0" smtClean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pPr marL="536575" lvl="1" indent="-357188">
              <a:buFont typeface="Wingdings" pitchFamily="2" charset="2"/>
              <a:buChar char="u"/>
            </a:pPr>
            <a:r>
              <a:rPr lang="zh-CN" altLang="en-US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电流</a:t>
            </a:r>
            <a:r>
              <a:rPr lang="zh-CN" altLang="en-US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与磁场方向同时改变时，霍尔电势方向不变</a:t>
            </a:r>
            <a:r>
              <a:rPr lang="zh-CN" altLang="en-US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；</a:t>
            </a:r>
            <a:endParaRPr lang="en-US" altLang="zh-CN" dirty="0"/>
          </a:p>
        </p:txBody>
      </p:sp>
      <p:sp>
        <p:nvSpPr>
          <p:cNvPr id="6" name="Rectangle 8"/>
          <p:cNvSpPr txBox="1">
            <a:spLocks noChangeArrowheads="1"/>
          </p:cNvSpPr>
          <p:nvPr/>
        </p:nvSpPr>
        <p:spPr bwMode="auto">
          <a:xfrm>
            <a:off x="1071538" y="714356"/>
            <a:ext cx="7724775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6.2 </a:t>
            </a:r>
            <a:r>
              <a:rPr kumimoji="0" lang="zh-CN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霍尔式传感器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714375" y="1500188"/>
            <a:ext cx="7643813" cy="15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214282" y="4143380"/>
            <a:ext cx="8715436" cy="22898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630238">
              <a:lnSpc>
                <a:spcPct val="90000"/>
              </a:lnSpc>
              <a:spcBef>
                <a:spcPct val="50000"/>
              </a:spcBef>
            </a:pPr>
            <a:r>
              <a:rPr lang="zh-CN" altLang="en-US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电阻率：</a:t>
            </a:r>
            <a:r>
              <a:rPr lang="zh-CN" altLang="en-US" b="1" dirty="0" smtClean="0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</a:rPr>
              <a:t>  </a:t>
            </a:r>
            <a:r>
              <a:rPr lang="en-US" altLang="zh-CN" b="1" i="1" dirty="0" smtClean="0">
                <a:solidFill>
                  <a:schemeClr val="tx1"/>
                </a:solidFill>
                <a:latin typeface="Times New Roman" pitchFamily="18" charset="0"/>
                <a:ea typeface="华文楷体" pitchFamily="2" charset="-122"/>
              </a:rPr>
              <a:t>ρ=1/</a:t>
            </a:r>
            <a:r>
              <a:rPr lang="en-US" altLang="zh-CN" b="1" i="1" dirty="0" err="1" smtClean="0">
                <a:solidFill>
                  <a:schemeClr val="tx1"/>
                </a:solidFill>
                <a:latin typeface="Times New Roman" pitchFamily="18" charset="0"/>
                <a:ea typeface="华文楷体" pitchFamily="2" charset="-122"/>
              </a:rPr>
              <a:t>neμ</a:t>
            </a:r>
            <a:r>
              <a:rPr lang="zh-CN" altLang="en-US" b="1" i="1" dirty="0" smtClean="0">
                <a:solidFill>
                  <a:schemeClr val="tx1"/>
                </a:solidFill>
                <a:latin typeface="Times New Roman" pitchFamily="18" charset="0"/>
                <a:ea typeface="华文楷体" pitchFamily="2" charset="-122"/>
              </a:rPr>
              <a:t>     </a:t>
            </a:r>
            <a:r>
              <a:rPr lang="zh-CN" altLang="en-US" b="1" dirty="0" smtClean="0">
                <a:solidFill>
                  <a:schemeClr val="tx1"/>
                </a:solidFill>
                <a:latin typeface="Times New Roman" pitchFamily="18" charset="0"/>
                <a:ea typeface="华文楷体" pitchFamily="2" charset="-122"/>
              </a:rPr>
              <a:t>（</a:t>
            </a:r>
            <a:r>
              <a:rPr lang="en-US" altLang="zh-CN" b="1" i="1" dirty="0" smtClean="0">
                <a:solidFill>
                  <a:schemeClr val="tx1"/>
                </a:solidFill>
                <a:latin typeface="Times New Roman" pitchFamily="18" charset="0"/>
                <a:ea typeface="华文楷体" pitchFamily="2" charset="-122"/>
              </a:rPr>
              <a:t>μ</a:t>
            </a:r>
            <a:r>
              <a:rPr lang="zh-CN" altLang="en-US" b="1" dirty="0" smtClean="0">
                <a:solidFill>
                  <a:schemeClr val="tx1"/>
                </a:solidFill>
                <a:latin typeface="+mn-ea"/>
                <a:ea typeface="+mn-ea"/>
              </a:rPr>
              <a:t>为载流子迁移率</a:t>
            </a:r>
            <a:r>
              <a:rPr lang="zh-CN" altLang="en-US" b="1" dirty="0" smtClean="0">
                <a:solidFill>
                  <a:schemeClr val="tx1"/>
                </a:solidFill>
                <a:latin typeface="Times New Roman" pitchFamily="18" charset="0"/>
                <a:ea typeface="华文楷体" pitchFamily="2" charset="-122"/>
              </a:rPr>
              <a:t>）</a:t>
            </a:r>
            <a:endParaRPr lang="en-US" altLang="zh-CN" b="1" dirty="0">
              <a:solidFill>
                <a:schemeClr val="tx1"/>
              </a:solidFill>
              <a:latin typeface="Times New Roman" pitchFamily="18" charset="0"/>
              <a:ea typeface="华文楷体" pitchFamily="2" charset="-122"/>
            </a:endParaRPr>
          </a:p>
          <a:p>
            <a:pPr indent="536575">
              <a:lnSpc>
                <a:spcPct val="9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若霍尔片两端所加电压</a:t>
            </a:r>
            <a:r>
              <a:rPr lang="zh-CN" altLang="en-US" b="1" dirty="0" smtClean="0">
                <a:solidFill>
                  <a:schemeClr val="tx1"/>
                </a:solidFill>
                <a:latin typeface="+mn-ea"/>
                <a:ea typeface="+mn-ea"/>
              </a:rPr>
              <a:t>为 </a:t>
            </a:r>
            <a:r>
              <a:rPr lang="en-US" altLang="zh-CN" b="1" i="1" dirty="0" smtClean="0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</a:rPr>
              <a:t>U</a:t>
            </a:r>
            <a:r>
              <a:rPr lang="zh-CN" altLang="en-US" b="1" dirty="0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</a:rPr>
              <a:t>，</a:t>
            </a:r>
            <a:r>
              <a:rPr lang="en-US" altLang="zh-CN" b="1" i="1" dirty="0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</a:rPr>
              <a:t>I=U/R</a:t>
            </a:r>
            <a:r>
              <a:rPr lang="zh-CN" altLang="en-US" b="1" dirty="0" smtClean="0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</a:rPr>
              <a:t>，</a:t>
            </a:r>
            <a:endParaRPr lang="en-US" altLang="zh-CN" b="1" dirty="0" smtClean="0">
              <a:solidFill>
                <a:schemeClr val="tx1"/>
              </a:solidFill>
              <a:latin typeface="华文楷体" pitchFamily="2" charset="-122"/>
              <a:ea typeface="华文楷体" pitchFamily="2" charset="-122"/>
            </a:endParaRPr>
          </a:p>
          <a:p>
            <a:pPr indent="536575" algn="ctr">
              <a:lnSpc>
                <a:spcPct val="90000"/>
              </a:lnSpc>
              <a:spcBef>
                <a:spcPct val="50000"/>
              </a:spcBef>
            </a:pPr>
            <a:r>
              <a:rPr lang="en-US" altLang="zh-CN" b="1" i="1" dirty="0" smtClean="0">
                <a:solidFill>
                  <a:schemeClr val="tx1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U</a:t>
            </a:r>
            <a:r>
              <a:rPr lang="en-US" altLang="zh-CN" b="1" i="1" baseline="-25000" dirty="0" smtClean="0">
                <a:solidFill>
                  <a:schemeClr val="tx1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H</a:t>
            </a:r>
            <a:r>
              <a:rPr lang="en-US" altLang="zh-CN" b="1" i="1" dirty="0" smtClean="0">
                <a:solidFill>
                  <a:schemeClr val="tx1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= -</a:t>
            </a:r>
            <a:r>
              <a:rPr lang="en-US" altLang="zh-CN" b="1" i="1" dirty="0" err="1" smtClean="0">
                <a:solidFill>
                  <a:schemeClr val="tx1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UBμb</a:t>
            </a:r>
            <a:r>
              <a:rPr lang="en-US" altLang="zh-CN" b="1" i="1" dirty="0" smtClean="0">
                <a:solidFill>
                  <a:schemeClr val="tx1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/l</a:t>
            </a:r>
            <a:endParaRPr lang="en-US" altLang="zh-CN" b="1" i="1" dirty="0">
              <a:solidFill>
                <a:schemeClr val="tx1"/>
              </a:solidFill>
              <a:latin typeface="Times New Roman" pitchFamily="18" charset="0"/>
              <a:ea typeface="华文楷体" pitchFamily="2" charset="-122"/>
              <a:cs typeface="Times New Roman" pitchFamily="18" charset="0"/>
            </a:endParaRPr>
          </a:p>
          <a:p>
            <a:pPr indent="536575">
              <a:lnSpc>
                <a:spcPct val="9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改变霍尔片长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/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宽比可以改变霍尔电势值。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0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04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5" grpId="0" build="p" bldLvl="2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714348" y="1571612"/>
            <a:ext cx="8101012" cy="515927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/>
            <a:r>
              <a:rPr lang="en-US" altLang="zh-CN" sz="2800" b="1" dirty="0" smtClean="0">
                <a:solidFill>
                  <a:srgbClr val="F84D08"/>
                </a:solidFill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sz="2800" b="1" dirty="0" smtClean="0">
                <a:solidFill>
                  <a:srgbClr val="F84D08"/>
                </a:solidFill>
                <a:latin typeface="黑体" pitchFamily="49" charset="-122"/>
                <a:ea typeface="黑体" pitchFamily="49" charset="-122"/>
              </a:rPr>
              <a:t>霍尔效应</a:t>
            </a:r>
          </a:p>
        </p:txBody>
      </p:sp>
      <p:sp>
        <p:nvSpPr>
          <p:cNvPr id="20485" name="Text Box 8"/>
          <p:cNvSpPr txBox="1">
            <a:spLocks noChangeArrowheads="1"/>
          </p:cNvSpPr>
          <p:nvPr/>
        </p:nvSpPr>
        <p:spPr bwMode="auto">
          <a:xfrm>
            <a:off x="214282" y="2857496"/>
            <a:ext cx="8715436" cy="375487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95250" lvl="1" indent="534988"/>
            <a:r>
              <a:rPr lang="zh-CN" altLang="en-US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当</a:t>
            </a:r>
            <a:r>
              <a:rPr lang="zh-CN" altLang="en-US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载流材料和几何尺寸确定后，霍尔电势正比于控制电流</a:t>
            </a:r>
            <a:r>
              <a:rPr lang="en-US" altLang="zh-CN" b="1" i="1" dirty="0" smtClean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lang="zh-CN" altLang="en-US" b="1" i="1" dirty="0" smtClean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</a:t>
            </a:r>
            <a:r>
              <a:rPr lang="zh-CN" altLang="en-US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和</a:t>
            </a:r>
            <a:r>
              <a:rPr lang="zh-CN" altLang="en-US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磁感应强度</a:t>
            </a:r>
            <a:r>
              <a:rPr lang="en-US" altLang="zh-CN" b="1" i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B</a:t>
            </a:r>
            <a:r>
              <a:rPr lang="zh-CN" altLang="en-US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，因此霍尔元件可用来</a:t>
            </a:r>
            <a:r>
              <a:rPr lang="zh-CN" altLang="en-US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测量</a:t>
            </a:r>
            <a:endParaRPr lang="en-US" altLang="zh-CN" b="1" dirty="0" smtClean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pPr marL="95250" lvl="1" indent="534988">
              <a:buFont typeface="Wingdings" pitchFamily="2" charset="2"/>
              <a:buChar char="u"/>
            </a:pPr>
            <a:r>
              <a:rPr lang="zh-CN" altLang="en-US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磁场</a:t>
            </a:r>
            <a:r>
              <a:rPr lang="en-US" altLang="zh-CN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(</a:t>
            </a:r>
            <a:r>
              <a:rPr lang="en-US" altLang="zh-CN" b="1" i="1" dirty="0" smtClean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lang="zh-CN" altLang="en-US" b="1" i="1" dirty="0" smtClean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</a:t>
            </a:r>
            <a:r>
              <a:rPr lang="zh-CN" altLang="en-US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恒定</a:t>
            </a:r>
            <a:r>
              <a:rPr lang="en-US" altLang="zh-CN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)</a:t>
            </a:r>
            <a:r>
              <a:rPr lang="zh-CN" altLang="en-US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；</a:t>
            </a:r>
            <a:endParaRPr lang="en-US" altLang="zh-CN" b="1" dirty="0" smtClean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pPr marL="95250" lvl="1" indent="534988">
              <a:buFont typeface="Wingdings" pitchFamily="2" charset="2"/>
              <a:buChar char="u"/>
            </a:pPr>
            <a:r>
              <a:rPr lang="zh-CN" altLang="en-US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检测</a:t>
            </a:r>
            <a:r>
              <a:rPr lang="zh-CN" altLang="en-US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电流</a:t>
            </a:r>
            <a:r>
              <a:rPr lang="en-US" altLang="zh-CN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(</a:t>
            </a:r>
            <a:r>
              <a:rPr lang="en-US" altLang="zh-CN" b="1" i="1" dirty="0" smtClean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B</a:t>
            </a:r>
            <a:r>
              <a:rPr lang="zh-CN" altLang="en-US" b="1" i="1" dirty="0" smtClean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</a:t>
            </a:r>
            <a:r>
              <a:rPr lang="zh-CN" altLang="en-US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恒定</a:t>
            </a:r>
            <a:r>
              <a:rPr lang="en-US" altLang="zh-CN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)</a:t>
            </a:r>
            <a:r>
              <a:rPr lang="zh-CN" altLang="en-US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；</a:t>
            </a:r>
            <a:endParaRPr lang="en-US" altLang="zh-CN" b="1" dirty="0" smtClean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pPr marL="95250" lvl="1" indent="534988"/>
            <a:r>
              <a:rPr lang="zh-CN" altLang="en-US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如</a:t>
            </a:r>
            <a:r>
              <a:rPr lang="zh-CN" altLang="en-US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当霍尔元件在一个线性梯度磁场中移动时，输出霍尔电势反映了磁场变化，由此可测微小位移、压力、机械振动等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。</a:t>
            </a:r>
          </a:p>
          <a:p>
            <a:pPr>
              <a:spcBef>
                <a:spcPct val="50000"/>
              </a:spcBef>
            </a:pPr>
            <a:endParaRPr lang="en-US" altLang="zh-CN" dirty="0"/>
          </a:p>
        </p:txBody>
      </p:sp>
      <p:sp>
        <p:nvSpPr>
          <p:cNvPr id="6" name="Rectangle 8"/>
          <p:cNvSpPr txBox="1">
            <a:spLocks noChangeArrowheads="1"/>
          </p:cNvSpPr>
          <p:nvPr/>
        </p:nvSpPr>
        <p:spPr bwMode="auto">
          <a:xfrm>
            <a:off x="1071538" y="714356"/>
            <a:ext cx="7724775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6.2 </a:t>
            </a:r>
            <a:r>
              <a:rPr kumimoji="0" lang="zh-CN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霍尔式传感器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714375" y="1500188"/>
            <a:ext cx="7643813" cy="15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2786050" y="2071678"/>
            <a:ext cx="3286148" cy="480131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1" algn="ctr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None/>
            </a:pPr>
            <a:r>
              <a:rPr lang="en-US" altLang="zh-CN" b="1" i="1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b="1" i="1" baseline="-25000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H</a:t>
            </a:r>
            <a:r>
              <a:rPr lang="en-US" altLang="zh-CN" b="1" i="1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=</a:t>
            </a:r>
            <a:r>
              <a:rPr lang="en-US" altLang="zh-CN" b="1" i="1" dirty="0" err="1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k</a:t>
            </a:r>
            <a:r>
              <a:rPr lang="en-US" altLang="zh-CN" b="1" i="1" baseline="-25000" dirty="0" err="1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H</a:t>
            </a:r>
            <a:r>
              <a:rPr lang="en-US" altLang="zh-CN" b="1" i="1" dirty="0" err="1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IBcosα</a:t>
            </a:r>
            <a:endParaRPr lang="en-US" altLang="zh-CN" sz="2000" i="1" dirty="0">
              <a:solidFill>
                <a:schemeClr val="tx1"/>
              </a:solidFill>
              <a:latin typeface="Verdana" pitchFamily="34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0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04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04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04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5" grpId="0" build="p" bldLvl="2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2" name="Object 4"/>
          <p:cNvGraphicFramePr>
            <a:graphicFrameLocks noChangeAspect="1"/>
          </p:cNvGraphicFramePr>
          <p:nvPr/>
        </p:nvGraphicFramePr>
        <p:xfrm>
          <a:off x="857224" y="3514531"/>
          <a:ext cx="7692751" cy="1720853"/>
        </p:xfrm>
        <a:graphic>
          <a:graphicData uri="http://schemas.openxmlformats.org/presentationml/2006/ole">
            <p:oleObj spid="_x0000_s5122" name="Image" r:id="rId3" imgW="17548888" imgH="3926580" progId="Photoshop.Image.6">
              <p:embed/>
            </p:oleObj>
          </a:graphicData>
        </a:graphic>
      </p:graphicFrame>
      <p:sp>
        <p:nvSpPr>
          <p:cNvPr id="5123" name="Text Box 5"/>
          <p:cNvSpPr txBox="1">
            <a:spLocks noChangeArrowheads="1"/>
          </p:cNvSpPr>
          <p:nvPr/>
        </p:nvSpPr>
        <p:spPr bwMode="auto">
          <a:xfrm>
            <a:off x="642910" y="5500702"/>
            <a:ext cx="3603627" cy="1200329"/>
          </a:xfrm>
          <a:prstGeom prst="rect">
            <a:avLst/>
          </a:prstGeom>
          <a:solidFill>
            <a:srgbClr val="92D050"/>
          </a:solidFill>
          <a:ln w="38100">
            <a:solidFill>
              <a:srgbClr val="9933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536575"/>
            <a:r>
              <a:rPr lang="zh-CN" altLang="en-US" sz="2400" b="1" dirty="0">
                <a:solidFill>
                  <a:schemeClr val="tx1"/>
                </a:solidFill>
                <a:latin typeface="Verdana" pitchFamily="34" charset="0"/>
                <a:ea typeface="宋体" pitchFamily="2" charset="-122"/>
              </a:rPr>
              <a:t>控制电流端</a:t>
            </a:r>
            <a:r>
              <a:rPr lang="zh-CN" altLang="en-US" sz="2400" b="1" dirty="0" smtClean="0">
                <a:solidFill>
                  <a:schemeClr val="tx1"/>
                </a:solidFill>
                <a:latin typeface="Verdana" pitchFamily="34" charset="0"/>
                <a:ea typeface="宋体" pitchFamily="2" charset="-122"/>
              </a:rPr>
              <a:t>引线（常用红色导线），</a:t>
            </a:r>
            <a:r>
              <a:rPr lang="zh-CN" altLang="en-US" sz="2400" b="1" dirty="0">
                <a:solidFill>
                  <a:schemeClr val="tx1"/>
                </a:solidFill>
                <a:latin typeface="Verdana" pitchFamily="34" charset="0"/>
                <a:ea typeface="宋体" pitchFamily="2" charset="-122"/>
              </a:rPr>
              <a:t>要求接触电阻小，呈纯电阻特性。</a:t>
            </a:r>
          </a:p>
        </p:txBody>
      </p:sp>
      <p:sp>
        <p:nvSpPr>
          <p:cNvPr id="5124" name="Line 6"/>
          <p:cNvSpPr>
            <a:spLocks noChangeShapeType="1"/>
          </p:cNvSpPr>
          <p:nvPr/>
        </p:nvSpPr>
        <p:spPr bwMode="auto">
          <a:xfrm flipV="1">
            <a:off x="3357554" y="4657539"/>
            <a:ext cx="928694" cy="843163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5125" name="Line 7"/>
          <p:cNvSpPr>
            <a:spLocks noChangeShapeType="1"/>
          </p:cNvSpPr>
          <p:nvPr/>
        </p:nvSpPr>
        <p:spPr bwMode="auto">
          <a:xfrm flipV="1">
            <a:off x="3357554" y="4728977"/>
            <a:ext cx="200036" cy="771725"/>
          </a:xfrm>
          <a:prstGeom prst="line">
            <a:avLst/>
          </a:prstGeom>
          <a:noFill/>
          <a:ln w="38100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5126" name="Text Box 8"/>
          <p:cNvSpPr txBox="1">
            <a:spLocks noChangeArrowheads="1"/>
          </p:cNvSpPr>
          <p:nvPr/>
        </p:nvSpPr>
        <p:spPr bwMode="auto">
          <a:xfrm>
            <a:off x="4929191" y="5586233"/>
            <a:ext cx="3429024" cy="1200329"/>
          </a:xfrm>
          <a:prstGeom prst="rect">
            <a:avLst/>
          </a:prstGeom>
          <a:solidFill>
            <a:srgbClr val="92D05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441325"/>
            <a:r>
              <a:rPr lang="zh-CN" altLang="en-US" sz="2400" b="1" dirty="0">
                <a:solidFill>
                  <a:schemeClr val="tx1"/>
                </a:solidFill>
                <a:latin typeface="+mn-ea"/>
                <a:ea typeface="+mn-ea"/>
                <a:cs typeface="Times New Roman" pitchFamily="18" charset="0"/>
              </a:rPr>
              <a:t>霍尔输出</a:t>
            </a:r>
            <a:r>
              <a:rPr lang="zh-CN" altLang="en-US" sz="2400" b="1" dirty="0" smtClean="0">
                <a:solidFill>
                  <a:schemeClr val="tx1"/>
                </a:solidFill>
                <a:latin typeface="+mn-ea"/>
                <a:ea typeface="+mn-ea"/>
                <a:cs typeface="Times New Roman" pitchFamily="18" charset="0"/>
              </a:rPr>
              <a:t>引线（</a:t>
            </a:r>
            <a:r>
              <a:rPr lang="zh-CN" altLang="en-US" sz="2400" b="1" dirty="0" smtClean="0">
                <a:solidFill>
                  <a:schemeClr val="tx1"/>
                </a:solidFill>
                <a:latin typeface="Verdana" pitchFamily="34" charset="0"/>
                <a:ea typeface="宋体" pitchFamily="2" charset="-122"/>
              </a:rPr>
              <a:t>常用绿色导线），</a:t>
            </a:r>
            <a:r>
              <a:rPr lang="zh-CN" altLang="en-US" sz="2400" b="1" dirty="0" smtClean="0">
                <a:solidFill>
                  <a:schemeClr val="tx1"/>
                </a:solidFill>
                <a:latin typeface="+mn-ea"/>
                <a:ea typeface="+mn-ea"/>
                <a:cs typeface="Times New Roman" pitchFamily="18" charset="0"/>
              </a:rPr>
              <a:t>要求</a:t>
            </a:r>
            <a:r>
              <a:rPr lang="zh-CN" altLang="en-US" sz="2400" b="1" dirty="0">
                <a:solidFill>
                  <a:schemeClr val="tx1"/>
                </a:solidFill>
                <a:latin typeface="+mn-ea"/>
                <a:ea typeface="+mn-ea"/>
                <a:cs typeface="Times New Roman" pitchFamily="18" charset="0"/>
              </a:rPr>
              <a:t>欧姆接触且长宽比大于</a:t>
            </a:r>
            <a:r>
              <a:rPr lang="en-US" altLang="zh-CN" sz="2400" b="1" dirty="0">
                <a:solidFill>
                  <a:schemeClr val="tx1"/>
                </a:solidFill>
                <a:latin typeface="+mn-ea"/>
                <a:ea typeface="+mn-ea"/>
                <a:cs typeface="Times New Roman" pitchFamily="18" charset="0"/>
              </a:rPr>
              <a:t>10</a:t>
            </a:r>
          </a:p>
        </p:txBody>
      </p:sp>
      <p:sp>
        <p:nvSpPr>
          <p:cNvPr id="5127" name="Line 9"/>
          <p:cNvSpPr>
            <a:spLocks noChangeShapeType="1"/>
          </p:cNvSpPr>
          <p:nvPr/>
        </p:nvSpPr>
        <p:spPr bwMode="auto">
          <a:xfrm flipH="1" flipV="1">
            <a:off x="4429124" y="5014729"/>
            <a:ext cx="1238232" cy="438144"/>
          </a:xfrm>
          <a:prstGeom prst="line">
            <a:avLst/>
          </a:prstGeom>
          <a:noFill/>
          <a:ln w="38100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5128" name="Line 10"/>
          <p:cNvSpPr>
            <a:spLocks noChangeShapeType="1"/>
          </p:cNvSpPr>
          <p:nvPr/>
        </p:nvSpPr>
        <p:spPr bwMode="auto">
          <a:xfrm flipH="1" flipV="1">
            <a:off x="4714876" y="3800283"/>
            <a:ext cx="952480" cy="1652590"/>
          </a:xfrm>
          <a:prstGeom prst="line">
            <a:avLst/>
          </a:prstGeom>
          <a:noFill/>
          <a:ln w="38100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5130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642910" y="1571612"/>
            <a:ext cx="8027987" cy="58736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/>
            <a:r>
              <a:rPr lang="zh-CN" altLang="en-US" sz="2800" b="1" dirty="0" smtClean="0">
                <a:solidFill>
                  <a:srgbClr val="F84D08"/>
                </a:solidFill>
                <a:latin typeface="黑体" pitchFamily="49" charset="-122"/>
                <a:ea typeface="黑体" pitchFamily="49" charset="-122"/>
              </a:rPr>
              <a:t>霍尔元件</a:t>
            </a:r>
          </a:p>
        </p:txBody>
      </p:sp>
      <p:sp>
        <p:nvSpPr>
          <p:cNvPr id="5131" name="Text Box 14"/>
          <p:cNvSpPr txBox="1">
            <a:spLocks noChangeArrowheads="1"/>
          </p:cNvSpPr>
          <p:nvPr/>
        </p:nvSpPr>
        <p:spPr bwMode="auto">
          <a:xfrm>
            <a:off x="214282" y="2071678"/>
            <a:ext cx="8715436" cy="138499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630238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基于霍尔效应原理工作的半导体器件称为霍尔元件。它是由霍尔片、四极引线和</a:t>
            </a:r>
            <a:r>
              <a:rPr lang="zh-CN" altLang="en-US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壳体（非导磁金属、陶瓷等）组成</a:t>
            </a:r>
            <a:r>
              <a:rPr lang="zh-CN" altLang="en-US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。</a:t>
            </a:r>
          </a:p>
        </p:txBody>
      </p:sp>
      <p:sp>
        <p:nvSpPr>
          <p:cNvPr id="13" name="Rectangle 8"/>
          <p:cNvSpPr txBox="1">
            <a:spLocks noChangeArrowheads="1"/>
          </p:cNvSpPr>
          <p:nvPr/>
        </p:nvSpPr>
        <p:spPr bwMode="auto">
          <a:xfrm>
            <a:off x="1071538" y="714356"/>
            <a:ext cx="7724775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6.2 </a:t>
            </a:r>
            <a:r>
              <a:rPr kumimoji="0" lang="zh-CN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霍尔式传感器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714375" y="1500188"/>
            <a:ext cx="7643813" cy="15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3" name="组合 22"/>
          <p:cNvGrpSpPr/>
          <p:nvPr/>
        </p:nvGrpSpPr>
        <p:grpSpPr>
          <a:xfrm>
            <a:off x="5214942" y="4443225"/>
            <a:ext cx="928630" cy="285752"/>
            <a:chOff x="0" y="4714884"/>
            <a:chExt cx="928630" cy="285752"/>
          </a:xfrm>
        </p:grpSpPr>
        <p:sp>
          <p:nvSpPr>
            <p:cNvPr id="15" name="矩形 14"/>
            <p:cNvSpPr/>
            <p:nvPr/>
          </p:nvSpPr>
          <p:spPr>
            <a:xfrm>
              <a:off x="214282" y="4714884"/>
              <a:ext cx="500066" cy="28575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/>
          </p:nvSpPr>
          <p:spPr>
            <a:xfrm>
              <a:off x="214282" y="4714884"/>
              <a:ext cx="61914" cy="28575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642910" y="4714884"/>
              <a:ext cx="61914" cy="28575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" name="直接连接符 20"/>
            <p:cNvCxnSpPr>
              <a:stCxn id="18" idx="1"/>
            </p:cNvCxnSpPr>
            <p:nvPr/>
          </p:nvCxnSpPr>
          <p:spPr>
            <a:xfrm rot="10800000">
              <a:off x="0" y="4857760"/>
              <a:ext cx="214282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 rot="10800000">
              <a:off x="714348" y="4857760"/>
              <a:ext cx="214282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819" name="Text Box 11"/>
          <p:cNvSpPr txBox="1">
            <a:spLocks noChangeArrowheads="1"/>
          </p:cNvSpPr>
          <p:nvPr/>
        </p:nvSpPr>
        <p:spPr bwMode="auto">
          <a:xfrm>
            <a:off x="785786" y="2285992"/>
            <a:ext cx="805020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531813">
              <a:buFont typeface="Wingdings" pitchFamily="2" charset="2"/>
              <a:buChar char="u"/>
            </a:pPr>
            <a:r>
              <a:rPr lang="en-US" altLang="zh-CN" b="1" i="1" dirty="0" smtClean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U</a:t>
            </a:r>
            <a:r>
              <a:rPr lang="en-US" altLang="zh-CN" b="1" i="1" baseline="-25000" dirty="0" smtClean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H</a:t>
            </a:r>
            <a:r>
              <a:rPr lang="zh-CN" altLang="en-US" b="1" i="1" baseline="-25000" dirty="0" smtClean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  <a:r>
              <a:rPr lang="en-US" altLang="zh-CN" b="1" i="1" dirty="0" smtClean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-</a:t>
            </a:r>
            <a:r>
              <a:rPr lang="zh-CN" altLang="en-US" b="1" i="1" dirty="0" smtClean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  <a:r>
              <a:rPr lang="en-US" altLang="zh-CN" b="1" i="1" dirty="0" smtClean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</a:t>
            </a:r>
            <a:r>
              <a:rPr lang="en-US" altLang="zh-CN" b="1" dirty="0" smtClean="0">
                <a:solidFill>
                  <a:schemeClr val="tx1"/>
                </a:solidFill>
                <a:latin typeface="Verdana" pitchFamily="34" charset="0"/>
                <a:ea typeface="宋体" pitchFamily="2" charset="-122"/>
              </a:rPr>
              <a:t> </a:t>
            </a:r>
            <a:r>
              <a:rPr lang="zh-CN" altLang="en-US" b="1" dirty="0" smtClean="0">
                <a:solidFill>
                  <a:schemeClr val="tx1"/>
                </a:solidFill>
                <a:latin typeface="Verdana" pitchFamily="34" charset="0"/>
                <a:ea typeface="宋体" pitchFamily="2" charset="-122"/>
              </a:rPr>
              <a:t>特性：霍尔</a:t>
            </a:r>
            <a:r>
              <a:rPr lang="zh-CN" altLang="en-US" b="1" dirty="0">
                <a:solidFill>
                  <a:schemeClr val="tx1"/>
                </a:solidFill>
                <a:latin typeface="Verdana" pitchFamily="34" charset="0"/>
                <a:ea typeface="宋体" pitchFamily="2" charset="-122"/>
              </a:rPr>
              <a:t>电势与控制电流</a:t>
            </a:r>
            <a:r>
              <a:rPr lang="zh-CN" altLang="en-US" b="1" dirty="0" smtClean="0">
                <a:solidFill>
                  <a:schemeClr val="tx1"/>
                </a:solidFill>
                <a:latin typeface="Verdana" pitchFamily="34" charset="0"/>
                <a:ea typeface="宋体" pitchFamily="2" charset="-122"/>
              </a:rPr>
              <a:t>之间关系；</a:t>
            </a:r>
            <a:endParaRPr lang="en-US" altLang="zh-CN" b="1" dirty="0" smtClean="0">
              <a:solidFill>
                <a:schemeClr val="tx1"/>
              </a:solidFill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5130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642910" y="1571612"/>
            <a:ext cx="8027987" cy="58736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/>
            <a:r>
              <a:rPr lang="zh-CN" altLang="en-US" sz="2800" b="1" dirty="0" smtClean="0">
                <a:solidFill>
                  <a:srgbClr val="F84D08"/>
                </a:solidFill>
                <a:latin typeface="黑体" pitchFamily="49" charset="-122"/>
                <a:ea typeface="黑体" pitchFamily="49" charset="-122"/>
              </a:rPr>
              <a:t>霍尔元件的电磁特性</a:t>
            </a:r>
          </a:p>
        </p:txBody>
      </p:sp>
      <p:sp>
        <p:nvSpPr>
          <p:cNvPr id="13" name="Rectangle 8"/>
          <p:cNvSpPr txBox="1">
            <a:spLocks noChangeArrowheads="1"/>
          </p:cNvSpPr>
          <p:nvPr/>
        </p:nvSpPr>
        <p:spPr bwMode="auto">
          <a:xfrm>
            <a:off x="1071538" y="714356"/>
            <a:ext cx="7724775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6.2 </a:t>
            </a:r>
            <a:r>
              <a:rPr kumimoji="0" lang="zh-CN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霍尔式传感器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714375" y="1500188"/>
            <a:ext cx="7643813" cy="15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Rectangle 4"/>
          <p:cNvSpPr>
            <a:spLocks noGrp="1" noChangeArrowheads="1"/>
          </p:cNvSpPr>
          <p:nvPr>
            <p:ph idx="1"/>
          </p:nvPr>
        </p:nvSpPr>
        <p:spPr bwMode="auto">
          <a:xfrm>
            <a:off x="285720" y="5786454"/>
            <a:ext cx="8643998" cy="857256"/>
          </a:xfrm>
          <a:noFill/>
          <a:ln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531813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400" b="1" dirty="0" smtClean="0">
                <a:latin typeface="Times New Roman" pitchFamily="18" charset="0"/>
                <a:cs typeface="Times New Roman" pitchFamily="18" charset="0"/>
              </a:rPr>
              <a:t>磁场恒定，在一定环境温度下，控制电流 </a:t>
            </a:r>
            <a:r>
              <a:rPr lang="en-US" altLang="zh-CN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2400" b="1" dirty="0" smtClean="0">
                <a:latin typeface="Times New Roman" pitchFamily="18" charset="0"/>
                <a:cs typeface="Times New Roman" pitchFamily="18" charset="0"/>
              </a:rPr>
              <a:t>与霍尔输出电势</a:t>
            </a:r>
            <a:r>
              <a:rPr lang="en-US" altLang="zh-CN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zh-CN" sz="2400" b="1" i="1" baseline="-25000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zh-CN" altLang="en-US" sz="2400" b="1" dirty="0" smtClean="0">
                <a:latin typeface="Times New Roman" pitchFamily="18" charset="0"/>
                <a:cs typeface="Times New Roman" pitchFamily="18" charset="0"/>
              </a:rPr>
              <a:t>之间呈线性关系。</a:t>
            </a:r>
          </a:p>
        </p:txBody>
      </p:sp>
      <p:graphicFrame>
        <p:nvGraphicFramePr>
          <p:cNvPr id="8" name="Object 6"/>
          <p:cNvGraphicFramePr>
            <a:graphicFrameLocks noChangeAspect="1"/>
          </p:cNvGraphicFramePr>
          <p:nvPr/>
        </p:nvGraphicFramePr>
        <p:xfrm>
          <a:off x="2884029" y="2857496"/>
          <a:ext cx="3223825" cy="2786082"/>
        </p:xfrm>
        <a:graphic>
          <a:graphicData uri="http://schemas.openxmlformats.org/presentationml/2006/ole">
            <p:oleObj spid="_x0000_s47106" name="Image" r:id="rId3" imgW="7128839" imgH="6163078" progId="Photoshop.Image.6">
              <p:embed/>
            </p:oleObj>
          </a:graphicData>
        </a:graphic>
      </p:graphicFrame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4500562" y="1643050"/>
            <a:ext cx="3286148" cy="480131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1" algn="ctr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None/>
            </a:pPr>
            <a:r>
              <a:rPr lang="en-US" altLang="zh-CN" b="1" i="1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b="1" i="1" baseline="-25000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H</a:t>
            </a:r>
            <a:r>
              <a:rPr lang="en-US" altLang="zh-CN" b="1" i="1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=</a:t>
            </a:r>
            <a:r>
              <a:rPr lang="en-US" altLang="zh-CN" b="1" i="1" dirty="0" err="1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k</a:t>
            </a:r>
            <a:r>
              <a:rPr lang="en-US" altLang="zh-CN" b="1" i="1" baseline="-25000" dirty="0" err="1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H</a:t>
            </a:r>
            <a:r>
              <a:rPr lang="en-US" altLang="zh-CN" b="1" i="1" dirty="0" err="1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IBcosα</a:t>
            </a:r>
            <a:endParaRPr lang="en-US" altLang="zh-CN" sz="2000" i="1" dirty="0">
              <a:solidFill>
                <a:schemeClr val="tx1"/>
              </a:solidFill>
              <a:latin typeface="Verdana" pitchFamily="34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819" name="Text Box 11"/>
          <p:cNvSpPr txBox="1">
            <a:spLocks noChangeArrowheads="1"/>
          </p:cNvSpPr>
          <p:nvPr/>
        </p:nvSpPr>
        <p:spPr bwMode="auto">
          <a:xfrm>
            <a:off x="857224" y="2143116"/>
            <a:ext cx="797877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531813">
              <a:buFont typeface="Wingdings" pitchFamily="2" charset="2"/>
              <a:buChar char="u"/>
            </a:pPr>
            <a:r>
              <a:rPr lang="en-US" altLang="zh-CN" b="1" i="1" dirty="0" smtClean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U</a:t>
            </a:r>
            <a:r>
              <a:rPr lang="en-US" altLang="zh-CN" b="1" i="1" baseline="-25000" dirty="0" smtClean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H</a:t>
            </a:r>
            <a:r>
              <a:rPr lang="zh-CN" altLang="en-US" b="1" i="1" baseline="-25000" dirty="0" smtClean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  <a:r>
              <a:rPr lang="en-US" altLang="zh-CN" b="1" i="1" dirty="0" smtClean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-B</a:t>
            </a:r>
            <a:r>
              <a:rPr lang="en-US" altLang="zh-CN" b="1" dirty="0" smtClean="0">
                <a:solidFill>
                  <a:schemeClr val="tx1"/>
                </a:solidFill>
                <a:latin typeface="Verdana" pitchFamily="34" charset="0"/>
                <a:ea typeface="宋体" pitchFamily="2" charset="-122"/>
              </a:rPr>
              <a:t> </a:t>
            </a:r>
            <a:r>
              <a:rPr lang="zh-CN" altLang="en-US" b="1" dirty="0" smtClean="0">
                <a:solidFill>
                  <a:schemeClr val="tx1"/>
                </a:solidFill>
                <a:latin typeface="Verdana" pitchFamily="34" charset="0"/>
                <a:ea typeface="宋体" pitchFamily="2" charset="-122"/>
              </a:rPr>
              <a:t>特性：霍尔</a:t>
            </a:r>
            <a:r>
              <a:rPr lang="zh-CN" altLang="en-US" b="1" dirty="0">
                <a:solidFill>
                  <a:schemeClr val="tx1"/>
                </a:solidFill>
                <a:latin typeface="Verdana" pitchFamily="34" charset="0"/>
                <a:ea typeface="宋体" pitchFamily="2" charset="-122"/>
              </a:rPr>
              <a:t>电势与磁场</a:t>
            </a:r>
            <a:r>
              <a:rPr lang="zh-CN" altLang="en-US" b="1" dirty="0" smtClean="0">
                <a:solidFill>
                  <a:schemeClr val="tx1"/>
                </a:solidFill>
                <a:latin typeface="Verdana" pitchFamily="34" charset="0"/>
                <a:ea typeface="宋体" pitchFamily="2" charset="-122"/>
              </a:rPr>
              <a:t>之间关系；</a:t>
            </a:r>
            <a:endParaRPr lang="en-US" altLang="zh-CN" b="1" dirty="0" smtClean="0">
              <a:solidFill>
                <a:schemeClr val="tx1"/>
              </a:solidFill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5130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642910" y="1571612"/>
            <a:ext cx="8027987" cy="58736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/>
            <a:r>
              <a:rPr lang="zh-CN" altLang="en-US" sz="2800" b="1" dirty="0" smtClean="0">
                <a:solidFill>
                  <a:srgbClr val="F84D08"/>
                </a:solidFill>
                <a:latin typeface="黑体" pitchFamily="49" charset="-122"/>
                <a:ea typeface="黑体" pitchFamily="49" charset="-122"/>
              </a:rPr>
              <a:t>霍尔元件的电磁特性</a:t>
            </a:r>
          </a:p>
        </p:txBody>
      </p:sp>
      <p:sp>
        <p:nvSpPr>
          <p:cNvPr id="13" name="Rectangle 8"/>
          <p:cNvSpPr txBox="1">
            <a:spLocks noChangeArrowheads="1"/>
          </p:cNvSpPr>
          <p:nvPr/>
        </p:nvSpPr>
        <p:spPr bwMode="auto">
          <a:xfrm>
            <a:off x="1071538" y="714356"/>
            <a:ext cx="7724775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6.2 </a:t>
            </a:r>
            <a:r>
              <a:rPr kumimoji="0" lang="zh-CN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霍尔式传感器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714375" y="1500188"/>
            <a:ext cx="7643813" cy="15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46083" name="Object 7"/>
          <p:cNvGraphicFramePr>
            <a:graphicFrameLocks noChangeAspect="1"/>
          </p:cNvGraphicFramePr>
          <p:nvPr/>
        </p:nvGraphicFramePr>
        <p:xfrm>
          <a:off x="3071802" y="2627375"/>
          <a:ext cx="2495552" cy="2009709"/>
        </p:xfrm>
        <a:graphic>
          <a:graphicData uri="http://schemas.openxmlformats.org/presentationml/2006/ole">
            <p:oleObj spid="_x0000_s46083" name="Image" r:id="rId3" imgW="7586304" imgH="6112248" progId="Photoshop.Image.6">
              <p:embed/>
            </p:oleObj>
          </a:graphicData>
        </a:graphic>
      </p:graphicFrame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285720" y="4632325"/>
            <a:ext cx="8643998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tx1"/>
                </a:solidFill>
                <a:latin typeface="Verdana" pitchFamily="34" charset="0"/>
                <a:ea typeface="宋体" pitchFamily="2" charset="-122"/>
              </a:rPr>
              <a:t>     </a:t>
            </a:r>
            <a:r>
              <a:rPr lang="zh-CN" altLang="en-US" sz="2400" b="1" dirty="0">
                <a:solidFill>
                  <a:schemeClr val="tx1"/>
                </a:solidFill>
                <a:latin typeface="Verdana" pitchFamily="34" charset="0"/>
                <a:ea typeface="宋体" pitchFamily="2" charset="-122"/>
              </a:rPr>
              <a:t>当控制电流恒定时，霍尔元件的开路霍尔</a:t>
            </a:r>
            <a:r>
              <a:rPr lang="zh-CN" altLang="en-US" sz="2400" b="1" dirty="0" smtClean="0">
                <a:solidFill>
                  <a:schemeClr val="tx1"/>
                </a:solidFill>
                <a:latin typeface="Verdana" pitchFamily="34" charset="0"/>
                <a:ea typeface="宋体" pitchFamily="2" charset="-122"/>
              </a:rPr>
              <a:t>输出</a:t>
            </a:r>
            <a:r>
              <a:rPr lang="en-US" altLang="zh-CN" sz="2400" b="1" i="1" dirty="0" smtClean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U</a:t>
            </a:r>
            <a:r>
              <a:rPr lang="en-US" altLang="zh-CN" sz="2400" b="1" i="1" baseline="-25000" dirty="0" smtClean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H</a:t>
            </a:r>
            <a:r>
              <a:rPr lang="zh-CN" altLang="en-US" sz="2400" b="1" i="1" baseline="-25000" dirty="0" smtClean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  <a:r>
              <a:rPr lang="zh-CN" altLang="en-US" sz="2400" b="1" dirty="0" smtClean="0">
                <a:solidFill>
                  <a:schemeClr val="tx1"/>
                </a:solidFill>
                <a:latin typeface="Verdana" pitchFamily="34" charset="0"/>
                <a:ea typeface="宋体" pitchFamily="2" charset="-122"/>
              </a:rPr>
              <a:t>随磁感应强度</a:t>
            </a:r>
            <a:r>
              <a:rPr lang="en-US" altLang="zh-CN" sz="2400" b="1" i="1" dirty="0" smtClean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</a:t>
            </a:r>
            <a:r>
              <a:rPr lang="zh-CN" altLang="en-US" sz="2400" b="1" dirty="0" smtClean="0">
                <a:solidFill>
                  <a:schemeClr val="tx1"/>
                </a:solidFill>
                <a:latin typeface="Verdana" pitchFamily="34" charset="0"/>
                <a:ea typeface="宋体" pitchFamily="2" charset="-122"/>
              </a:rPr>
              <a:t>增加</a:t>
            </a:r>
            <a:r>
              <a:rPr lang="zh-CN" altLang="en-US" sz="2400" b="1" dirty="0">
                <a:solidFill>
                  <a:schemeClr val="tx1"/>
                </a:solidFill>
                <a:latin typeface="Verdana" pitchFamily="34" charset="0"/>
                <a:ea typeface="宋体" pitchFamily="2" charset="-122"/>
              </a:rPr>
              <a:t>并不完全呈线性关系。</a:t>
            </a:r>
          </a:p>
          <a:p>
            <a:pPr indent="450850"/>
            <a:r>
              <a:rPr lang="zh-CN" altLang="en-US" sz="2400" b="1" dirty="0">
                <a:solidFill>
                  <a:schemeClr val="tx1"/>
                </a:solidFill>
                <a:latin typeface="Verdana" pitchFamily="34" charset="0"/>
                <a:ea typeface="宋体" pitchFamily="2" charset="-122"/>
              </a:rPr>
              <a:t>当磁场为交变、电流是直流时，由于交变磁场在导体内产生涡流而输出附加霍尔电势，因此霍尔元件只能在几千赫频率的交变磁场内工作</a:t>
            </a:r>
            <a:r>
              <a:rPr lang="zh-CN" altLang="en-US" sz="2400" b="1" dirty="0" smtClean="0">
                <a:solidFill>
                  <a:schemeClr val="tx1"/>
                </a:solidFill>
                <a:latin typeface="Verdana" pitchFamily="34" charset="0"/>
                <a:ea typeface="宋体" pitchFamily="2" charset="-122"/>
              </a:rPr>
              <a:t>。</a:t>
            </a:r>
            <a:endParaRPr lang="en-US" altLang="zh-CN" sz="2000" dirty="0">
              <a:solidFill>
                <a:srgbClr val="0000FF"/>
              </a:solidFill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17" name="Text Box 3"/>
          <p:cNvSpPr txBox="1">
            <a:spLocks noChangeArrowheads="1"/>
          </p:cNvSpPr>
          <p:nvPr/>
        </p:nvSpPr>
        <p:spPr bwMode="auto">
          <a:xfrm>
            <a:off x="4572000" y="1643050"/>
            <a:ext cx="3286148" cy="480131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1" algn="ctr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None/>
            </a:pPr>
            <a:r>
              <a:rPr lang="en-US" altLang="zh-CN" b="1" i="1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b="1" i="1" baseline="-25000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H</a:t>
            </a:r>
            <a:r>
              <a:rPr lang="en-US" altLang="zh-CN" b="1" i="1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=</a:t>
            </a:r>
            <a:r>
              <a:rPr lang="en-US" altLang="zh-CN" b="1" i="1" dirty="0" err="1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k</a:t>
            </a:r>
            <a:r>
              <a:rPr lang="en-US" altLang="zh-CN" b="1" i="1" baseline="-25000" dirty="0" err="1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H</a:t>
            </a:r>
            <a:r>
              <a:rPr lang="en-US" altLang="zh-CN" b="1" i="1" dirty="0" err="1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IBcosα</a:t>
            </a:r>
            <a:endParaRPr lang="en-US" altLang="zh-CN" sz="2000" i="1" dirty="0">
              <a:solidFill>
                <a:schemeClr val="tx1"/>
              </a:solidFill>
              <a:latin typeface="Verdana" pitchFamily="34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819" name="Text Box 11"/>
          <p:cNvSpPr txBox="1">
            <a:spLocks noChangeArrowheads="1"/>
          </p:cNvSpPr>
          <p:nvPr/>
        </p:nvSpPr>
        <p:spPr bwMode="auto">
          <a:xfrm>
            <a:off x="285720" y="2143116"/>
            <a:ext cx="8550275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indent="531813">
              <a:buFont typeface="Wingdings" pitchFamily="2" charset="2"/>
              <a:buChar char="u"/>
            </a:pPr>
            <a:r>
              <a:rPr lang="en-US" altLang="zh-CN" b="1" i="1" dirty="0" smtClean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 </a:t>
            </a:r>
            <a:r>
              <a:rPr lang="en-US" altLang="zh-CN" b="1" i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– B </a:t>
            </a:r>
            <a:r>
              <a:rPr lang="zh-CN" altLang="en-US" b="1" dirty="0" smtClean="0">
                <a:solidFill>
                  <a:schemeClr val="tx1"/>
                </a:solidFill>
                <a:latin typeface="Verdana" pitchFamily="34" charset="0"/>
                <a:ea typeface="宋体" pitchFamily="2" charset="-122"/>
              </a:rPr>
              <a:t>特性：元件</a:t>
            </a:r>
            <a:r>
              <a:rPr lang="zh-CN" altLang="en-US" b="1" dirty="0">
                <a:solidFill>
                  <a:schemeClr val="tx1"/>
                </a:solidFill>
                <a:latin typeface="Verdana" pitchFamily="34" charset="0"/>
                <a:ea typeface="宋体" pitchFamily="2" charset="-122"/>
              </a:rPr>
              <a:t>的输入或输出电阻与磁场之间的</a:t>
            </a:r>
            <a:r>
              <a:rPr lang="zh-CN" altLang="en-US" b="1" dirty="0" smtClean="0">
                <a:solidFill>
                  <a:schemeClr val="tx1"/>
                </a:solidFill>
                <a:latin typeface="Verdana" pitchFamily="34" charset="0"/>
                <a:ea typeface="宋体" pitchFamily="2" charset="-122"/>
              </a:rPr>
              <a:t>关系</a:t>
            </a:r>
            <a:r>
              <a:rPr lang="zh-CN" altLang="en-US" dirty="0" smtClean="0">
                <a:solidFill>
                  <a:schemeClr val="tx1"/>
                </a:solidFill>
                <a:latin typeface="Verdana" pitchFamily="34" charset="0"/>
                <a:ea typeface="宋体" pitchFamily="2" charset="-122"/>
              </a:rPr>
              <a:t>。</a:t>
            </a:r>
            <a:endParaRPr lang="zh-CN" altLang="en-US" dirty="0">
              <a:solidFill>
                <a:schemeClr val="tx1"/>
              </a:solidFill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5130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642910" y="1571612"/>
            <a:ext cx="8027987" cy="58736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/>
            <a:r>
              <a:rPr lang="zh-CN" altLang="en-US" sz="2800" b="1" dirty="0" smtClean="0">
                <a:solidFill>
                  <a:srgbClr val="F84D08"/>
                </a:solidFill>
                <a:latin typeface="黑体" pitchFamily="49" charset="-122"/>
                <a:ea typeface="黑体" pitchFamily="49" charset="-122"/>
              </a:rPr>
              <a:t>霍尔元件的电磁特性</a:t>
            </a:r>
          </a:p>
        </p:txBody>
      </p:sp>
      <p:sp>
        <p:nvSpPr>
          <p:cNvPr id="13" name="Rectangle 8"/>
          <p:cNvSpPr txBox="1">
            <a:spLocks noChangeArrowheads="1"/>
          </p:cNvSpPr>
          <p:nvPr/>
        </p:nvSpPr>
        <p:spPr bwMode="auto">
          <a:xfrm>
            <a:off x="1071538" y="714356"/>
            <a:ext cx="7724775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6.2 </a:t>
            </a:r>
            <a:r>
              <a:rPr kumimoji="0" lang="zh-CN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霍尔式传感器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714375" y="1500188"/>
            <a:ext cx="7643813" cy="15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49155" name="Object 8"/>
          <p:cNvGraphicFramePr>
            <a:graphicFrameLocks noChangeAspect="1"/>
          </p:cNvGraphicFramePr>
          <p:nvPr/>
        </p:nvGraphicFramePr>
        <p:xfrm>
          <a:off x="3000363" y="2714620"/>
          <a:ext cx="2786083" cy="2435674"/>
        </p:xfrm>
        <a:graphic>
          <a:graphicData uri="http://schemas.openxmlformats.org/presentationml/2006/ole">
            <p:oleObj spid="_x0000_s49155" name="Image" r:id="rId3" imgW="6468055" imgH="5654783" progId="Photoshop.Image.6">
              <p:embed/>
            </p:oleObj>
          </a:graphicData>
        </a:graphic>
      </p:graphicFrame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285720" y="5143512"/>
            <a:ext cx="8678893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  <a:latin typeface="Verdana" pitchFamily="34" charset="0"/>
                <a:ea typeface="宋体" pitchFamily="2" charset="-122"/>
              </a:rPr>
              <a:t>      </a:t>
            </a:r>
            <a:r>
              <a:rPr lang="zh-CN" altLang="en-US" sz="2400" b="1" dirty="0">
                <a:solidFill>
                  <a:schemeClr val="tx1"/>
                </a:solidFill>
                <a:latin typeface="Verdana" pitchFamily="34" charset="0"/>
                <a:ea typeface="宋体" pitchFamily="2" charset="-122"/>
              </a:rPr>
              <a:t>霍尔元件的内阻随磁场的绝对值增加而增加，这种现象称为</a:t>
            </a:r>
            <a:r>
              <a:rPr lang="zh-CN" altLang="en-US" sz="2400" b="1" dirty="0">
                <a:solidFill>
                  <a:srgbClr val="FF0000"/>
                </a:solidFill>
                <a:latin typeface="Verdana" pitchFamily="34" charset="0"/>
                <a:ea typeface="宋体" pitchFamily="2" charset="-122"/>
              </a:rPr>
              <a:t>磁阻效应</a:t>
            </a:r>
            <a:r>
              <a:rPr lang="zh-CN" altLang="en-US" sz="2400" b="1" dirty="0">
                <a:solidFill>
                  <a:schemeClr val="tx1"/>
                </a:solidFill>
                <a:latin typeface="Verdana" pitchFamily="34" charset="0"/>
                <a:ea typeface="宋体" pitchFamily="2" charset="-122"/>
              </a:rPr>
              <a:t>。利用磁阻效应制成的磁阻元件也可用来测量各种机械量</a:t>
            </a:r>
            <a:r>
              <a:rPr lang="zh-CN" altLang="en-US" sz="2400" b="1" dirty="0" smtClean="0">
                <a:solidFill>
                  <a:schemeClr val="tx1"/>
                </a:solidFill>
                <a:latin typeface="Verdana" pitchFamily="34" charset="0"/>
                <a:ea typeface="宋体" pitchFamily="2" charset="-122"/>
              </a:rPr>
              <a:t>。</a:t>
            </a:r>
            <a:endParaRPr lang="en-US" altLang="zh-CN" sz="2400" b="1" dirty="0" smtClean="0">
              <a:solidFill>
                <a:schemeClr val="tx1"/>
              </a:solidFill>
              <a:latin typeface="Verdana" pitchFamily="34" charset="0"/>
              <a:ea typeface="宋体" pitchFamily="2" charset="-122"/>
            </a:endParaRPr>
          </a:p>
          <a:p>
            <a:pPr indent="531813"/>
            <a:r>
              <a:rPr lang="zh-CN" altLang="en-US" sz="2400" b="1" dirty="0" smtClean="0">
                <a:solidFill>
                  <a:schemeClr val="tx1"/>
                </a:solidFill>
                <a:latin typeface="Verdana" pitchFamily="34" charset="0"/>
                <a:ea typeface="宋体" pitchFamily="2" charset="-122"/>
              </a:rPr>
              <a:t>磁阻效应</a:t>
            </a:r>
            <a:r>
              <a:rPr lang="zh-CN" altLang="en-US" sz="2400" b="1" dirty="0">
                <a:solidFill>
                  <a:schemeClr val="tx1"/>
                </a:solidFill>
                <a:latin typeface="Verdana" pitchFamily="34" charset="0"/>
                <a:ea typeface="宋体" pitchFamily="2" charset="-122"/>
              </a:rPr>
              <a:t>使</a:t>
            </a:r>
            <a:r>
              <a:rPr lang="zh-CN" altLang="en-US" sz="2400" b="1" dirty="0" smtClean="0">
                <a:solidFill>
                  <a:schemeClr val="tx1"/>
                </a:solidFill>
                <a:latin typeface="Verdana" pitchFamily="34" charset="0"/>
                <a:ea typeface="宋体" pitchFamily="2" charset="-122"/>
              </a:rPr>
              <a:t>霍尔传感器输出降低（尤其</a:t>
            </a:r>
            <a:r>
              <a:rPr lang="zh-CN" altLang="en-US" sz="2400" b="1" dirty="0">
                <a:solidFill>
                  <a:schemeClr val="tx1"/>
                </a:solidFill>
                <a:latin typeface="Verdana" pitchFamily="34" charset="0"/>
                <a:ea typeface="宋体" pitchFamily="2" charset="-122"/>
              </a:rPr>
              <a:t>在强磁场</a:t>
            </a:r>
            <a:r>
              <a:rPr lang="zh-CN" altLang="en-US" sz="2400" b="1" dirty="0" smtClean="0">
                <a:solidFill>
                  <a:schemeClr val="tx1"/>
                </a:solidFill>
                <a:latin typeface="Verdana" pitchFamily="34" charset="0"/>
                <a:ea typeface="宋体" pitchFamily="2" charset="-122"/>
              </a:rPr>
              <a:t>时）。</a:t>
            </a:r>
            <a:endParaRPr lang="zh-CN" altLang="en-US" sz="2400" b="1" dirty="0">
              <a:solidFill>
                <a:schemeClr val="tx1"/>
              </a:solidFill>
              <a:latin typeface="Verdana" pitchFamily="34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2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14348" y="1571612"/>
            <a:ext cx="8027987" cy="658803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838200" indent="-838200" algn="l"/>
            <a:r>
              <a:rPr lang="zh-CN" altLang="en-US" sz="2800" b="1" dirty="0" smtClean="0">
                <a:solidFill>
                  <a:srgbClr val="F84D08"/>
                </a:solidFill>
                <a:latin typeface="黑体" pitchFamily="49" charset="-122"/>
                <a:ea typeface="黑体" pitchFamily="49" charset="-122"/>
              </a:rPr>
              <a:t>测量电路</a:t>
            </a:r>
          </a:p>
        </p:txBody>
      </p:sp>
      <p:sp>
        <p:nvSpPr>
          <p:cNvPr id="521225" name="Rectangle 9"/>
          <p:cNvSpPr>
            <a:spLocks noRot="1" noChangeArrowheads="1"/>
          </p:cNvSpPr>
          <p:nvPr/>
        </p:nvSpPr>
        <p:spPr bwMode="auto">
          <a:xfrm>
            <a:off x="827088" y="5013324"/>
            <a:ext cx="8077200" cy="14875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indent="3556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激励电流由电源</a:t>
            </a:r>
            <a:r>
              <a:rPr lang="en-US" altLang="zh-CN" sz="2400" b="1" dirty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E</a:t>
            </a:r>
            <a:r>
              <a:rPr lang="zh-CN" altLang="en-US" sz="2400" b="1" dirty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供给，可变电阻</a:t>
            </a:r>
            <a:r>
              <a:rPr lang="en-US" altLang="zh-CN" sz="2400" b="1" dirty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R</a:t>
            </a:r>
            <a:r>
              <a:rPr lang="en-US" altLang="zh-CN" sz="2400" b="1" baseline="-25000" dirty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P</a:t>
            </a:r>
            <a:r>
              <a:rPr lang="zh-CN" altLang="en-US" sz="2400" b="1" dirty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用来调节激励电流</a:t>
            </a:r>
            <a:r>
              <a:rPr lang="en-US" altLang="zh-CN" sz="2400" b="1" dirty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I</a:t>
            </a:r>
            <a:r>
              <a:rPr lang="zh-CN" altLang="en-US" sz="2400" b="1" dirty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的大小。</a:t>
            </a:r>
            <a:r>
              <a:rPr lang="en-US" altLang="zh-CN" sz="2400" b="1" dirty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R</a:t>
            </a:r>
            <a:r>
              <a:rPr lang="en-US" altLang="zh-CN" sz="2400" b="1" baseline="-25000" dirty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L</a:t>
            </a:r>
            <a:r>
              <a:rPr lang="zh-CN" altLang="en-US" sz="2400" b="1" dirty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为输出霍尔电势</a:t>
            </a:r>
            <a:r>
              <a:rPr lang="en-US" altLang="zh-CN" sz="2400" b="1" dirty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U</a:t>
            </a:r>
            <a:r>
              <a:rPr lang="en-US" altLang="zh-CN" sz="2400" b="1" baseline="-25000" dirty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H</a:t>
            </a:r>
            <a:r>
              <a:rPr lang="zh-CN" altLang="en-US" sz="2400" b="1" dirty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的负载电阻。通常它是显示仪表、记录装置或放大器的输入阻抗。</a:t>
            </a:r>
          </a:p>
        </p:txBody>
      </p:sp>
      <p:sp>
        <p:nvSpPr>
          <p:cNvPr id="6" name="Rectangle 8"/>
          <p:cNvSpPr txBox="1">
            <a:spLocks noChangeArrowheads="1"/>
          </p:cNvSpPr>
          <p:nvPr/>
        </p:nvSpPr>
        <p:spPr bwMode="auto">
          <a:xfrm>
            <a:off x="1071538" y="714356"/>
            <a:ext cx="7724775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6.2 </a:t>
            </a:r>
            <a:r>
              <a:rPr kumimoji="0" lang="zh-CN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霍尔式传感器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714375" y="1500188"/>
            <a:ext cx="7643813" cy="15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71736" y="2214554"/>
            <a:ext cx="3952684" cy="2643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" dur="500"/>
                                        <p:tgtEl>
                                          <p:spTgt spid="5212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1" dur="500"/>
                                        <p:tgtEl>
                                          <p:spTgt spid="521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1218" grpId="0" animBg="1" autoUpdateAnimBg="0"/>
      <p:bldP spid="521225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85786" y="1571612"/>
            <a:ext cx="6858000" cy="715963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838200" indent="-838200" algn="l" eaLnBrk="1" hangingPunct="1"/>
            <a:r>
              <a:rPr lang="zh-CN" altLang="en-US" sz="2800" b="1" dirty="0" smtClean="0">
                <a:solidFill>
                  <a:srgbClr val="F84D08"/>
                </a:solidFill>
                <a:latin typeface="黑体" pitchFamily="49" charset="-122"/>
                <a:ea typeface="黑体" pitchFamily="49" charset="-122"/>
              </a:rPr>
              <a:t>主要技术指标</a:t>
            </a:r>
          </a:p>
        </p:txBody>
      </p:sp>
      <p:sp>
        <p:nvSpPr>
          <p:cNvPr id="522249" name="Rectangle 9"/>
          <p:cNvSpPr>
            <a:spLocks noRot="1" noChangeArrowheads="1"/>
          </p:cNvSpPr>
          <p:nvPr/>
        </p:nvSpPr>
        <p:spPr bwMode="auto">
          <a:xfrm>
            <a:off x="714348" y="2143117"/>
            <a:ext cx="8189940" cy="3214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55600" indent="-355600" algn="just">
              <a:lnSpc>
                <a:spcPct val="120000"/>
              </a:lnSpc>
              <a:spcBef>
                <a:spcPct val="20000"/>
              </a:spcBef>
              <a:buClr>
                <a:srgbClr val="F84D08"/>
              </a:buClr>
              <a:buFont typeface="Wingdings" pitchFamily="2" charset="2"/>
              <a:buChar char="u"/>
            </a:pPr>
            <a:r>
              <a:rPr lang="zh-CN" altLang="en-US" b="1" dirty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 额定</a:t>
            </a:r>
            <a:r>
              <a:rPr lang="zh-CN" altLang="en-US" b="1" dirty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激励</a:t>
            </a:r>
            <a:r>
              <a:rPr lang="zh-CN" altLang="en-US" b="1" dirty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电流 </a:t>
            </a:r>
            <a:r>
              <a:rPr lang="en-US" altLang="zh-CN" b="1" i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</a:t>
            </a:r>
            <a:r>
              <a:rPr lang="en-US" altLang="zh-CN" b="1" i="1" baseline="-25000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H</a:t>
            </a:r>
            <a:r>
              <a:rPr lang="zh-CN" altLang="en-US" b="1" baseline="-25000" dirty="0">
                <a:latin typeface="Tahoma" pitchFamily="34" charset="0"/>
                <a:ea typeface="宋体" pitchFamily="2" charset="-122"/>
              </a:rPr>
              <a:t>：</a:t>
            </a:r>
            <a:r>
              <a:rPr lang="zh-CN" altLang="en-US" b="1" dirty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使霍尔元件温升</a:t>
            </a:r>
            <a:r>
              <a:rPr lang="en-US" altLang="zh-CN" b="1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10℃</a:t>
            </a:r>
            <a:r>
              <a:rPr lang="zh-CN" altLang="en-US" b="1" dirty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所施加的控制电</a:t>
            </a:r>
            <a:r>
              <a:rPr lang="zh-CN" altLang="en-US" b="1" dirty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流值；限制的主要因素是散热条件；</a:t>
            </a:r>
            <a:endParaRPr lang="zh-CN" altLang="en-US" b="1" dirty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  <a:p>
            <a:pPr marL="355600" indent="-355600" algn="just">
              <a:lnSpc>
                <a:spcPct val="120000"/>
              </a:lnSpc>
              <a:spcBef>
                <a:spcPct val="20000"/>
              </a:spcBef>
              <a:buClr>
                <a:srgbClr val="F84D08"/>
              </a:buClr>
              <a:buFont typeface="Wingdings" pitchFamily="2" charset="2"/>
              <a:buChar char="u"/>
            </a:pPr>
            <a:r>
              <a:rPr lang="zh-CN" altLang="en-US" b="1" dirty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 输入电阻</a:t>
            </a:r>
            <a:r>
              <a:rPr lang="en-US" altLang="zh-CN" b="1" i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</a:t>
            </a:r>
            <a:r>
              <a:rPr lang="en-US" altLang="zh-CN" b="1" i="1" baseline="-25000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</a:t>
            </a:r>
            <a:r>
              <a:rPr lang="zh-CN" altLang="en-US" b="1" dirty="0" smtClean="0">
                <a:latin typeface="Tahoma" pitchFamily="34" charset="0"/>
                <a:ea typeface="宋体" pitchFamily="2" charset="-122"/>
              </a:rPr>
              <a:t>：</a:t>
            </a:r>
            <a:r>
              <a:rPr lang="zh-CN" altLang="en-US" b="1" dirty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指控</a:t>
            </a:r>
            <a:r>
              <a:rPr lang="zh-CN" altLang="en-US" b="1" dirty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制电流极间的电</a:t>
            </a:r>
            <a:r>
              <a:rPr lang="zh-CN" altLang="en-US" b="1" dirty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阻值，规定</a:t>
            </a:r>
            <a:r>
              <a:rPr lang="zh-CN" altLang="en-US" b="1" dirty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要在室温</a:t>
            </a:r>
            <a:r>
              <a:rPr lang="en-US" altLang="zh-CN" b="1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(20±5℃)</a:t>
            </a:r>
            <a:r>
              <a:rPr lang="zh-CN" altLang="en-US" b="1" dirty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的环境温度中测</a:t>
            </a:r>
            <a:r>
              <a:rPr lang="zh-CN" altLang="en-US" b="1" dirty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取；  </a:t>
            </a:r>
            <a:endParaRPr lang="zh-CN" altLang="en-US" b="1" dirty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  <a:p>
            <a:pPr marL="355600" indent="-355600" algn="just">
              <a:lnSpc>
                <a:spcPct val="120000"/>
              </a:lnSpc>
              <a:spcBef>
                <a:spcPct val="20000"/>
              </a:spcBef>
              <a:buClr>
                <a:srgbClr val="F84D08"/>
              </a:buClr>
              <a:buFont typeface="Wingdings" pitchFamily="2" charset="2"/>
              <a:buChar char="u"/>
            </a:pPr>
            <a:r>
              <a:rPr lang="zh-CN" altLang="en-US" b="1" dirty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 输出电阻</a:t>
            </a:r>
            <a:r>
              <a:rPr lang="en-US" altLang="zh-CN" b="1" i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</a:t>
            </a:r>
            <a:r>
              <a:rPr lang="en-US" altLang="zh-CN" b="1" i="1" baseline="-25000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s</a:t>
            </a:r>
            <a:r>
              <a:rPr lang="zh-CN" altLang="en-US" b="1" dirty="0">
                <a:latin typeface="Tahoma" pitchFamily="34" charset="0"/>
                <a:ea typeface="宋体" pitchFamily="2" charset="-122"/>
              </a:rPr>
              <a:t>：</a:t>
            </a:r>
            <a:r>
              <a:rPr lang="zh-CN" altLang="en-US" b="1" dirty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是指霍尔电极间的电阻值。</a:t>
            </a:r>
            <a:r>
              <a:rPr lang="zh-CN" altLang="en-US" b="1" dirty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规定要求</a:t>
            </a:r>
            <a:r>
              <a:rPr lang="zh-CN" altLang="en-US" b="1" dirty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在</a:t>
            </a:r>
            <a:r>
              <a:rPr lang="en-US" altLang="zh-CN" b="1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(20±5℃)</a:t>
            </a:r>
            <a:r>
              <a:rPr lang="zh-CN" altLang="en-US" b="1" dirty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的条件下测取</a:t>
            </a:r>
            <a:r>
              <a:rPr lang="zh-CN" altLang="en-US" b="1" dirty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。</a:t>
            </a:r>
            <a:endParaRPr lang="zh-CN" altLang="en-US" b="1" dirty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5" name="Rectangle 8"/>
          <p:cNvSpPr txBox="1">
            <a:spLocks noChangeArrowheads="1"/>
          </p:cNvSpPr>
          <p:nvPr/>
        </p:nvSpPr>
        <p:spPr bwMode="auto">
          <a:xfrm>
            <a:off x="1071538" y="714356"/>
            <a:ext cx="7724775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6.2 </a:t>
            </a:r>
            <a:r>
              <a:rPr kumimoji="0" lang="zh-CN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霍尔式传感器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714375" y="1500188"/>
            <a:ext cx="7643813" cy="15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222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222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222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49" grpId="0" build="p" bldLvl="2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85786" y="1571612"/>
            <a:ext cx="6858000" cy="715963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838200" indent="-838200" algn="l" eaLnBrk="1" hangingPunct="1"/>
            <a:r>
              <a:rPr lang="zh-CN" altLang="en-US" sz="2800" b="1" dirty="0" smtClean="0">
                <a:solidFill>
                  <a:srgbClr val="F84D08"/>
                </a:solidFill>
                <a:latin typeface="黑体" pitchFamily="49" charset="-122"/>
                <a:ea typeface="黑体" pitchFamily="49" charset="-122"/>
              </a:rPr>
              <a:t>主要技术指标</a:t>
            </a:r>
          </a:p>
        </p:txBody>
      </p:sp>
      <p:sp>
        <p:nvSpPr>
          <p:cNvPr id="522249" name="Rectangle 9"/>
          <p:cNvSpPr>
            <a:spLocks noRot="1" noChangeArrowheads="1"/>
          </p:cNvSpPr>
          <p:nvPr/>
        </p:nvSpPr>
        <p:spPr bwMode="auto">
          <a:xfrm>
            <a:off x="714348" y="2143116"/>
            <a:ext cx="8077200" cy="158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55600" indent="-355600" algn="just">
              <a:lnSpc>
                <a:spcPct val="120000"/>
              </a:lnSpc>
              <a:spcBef>
                <a:spcPct val="20000"/>
              </a:spcBef>
              <a:buClr>
                <a:srgbClr val="F84D08"/>
              </a:buClr>
              <a:buFont typeface="Wingdings" pitchFamily="2" charset="2"/>
              <a:buChar char="u"/>
            </a:pPr>
            <a:r>
              <a:rPr lang="zh-CN" altLang="en-US" b="1" dirty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不</a:t>
            </a:r>
            <a:r>
              <a:rPr lang="zh-CN" altLang="en-US" b="1" dirty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等位电势及零位电阻</a:t>
            </a:r>
            <a:r>
              <a:rPr lang="en-US" altLang="zh-CN" b="1" i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0</a:t>
            </a:r>
            <a:r>
              <a:rPr lang="zh-CN" altLang="en-US" b="1" dirty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：当霍尔元件通以控制</a:t>
            </a:r>
            <a:r>
              <a:rPr lang="zh-CN" altLang="en-US" b="1" dirty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电流</a:t>
            </a:r>
            <a:r>
              <a:rPr lang="en-US" altLang="zh-CN" b="1" i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</a:t>
            </a:r>
            <a:r>
              <a:rPr lang="en-US" altLang="zh-CN" b="1" i="1" baseline="-25000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H</a:t>
            </a:r>
            <a:r>
              <a:rPr lang="zh-CN" altLang="en-US" b="1" i="1" baseline="-25000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  <a:r>
              <a:rPr lang="zh-CN" altLang="en-US" b="1" dirty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而</a:t>
            </a:r>
            <a:r>
              <a:rPr lang="zh-CN" altLang="en-US" b="1" dirty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不加外磁场时</a:t>
            </a:r>
            <a:r>
              <a:rPr lang="zh-CN" altLang="en-US" b="1" dirty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，霍尔</a:t>
            </a:r>
            <a:r>
              <a:rPr lang="zh-CN" altLang="en-US" b="1" dirty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输出端之间仍有空载电势存在，该电势就称为不等位电势</a:t>
            </a:r>
            <a:r>
              <a:rPr lang="en-US" altLang="zh-CN" b="1" dirty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(</a:t>
            </a:r>
            <a:r>
              <a:rPr lang="zh-CN" altLang="en-US" b="1" dirty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或零位电势</a:t>
            </a:r>
            <a:r>
              <a:rPr lang="en-US" altLang="zh-CN" b="1" dirty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)</a:t>
            </a:r>
            <a:r>
              <a:rPr lang="zh-CN" altLang="en-US" b="1" dirty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，在直流条件下测得。</a:t>
            </a:r>
            <a:endParaRPr lang="zh-CN" altLang="en-US" b="1" dirty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5" name="Rectangle 8"/>
          <p:cNvSpPr txBox="1">
            <a:spLocks noChangeArrowheads="1"/>
          </p:cNvSpPr>
          <p:nvPr/>
        </p:nvSpPr>
        <p:spPr bwMode="auto">
          <a:xfrm>
            <a:off x="1071538" y="714356"/>
            <a:ext cx="7724775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6.2 </a:t>
            </a:r>
            <a:r>
              <a:rPr kumimoji="0" lang="zh-CN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霍尔式传感器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714375" y="1500188"/>
            <a:ext cx="7643813" cy="15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" dur="500"/>
                                        <p:tgtEl>
                                          <p:spTgt spid="5222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522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42" grpId="0" animBg="1" autoUpdateAnimBg="0"/>
      <p:bldP spid="522249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85786" y="1571612"/>
            <a:ext cx="6858000" cy="715963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838200" indent="-838200" algn="l"/>
            <a:r>
              <a:rPr lang="zh-CN" altLang="en-US" sz="2800" b="1" dirty="0" smtClean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产生不等位电势的原因</a:t>
            </a:r>
            <a:endParaRPr lang="zh-CN" altLang="en-US" sz="2800" b="1" dirty="0" smtClean="0">
              <a:solidFill>
                <a:srgbClr val="F84D08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5" name="Rectangle 8"/>
          <p:cNvSpPr txBox="1">
            <a:spLocks noChangeArrowheads="1"/>
          </p:cNvSpPr>
          <p:nvPr/>
        </p:nvSpPr>
        <p:spPr bwMode="auto">
          <a:xfrm>
            <a:off x="1071538" y="714356"/>
            <a:ext cx="7724775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6.2 </a:t>
            </a:r>
            <a:r>
              <a:rPr kumimoji="0" lang="zh-CN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霍尔式传感器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714375" y="1500188"/>
            <a:ext cx="7643813" cy="15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357158" y="2071678"/>
            <a:ext cx="8501154" cy="31260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00113" lvl="1" indent="-442913">
              <a:lnSpc>
                <a:spcPct val="120000"/>
              </a:lnSpc>
              <a:buFont typeface="Wingdings" pitchFamily="2" charset="2"/>
              <a:buChar char="l"/>
            </a:pPr>
            <a:r>
              <a:rPr lang="zh-CN" altLang="en-US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两个霍尔电极不能绝对对称地焊在霍尔片的两侧，致使两电极点不能完全位于同一等位面上；</a:t>
            </a:r>
            <a:endParaRPr lang="en-US" altLang="zh-CN" b="1" dirty="0" smtClean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pPr marL="900113" lvl="1" indent="-442913">
              <a:lnSpc>
                <a:spcPct val="120000"/>
              </a:lnSpc>
              <a:buFont typeface="Wingdings" pitchFamily="2" charset="2"/>
              <a:buChar char="l"/>
            </a:pPr>
            <a:r>
              <a:rPr lang="zh-CN" altLang="en-US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霍尔片材料不均匀导致电阻率不均匀；</a:t>
            </a:r>
            <a:endParaRPr lang="en-US" altLang="zh-CN" b="1" dirty="0" smtClean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pPr marL="900113" lvl="1" indent="-442913">
              <a:lnSpc>
                <a:spcPct val="120000"/>
              </a:lnSpc>
              <a:buFont typeface="Wingdings" pitchFamily="2" charset="2"/>
              <a:buChar char="l"/>
            </a:pPr>
            <a:r>
              <a:rPr lang="zh-CN" altLang="en-US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霍尔片几何尺寸不均；</a:t>
            </a:r>
            <a:endParaRPr lang="en-US" altLang="zh-CN" b="1" dirty="0" smtClean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pPr marL="900113" lvl="1" indent="-442913">
              <a:lnSpc>
                <a:spcPct val="120000"/>
              </a:lnSpc>
              <a:buFont typeface="Wingdings" pitchFamily="2" charset="2"/>
              <a:buChar char="l"/>
            </a:pPr>
            <a:r>
              <a:rPr lang="zh-CN" altLang="en-US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控制电流极接触不良致使等位面歪斜，两霍尔电极不在同一等位面上而产生不等位电势。</a:t>
            </a: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" dur="500"/>
                                        <p:tgtEl>
                                          <p:spTgt spid="5222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42" grpId="0" animBg="1" autoUpdateAnimBg="0"/>
      <p:bldP spid="7" grpId="0" build="p" bldLvl="2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273" name="Rectangle 9"/>
          <p:cNvSpPr>
            <a:spLocks noRot="1" noChangeArrowheads="1"/>
          </p:cNvSpPr>
          <p:nvPr/>
        </p:nvSpPr>
        <p:spPr bwMode="auto">
          <a:xfrm>
            <a:off x="285720" y="2133600"/>
            <a:ext cx="8618568" cy="2152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lnSpc>
                <a:spcPct val="120000"/>
              </a:lnSpc>
              <a:spcBef>
                <a:spcPct val="20000"/>
              </a:spcBef>
              <a:buClr>
                <a:srgbClr val="F84D08"/>
              </a:buClr>
              <a:buFont typeface="Wingdings" pitchFamily="2" charset="2"/>
              <a:buChar char="u"/>
            </a:pPr>
            <a:r>
              <a:rPr lang="zh-CN" altLang="en-US" b="1" dirty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 寄生</a:t>
            </a:r>
            <a:r>
              <a:rPr lang="zh-CN" altLang="en-US" b="1" dirty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直流电势</a:t>
            </a:r>
            <a:r>
              <a:rPr lang="zh-CN" altLang="en-US" b="1" dirty="0" smtClean="0">
                <a:latin typeface="Tahoma" pitchFamily="34" charset="0"/>
                <a:ea typeface="宋体" pitchFamily="2" charset="-122"/>
              </a:rPr>
              <a:t>：</a:t>
            </a:r>
            <a:r>
              <a:rPr lang="zh-CN" altLang="en-US" b="1" dirty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不</a:t>
            </a:r>
            <a:r>
              <a:rPr lang="zh-CN" altLang="en-US" b="1" dirty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加外磁场，控制电流改用额定交流电流时，霍尔电极间的空载电势为直流与交流电势之和。其中的交流霍尔电势</a:t>
            </a:r>
            <a:r>
              <a:rPr lang="zh-CN" altLang="en-US" b="1" dirty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与零位</a:t>
            </a:r>
            <a:r>
              <a:rPr lang="zh-CN" altLang="en-US" b="1" dirty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电势相</a:t>
            </a:r>
            <a:r>
              <a:rPr lang="zh-CN" altLang="en-US" b="1" dirty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对应；直流</a:t>
            </a:r>
            <a:r>
              <a:rPr lang="zh-CN" altLang="en-US" b="1" dirty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霍尔电势是个寄生量，称为寄生直流</a:t>
            </a:r>
            <a:r>
              <a:rPr lang="zh-CN" altLang="en-US" b="1" dirty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电势。它是霍尔元件温漂的原因之一。</a:t>
            </a:r>
            <a:endParaRPr lang="zh-CN" altLang="en-US" b="1" dirty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23556" name="Rectangle 18"/>
          <p:cNvSpPr>
            <a:spLocks noGrp="1" noChangeArrowheads="1"/>
          </p:cNvSpPr>
          <p:nvPr>
            <p:ph type="title"/>
          </p:nvPr>
        </p:nvSpPr>
        <p:spPr bwMode="auto">
          <a:xfrm>
            <a:off x="642910" y="1571612"/>
            <a:ext cx="8027987" cy="515927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838200" indent="-838200" algn="l"/>
            <a:r>
              <a:rPr lang="zh-CN" altLang="en-US" sz="2800" b="1" dirty="0" smtClean="0">
                <a:solidFill>
                  <a:srgbClr val="F84D08"/>
                </a:solidFill>
                <a:latin typeface="黑体" pitchFamily="49" charset="-122"/>
                <a:ea typeface="黑体" pitchFamily="49" charset="-122"/>
              </a:rPr>
              <a:t>主要技术指标</a:t>
            </a:r>
          </a:p>
        </p:txBody>
      </p:sp>
      <p:sp>
        <p:nvSpPr>
          <p:cNvPr id="5" name="Rectangle 8"/>
          <p:cNvSpPr txBox="1">
            <a:spLocks noChangeArrowheads="1"/>
          </p:cNvSpPr>
          <p:nvPr/>
        </p:nvSpPr>
        <p:spPr bwMode="auto">
          <a:xfrm>
            <a:off x="1071538" y="714356"/>
            <a:ext cx="7724775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6.2 </a:t>
            </a:r>
            <a:r>
              <a:rPr kumimoji="0" lang="zh-CN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霍尔式传感器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714375" y="1500188"/>
            <a:ext cx="7643813" cy="15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14282" y="4857760"/>
            <a:ext cx="864399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C00000"/>
                </a:solidFill>
                <a:latin typeface="+mn-ea"/>
                <a:ea typeface="+mn-ea"/>
              </a:rPr>
              <a:t>原因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>
              <a:buFont typeface="Wingdings" pitchFamily="2" charset="2"/>
              <a:buChar char="l"/>
            </a:pPr>
            <a:r>
              <a:rPr lang="zh-CN" altLang="en-US" b="1" dirty="0" smtClean="0">
                <a:solidFill>
                  <a:schemeClr val="tx1"/>
                </a:solidFill>
                <a:latin typeface="+mn-ea"/>
                <a:ea typeface="+mn-ea"/>
              </a:rPr>
              <a:t> 两种电极与霍尔片形成非欧姆接触，产生整流效果；</a:t>
            </a:r>
            <a:endParaRPr lang="en-US" altLang="zh-CN" b="1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buFont typeface="Wingdings" pitchFamily="2" charset="2"/>
              <a:buChar char="l"/>
            </a:pPr>
            <a:r>
              <a:rPr lang="zh-CN" altLang="en-US" b="1" dirty="0" smtClean="0">
                <a:solidFill>
                  <a:schemeClr val="tx1"/>
                </a:solidFill>
                <a:latin typeface="+mn-ea"/>
                <a:ea typeface="+mn-ea"/>
              </a:rPr>
              <a:t> 霍尔电极大小不对称，热容量不同，散热状态不同，形成温差电压；</a:t>
            </a:r>
            <a:endParaRPr lang="zh-CN" altLang="en-US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23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3273" grpId="0" autoUpdateAnimBg="0"/>
      <p:bldP spid="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273" name="Rectangle 9"/>
          <p:cNvSpPr>
            <a:spLocks noRot="1" noChangeArrowheads="1"/>
          </p:cNvSpPr>
          <p:nvPr/>
        </p:nvSpPr>
        <p:spPr bwMode="auto">
          <a:xfrm>
            <a:off x="285720" y="2133600"/>
            <a:ext cx="8618568" cy="1652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lnSpc>
                <a:spcPct val="120000"/>
              </a:lnSpc>
              <a:spcBef>
                <a:spcPct val="20000"/>
              </a:spcBef>
              <a:buClr>
                <a:srgbClr val="F84D08"/>
              </a:buClr>
              <a:buFont typeface="Wingdings" pitchFamily="2" charset="2"/>
              <a:buChar char="u"/>
            </a:pPr>
            <a:r>
              <a:rPr lang="zh-CN" altLang="en-US" b="1" dirty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 热阻</a:t>
            </a:r>
            <a:r>
              <a:rPr lang="en-US" altLang="zh-CN" b="1" i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R</a:t>
            </a:r>
            <a:r>
              <a:rPr lang="en-US" altLang="zh-CN" b="1" i="1" baseline="-25000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Q</a:t>
            </a:r>
            <a:r>
              <a:rPr lang="zh-CN" altLang="en-US" b="1" dirty="0" smtClean="0">
                <a:latin typeface="Tahoma" pitchFamily="34" charset="0"/>
                <a:ea typeface="宋体" pitchFamily="2" charset="-122"/>
              </a:rPr>
              <a:t>：</a:t>
            </a:r>
            <a:r>
              <a:rPr lang="zh-CN" altLang="en-US" b="1" dirty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霍尔</a:t>
            </a:r>
            <a:r>
              <a:rPr lang="zh-CN" altLang="en-US" b="1" dirty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电极开路情况下，在霍尔元件上输入</a:t>
            </a:r>
            <a:r>
              <a:rPr lang="en-US" altLang="zh-CN" b="1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1mW</a:t>
            </a:r>
            <a:r>
              <a:rPr lang="zh-CN" altLang="en-US" b="1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的电功率时产生的</a:t>
            </a:r>
            <a:r>
              <a:rPr lang="zh-CN" altLang="en-US" b="1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温升，大小</a:t>
            </a:r>
            <a:r>
              <a:rPr lang="zh-CN" altLang="en-US" b="1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在一定条件下与电阻有关。</a:t>
            </a:r>
          </a:p>
        </p:txBody>
      </p:sp>
      <p:sp>
        <p:nvSpPr>
          <p:cNvPr id="23556" name="Rectangle 18"/>
          <p:cNvSpPr>
            <a:spLocks noGrp="1" noChangeArrowheads="1"/>
          </p:cNvSpPr>
          <p:nvPr>
            <p:ph type="title"/>
          </p:nvPr>
        </p:nvSpPr>
        <p:spPr bwMode="auto">
          <a:xfrm>
            <a:off x="642910" y="1571612"/>
            <a:ext cx="8027987" cy="515927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838200" indent="-838200" algn="l"/>
            <a:r>
              <a:rPr lang="zh-CN" altLang="en-US" sz="2800" b="1" dirty="0" smtClean="0">
                <a:solidFill>
                  <a:srgbClr val="F84D08"/>
                </a:solidFill>
                <a:latin typeface="黑体" pitchFamily="49" charset="-122"/>
                <a:ea typeface="黑体" pitchFamily="49" charset="-122"/>
              </a:rPr>
              <a:t>主要技术指标</a:t>
            </a:r>
          </a:p>
        </p:txBody>
      </p:sp>
      <p:sp>
        <p:nvSpPr>
          <p:cNvPr id="5" name="Rectangle 8"/>
          <p:cNvSpPr txBox="1">
            <a:spLocks noChangeArrowheads="1"/>
          </p:cNvSpPr>
          <p:nvPr/>
        </p:nvSpPr>
        <p:spPr bwMode="auto">
          <a:xfrm>
            <a:off x="1071538" y="714356"/>
            <a:ext cx="7724775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6.2 </a:t>
            </a:r>
            <a:r>
              <a:rPr kumimoji="0" lang="zh-CN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霍尔式传感器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714375" y="1500188"/>
            <a:ext cx="7643813" cy="15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214282" y="4286256"/>
            <a:ext cx="8715436" cy="11264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439738">
              <a:lnSpc>
                <a:spcPct val="120000"/>
              </a:lnSpc>
            </a:pPr>
            <a:r>
              <a:rPr lang="zh-CN" altLang="en-US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霍尔元件的零位误差</a:t>
            </a:r>
            <a:r>
              <a:rPr lang="zh-CN" altLang="en-US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包括不等位电势、寄生直流电势等，其中不等位电势是零位误差中最主要的一种</a:t>
            </a:r>
            <a:r>
              <a:rPr lang="zh-CN" altLang="en-US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。</a:t>
            </a:r>
            <a:endParaRPr lang="zh-CN" altLang="en-US" b="1" dirty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23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3273" grpId="0" autoUpdateAnimBg="0"/>
      <p:bldP spid="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 Box 4"/>
          <p:cNvSpPr txBox="1">
            <a:spLocks noChangeArrowheads="1"/>
          </p:cNvSpPr>
          <p:nvPr/>
        </p:nvSpPr>
        <p:spPr bwMode="auto">
          <a:xfrm>
            <a:off x="285720" y="2071678"/>
            <a:ext cx="8572560" cy="1330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rgbClr val="F84D08"/>
              </a:buClr>
              <a:buFont typeface="Wingdings" pitchFamily="2" charset="2"/>
              <a:buChar char="u"/>
            </a:pPr>
            <a:r>
              <a:rPr lang="en-US" altLang="zh-CN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不等位电势的补偿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    由于不等位电势与不等位电阻是一致的，因此可以用分析其电阻的方法来进行补偿。</a:t>
            </a:r>
          </a:p>
        </p:txBody>
      </p:sp>
      <p:graphicFrame>
        <p:nvGraphicFramePr>
          <p:cNvPr id="8194" name="Object 5"/>
          <p:cNvGraphicFramePr>
            <a:graphicFrameLocks noChangeAspect="1"/>
          </p:cNvGraphicFramePr>
          <p:nvPr/>
        </p:nvGraphicFramePr>
        <p:xfrm>
          <a:off x="1285852" y="3448050"/>
          <a:ext cx="6296025" cy="3409950"/>
        </p:xfrm>
        <a:graphic>
          <a:graphicData uri="http://schemas.openxmlformats.org/presentationml/2006/ole">
            <p:oleObj spid="_x0000_s8194" name="图像文档" r:id="rId3" imgW="6296040" imgH="3409920" progId="">
              <p:embed/>
            </p:oleObj>
          </a:graphicData>
        </a:graphic>
      </p:graphicFrame>
      <p:sp>
        <p:nvSpPr>
          <p:cNvPr id="8197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428596" y="1571612"/>
            <a:ext cx="8101012" cy="58736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838200" indent="-838200" algn="l"/>
            <a:r>
              <a:rPr lang="zh-CN" altLang="en-US" sz="2800" b="1" dirty="0" smtClean="0">
                <a:solidFill>
                  <a:srgbClr val="F84D08"/>
                </a:solidFill>
                <a:latin typeface="黑体" pitchFamily="49" charset="-122"/>
                <a:ea typeface="黑体" pitchFamily="49" charset="-122"/>
              </a:rPr>
              <a:t>补偿电路</a:t>
            </a:r>
          </a:p>
        </p:txBody>
      </p:sp>
      <p:sp>
        <p:nvSpPr>
          <p:cNvPr id="6" name="Rectangle 8"/>
          <p:cNvSpPr txBox="1">
            <a:spLocks noChangeArrowheads="1"/>
          </p:cNvSpPr>
          <p:nvPr/>
        </p:nvSpPr>
        <p:spPr bwMode="auto">
          <a:xfrm>
            <a:off x="1071538" y="714356"/>
            <a:ext cx="7724775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6.2 </a:t>
            </a:r>
            <a:r>
              <a:rPr kumimoji="0" lang="zh-CN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霍尔式传感器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714375" y="1500188"/>
            <a:ext cx="7643813" cy="15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0" name="Rectangle 16"/>
          <p:cNvSpPr>
            <a:spLocks noGrp="1" noChangeArrowheads="1"/>
          </p:cNvSpPr>
          <p:nvPr>
            <p:ph type="title"/>
          </p:nvPr>
        </p:nvSpPr>
        <p:spPr bwMode="auto">
          <a:xfrm>
            <a:off x="571472" y="1571612"/>
            <a:ext cx="8229600" cy="515927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rgbClr val="F84D08"/>
              </a:buClr>
              <a:buFont typeface="Wingdings" pitchFamily="2" charset="2"/>
              <a:buChar char="u"/>
            </a:pPr>
            <a:r>
              <a:rPr kumimoji="1" lang="en-US" altLang="zh-CN" sz="2800" b="1" dirty="0" smtClean="0">
                <a:latin typeface="宋体" pitchFamily="2" charset="-122"/>
                <a:ea typeface="宋体" pitchFamily="2" charset="-122"/>
                <a:cs typeface="+mn-cs"/>
              </a:rPr>
              <a:t> </a:t>
            </a:r>
            <a:r>
              <a:rPr kumimoji="1" lang="zh-CN" altLang="en-US" sz="2800" b="1" dirty="0" smtClean="0">
                <a:latin typeface="宋体" pitchFamily="2" charset="-122"/>
                <a:ea typeface="宋体" pitchFamily="2" charset="-122"/>
                <a:cs typeface="+mn-cs"/>
              </a:rPr>
              <a:t>温度补偿</a:t>
            </a:r>
          </a:p>
        </p:txBody>
      </p:sp>
      <p:sp>
        <p:nvSpPr>
          <p:cNvPr id="15" name="Rectangle 8"/>
          <p:cNvSpPr txBox="1">
            <a:spLocks noChangeArrowheads="1"/>
          </p:cNvSpPr>
          <p:nvPr/>
        </p:nvSpPr>
        <p:spPr bwMode="auto">
          <a:xfrm>
            <a:off x="1071538" y="714356"/>
            <a:ext cx="7724775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6.2 </a:t>
            </a:r>
            <a:r>
              <a:rPr kumimoji="0" lang="zh-CN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霍尔式传感器</a:t>
            </a:r>
          </a:p>
        </p:txBody>
      </p:sp>
      <p:cxnSp>
        <p:nvCxnSpPr>
          <p:cNvPr id="16" name="直接连接符 15"/>
          <p:cNvCxnSpPr/>
          <p:nvPr/>
        </p:nvCxnSpPr>
        <p:spPr>
          <a:xfrm>
            <a:off x="714375" y="1500188"/>
            <a:ext cx="7643813" cy="15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285720" y="2143116"/>
            <a:ext cx="8643998" cy="37117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850">
              <a:lnSpc>
                <a:spcPct val="120000"/>
              </a:lnSpc>
            </a:pPr>
            <a:r>
              <a:rPr lang="en-US" altLang="zh-CN" b="1" dirty="0" smtClean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b="1" dirty="0" smtClean="0">
                <a:solidFill>
                  <a:schemeClr val="tx1"/>
                </a:solidFill>
                <a:latin typeface="+mn-ea"/>
                <a:ea typeface="+mn-ea"/>
              </a:rPr>
              <a:t>一般半导体材料的电阻率、迁移率和载流子浓度等都随温度而变化，因此以半导体材料制备的元器件，包括传感器，其特性受温度影响较大。</a:t>
            </a:r>
            <a:endParaRPr lang="en-US" altLang="zh-CN" b="1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indent="450850">
              <a:lnSpc>
                <a:spcPct val="120000"/>
              </a:lnSpc>
            </a:pPr>
            <a:r>
              <a:rPr lang="zh-CN" altLang="en-US" b="1" dirty="0" smtClean="0">
                <a:solidFill>
                  <a:schemeClr val="tx1"/>
                </a:solidFill>
                <a:latin typeface="+mn-ea"/>
                <a:ea typeface="+mn-ea"/>
              </a:rPr>
              <a:t>霍尔元件由半导体材料制成，它的性能参数，如灵敏度、输入电阻、输出电阻等也随温度变化而变化；同时元件之间参数离散性也很大，不便于互换。</a:t>
            </a:r>
            <a:endParaRPr lang="en-US" altLang="zh-CN" b="1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indent="450850">
              <a:lnSpc>
                <a:spcPct val="120000"/>
              </a:lnSpc>
            </a:pPr>
            <a:r>
              <a:rPr lang="zh-CN" altLang="en-US" b="1" dirty="0" smtClean="0">
                <a:solidFill>
                  <a:schemeClr val="tx1"/>
                </a:solidFill>
                <a:latin typeface="+mn-ea"/>
                <a:ea typeface="+mn-ea"/>
              </a:rPr>
              <a:t>因此必须对其进行温度补偿。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0" name="Rectangle 16"/>
          <p:cNvSpPr>
            <a:spLocks noGrp="1" noChangeArrowheads="1"/>
          </p:cNvSpPr>
          <p:nvPr>
            <p:ph type="title"/>
          </p:nvPr>
        </p:nvSpPr>
        <p:spPr bwMode="auto">
          <a:xfrm>
            <a:off x="571472" y="1571612"/>
            <a:ext cx="8229600" cy="515927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rgbClr val="F84D08"/>
              </a:buClr>
              <a:buFont typeface="Wingdings" pitchFamily="2" charset="2"/>
              <a:buChar char="u"/>
            </a:pPr>
            <a:r>
              <a:rPr kumimoji="1" lang="en-US" altLang="zh-CN" sz="2800" b="1" dirty="0" smtClean="0">
                <a:latin typeface="宋体" pitchFamily="2" charset="-122"/>
                <a:ea typeface="宋体" pitchFamily="2" charset="-122"/>
                <a:cs typeface="+mn-cs"/>
              </a:rPr>
              <a:t> </a:t>
            </a:r>
            <a:r>
              <a:rPr kumimoji="1" lang="zh-CN" altLang="en-US" sz="2800" b="1" dirty="0" smtClean="0">
                <a:latin typeface="宋体" pitchFamily="2" charset="-122"/>
                <a:ea typeface="宋体" pitchFamily="2" charset="-122"/>
                <a:cs typeface="+mn-cs"/>
              </a:rPr>
              <a:t>温度补偿</a:t>
            </a:r>
          </a:p>
        </p:txBody>
      </p:sp>
      <p:graphicFrame>
        <p:nvGraphicFramePr>
          <p:cNvPr id="9218" name="Object 4"/>
          <p:cNvGraphicFramePr>
            <a:graphicFrameLocks noChangeAspect="1"/>
          </p:cNvGraphicFramePr>
          <p:nvPr/>
        </p:nvGraphicFramePr>
        <p:xfrm>
          <a:off x="5357818" y="1714488"/>
          <a:ext cx="3286125" cy="2686050"/>
        </p:xfrm>
        <a:graphic>
          <a:graphicData uri="http://schemas.openxmlformats.org/presentationml/2006/ole">
            <p:oleObj spid="_x0000_s60418" name="图像文档" r:id="rId3" imgW="3286080" imgH="2685960" progId="">
              <p:embed/>
            </p:oleObj>
          </a:graphicData>
        </a:graphic>
      </p:graphicFrame>
      <p:graphicFrame>
        <p:nvGraphicFramePr>
          <p:cNvPr id="9219" name="Object 6"/>
          <p:cNvGraphicFramePr>
            <a:graphicFrameLocks noChangeAspect="1"/>
          </p:cNvGraphicFramePr>
          <p:nvPr/>
        </p:nvGraphicFramePr>
        <p:xfrm>
          <a:off x="2428860" y="5357826"/>
          <a:ext cx="2729718" cy="1214446"/>
        </p:xfrm>
        <a:graphic>
          <a:graphicData uri="http://schemas.openxmlformats.org/presentationml/2006/ole">
            <p:oleObj spid="_x0000_s60419" name="图像文档" r:id="rId4" imgW="2333520" imgH="1038240" progId="">
              <p:embed/>
            </p:oleObj>
          </a:graphicData>
        </a:graphic>
      </p:graphicFrame>
      <p:sp>
        <p:nvSpPr>
          <p:cNvPr id="9224" name="Text Box 7"/>
          <p:cNvSpPr txBox="1">
            <a:spLocks noChangeArrowheads="1"/>
          </p:cNvSpPr>
          <p:nvPr/>
        </p:nvSpPr>
        <p:spPr bwMode="auto">
          <a:xfrm>
            <a:off x="857224" y="2143116"/>
            <a:ext cx="4429156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l"/>
            </a:pPr>
            <a:r>
              <a:rPr lang="zh-CN" altLang="en-US" b="1" dirty="0" smtClean="0">
                <a:solidFill>
                  <a:schemeClr val="tx1"/>
                </a:solidFill>
                <a:latin typeface="Verdana" pitchFamily="34" charset="0"/>
                <a:ea typeface="宋体" pitchFamily="2" charset="-122"/>
              </a:rPr>
              <a:t> 分流</a:t>
            </a:r>
            <a:r>
              <a:rPr lang="zh-CN" altLang="en-US" b="1" dirty="0">
                <a:solidFill>
                  <a:schemeClr val="tx1"/>
                </a:solidFill>
                <a:latin typeface="Verdana" pitchFamily="34" charset="0"/>
                <a:ea typeface="宋体" pitchFamily="2" charset="-122"/>
              </a:rPr>
              <a:t>电阻</a:t>
            </a:r>
            <a:r>
              <a:rPr lang="zh-CN" altLang="en-US" b="1" dirty="0" smtClean="0">
                <a:solidFill>
                  <a:schemeClr val="tx1"/>
                </a:solidFill>
                <a:latin typeface="Verdana" pitchFamily="34" charset="0"/>
                <a:ea typeface="宋体" pitchFamily="2" charset="-122"/>
              </a:rPr>
              <a:t>法：适用恒流源供电条件下使用。</a:t>
            </a:r>
            <a:endParaRPr lang="zh-CN" altLang="en-US" b="1" dirty="0">
              <a:solidFill>
                <a:schemeClr val="tx1"/>
              </a:solidFill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15" name="Rectangle 8"/>
          <p:cNvSpPr txBox="1">
            <a:spLocks noChangeArrowheads="1"/>
          </p:cNvSpPr>
          <p:nvPr/>
        </p:nvSpPr>
        <p:spPr bwMode="auto">
          <a:xfrm>
            <a:off x="1071538" y="714356"/>
            <a:ext cx="7724775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6.2 </a:t>
            </a:r>
            <a:r>
              <a:rPr kumimoji="0" lang="zh-CN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霍尔式传感器</a:t>
            </a:r>
          </a:p>
        </p:txBody>
      </p:sp>
      <p:cxnSp>
        <p:nvCxnSpPr>
          <p:cNvPr id="16" name="直接连接符 15"/>
          <p:cNvCxnSpPr/>
          <p:nvPr/>
        </p:nvCxnSpPr>
        <p:spPr>
          <a:xfrm>
            <a:off x="714375" y="1500188"/>
            <a:ext cx="7643813" cy="15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8" name="圆角矩形标注 17"/>
          <p:cNvSpPr/>
          <p:nvPr/>
        </p:nvSpPr>
        <p:spPr>
          <a:xfrm>
            <a:off x="5857884" y="4286256"/>
            <a:ext cx="1143008" cy="642942"/>
          </a:xfrm>
          <a:prstGeom prst="wedgeRoundRectCallout">
            <a:avLst>
              <a:gd name="adj1" fmla="val 24540"/>
              <a:gd name="adj2" fmla="val -12642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 smtClean="0">
                <a:solidFill>
                  <a:schemeClr val="tx1"/>
                </a:solidFill>
              </a:rPr>
              <a:t>温度补偿电阻</a:t>
            </a:r>
            <a:endParaRPr lang="zh-CN" altLang="en-US" sz="2000" b="1" dirty="0">
              <a:solidFill>
                <a:schemeClr val="tx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215074" y="2357430"/>
            <a:ext cx="571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CN" sz="2400" b="1" i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zh-CN" altLang="en-US" sz="2400" b="1" i="1" baseline="-25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圆角矩形标注 19"/>
          <p:cNvSpPr/>
          <p:nvPr/>
        </p:nvSpPr>
        <p:spPr>
          <a:xfrm>
            <a:off x="5072066" y="1714488"/>
            <a:ext cx="1285884" cy="428628"/>
          </a:xfrm>
          <a:prstGeom prst="wedgeRoundRectCallout">
            <a:avLst>
              <a:gd name="adj1" fmla="val 45767"/>
              <a:gd name="adj2" fmla="val 13467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 smtClean="0">
                <a:solidFill>
                  <a:schemeClr val="tx1"/>
                </a:solidFill>
              </a:rPr>
              <a:t>输入电阻</a:t>
            </a:r>
            <a:endParaRPr lang="zh-CN" altLang="en-US" sz="2000" b="1" dirty="0">
              <a:solidFill>
                <a:schemeClr val="tx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715140" y="2357430"/>
            <a:ext cx="714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zh-CN" sz="2400" b="1" i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H0</a:t>
            </a:r>
            <a:endParaRPr lang="zh-CN" altLang="en-US" sz="2400" b="1" i="1" baseline="-25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圆角矩形标注 21"/>
          <p:cNvSpPr/>
          <p:nvPr/>
        </p:nvSpPr>
        <p:spPr>
          <a:xfrm>
            <a:off x="7858116" y="3643314"/>
            <a:ext cx="1285884" cy="428628"/>
          </a:xfrm>
          <a:prstGeom prst="wedgeRoundRectCallout">
            <a:avLst>
              <a:gd name="adj1" fmla="val -95392"/>
              <a:gd name="adj2" fmla="val -25378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 smtClean="0">
                <a:solidFill>
                  <a:schemeClr val="tx1"/>
                </a:solidFill>
              </a:rPr>
              <a:t>灵敏系数</a:t>
            </a:r>
            <a:endParaRPr lang="zh-CN" altLang="en-US" sz="2000" b="1" dirty="0"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85786" y="3071810"/>
            <a:ext cx="43577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0850"/>
            <a:r>
              <a:rPr lang="zh-CN" altLang="en-US" b="1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设当温度为</a:t>
            </a:r>
            <a:r>
              <a:rPr lang="en-US" altLang="zh-CN" b="1" i="1" dirty="0" smtClean="0">
                <a:solidFill>
                  <a:srgbClr val="C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T</a:t>
            </a:r>
            <a:r>
              <a:rPr lang="en-US" altLang="zh-CN" b="1" i="1" baseline="-25000" dirty="0" smtClean="0">
                <a:solidFill>
                  <a:srgbClr val="C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0</a:t>
            </a:r>
            <a:r>
              <a:rPr lang="zh-CN" altLang="en-US" b="1" i="1" baseline="-25000" dirty="0" smtClean="0">
                <a:solidFill>
                  <a:srgbClr val="C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zh-CN" altLang="en-US" b="1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时，流过霍尔器件的电流为</a:t>
            </a:r>
            <a:endParaRPr lang="zh-CN" altLang="en-US" b="1" dirty="0">
              <a:solidFill>
                <a:schemeClr val="tx1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715008" y="2928934"/>
            <a:ext cx="500066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000" b="1" i="1" baseline="-2500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c0</a:t>
            </a:r>
            <a:endParaRPr lang="zh-CN" altLang="en-US" sz="2000" b="1" i="1" baseline="-25000" dirty="0" smtClean="0">
              <a:solidFill>
                <a:schemeClr val="tx1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001024" y="2357430"/>
            <a:ext cx="642942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i="1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U</a:t>
            </a:r>
            <a:r>
              <a:rPr lang="en-US" altLang="zh-CN" sz="2000" b="1" i="1" baseline="-2500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H0</a:t>
            </a:r>
            <a:endParaRPr lang="zh-CN" altLang="en-US" sz="2000" b="1" i="1" baseline="-25000" dirty="0" smtClean="0">
              <a:solidFill>
                <a:schemeClr val="tx1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2071670" y="4000504"/>
          <a:ext cx="1806961" cy="714380"/>
        </p:xfrm>
        <a:graphic>
          <a:graphicData uri="http://schemas.openxmlformats.org/presentationml/2006/ole">
            <p:oleObj spid="_x0000_s60422" name="Equation" r:id="rId5" imgW="1091880" imgH="431640" progId="Equation.3">
              <p:embed/>
            </p:oleObj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85786" y="4786322"/>
            <a:ext cx="43577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0850"/>
            <a:r>
              <a:rPr lang="zh-CN" altLang="en-US" b="1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温度变化</a:t>
            </a:r>
            <a:r>
              <a:rPr lang="zh-CN" altLang="en-US" b="1" dirty="0" smtClean="0">
                <a:solidFill>
                  <a:srgbClr val="C00000"/>
                </a:solidFill>
                <a:latin typeface="宋体"/>
                <a:ea typeface="宋体"/>
                <a:cs typeface="Times New Roman" pitchFamily="18" charset="0"/>
              </a:rPr>
              <a:t>△</a:t>
            </a:r>
            <a:r>
              <a:rPr lang="en-US" altLang="zh-CN" b="1" i="1" dirty="0" smtClean="0">
                <a:solidFill>
                  <a:srgbClr val="C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T</a:t>
            </a:r>
            <a:r>
              <a:rPr lang="zh-CN" altLang="en-US" b="1" i="1" baseline="-25000" dirty="0" smtClean="0">
                <a:solidFill>
                  <a:srgbClr val="C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zh-CN" altLang="en-US" b="1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时</a:t>
            </a:r>
            <a:endParaRPr lang="zh-CN" altLang="en-US" b="1" dirty="0">
              <a:solidFill>
                <a:schemeClr val="tx1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0" grpId="0" animBg="1"/>
      <p:bldP spid="22" grpId="0" animBg="1"/>
      <p:bldP spid="23" grpId="0"/>
      <p:bldP spid="2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0" name="Rectangle 16"/>
          <p:cNvSpPr>
            <a:spLocks noGrp="1" noChangeArrowheads="1"/>
          </p:cNvSpPr>
          <p:nvPr>
            <p:ph type="title"/>
          </p:nvPr>
        </p:nvSpPr>
        <p:spPr bwMode="auto">
          <a:xfrm>
            <a:off x="571472" y="1571612"/>
            <a:ext cx="8229600" cy="515927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rgbClr val="F84D08"/>
              </a:buClr>
              <a:buFont typeface="Wingdings" pitchFamily="2" charset="2"/>
              <a:buChar char="u"/>
            </a:pPr>
            <a:r>
              <a:rPr kumimoji="1" lang="en-US" altLang="zh-CN" sz="2800" b="1" dirty="0" smtClean="0">
                <a:latin typeface="宋体" pitchFamily="2" charset="-122"/>
                <a:ea typeface="宋体" pitchFamily="2" charset="-122"/>
                <a:cs typeface="+mn-cs"/>
              </a:rPr>
              <a:t> </a:t>
            </a:r>
            <a:r>
              <a:rPr kumimoji="1" lang="zh-CN" altLang="en-US" sz="2800" b="1" dirty="0" smtClean="0">
                <a:latin typeface="宋体" pitchFamily="2" charset="-122"/>
                <a:ea typeface="宋体" pitchFamily="2" charset="-122"/>
                <a:cs typeface="+mn-cs"/>
              </a:rPr>
              <a:t>温度补偿</a:t>
            </a:r>
          </a:p>
        </p:txBody>
      </p:sp>
      <p:sp>
        <p:nvSpPr>
          <p:cNvPr id="9226" name="Text Box 10"/>
          <p:cNvSpPr txBox="1">
            <a:spLocks noChangeArrowheads="1"/>
          </p:cNvSpPr>
          <p:nvPr/>
        </p:nvSpPr>
        <p:spPr bwMode="auto">
          <a:xfrm>
            <a:off x="785786" y="2857496"/>
            <a:ext cx="16764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要满足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:</a:t>
            </a:r>
          </a:p>
        </p:txBody>
      </p:sp>
      <p:graphicFrame>
        <p:nvGraphicFramePr>
          <p:cNvPr id="9221" name="Object 12"/>
          <p:cNvGraphicFramePr>
            <a:graphicFrameLocks noChangeAspect="1"/>
          </p:cNvGraphicFramePr>
          <p:nvPr/>
        </p:nvGraphicFramePr>
        <p:xfrm>
          <a:off x="1571604" y="4643446"/>
          <a:ext cx="2760655" cy="714380"/>
        </p:xfrm>
        <a:graphic>
          <a:graphicData uri="http://schemas.openxmlformats.org/presentationml/2006/ole">
            <p:oleObj spid="_x0000_s61445" name="图像文档" r:id="rId3" imgW="2171880" imgH="561960" progId="">
              <p:embed/>
            </p:oleObj>
          </a:graphicData>
        </a:graphic>
      </p:graphicFrame>
      <p:sp>
        <p:nvSpPr>
          <p:cNvPr id="9228" name="Text Box 13"/>
          <p:cNvSpPr txBox="1">
            <a:spLocks noChangeArrowheads="1"/>
          </p:cNvSpPr>
          <p:nvPr/>
        </p:nvSpPr>
        <p:spPr bwMode="auto">
          <a:xfrm>
            <a:off x="500034" y="4786322"/>
            <a:ext cx="9906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Verdana" pitchFamily="34" charset="0"/>
                <a:ea typeface="宋体" pitchFamily="2" charset="-122"/>
              </a:rPr>
              <a:t>要求</a:t>
            </a:r>
          </a:p>
        </p:txBody>
      </p:sp>
      <p:sp>
        <p:nvSpPr>
          <p:cNvPr id="15" name="Rectangle 8"/>
          <p:cNvSpPr txBox="1">
            <a:spLocks noChangeArrowheads="1"/>
          </p:cNvSpPr>
          <p:nvPr/>
        </p:nvSpPr>
        <p:spPr bwMode="auto">
          <a:xfrm>
            <a:off x="1071538" y="714356"/>
            <a:ext cx="7724775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6.2 </a:t>
            </a:r>
            <a:r>
              <a:rPr kumimoji="0" lang="zh-CN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霍尔式传感器</a:t>
            </a:r>
          </a:p>
        </p:txBody>
      </p:sp>
      <p:cxnSp>
        <p:nvCxnSpPr>
          <p:cNvPr id="16" name="直接连接符 15"/>
          <p:cNvCxnSpPr/>
          <p:nvPr/>
        </p:nvCxnSpPr>
        <p:spPr>
          <a:xfrm>
            <a:off x="714375" y="1500188"/>
            <a:ext cx="7643813" cy="15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61446" name="Object 6"/>
          <p:cNvGraphicFramePr>
            <a:graphicFrameLocks noChangeAspect="1"/>
          </p:cNvGraphicFramePr>
          <p:nvPr/>
        </p:nvGraphicFramePr>
        <p:xfrm>
          <a:off x="857224" y="2143116"/>
          <a:ext cx="3717925" cy="714375"/>
        </p:xfrm>
        <a:graphic>
          <a:graphicData uri="http://schemas.openxmlformats.org/presentationml/2006/ole">
            <p:oleObj spid="_x0000_s61446" name="Equation" r:id="rId4" imgW="2247840" imgH="431640" progId="Equation.3">
              <p:embed/>
            </p:oleObj>
          </a:graphicData>
        </a:graphic>
      </p:graphicFrame>
      <p:graphicFrame>
        <p:nvGraphicFramePr>
          <p:cNvPr id="61447" name="Object 7"/>
          <p:cNvGraphicFramePr>
            <a:graphicFrameLocks noChangeAspect="1"/>
          </p:cNvGraphicFramePr>
          <p:nvPr/>
        </p:nvGraphicFramePr>
        <p:xfrm>
          <a:off x="531813" y="3500438"/>
          <a:ext cx="4792662" cy="1073150"/>
        </p:xfrm>
        <a:graphic>
          <a:graphicData uri="http://schemas.openxmlformats.org/presentationml/2006/ole">
            <p:oleObj spid="_x0000_s61447" name="Equation" r:id="rId5" imgW="2958840" imgH="660240" progId="Equation.3">
              <p:embed/>
            </p:oleObj>
          </a:graphicData>
        </a:graphic>
      </p:graphicFrame>
      <p:grpSp>
        <p:nvGrpSpPr>
          <p:cNvPr id="27" name="组合 26"/>
          <p:cNvGrpSpPr/>
          <p:nvPr/>
        </p:nvGrpSpPr>
        <p:grpSpPr>
          <a:xfrm>
            <a:off x="5643570" y="1714488"/>
            <a:ext cx="3286148" cy="2686050"/>
            <a:chOff x="5643570" y="1714488"/>
            <a:chExt cx="3286148" cy="2686050"/>
          </a:xfrm>
        </p:grpSpPr>
        <p:graphicFrame>
          <p:nvGraphicFramePr>
            <p:cNvPr id="9218" name="Object 4"/>
            <p:cNvGraphicFramePr>
              <a:graphicFrameLocks noChangeAspect="1"/>
            </p:cNvGraphicFramePr>
            <p:nvPr/>
          </p:nvGraphicFramePr>
          <p:xfrm>
            <a:off x="5643570" y="1714488"/>
            <a:ext cx="3286125" cy="2686050"/>
          </p:xfrm>
          <a:graphic>
            <a:graphicData uri="http://schemas.openxmlformats.org/presentationml/2006/ole">
              <p:oleObj spid="_x0000_s61442" name="图像文档" r:id="rId6" imgW="3286080" imgH="2685960" progId="">
                <p:embed/>
              </p:oleObj>
            </a:graphicData>
          </a:graphic>
        </p:graphicFrame>
        <p:sp>
          <p:nvSpPr>
            <p:cNvPr id="19" name="TextBox 18"/>
            <p:cNvSpPr txBox="1"/>
            <p:nvPr/>
          </p:nvSpPr>
          <p:spPr>
            <a:xfrm>
              <a:off x="6572264" y="2357430"/>
              <a:ext cx="5715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i="1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r</a:t>
              </a:r>
              <a:endParaRPr lang="zh-CN" altLang="en-US" sz="2400" b="1" i="1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929454" y="2357430"/>
              <a:ext cx="7143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i="1" dirty="0" err="1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k</a:t>
              </a:r>
              <a:r>
                <a:rPr lang="en-US" altLang="zh-CN" sz="2400" b="1" i="1" baseline="-25000" dirty="0" err="1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H</a:t>
              </a:r>
              <a:endParaRPr lang="zh-CN" altLang="en-US" sz="2400" b="1" i="1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000760" y="3000372"/>
              <a:ext cx="500066" cy="400110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000" b="1" i="1" dirty="0" err="1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altLang="zh-CN" sz="2000" b="1" i="1" baseline="-25000" dirty="0" err="1" smtClean="0">
                  <a:solidFill>
                    <a:srgbClr val="FF0000"/>
                  </a:solidFill>
                  <a:latin typeface="Times New Roman" pitchFamily="18" charset="0"/>
                  <a:ea typeface="+mn-ea"/>
                  <a:cs typeface="Times New Roman" pitchFamily="18" charset="0"/>
                </a:rPr>
                <a:t>c</a:t>
              </a:r>
              <a:endParaRPr lang="zh-CN" altLang="en-US" sz="2000" b="1" i="1" baseline="-25000" dirty="0" smtClean="0">
                <a:solidFill>
                  <a:srgbClr val="FF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286776" y="2357430"/>
              <a:ext cx="642942" cy="400110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000" b="1" i="1" dirty="0" smtClean="0">
                  <a:solidFill>
                    <a:srgbClr val="FF0000"/>
                  </a:solidFill>
                  <a:latin typeface="Times New Roman" pitchFamily="18" charset="0"/>
                  <a:ea typeface="+mn-ea"/>
                  <a:cs typeface="Times New Roman" pitchFamily="18" charset="0"/>
                </a:rPr>
                <a:t>U</a:t>
              </a:r>
              <a:r>
                <a:rPr lang="en-US" altLang="zh-CN" sz="2000" b="1" i="1" baseline="-25000" dirty="0" smtClean="0">
                  <a:solidFill>
                    <a:srgbClr val="FF0000"/>
                  </a:solidFill>
                  <a:latin typeface="Times New Roman" pitchFamily="18" charset="0"/>
                  <a:ea typeface="+mn-ea"/>
                  <a:cs typeface="Times New Roman" pitchFamily="18" charset="0"/>
                </a:rPr>
                <a:t>H</a:t>
              </a:r>
              <a:endParaRPr lang="zh-CN" altLang="en-US" sz="2000" b="1" i="1" baseline="-25000" dirty="0" smtClean="0">
                <a:solidFill>
                  <a:srgbClr val="FF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786578" y="3643314"/>
              <a:ext cx="428628" cy="461665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400" b="1" i="1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R</a:t>
              </a:r>
              <a:endParaRPr lang="zh-CN" altLang="en-US" sz="24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8" name="Text Box 13"/>
          <p:cNvSpPr txBox="1">
            <a:spLocks noChangeArrowheads="1"/>
          </p:cNvSpPr>
          <p:nvPr/>
        </p:nvSpPr>
        <p:spPr bwMode="auto">
          <a:xfrm>
            <a:off x="571472" y="5643578"/>
            <a:ext cx="8143932" cy="954107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 smtClean="0">
                <a:solidFill>
                  <a:srgbClr val="FF0000"/>
                </a:solidFill>
                <a:latin typeface="Verdana" pitchFamily="34" charset="0"/>
                <a:ea typeface="宋体" pitchFamily="2" charset="-122"/>
              </a:rPr>
              <a:t>对于确定的元件，</a:t>
            </a:r>
            <a:r>
              <a:rPr lang="en-US" altLang="zh-CN" b="1" i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</a:t>
            </a:r>
            <a:r>
              <a:rPr lang="en-US" altLang="zh-CN" b="1" i="1" baseline="-25000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0</a:t>
            </a:r>
            <a:r>
              <a:rPr lang="zh-CN" altLang="en-US" b="1" dirty="0" smtClean="0">
                <a:solidFill>
                  <a:srgbClr val="FF0000"/>
                </a:solidFill>
                <a:latin typeface="Verdana" pitchFamily="34" charset="0"/>
                <a:ea typeface="宋体" pitchFamily="2" charset="-122"/>
              </a:rPr>
              <a:t>、</a:t>
            </a:r>
            <a:r>
              <a:rPr lang="el-GR" altLang="zh-CN" b="1" i="1" dirty="0" smtClean="0">
                <a:solidFill>
                  <a:srgbClr val="FF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α</a:t>
            </a:r>
            <a:r>
              <a:rPr lang="zh-CN" altLang="en-US" b="1" dirty="0" smtClean="0">
                <a:solidFill>
                  <a:srgbClr val="FF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、</a:t>
            </a:r>
            <a:r>
              <a:rPr lang="el-GR" altLang="zh-CN" b="1" i="1" dirty="0" smtClean="0">
                <a:solidFill>
                  <a:srgbClr val="FF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δ</a:t>
            </a:r>
            <a:r>
              <a:rPr lang="zh-CN" altLang="en-US" b="1" dirty="0" smtClean="0">
                <a:solidFill>
                  <a:srgbClr val="FF0000"/>
                </a:solidFill>
                <a:latin typeface="Verdana" pitchFamily="34" charset="0"/>
                <a:ea typeface="宋体" pitchFamily="2" charset="-122"/>
              </a:rPr>
              <a:t>为定值，为同时满足</a:t>
            </a:r>
            <a:r>
              <a:rPr lang="en-US" altLang="zh-CN" b="1" i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</a:t>
            </a:r>
            <a:r>
              <a:rPr lang="en-US" altLang="zh-CN" b="1" i="1" baseline="-25000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0</a:t>
            </a:r>
            <a:r>
              <a:rPr lang="zh-CN" altLang="en-US" b="1" dirty="0" smtClean="0">
                <a:solidFill>
                  <a:srgbClr val="FF0000"/>
                </a:solidFill>
                <a:latin typeface="Verdana" pitchFamily="34" charset="0"/>
                <a:ea typeface="宋体" pitchFamily="2" charset="-122"/>
              </a:rPr>
              <a:t>与</a:t>
            </a:r>
            <a:r>
              <a:rPr lang="el-GR" altLang="zh-CN" b="1" i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β</a:t>
            </a:r>
            <a:r>
              <a:rPr lang="zh-CN" altLang="en-US" b="1" dirty="0" smtClean="0">
                <a:solidFill>
                  <a:srgbClr val="FF0000"/>
                </a:solidFill>
                <a:latin typeface="Verdana" pitchFamily="34" charset="0"/>
                <a:ea typeface="宋体"/>
              </a:rPr>
              <a:t>，分流电阻可采用两种不同温度系数电阻组合。</a:t>
            </a:r>
            <a:endParaRPr lang="zh-CN" altLang="en-US" b="1" dirty="0">
              <a:solidFill>
                <a:srgbClr val="FF0000"/>
              </a:solidFill>
              <a:latin typeface="Verdana" pitchFamily="34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1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6" grpId="0"/>
      <p:bldP spid="9228" grpId="0"/>
      <p:bldP spid="2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2" name="Object 4"/>
          <p:cNvGraphicFramePr>
            <a:graphicFrameLocks noChangeAspect="1"/>
          </p:cNvGraphicFramePr>
          <p:nvPr/>
        </p:nvGraphicFramePr>
        <p:xfrm>
          <a:off x="6096000" y="2057400"/>
          <a:ext cx="2671763" cy="3657600"/>
        </p:xfrm>
        <a:graphic>
          <a:graphicData uri="http://schemas.openxmlformats.org/presentationml/2006/ole">
            <p:oleObj spid="_x0000_s10242" name="Image" r:id="rId3" imgW="7128839" imgH="9759266" progId="Photoshop.Image.6">
              <p:embed/>
            </p:oleObj>
          </a:graphicData>
        </a:graphic>
      </p:graphicFrame>
      <p:sp>
        <p:nvSpPr>
          <p:cNvPr id="10244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500034" y="1571612"/>
            <a:ext cx="4586294" cy="585778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838200" indent="-838200" algn="l"/>
            <a:r>
              <a:rPr lang="zh-CN" altLang="en-US" sz="2800" b="1" dirty="0" smtClean="0">
                <a:solidFill>
                  <a:srgbClr val="F84D08"/>
                </a:solidFill>
                <a:latin typeface="黑体" pitchFamily="49" charset="-122"/>
                <a:ea typeface="黑体" pitchFamily="49" charset="-122"/>
              </a:rPr>
              <a:t>举例</a:t>
            </a:r>
            <a:r>
              <a:rPr lang="en-US" altLang="zh-CN" sz="2800" b="1" dirty="0" smtClean="0">
                <a:solidFill>
                  <a:srgbClr val="F84D08"/>
                </a:solidFill>
                <a:latin typeface="黑体" pitchFamily="49" charset="-122"/>
                <a:ea typeface="黑体" pitchFamily="49" charset="-122"/>
              </a:rPr>
              <a:t>--</a:t>
            </a:r>
            <a:r>
              <a:rPr lang="zh-CN" altLang="en-US" sz="2800" b="1" dirty="0" smtClean="0">
                <a:solidFill>
                  <a:srgbClr val="F84D08"/>
                </a:solidFill>
                <a:latin typeface="黑体" pitchFamily="49" charset="-122"/>
                <a:ea typeface="黑体" pitchFamily="49" charset="-122"/>
              </a:rPr>
              <a:t>霍尔式位移传感器</a:t>
            </a:r>
          </a:p>
        </p:txBody>
      </p:sp>
      <p:sp>
        <p:nvSpPr>
          <p:cNvPr id="10245" name="Text Box 8"/>
          <p:cNvSpPr txBox="1">
            <a:spLocks noChangeArrowheads="1"/>
          </p:cNvSpPr>
          <p:nvPr/>
        </p:nvSpPr>
        <p:spPr bwMode="auto">
          <a:xfrm>
            <a:off x="214282" y="2205038"/>
            <a:ext cx="5797581" cy="22463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84138" indent="-84138"/>
            <a:r>
              <a:rPr lang="en-US" altLang="zh-CN" b="1" dirty="0">
                <a:solidFill>
                  <a:srgbClr val="0000FF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lang="zh-CN" altLang="en-US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保持霍尔元件的控制电流恒定，而使霍尔元件在一个</a:t>
            </a:r>
            <a:r>
              <a:rPr lang="zh-CN" altLang="en-US" b="1" u="sng" dirty="0">
                <a:solidFill>
                  <a:srgbClr val="C00000"/>
                </a:solidFill>
                <a:latin typeface="宋体" pitchFamily="2" charset="-122"/>
                <a:ea typeface="宋体" pitchFamily="2" charset="-122"/>
              </a:rPr>
              <a:t>均匀梯度</a:t>
            </a:r>
            <a:r>
              <a:rPr lang="zh-CN" altLang="en-US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的磁场中沿</a:t>
            </a:r>
            <a:r>
              <a:rPr lang="en-US" altLang="zh-CN" b="1" i="1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x</a:t>
            </a:r>
            <a:r>
              <a:rPr lang="zh-CN" altLang="en-US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方向移动。则输出的霍尔电势为</a:t>
            </a:r>
            <a:r>
              <a:rPr lang="en-US" altLang="zh-CN" b="1" i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b="1" i="1" baseline="-25000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H</a:t>
            </a:r>
            <a:r>
              <a:rPr lang="en-US" altLang="zh-CN" b="1" i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 = </a:t>
            </a:r>
            <a:r>
              <a:rPr lang="en-US" altLang="zh-CN" b="1" i="1" dirty="0" smtClean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K</a:t>
            </a:r>
            <a:r>
              <a:rPr lang="en-US" altLang="zh-CN" b="1" i="1" baseline="-25000" dirty="0" smtClean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H</a:t>
            </a:r>
            <a:r>
              <a:rPr lang="zh-CN" altLang="en-US" b="1" i="1" baseline="-25000" dirty="0" smtClean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b="1" i="1" dirty="0" smtClean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I</a:t>
            </a:r>
            <a:r>
              <a:rPr lang="zh-CN" altLang="en-US" b="1" i="1" dirty="0" smtClean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b="1" i="1" dirty="0" smtClean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B</a:t>
            </a:r>
            <a:r>
              <a:rPr lang="zh-CN" altLang="en-US" b="1" i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（</a:t>
            </a:r>
            <a:r>
              <a:rPr lang="en-US" altLang="zh-CN" b="1" i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zh-CN" altLang="en-US" b="1" i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）</a:t>
            </a:r>
            <a:r>
              <a:rPr lang="en-US" altLang="zh-CN" b="1" i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= </a:t>
            </a:r>
            <a:r>
              <a:rPr lang="en-US" altLang="zh-CN" b="1" i="1" dirty="0" err="1" smtClean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kx</a:t>
            </a:r>
            <a:r>
              <a:rPr lang="zh-CN" altLang="en-US" b="1" i="1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；</a:t>
            </a:r>
            <a:endParaRPr lang="en-US" altLang="zh-CN" b="1" i="1" dirty="0" smtClean="0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  <a:p>
            <a:pPr marL="84138" indent="542925"/>
            <a:r>
              <a:rPr lang="en-US" altLang="zh-CN" b="1" i="1" dirty="0" smtClean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k</a:t>
            </a:r>
            <a:r>
              <a:rPr lang="zh-CN" altLang="en-US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为位移传感器灵敏。      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285720" y="4572000"/>
            <a:ext cx="5572155" cy="181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84138" indent="542925"/>
            <a:r>
              <a:rPr lang="zh-CN" altLang="en-US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电势</a:t>
            </a:r>
            <a:r>
              <a:rPr lang="zh-CN" altLang="en-US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的极性表示了元件位移的方向。磁场梯度越大，灵敏度越高；磁场梯度越均匀，输出线性度就越好</a:t>
            </a:r>
            <a:r>
              <a:rPr lang="zh-CN" altLang="en-US" b="1" dirty="0">
                <a:solidFill>
                  <a:schemeClr val="tx1"/>
                </a:solidFill>
              </a:rPr>
              <a:t>。</a:t>
            </a:r>
          </a:p>
        </p:txBody>
      </p:sp>
      <p:sp>
        <p:nvSpPr>
          <p:cNvPr id="7" name="Rectangle 8"/>
          <p:cNvSpPr txBox="1">
            <a:spLocks noChangeArrowheads="1"/>
          </p:cNvSpPr>
          <p:nvPr/>
        </p:nvSpPr>
        <p:spPr bwMode="auto">
          <a:xfrm>
            <a:off x="1071538" y="714356"/>
            <a:ext cx="7724775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6.2 </a:t>
            </a:r>
            <a:r>
              <a:rPr kumimoji="0" lang="zh-CN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霍尔式传感器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714375" y="1500188"/>
            <a:ext cx="7643813" cy="15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33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857356" y="714356"/>
            <a:ext cx="5465763" cy="792163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838200" indent="-838200" eaLnBrk="1" hangingPunct="1">
              <a:defRPr/>
            </a:pPr>
            <a:r>
              <a:rPr lang="zh-CN" altLang="en-US" b="1" dirty="0" smtClean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本章要点</a:t>
            </a:r>
          </a:p>
        </p:txBody>
      </p:sp>
      <p:sp>
        <p:nvSpPr>
          <p:cNvPr id="526339" name="Rectangle 3"/>
          <p:cNvSpPr>
            <a:spLocks noRot="1" noChangeArrowheads="1"/>
          </p:cNvSpPr>
          <p:nvPr/>
        </p:nvSpPr>
        <p:spPr bwMode="auto">
          <a:xfrm>
            <a:off x="755650" y="1909763"/>
            <a:ext cx="8675688" cy="4948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16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|"/>
            </a:pPr>
            <a:r>
              <a:rPr lang="zh-CN" altLang="en-US" sz="2600" b="1" dirty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磁电感应式传感器</a:t>
            </a:r>
          </a:p>
          <a:p>
            <a:pPr marL="342900" indent="-342900">
              <a:lnSpc>
                <a:spcPct val="16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Ø"/>
            </a:pPr>
            <a:r>
              <a:rPr lang="zh-CN" altLang="en-US" sz="2600" b="1" dirty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工作原理和结构类型</a:t>
            </a:r>
          </a:p>
          <a:p>
            <a:pPr marL="342900" indent="-342900">
              <a:lnSpc>
                <a:spcPct val="16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|"/>
            </a:pPr>
            <a:r>
              <a:rPr lang="zh-CN" altLang="en-US" sz="2600" b="1" dirty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霍尔式传感器</a:t>
            </a:r>
          </a:p>
          <a:p>
            <a:pPr marL="342900" indent="-342900">
              <a:lnSpc>
                <a:spcPct val="16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Ø"/>
            </a:pPr>
            <a:r>
              <a:rPr lang="zh-CN" altLang="en-US" sz="2600" b="1" dirty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霍尔效应和霍尔元件材料</a:t>
            </a:r>
            <a:endParaRPr lang="zh-CN" altLang="en-US" sz="2400" b="1" dirty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  <a:p>
            <a:pPr marL="342900" indent="-342900">
              <a:lnSpc>
                <a:spcPct val="16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Ø"/>
            </a:pPr>
            <a:r>
              <a:rPr lang="zh-CN" altLang="en-US" sz="2600" b="1" dirty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霍尔元件构造及测量电路</a:t>
            </a:r>
          </a:p>
          <a:p>
            <a:pPr marL="342900" indent="-342900">
              <a:lnSpc>
                <a:spcPct val="16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Ø"/>
            </a:pPr>
            <a:r>
              <a:rPr lang="zh-CN" altLang="en-US" sz="2600" b="1" dirty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霍尔元件的补偿电路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endParaRPr lang="en-US" altLang="zh-CN" sz="2400" b="1" dirty="0">
              <a:latin typeface="Tahoma" pitchFamily="34" charset="0"/>
              <a:ea typeface="宋体" pitchFamily="2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714375" y="1500188"/>
            <a:ext cx="7643813" cy="15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263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526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6338" grpId="0" animBg="1" autoUpdateAnimBg="0"/>
      <p:bldP spid="526339" grpId="0" autoUpdateAnimBg="0"/>
    </p:bldLst>
  </p:timing>
</p:sld>
</file>

<file path=ppt/theme/theme1.xml><?xml version="1.0" encoding="utf-8"?>
<a:theme xmlns:a="http://schemas.openxmlformats.org/drawingml/2006/main" name="传感技术与测试系统2012-2  传感器的特性">
  <a:themeElements>
    <a:clrScheme name="暗香扑面">
      <a:dk1>
        <a:sysClr val="windowText" lastClr="000000"/>
      </a:dk1>
      <a:lt1>
        <a:sysClr val="window" lastClr="FFFFFF"/>
      </a:lt1>
      <a:dk2>
        <a:srgbClr val="2F2F2F"/>
      </a:dk2>
      <a:lt2>
        <a:srgbClr val="FFFFF4"/>
      </a:lt2>
      <a:accent1>
        <a:srgbClr val="918415"/>
      </a:accent1>
      <a:accent2>
        <a:srgbClr val="C47546"/>
      </a:accent2>
      <a:accent3>
        <a:srgbClr val="AFB591"/>
      </a:accent3>
      <a:accent4>
        <a:srgbClr val="B9945B"/>
      </a:accent4>
      <a:accent5>
        <a:srgbClr val="85ADBC"/>
      </a:accent5>
      <a:accent6>
        <a:srgbClr val="E5B440"/>
      </a:accent6>
      <a:hlink>
        <a:srgbClr val="00D5D5"/>
      </a:hlink>
      <a:folHlink>
        <a:srgbClr val="DD00D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传感技术与测试系统2012-2  传感器的特性</Template>
  <TotalTime>3358</TotalTime>
  <Words>2322</Words>
  <Application>Microsoft PowerPoint</Application>
  <PresentationFormat>全屏显示(4:3)</PresentationFormat>
  <Paragraphs>226</Paragraphs>
  <Slides>35</Slides>
  <Notes>1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35</vt:i4>
      </vt:variant>
    </vt:vector>
  </HeadingPairs>
  <TitlesOfParts>
    <vt:vector size="40" baseType="lpstr">
      <vt:lpstr>传感技术与测试系统2012-2  传感器的特性</vt:lpstr>
      <vt:lpstr>Flash 影片</vt:lpstr>
      <vt:lpstr>Image</vt:lpstr>
      <vt:lpstr>图像文档</vt:lpstr>
      <vt:lpstr>Equation</vt:lpstr>
      <vt:lpstr>第6章 磁电式传感器</vt:lpstr>
      <vt:lpstr>第6章 磁电式传感器</vt:lpstr>
      <vt:lpstr>6.1 磁电感应式传感器</vt:lpstr>
      <vt:lpstr>工作原理和结构</vt:lpstr>
      <vt:lpstr>6.1 磁电感应式传感器</vt:lpstr>
      <vt:lpstr>变磁通式(变磁阻式，变气隙式)</vt:lpstr>
      <vt:lpstr>变磁通式(变磁阻式，变气隙式)</vt:lpstr>
      <vt:lpstr>恒定磁通式</vt:lpstr>
      <vt:lpstr>动态特性分析</vt:lpstr>
      <vt:lpstr>测量电路</vt:lpstr>
      <vt:lpstr>应用举例</vt:lpstr>
      <vt:lpstr>6.2 霍尔式传感器 </vt:lpstr>
      <vt:lpstr>6.2 霍尔式传感器</vt:lpstr>
      <vt:lpstr>霍尔效应</vt:lpstr>
      <vt:lpstr>霍尔效应</vt:lpstr>
      <vt:lpstr> 霍尔效应 </vt:lpstr>
      <vt:lpstr> 霍尔效应 </vt:lpstr>
      <vt:lpstr> 霍尔效应</vt:lpstr>
      <vt:lpstr> 霍尔效应</vt:lpstr>
      <vt:lpstr>霍尔元件</vt:lpstr>
      <vt:lpstr>霍尔元件的电磁特性</vt:lpstr>
      <vt:lpstr>霍尔元件的电磁特性</vt:lpstr>
      <vt:lpstr>霍尔元件的电磁特性</vt:lpstr>
      <vt:lpstr>测量电路</vt:lpstr>
      <vt:lpstr>主要技术指标</vt:lpstr>
      <vt:lpstr>主要技术指标</vt:lpstr>
      <vt:lpstr>产生不等位电势的原因</vt:lpstr>
      <vt:lpstr>主要技术指标</vt:lpstr>
      <vt:lpstr>主要技术指标</vt:lpstr>
      <vt:lpstr>补偿电路</vt:lpstr>
      <vt:lpstr> 温度补偿</vt:lpstr>
      <vt:lpstr> 温度补偿</vt:lpstr>
      <vt:lpstr> 温度补偿</vt:lpstr>
      <vt:lpstr>举例--霍尔式位移传感器</vt:lpstr>
      <vt:lpstr>本章要点</vt:lpstr>
    </vt:vector>
  </TitlesOfParts>
  <Company>buaa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航空航天精密仪器系统技术</dc:title>
  <dc:creator>zgj</dc:creator>
  <cp:lastModifiedBy>徐平</cp:lastModifiedBy>
  <cp:revision>375</cp:revision>
  <dcterms:created xsi:type="dcterms:W3CDTF">2002-10-13T05:45:24Z</dcterms:created>
  <dcterms:modified xsi:type="dcterms:W3CDTF">2013-04-08T01:11:48Z</dcterms:modified>
</cp:coreProperties>
</file>