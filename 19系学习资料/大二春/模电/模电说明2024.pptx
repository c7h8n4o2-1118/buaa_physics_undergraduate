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jpeg" ContentType="image/jpeg"/>
  <Default Extension="JPG" ContentType="image/.jpg"/>
  <Default Extension="png" ContentType="image/png"/>
  <Default Extension="wmf" ContentType="image/x-wmf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36" r:id="rId3"/>
    <p:sldId id="337" r:id="rId4"/>
    <p:sldId id="339" r:id="rId5"/>
    <p:sldId id="340" r:id="rId6"/>
    <p:sldId id="341" r:id="rId7"/>
    <p:sldId id="343" r:id="rId8"/>
    <p:sldId id="344" r:id="rId9"/>
    <p:sldId id="345" r:id="rId10"/>
    <p:sldId id="346" r:id="rId11"/>
    <p:sldId id="338" r:id="rId12"/>
  </p:sldIdLst>
  <p:sldSz cx="9144000" cy="6858000" type="screen4x3"/>
  <p:notesSz cx="6858000" cy="9144000"/>
  <p:custDataLst>
    <p:tags r:id="rId16"/>
  </p:custDataLst>
  <p:defaultTextStyle>
    <a:defPPr>
      <a:defRPr lang="zh-CN"/>
    </a:defPPr>
    <a:lvl1pPr marL="0" lvl="0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800" b="1" i="0" u="none" kern="1200" baseline="0">
        <a:solidFill>
          <a:schemeClr val="bg1"/>
        </a:solidFill>
        <a:latin typeface="Times New Roman" panose="02020603050405020304" charset="0"/>
        <a:ea typeface="宋体" panose="02010600030101010101" pitchFamily="2" charset="-122"/>
        <a:cs typeface="+mn-cs"/>
      </a:defRPr>
    </a:lvl1pPr>
    <a:lvl2pPr marL="457200" lvl="1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800" b="1" i="0" u="none" kern="1200" baseline="0">
        <a:solidFill>
          <a:schemeClr val="bg1"/>
        </a:solidFill>
        <a:latin typeface="Times New Roman" panose="02020603050405020304" charset="0"/>
        <a:ea typeface="宋体" panose="02010600030101010101" pitchFamily="2" charset="-122"/>
        <a:cs typeface="+mn-cs"/>
      </a:defRPr>
    </a:lvl2pPr>
    <a:lvl3pPr marL="914400" lvl="2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800" b="1" i="0" u="none" kern="1200" baseline="0">
        <a:solidFill>
          <a:schemeClr val="bg1"/>
        </a:solidFill>
        <a:latin typeface="Times New Roman" panose="02020603050405020304" charset="0"/>
        <a:ea typeface="宋体" panose="02010600030101010101" pitchFamily="2" charset="-122"/>
        <a:cs typeface="+mn-cs"/>
      </a:defRPr>
    </a:lvl3pPr>
    <a:lvl4pPr marL="1371600" lvl="3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800" b="1" i="0" u="none" kern="1200" baseline="0">
        <a:solidFill>
          <a:schemeClr val="bg1"/>
        </a:solidFill>
        <a:latin typeface="Times New Roman" panose="02020603050405020304" charset="0"/>
        <a:ea typeface="宋体" panose="02010600030101010101" pitchFamily="2" charset="-122"/>
        <a:cs typeface="+mn-cs"/>
      </a:defRPr>
    </a:lvl4pPr>
    <a:lvl5pPr marL="1828800" lvl="4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800" b="1" i="0" u="none" kern="1200" baseline="0">
        <a:solidFill>
          <a:schemeClr val="bg1"/>
        </a:solidFill>
        <a:latin typeface="Times New Roman" panose="02020603050405020304" charset="0"/>
        <a:ea typeface="宋体" panose="02010600030101010101" pitchFamily="2" charset="-122"/>
        <a:cs typeface="+mn-cs"/>
      </a:defRPr>
    </a:lvl5pPr>
    <a:lvl6pPr marL="2286000" lvl="5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800" b="1" i="0" u="none" kern="1200" baseline="0">
        <a:solidFill>
          <a:schemeClr val="bg1"/>
        </a:solidFill>
        <a:latin typeface="Times New Roman" panose="02020603050405020304" charset="0"/>
        <a:ea typeface="宋体" panose="02010600030101010101" pitchFamily="2" charset="-122"/>
        <a:cs typeface="+mn-cs"/>
      </a:defRPr>
    </a:lvl6pPr>
    <a:lvl7pPr marL="2743200" lvl="6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800" b="1" i="0" u="none" kern="1200" baseline="0">
        <a:solidFill>
          <a:schemeClr val="bg1"/>
        </a:solidFill>
        <a:latin typeface="Times New Roman" panose="02020603050405020304" charset="0"/>
        <a:ea typeface="宋体" panose="02010600030101010101" pitchFamily="2" charset="-122"/>
        <a:cs typeface="+mn-cs"/>
      </a:defRPr>
    </a:lvl7pPr>
    <a:lvl8pPr marL="3200400" lvl="7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800" b="1" i="0" u="none" kern="1200" baseline="0">
        <a:solidFill>
          <a:schemeClr val="bg1"/>
        </a:solidFill>
        <a:latin typeface="Times New Roman" panose="02020603050405020304" charset="0"/>
        <a:ea typeface="宋体" panose="02010600030101010101" pitchFamily="2" charset="-122"/>
        <a:cs typeface="+mn-cs"/>
      </a:defRPr>
    </a:lvl8pPr>
    <a:lvl9pPr marL="3657600" lvl="8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800" b="1" i="0" u="none" kern="1200" baseline="0">
        <a:solidFill>
          <a:schemeClr val="bg1"/>
        </a:solidFill>
        <a:latin typeface="Times New Roman" panose="0202060305040502030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9999"/>
    </p:penClr>
    <p:extLst>
      <p:ext uri="{2FDB2607-1784-4EEB-B798-7EB5836EED8A}">
        <p14:showMediaCtrls xmlns:p14="http://schemas.microsoft.com/office/powerpoint/2010/main" val="1"/>
      </p:ext>
    </p:extLst>
  </p:showPr>
  <p:clrMru>
    <a:srgbClr val="F5F5F5"/>
    <a:srgbClr val="99FFCC"/>
    <a:srgbClr val="F3BB2D"/>
    <a:srgbClr val="FFCC66"/>
    <a:srgbClr val="FFFFCC"/>
    <a:srgbClr val="FFCCCC"/>
    <a:srgbClr val="FF0000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howGuides="1">
      <p:cViewPr varScale="1">
        <p:scale>
          <a:sx n="69" d="100"/>
          <a:sy n="69" d="100"/>
        </p:scale>
        <p:origin x="-138" y="-102"/>
      </p:cViewPr>
      <p:guideLst>
        <p:guide orient="horz" pos="216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gs" Target="tags/tag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image" Target="../media/image3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>
                <a:latin typeface="Times New Roman" panose="02020603050405020304" charset="0"/>
                <a:ea typeface="宋体" panose="02010600030101010101" pitchFamily="2" charset="-122"/>
                <a:cs typeface="+mn-ea"/>
              </a:rPr>
            </a:fld>
            <a:endParaRPr lang="zh-CN" strike="noStrike" noProof="1"/>
          </a:p>
        </p:txBody>
      </p:sp>
    </p:spTree>
  </p:cSld>
  <p:clrMapOvr>
    <a:masterClrMapping/>
  </p:clrMapOvr>
  <p:transition spd="slow">
    <p:rand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>
                <a:latin typeface="Times New Roman" panose="02020603050405020304" charset="0"/>
                <a:ea typeface="宋体" panose="02010600030101010101" pitchFamily="2" charset="-122"/>
                <a:cs typeface="+mn-ea"/>
              </a:rPr>
            </a:fld>
            <a:endParaRPr lang="zh-CN" strike="noStrike" noProof="1"/>
          </a:p>
        </p:txBody>
      </p:sp>
    </p:spTree>
  </p:cSld>
  <p:clrMapOvr>
    <a:masterClrMapping/>
  </p:clrMapOvr>
  <p:transition spd="slow">
    <p:rand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>
                <a:latin typeface="Times New Roman" panose="02020603050405020304" charset="0"/>
                <a:ea typeface="宋体" panose="02010600030101010101" pitchFamily="2" charset="-122"/>
                <a:cs typeface="+mn-ea"/>
              </a:rPr>
            </a:fld>
            <a:endParaRPr lang="zh-CN" strike="noStrike" noProof="1"/>
          </a:p>
        </p:txBody>
      </p:sp>
    </p:spTree>
  </p:cSld>
  <p:clrMapOvr>
    <a:masterClrMapping/>
  </p:clrMapOvr>
  <p:transition spd="slow">
    <p:rand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08476" cy="4114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9724" y="1981200"/>
            <a:ext cx="3808476" cy="4114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>
                <a:latin typeface="Times New Roman" panose="02020603050405020304" charset="0"/>
                <a:ea typeface="宋体" panose="02010600030101010101" pitchFamily="2" charset="-122"/>
                <a:cs typeface="+mn-ea"/>
              </a:rPr>
            </a:fld>
            <a:endParaRPr lang="zh-CN" strike="noStrike" noProof="1"/>
          </a:p>
        </p:txBody>
      </p:sp>
    </p:spTree>
  </p:cSld>
  <p:clrMapOvr>
    <a:masterClrMapping/>
  </p:clrMapOvr>
  <p:transition spd="slow">
    <p:rand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>
                <a:latin typeface="Times New Roman" panose="02020603050405020304" charset="0"/>
                <a:ea typeface="宋体" panose="02010600030101010101" pitchFamily="2" charset="-122"/>
                <a:cs typeface="+mn-ea"/>
              </a:rPr>
            </a:fld>
            <a:endParaRPr lang="zh-CN" strike="noStrike" noProof="1"/>
          </a:p>
        </p:txBody>
      </p:sp>
    </p:spTree>
  </p:cSld>
  <p:clrMapOvr>
    <a:masterClrMapping/>
  </p:clrMapOvr>
  <p:transition spd="slow">
    <p:rand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>
                <a:latin typeface="Times New Roman" panose="02020603050405020304" charset="0"/>
                <a:ea typeface="宋体" panose="02010600030101010101" pitchFamily="2" charset="-122"/>
                <a:cs typeface="+mn-ea"/>
              </a:rPr>
            </a:fld>
            <a:endParaRPr lang="zh-CN" strike="noStrike" noProof="1"/>
          </a:p>
        </p:txBody>
      </p:sp>
    </p:spTree>
  </p:cSld>
  <p:clrMapOvr>
    <a:masterClrMapping/>
  </p:clrMapOvr>
  <p:transition spd="slow">
    <p:rand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>
                <a:latin typeface="Times New Roman" panose="02020603050405020304" charset="0"/>
                <a:ea typeface="宋体" panose="02010600030101010101" pitchFamily="2" charset="-122"/>
                <a:cs typeface="+mn-ea"/>
              </a:rPr>
            </a:fld>
            <a:endParaRPr lang="zh-CN" strike="noStrike" noProof="1"/>
          </a:p>
        </p:txBody>
      </p:sp>
    </p:spTree>
  </p:cSld>
  <p:clrMapOvr>
    <a:masterClrMapping/>
  </p:clrMapOvr>
  <p:transition spd="slow">
    <p:rand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>
                <a:latin typeface="Times New Roman" panose="02020603050405020304" charset="0"/>
                <a:ea typeface="宋体" panose="02010600030101010101" pitchFamily="2" charset="-122"/>
                <a:cs typeface="+mn-ea"/>
              </a:rPr>
            </a:fld>
            <a:endParaRPr lang="zh-CN" strike="noStrike" noProof="1"/>
          </a:p>
        </p:txBody>
      </p:sp>
    </p:spTree>
  </p:cSld>
  <p:clrMapOvr>
    <a:masterClrMapping/>
  </p:clrMapOvr>
  <p:transition spd="slow">
    <p:rand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>
                <a:latin typeface="Times New Roman" panose="02020603050405020304" charset="0"/>
                <a:ea typeface="宋体" panose="02010600030101010101" pitchFamily="2" charset="-122"/>
                <a:cs typeface="+mn-ea"/>
              </a:rPr>
            </a:fld>
            <a:endParaRPr lang="zh-CN" strike="noStrike" noProof="1"/>
          </a:p>
        </p:txBody>
      </p:sp>
    </p:spTree>
  </p:cSld>
  <p:clrMapOvr>
    <a:masterClrMapping/>
  </p:clrMapOvr>
  <p:transition spd="slow">
    <p:rand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>
                <a:latin typeface="Times New Roman" panose="02020603050405020304" charset="0"/>
                <a:ea typeface="宋体" panose="02010600030101010101" pitchFamily="2" charset="-122"/>
                <a:cs typeface="+mn-ea"/>
              </a:rPr>
            </a:fld>
            <a:endParaRPr lang="zh-CN" strike="noStrike" noProof="1"/>
          </a:p>
        </p:txBody>
      </p:sp>
    </p:spTree>
  </p:cSld>
  <p:clrMapOvr>
    <a:masterClrMapping/>
  </p:clrMapOvr>
  <p:transition spd="slow">
    <p:rand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716657" cy="54864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strike="noStrike" noProof="1">
                <a:latin typeface="Times New Roman" panose="02020603050405020304" charset="0"/>
                <a:ea typeface="宋体" panose="02010600030101010101" pitchFamily="2" charset="-122"/>
                <a:cs typeface="+mn-ea"/>
              </a:rPr>
            </a:fld>
            <a:endParaRPr lang="zh-CN" strike="noStrike" noProof="1"/>
          </a:p>
        </p:txBody>
      </p:sp>
    </p:spTree>
  </p:cSld>
  <p:clrMapOvr>
    <a:masterClrMapping/>
  </p:clrMapOvr>
  <p:transition spd="slow">
    <p:random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026" name="标题 1025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 indent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1026"/>
          <p:cNvSpPr>
            <a:spLocks noGrp="1"/>
          </p:cNvSpPr>
          <p:nvPr>
            <p:ph type="body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lvl="0" indent="-342900"/>
            <a:r>
              <a:rPr lang="zh-CN" altLang="en-US"/>
              <a:t>单击此处编辑母版文本样式</a:t>
            </a:r>
            <a:endParaRPr lang="zh-CN" altLang="en-US"/>
          </a:p>
          <a:p>
            <a:pPr lvl="1" indent="-285750"/>
            <a:r>
              <a:rPr lang="zh-CN" altLang="en-US"/>
              <a:t>第二级</a:t>
            </a:r>
            <a:endParaRPr lang="zh-CN" altLang="en-US"/>
          </a:p>
          <a:p>
            <a:pPr lvl="2" indent="-228600"/>
            <a:r>
              <a:rPr lang="zh-CN" altLang="en-US"/>
              <a:t>第三级</a:t>
            </a:r>
            <a:endParaRPr lang="zh-CN" altLang="en-US"/>
          </a:p>
          <a:p>
            <a:pPr lvl="3" indent="-228600"/>
            <a:r>
              <a:rPr lang="zh-CN" altLang="en-US"/>
              <a:t>第四级</a:t>
            </a:r>
            <a:endParaRPr lang="zh-CN" altLang="en-US"/>
          </a:p>
          <a:p>
            <a:pPr lvl="4" indent="-228600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日期占位符 1027"/>
          <p:cNvSpPr>
            <a:spLocks noGrp="1"/>
          </p:cNvSpPr>
          <p:nvPr>
            <p:ph type="dt" sz="half" idx="2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 b="0"/>
            </a:lvl1pPr>
          </a:lstStyle>
          <a:p>
            <a:pPr lvl="0" fontAlgn="base"/>
            <a:endParaRPr lang="zh-CN" altLang="en-US" strike="noStrike" noProof="1"/>
          </a:p>
        </p:txBody>
      </p:sp>
      <p:sp>
        <p:nvSpPr>
          <p:cNvPr id="1029" name="页脚占位符 1028"/>
          <p:cNvSpPr>
            <a:spLocks noGrp="1"/>
          </p:cNvSpPr>
          <p:nvPr>
            <p:ph type="ftr" sz="quarter" idx="3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 b="0"/>
            </a:lvl1pPr>
          </a:lstStyle>
          <a:p>
            <a:pPr lvl="0" fontAlgn="base"/>
            <a:endParaRPr lang="zh-CN" strike="noStrike" noProof="1"/>
          </a:p>
        </p:txBody>
      </p:sp>
      <p:sp>
        <p:nvSpPr>
          <p:cNvPr id="1030" name="灯片编号占位符 1029"/>
          <p:cNvSpPr>
            <a:spLocks noGrp="1"/>
          </p:cNvSpPr>
          <p:nvPr>
            <p:ph type="sldNum" sz="quarter" idx="4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 b="0"/>
            </a:lvl1pPr>
          </a:lstStyle>
          <a:p>
            <a:pPr lvl="0" fontAlgn="base"/>
            <a:fld id="{9A0DB2DC-4C9A-4742-B13C-FB6460FD3503}" type="slidenum">
              <a:rPr lang="zh-CN" strike="noStrike" noProof="1">
                <a:latin typeface="Times New Roman" panose="02020603050405020304" charset="0"/>
                <a:ea typeface="宋体" panose="02010600030101010101" pitchFamily="2" charset="-122"/>
                <a:cs typeface="+mn-ea"/>
              </a:rPr>
            </a:fld>
            <a:endParaRPr lang="zh-CN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random/>
  </p:transition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chemeClr val="bg1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chemeClr val="bg1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chemeClr val="bg1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chemeClr val="bg1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chemeClr val="bg1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chemeClr val="bg1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chemeClr val="bg1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2800" b="1" i="0" u="none" kern="1200" baseline="0">
          <a:solidFill>
            <a:schemeClr val="bg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oleObject" Target="../embeddings/oleObject1.bin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2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.wmf"/><Relationship Id="rId3" Type="http://schemas.openxmlformats.org/officeDocument/2006/relationships/oleObject" Target="../embeddings/oleObject3.bin"/><Relationship Id="rId2" Type="http://schemas.openxmlformats.org/officeDocument/2006/relationships/image" Target="../media/image3.wmf"/><Relationship Id="rId1" Type="http://schemas.openxmlformats.org/officeDocument/2006/relationships/oleObject" Target="../embeddings/oleObject2.bin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3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.wmf"/><Relationship Id="rId2" Type="http://schemas.openxmlformats.org/officeDocument/2006/relationships/oleObject" Target="../embeddings/oleObject4.bin"/><Relationship Id="rId1" Type="http://schemas.openxmlformats.org/officeDocument/2006/relationships/image" Target="../media/image5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4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wmf"/><Relationship Id="rId1" Type="http://schemas.openxmlformats.org/officeDocument/2006/relationships/oleObject" Target="../embeddings/oleObject5.bin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49" name="标题 3073"/>
          <p:cNvSpPr>
            <a:spLocks noGrp="1"/>
          </p:cNvSpPr>
          <p:nvPr>
            <p:ph type="title"/>
          </p:nvPr>
        </p:nvSpPr>
        <p:spPr>
          <a:xfrm>
            <a:off x="3074988" y="1127125"/>
            <a:ext cx="2873375" cy="469900"/>
          </a:xfrm>
        </p:spPr>
        <p:txBody>
          <a:bodyPr anchor="ctr"/>
          <a:p>
            <a:pPr algn="l"/>
            <a:r>
              <a:rPr lang="zh-CN" altLang="en-US" b="1">
                <a:solidFill>
                  <a:schemeClr val="tx1"/>
                </a:solidFill>
              </a:rPr>
              <a:t>考试安排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2050" name="文本框 3074"/>
          <p:cNvSpPr txBox="1"/>
          <p:nvPr/>
        </p:nvSpPr>
        <p:spPr>
          <a:xfrm>
            <a:off x="938530" y="1881505"/>
            <a:ext cx="6623685" cy="5835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>
              <a:spcBef>
                <a:spcPct val="50000"/>
              </a:spcBef>
            </a:pPr>
            <a:r>
              <a:rPr lang="zh-CN" altLang="en-US" sz="3200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考试时间  </a:t>
            </a:r>
            <a:r>
              <a:rPr lang="en-US" altLang="zh-CN" sz="3200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6</a:t>
            </a:r>
            <a:r>
              <a:rPr lang="zh-CN" altLang="en-US" sz="3200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月</a:t>
            </a:r>
            <a:r>
              <a:rPr lang="en-US" altLang="zh-CN" sz="3200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25</a:t>
            </a:r>
            <a:r>
              <a:rPr lang="zh-CN" altLang="en-US" sz="3200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日 1</a:t>
            </a:r>
            <a:r>
              <a:rPr lang="en-US" altLang="zh-CN" sz="3200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0</a:t>
            </a:r>
            <a:r>
              <a:rPr lang="zh-CN" altLang="en-US" sz="3200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:20—1</a:t>
            </a:r>
            <a:r>
              <a:rPr lang="en-US" altLang="zh-CN" sz="3200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2</a:t>
            </a:r>
            <a:r>
              <a:rPr lang="zh-CN" altLang="en-US" sz="3200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:20</a:t>
            </a:r>
            <a:endParaRPr lang="zh-CN" altLang="en-US" sz="3200" dirty="0">
              <a:solidFill>
                <a:schemeClr val="tx1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2053" name="文本框 3077"/>
          <p:cNvSpPr txBox="1"/>
          <p:nvPr/>
        </p:nvSpPr>
        <p:spPr>
          <a:xfrm>
            <a:off x="938530" y="2795270"/>
            <a:ext cx="6805295" cy="132207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>
              <a:spcBef>
                <a:spcPct val="50000"/>
              </a:spcBef>
            </a:pPr>
            <a:r>
              <a:rPr lang="zh-CN" altLang="en-US" sz="3200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考试地点：学院路 </a:t>
            </a:r>
            <a:r>
              <a:rPr lang="en-US" altLang="zh-CN" sz="3200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 </a:t>
            </a:r>
            <a:r>
              <a:rPr lang="zh-CN" altLang="en-US" sz="3200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（三）</a:t>
            </a:r>
            <a:r>
              <a:rPr lang="en-US" altLang="zh-CN" sz="3200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204</a:t>
            </a:r>
            <a:endParaRPr lang="en-US" altLang="zh-CN" sz="3200" dirty="0">
              <a:solidFill>
                <a:schemeClr val="tx1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  <a:p>
            <a:pPr>
              <a:spcBef>
                <a:spcPct val="50000"/>
              </a:spcBef>
            </a:pPr>
            <a:r>
              <a:rPr lang="en-US" altLang="zh-CN" sz="3200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                    </a:t>
            </a:r>
            <a:r>
              <a:rPr lang="zh-CN" altLang="en-US" sz="3200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沙河 </a:t>
            </a:r>
            <a:r>
              <a:rPr lang="en-US" altLang="zh-CN" sz="3200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 J3-101</a:t>
            </a:r>
            <a:endParaRPr lang="zh-CN" altLang="en-US" sz="3200" dirty="0">
              <a:solidFill>
                <a:schemeClr val="tx1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143000" y="4427220"/>
            <a:ext cx="654875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>
                <a:solidFill>
                  <a:schemeClr val="tx1"/>
                </a:solidFill>
              </a:rPr>
              <a:t>请大家按指定的教室按时参加考试</a:t>
            </a:r>
            <a:endParaRPr lang="zh-CN" altLang="en-US" sz="320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slow">
    <p:zo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76" name="文本框 4100"/>
          <p:cNvSpPr txBox="1"/>
          <p:nvPr/>
        </p:nvSpPr>
        <p:spPr>
          <a:xfrm>
            <a:off x="286703" y="694373"/>
            <a:ext cx="8712200" cy="119888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r>
              <a:rPr lang="en-US" altLang="zh-CN" sz="2400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1.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常用元器件及其特性：二极管、三极管、通用运放、集成功率放大器、三端稳压器（线性电源）、集成开关稳压器（开关电源）的特性和基本应用电路。</a:t>
            </a:r>
            <a:endParaRPr lang="zh-CN" altLang="en-US" sz="2400" dirty="0">
              <a:solidFill>
                <a:schemeClr val="tx1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3077" name="标题 4101"/>
          <p:cNvSpPr>
            <a:spLocks noGrp="1"/>
          </p:cNvSpPr>
          <p:nvPr>
            <p:ph type="title"/>
          </p:nvPr>
        </p:nvSpPr>
        <p:spPr>
          <a:xfrm>
            <a:off x="344170" y="170815"/>
            <a:ext cx="1870075" cy="587375"/>
          </a:xfrm>
        </p:spPr>
        <p:txBody>
          <a:bodyPr anchor="ctr"/>
          <a:p>
            <a:r>
              <a:rPr lang="zh-CN" altLang="en-US" sz="2800" b="1" dirty="0">
                <a:solidFill>
                  <a:schemeClr val="tx1"/>
                </a:solidFill>
                <a:ea typeface="黑体" panose="02010609060101010101" charset="-122"/>
              </a:rPr>
              <a:t>知识要点</a:t>
            </a:r>
            <a:endParaRPr lang="zh-CN" altLang="en-US" sz="2800" b="1" dirty="0">
              <a:solidFill>
                <a:schemeClr val="tx1"/>
              </a:solidFill>
              <a:ea typeface="黑体" panose="02010609060101010101" charset="-122"/>
            </a:endParaRPr>
          </a:p>
        </p:txBody>
      </p:sp>
      <p:sp>
        <p:nvSpPr>
          <p:cNvPr id="3" name="文本框 4100"/>
          <p:cNvSpPr txBox="1"/>
          <p:nvPr/>
        </p:nvSpPr>
        <p:spPr>
          <a:xfrm>
            <a:off x="286703" y="2748598"/>
            <a:ext cx="8712200" cy="82994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r>
              <a:rPr lang="en-US" altLang="zh-CN" sz="2400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3.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集成运放应用：基本应用电路的分析和计算，比例、加减、积分等运算电路，会对电路采用反馈类型的分析、判断等。</a:t>
            </a:r>
            <a:endParaRPr lang="zh-CN" altLang="en-US" sz="2400" dirty="0">
              <a:solidFill>
                <a:schemeClr val="tx1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4" name="文本框 4100"/>
          <p:cNvSpPr txBox="1"/>
          <p:nvPr/>
        </p:nvSpPr>
        <p:spPr>
          <a:xfrm>
            <a:off x="286703" y="1888808"/>
            <a:ext cx="8712200" cy="82994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r>
              <a:rPr lang="en-US" altLang="zh-CN" sz="2400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2.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分立元件放大电路：</a:t>
            </a:r>
            <a:r>
              <a:rPr lang="zh-CN" altLang="en-US" sz="2400" dirty="0">
                <a:solidFill>
                  <a:schemeClr val="tx1"/>
                </a:solidFill>
                <a:sym typeface="+mn-ea"/>
              </a:rPr>
              <a:t>静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、</a:t>
            </a:r>
            <a:r>
              <a:rPr lang="zh-CN" altLang="en-US" sz="2400" dirty="0">
                <a:solidFill>
                  <a:schemeClr val="tx1"/>
                </a:solidFill>
                <a:sym typeface="+mn-ea"/>
              </a:rPr>
              <a:t>动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态分析和主要参数计算；共发射极、共集电极、差分放大电路；多级放大电路。</a:t>
            </a:r>
            <a:endParaRPr lang="zh-CN" altLang="en-US" sz="2400" dirty="0">
              <a:solidFill>
                <a:schemeClr val="tx1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5" name="文本框 4100"/>
          <p:cNvSpPr txBox="1"/>
          <p:nvPr/>
        </p:nvSpPr>
        <p:spPr>
          <a:xfrm>
            <a:off x="287020" y="3538855"/>
            <a:ext cx="8711565" cy="82994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r>
              <a:rPr lang="en-US" altLang="zh-CN" sz="2400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4.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信号发生电路：工作原理和分析判断。低频的文氏电桥正弦波振荡电路、方波等发生电路；高频的电感三点式、电容三点式。</a:t>
            </a:r>
            <a:endParaRPr lang="zh-CN" altLang="en-US" sz="2400" dirty="0">
              <a:solidFill>
                <a:schemeClr val="tx1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6" name="文本框 4100"/>
          <p:cNvSpPr txBox="1"/>
          <p:nvPr/>
        </p:nvSpPr>
        <p:spPr>
          <a:xfrm>
            <a:off x="286703" y="5120323"/>
            <a:ext cx="8712200" cy="82994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r>
              <a:rPr lang="en-US" altLang="zh-CN" sz="2400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6.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电源电路；整流滤波电路、简单稳压、串联型稳压电路、开关稳压电路；稳压性能指标的计算。</a:t>
            </a:r>
            <a:endParaRPr lang="en-US" altLang="zh-CN" sz="2400" dirty="0">
              <a:solidFill>
                <a:schemeClr val="tx1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7" name="文本框 4100"/>
          <p:cNvSpPr txBox="1"/>
          <p:nvPr/>
        </p:nvSpPr>
        <p:spPr>
          <a:xfrm>
            <a:off x="287020" y="4312920"/>
            <a:ext cx="8711565" cy="82994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r>
              <a:rPr lang="en-US" altLang="zh-CN" sz="2400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5.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功率放大电路：工作原理和分析判断等。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OTL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电路、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OCL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电路；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TDA2030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集成功放的应用电路。</a:t>
            </a:r>
            <a:endParaRPr lang="zh-CN" altLang="en-US" sz="2400" dirty="0">
              <a:solidFill>
                <a:schemeClr val="tx1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8" name="文本框 4100"/>
          <p:cNvSpPr txBox="1"/>
          <p:nvPr/>
        </p:nvSpPr>
        <p:spPr>
          <a:xfrm>
            <a:off x="287020" y="5978525"/>
            <a:ext cx="8711565" cy="82994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r>
              <a:rPr lang="en-US" altLang="zh-CN" sz="2400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7.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放大电路的频率特性：通频带、上限频率、下限频率；决定电路上、下限频率的主要因素及其分析判断。</a:t>
            </a:r>
            <a:endParaRPr lang="zh-CN" altLang="en-US" sz="2400" dirty="0">
              <a:solidFill>
                <a:schemeClr val="tx1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6" grpId="0"/>
      <p:bldP spid="4" grpId="0"/>
      <p:bldP spid="3" grpId="0"/>
      <p:bldP spid="5" grpId="0"/>
      <p:bldP spid="7" grpId="0"/>
      <p:bldP spid="6" grpId="0"/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097" name="文本框 5121"/>
          <p:cNvSpPr txBox="1"/>
          <p:nvPr/>
        </p:nvSpPr>
        <p:spPr>
          <a:xfrm>
            <a:off x="252730" y="1009650"/>
            <a:ext cx="8378190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>
              <a:spcBef>
                <a:spcPct val="50000"/>
              </a:spcBef>
            </a:pPr>
            <a:r>
              <a:rPr lang="zh-CN" altLang="en-US" sz="24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复习要点：以下给出模电中常用的基本电路，是考核的重点</a:t>
            </a:r>
            <a:endParaRPr lang="zh-CN" altLang="en-US" sz="2400">
              <a:solidFill>
                <a:schemeClr val="tx1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4099" name="标题 5123"/>
          <p:cNvSpPr>
            <a:spLocks noGrp="1"/>
          </p:cNvSpPr>
          <p:nvPr>
            <p:ph type="title"/>
          </p:nvPr>
        </p:nvSpPr>
        <p:spPr>
          <a:xfrm>
            <a:off x="252730" y="176530"/>
            <a:ext cx="5905500" cy="803275"/>
          </a:xfrm>
        </p:spPr>
        <p:txBody>
          <a:bodyPr wrap="square" anchor="ctr"/>
          <a:p>
            <a:pPr algn="l">
              <a:spcBef>
                <a:spcPct val="50000"/>
              </a:spcBef>
            </a:pPr>
            <a:r>
              <a:rPr lang="zh-CN" altLang="en-US" sz="2800" b="1" dirty="0">
                <a:solidFill>
                  <a:schemeClr val="tx1"/>
                </a:solidFill>
              </a:rPr>
              <a:t>考试题型：简答、分析、计算</a:t>
            </a:r>
            <a:endParaRPr lang="zh-CN" altLang="en-US" sz="2800" b="1" dirty="0">
              <a:solidFill>
                <a:schemeClr val="tx1"/>
              </a:solidFill>
            </a:endParaRPr>
          </a:p>
        </p:txBody>
      </p:sp>
      <p:sp>
        <p:nvSpPr>
          <p:cNvPr id="4100" name="文本框 1"/>
          <p:cNvSpPr txBox="1"/>
          <p:nvPr/>
        </p:nvSpPr>
        <p:spPr>
          <a:xfrm>
            <a:off x="195580" y="1532255"/>
            <a:ext cx="3354070" cy="52197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r>
              <a:rPr lang="en-US" altLang="zh-CN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1.</a:t>
            </a:r>
            <a:r>
              <a:rPr lang="zh-CN" altLang="en-US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二极管及其应用</a:t>
            </a:r>
            <a:endParaRPr lang="zh-CN" altLang="zh-CN">
              <a:solidFill>
                <a:schemeClr val="tx1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graphicFrame>
        <p:nvGraphicFramePr>
          <p:cNvPr id="2" name="Object 3"/>
          <p:cNvGraphicFramePr>
            <a:graphicFrameLocks noChangeAspect="1"/>
          </p:cNvGraphicFramePr>
          <p:nvPr/>
        </p:nvGraphicFramePr>
        <p:xfrm>
          <a:off x="1421765" y="2658110"/>
          <a:ext cx="5046345" cy="17030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17706975" imgH="6686550" progId="MSPhotoEd.3">
                  <p:embed/>
                </p:oleObj>
              </mc:Choice>
              <mc:Fallback>
                <p:oleObj name="" r:id="rId1" imgW="17706975" imgH="6686550" progId="MSPhotoEd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rcRect b="10620"/>
                      <a:stretch>
                        <a:fillRect/>
                      </a:stretch>
                    </p:blipFill>
                    <p:spPr>
                      <a:xfrm>
                        <a:off x="1421765" y="2658110"/>
                        <a:ext cx="5046345" cy="170307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462915" y="2098040"/>
            <a:ext cx="33851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chemeClr val="tx1"/>
                </a:solidFill>
              </a:rPr>
              <a:t>整流、稳压：</a:t>
            </a:r>
            <a:endParaRPr lang="zh-C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0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7" grpId="0"/>
      <p:bldP spid="4100" grpId="0"/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122" name="文本框 1"/>
          <p:cNvSpPr txBox="1"/>
          <p:nvPr/>
        </p:nvSpPr>
        <p:spPr>
          <a:xfrm>
            <a:off x="251460" y="335915"/>
            <a:ext cx="3378200" cy="52197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r>
              <a:rPr lang="en-US" altLang="zh-CN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2.</a:t>
            </a:r>
            <a:r>
              <a:rPr lang="zh-CN" altLang="en-US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分立元件放大电路</a:t>
            </a:r>
            <a:endParaRPr lang="zh-CN" altLang="en-US">
              <a:solidFill>
                <a:schemeClr val="tx1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graphicFrame>
        <p:nvGraphicFramePr>
          <p:cNvPr id="3" name="对象 3"/>
          <p:cNvGraphicFramePr/>
          <p:nvPr/>
        </p:nvGraphicFramePr>
        <p:xfrm>
          <a:off x="1195705" y="4401820"/>
          <a:ext cx="2832735" cy="229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1" imgW="3295650" imgH="2924175" progId="Paint.Picture">
                  <p:embed/>
                </p:oleObj>
              </mc:Choice>
              <mc:Fallback>
                <p:oleObj name="" r:id="rId1" imgW="3295650" imgH="2924175" progId="Paint.Picture">
                  <p:embed/>
                  <p:pic>
                    <p:nvPicPr>
                      <p:cNvPr id="0" name="图片 1"/>
                      <p:cNvPicPr/>
                      <p:nvPr/>
                    </p:nvPicPr>
                    <p:blipFill>
                      <a:blip r:embed="rId2">
                        <a:lum bright="-12000" contrast="94000"/>
                      </a:blip>
                      <a:stretch>
                        <a:fillRect/>
                      </a:stretch>
                    </p:blipFill>
                    <p:spPr>
                      <a:xfrm>
                        <a:off x="1195705" y="4401820"/>
                        <a:ext cx="2832735" cy="2298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588645" y="1031875"/>
            <a:ext cx="232727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chemeClr val="tx1"/>
                </a:solidFill>
              </a:rPr>
              <a:t>共发射极：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50850" y="3879850"/>
            <a:ext cx="22491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chemeClr val="tx1"/>
                </a:solidFill>
              </a:rPr>
              <a:t>差分：</a:t>
            </a:r>
            <a:endParaRPr lang="zh-CN" altLang="en-US">
              <a:solidFill>
                <a:schemeClr val="tx1"/>
              </a:solidFill>
            </a:endParaRPr>
          </a:p>
        </p:txBody>
      </p:sp>
      <p:graphicFrame>
        <p:nvGraphicFramePr>
          <p:cNvPr id="8" name="对象 7"/>
          <p:cNvGraphicFramePr/>
          <p:nvPr/>
        </p:nvGraphicFramePr>
        <p:xfrm>
          <a:off x="810895" y="1590675"/>
          <a:ext cx="2259330" cy="20783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" r:id="rId3" imgW="2257425" imgH="2076450" progId="Paint.Picture">
                  <p:embed/>
                </p:oleObj>
              </mc:Choice>
              <mc:Fallback>
                <p:oleObj name="" r:id="rId3" imgW="2257425" imgH="2076450" progId="Paint.Picture">
                  <p:embed/>
                  <p:pic>
                    <p:nvPicPr>
                      <p:cNvPr id="0" name="图片 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10895" y="1590675"/>
                        <a:ext cx="2259330" cy="207835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2" grpId="0"/>
      <p:bldP spid="3" grpId="0" bldLvl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145" name="文本框 7169"/>
          <p:cNvSpPr txBox="1"/>
          <p:nvPr/>
        </p:nvSpPr>
        <p:spPr>
          <a:xfrm>
            <a:off x="611188" y="836613"/>
            <a:ext cx="8137525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endParaRPr lang="zh-CN" altLang="en-US"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6146" name="文本框 7170"/>
          <p:cNvSpPr txBox="1"/>
          <p:nvPr/>
        </p:nvSpPr>
        <p:spPr>
          <a:xfrm>
            <a:off x="265430" y="256540"/>
            <a:ext cx="3532505" cy="52197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>
              <a:spcBef>
                <a:spcPct val="50000"/>
              </a:spcBef>
            </a:pPr>
            <a:r>
              <a:rPr lang="en-US" altLang="zh-CN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3.</a:t>
            </a:r>
            <a:r>
              <a:rPr lang="zh-CN" altLang="en-US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</a:rPr>
              <a:t>集成运放应用电路</a:t>
            </a:r>
            <a:endParaRPr lang="zh-CN" altLang="en-US">
              <a:solidFill>
                <a:schemeClr val="tx1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27075" y="1043305"/>
            <a:ext cx="262064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chemeClr val="tx1"/>
                </a:solidFill>
              </a:rPr>
              <a:t>比例、加减：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27075" y="3474720"/>
            <a:ext cx="317373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chemeClr val="tx1"/>
                </a:solidFill>
              </a:rPr>
              <a:t>比较、积分：</a:t>
            </a:r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5" name="图片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3365" y="3996690"/>
            <a:ext cx="4534535" cy="1968500"/>
          </a:xfrm>
          <a:prstGeom prst="rect">
            <a:avLst/>
          </a:prstGeom>
          <a:noFill/>
          <a:ln w="9525">
            <a:noFill/>
          </a:ln>
        </p:spPr>
      </p:pic>
      <p:graphicFrame>
        <p:nvGraphicFramePr>
          <p:cNvPr id="6" name="对象 5"/>
          <p:cNvGraphicFramePr/>
          <p:nvPr/>
        </p:nvGraphicFramePr>
        <p:xfrm>
          <a:off x="3420110" y="981075"/>
          <a:ext cx="4375150" cy="26498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" r:id="rId2" imgW="4371975" imgH="2647950" progId="Paint.Picture">
                  <p:embed/>
                </p:oleObj>
              </mc:Choice>
              <mc:Fallback>
                <p:oleObj name="" r:id="rId2" imgW="4371975" imgH="2647950" progId="Paint.Picture">
                  <p:embed/>
                  <p:pic>
                    <p:nvPicPr>
                      <p:cNvPr id="0" name="图片 6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420110" y="981075"/>
                        <a:ext cx="4375150" cy="264985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6" grpId="0"/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0505" y="265430"/>
            <a:ext cx="4326890" cy="684530"/>
          </a:xfrm>
        </p:spPr>
        <p:txBody>
          <a:bodyPr/>
          <a:p>
            <a:r>
              <a:rPr lang="en-US" altLang="zh-CN" sz="3200"/>
              <a:t>4.</a:t>
            </a:r>
            <a:r>
              <a:rPr lang="zh-CN" altLang="en-US" sz="3200"/>
              <a:t>正弦信号发生电路</a:t>
            </a:r>
            <a:endParaRPr lang="zh-CN" altLang="en-US" sz="320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25780" y="1029335"/>
            <a:ext cx="3804285" cy="559435"/>
          </a:xfrm>
        </p:spPr>
        <p:txBody>
          <a:bodyPr/>
          <a:p>
            <a:r>
              <a:rPr lang="en-US" altLang="zh-CN" sz="2800"/>
              <a:t>RC</a:t>
            </a:r>
            <a:r>
              <a:rPr lang="zh-CN" altLang="en-US" sz="2800"/>
              <a:t>正弦波振荡电路：</a:t>
            </a:r>
            <a:endParaRPr lang="zh-CN" altLang="en-US" sz="2800"/>
          </a:p>
        </p:txBody>
      </p:sp>
      <p:pic>
        <p:nvPicPr>
          <p:cNvPr id="4" name="图片 -214748260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47285" y="575310"/>
            <a:ext cx="3176270" cy="275082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文本框 4"/>
          <p:cNvSpPr txBox="1"/>
          <p:nvPr/>
        </p:nvSpPr>
        <p:spPr>
          <a:xfrm>
            <a:off x="476250" y="3474720"/>
            <a:ext cx="36639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chemeClr val="tx1"/>
                </a:solidFill>
              </a:rPr>
              <a:t>三点式电路：</a:t>
            </a:r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6" name="图片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8860" y="3728085"/>
            <a:ext cx="2270125" cy="277050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8780" y="276860"/>
            <a:ext cx="3622675" cy="695325"/>
          </a:xfrm>
        </p:spPr>
        <p:txBody>
          <a:bodyPr/>
          <a:p>
            <a:r>
              <a:rPr lang="en-US" altLang="zh-CN" sz="3200"/>
              <a:t>5.</a:t>
            </a:r>
            <a:r>
              <a:rPr lang="zh-CN" altLang="en-US" sz="3200"/>
              <a:t>功率放大电路</a:t>
            </a:r>
            <a:endParaRPr lang="zh-CN" altLang="en-US" sz="320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60070" y="972185"/>
            <a:ext cx="3827145" cy="686435"/>
          </a:xfrm>
        </p:spPr>
        <p:txBody>
          <a:bodyPr/>
          <a:p>
            <a:r>
              <a:rPr lang="en-US" altLang="zh-CN" sz="2800"/>
              <a:t>TDA2030</a:t>
            </a:r>
            <a:r>
              <a:rPr lang="zh-CN" altLang="en-US" sz="2800"/>
              <a:t>应用电路：</a:t>
            </a:r>
            <a:endParaRPr lang="zh-CN" altLang="en-US" sz="2800"/>
          </a:p>
        </p:txBody>
      </p:sp>
      <p:pic>
        <p:nvPicPr>
          <p:cNvPr id="4" name="图片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4100" y="1821815"/>
            <a:ext cx="5078730" cy="302006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7340" y="265430"/>
            <a:ext cx="3311525" cy="707390"/>
          </a:xfrm>
        </p:spPr>
        <p:txBody>
          <a:bodyPr/>
          <a:p>
            <a:r>
              <a:rPr lang="en-US" altLang="zh-CN" sz="3200"/>
              <a:t>6.</a:t>
            </a:r>
            <a:r>
              <a:rPr lang="zh-CN" altLang="en-US" sz="3200"/>
              <a:t>线性稳压电源</a:t>
            </a:r>
            <a:endParaRPr lang="zh-CN" altLang="en-US" sz="320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10210" y="1075055"/>
            <a:ext cx="5237480" cy="674370"/>
          </a:xfrm>
        </p:spPr>
        <p:txBody>
          <a:bodyPr/>
          <a:p>
            <a:r>
              <a:rPr lang="zh-CN" altLang="en-US" sz="2800" b="1"/>
              <a:t>基本直流稳压电路：</a:t>
            </a:r>
            <a:endParaRPr lang="zh-CN" altLang="en-US" sz="2800" b="1"/>
          </a:p>
        </p:txBody>
      </p:sp>
      <p:pic>
        <p:nvPicPr>
          <p:cNvPr id="4" name="图片 -214748259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90165" y="4329430"/>
            <a:ext cx="3291840" cy="183451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文本框 5"/>
          <p:cNvSpPr txBox="1"/>
          <p:nvPr/>
        </p:nvSpPr>
        <p:spPr>
          <a:xfrm>
            <a:off x="563245" y="3658235"/>
            <a:ext cx="49161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zh-CN">
                <a:solidFill>
                  <a:schemeClr val="tx1"/>
                </a:solidFill>
              </a:rPr>
              <a:t>三端稳压器与电流扩展：</a:t>
            </a:r>
            <a:endParaRPr lang="zh-CN" altLang="zh-CN">
              <a:solidFill>
                <a:schemeClr val="tx1"/>
              </a:solidFill>
            </a:endParaRPr>
          </a:p>
        </p:txBody>
      </p:sp>
      <p:pic>
        <p:nvPicPr>
          <p:cNvPr id="5" name="图片 21"/>
          <p:cNvPicPr>
            <a:picLocks noChangeAspect="1"/>
          </p:cNvPicPr>
          <p:nvPr/>
        </p:nvPicPr>
        <p:blipFill>
          <a:blip r:embed="rId2">
            <a:lum contrast="12000"/>
          </a:blip>
          <a:stretch>
            <a:fillRect/>
          </a:stretch>
        </p:blipFill>
        <p:spPr>
          <a:xfrm>
            <a:off x="1127760" y="1949450"/>
            <a:ext cx="3653790" cy="122174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2920" y="356870"/>
            <a:ext cx="3275965" cy="673100"/>
          </a:xfrm>
        </p:spPr>
        <p:txBody>
          <a:bodyPr/>
          <a:p>
            <a:r>
              <a:rPr lang="en-US" altLang="zh-CN" sz="3200"/>
              <a:t>7.</a:t>
            </a:r>
            <a:r>
              <a:rPr lang="zh-CN" altLang="en-US" sz="3200"/>
              <a:t>开关稳压电路</a:t>
            </a:r>
            <a:endParaRPr lang="zh-CN" altLang="en-US" sz="320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2280" y="1029970"/>
            <a:ext cx="3357245" cy="629285"/>
          </a:xfrm>
        </p:spPr>
        <p:txBody>
          <a:bodyPr/>
          <a:p>
            <a:r>
              <a:rPr lang="en-US" altLang="zh-CN" sz="2800"/>
              <a:t>L4960</a:t>
            </a:r>
            <a:r>
              <a:rPr lang="zh-CN" altLang="en-US" sz="2800"/>
              <a:t>应用电路：</a:t>
            </a:r>
            <a:endParaRPr lang="zh-CN" altLang="en-US" sz="2800"/>
          </a:p>
        </p:txBody>
      </p:sp>
      <p:graphicFrame>
        <p:nvGraphicFramePr>
          <p:cNvPr id="5" name="对象 4"/>
          <p:cNvGraphicFramePr/>
          <p:nvPr/>
        </p:nvGraphicFramePr>
        <p:xfrm>
          <a:off x="1325880" y="1684655"/>
          <a:ext cx="6491605" cy="34886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" r:id="rId1" imgW="6486525" imgH="3486150" progId="Paint.Picture">
                  <p:embed/>
                </p:oleObj>
              </mc:Choice>
              <mc:Fallback>
                <p:oleObj name="" r:id="rId1" imgW="6486525" imgH="3486150" progId="Paint.Picture">
                  <p:embed/>
                  <p:pic>
                    <p:nvPicPr>
                      <p:cNvPr id="0" name="图片 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325880" y="1684655"/>
                        <a:ext cx="6491605" cy="34886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170" name="标题 10241"/>
          <p:cNvSpPr>
            <a:spLocks noGrp="1"/>
          </p:cNvSpPr>
          <p:nvPr>
            <p:ph type="title"/>
          </p:nvPr>
        </p:nvSpPr>
        <p:spPr>
          <a:xfrm>
            <a:off x="611188" y="762635"/>
            <a:ext cx="7772400" cy="763588"/>
          </a:xfrm>
        </p:spPr>
        <p:txBody>
          <a:bodyPr anchor="ctr"/>
          <a:p>
            <a:r>
              <a:rPr lang="zh-CN" altLang="en-US" b="1">
                <a:solidFill>
                  <a:schemeClr val="accent1"/>
                </a:solidFill>
                <a:latin typeface="黑体" panose="02010609060101010101" charset="-122"/>
                <a:ea typeface="黑体" panose="02010609060101010101" charset="-122"/>
              </a:rPr>
              <a:t>谢谢同学们</a:t>
            </a:r>
            <a:r>
              <a:rPr lang="en-US" altLang="zh-CN" b="1">
                <a:solidFill>
                  <a:schemeClr val="accent1"/>
                </a:solidFill>
                <a:latin typeface="黑体" panose="02010609060101010101" charset="-122"/>
                <a:ea typeface="黑体" panose="02010609060101010101" charset="-122"/>
              </a:rPr>
              <a:t>!</a:t>
            </a:r>
            <a:endParaRPr lang="en-US" altLang="zh-CN" b="1">
              <a:solidFill>
                <a:schemeClr val="accent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7171" name="文本框 10242"/>
          <p:cNvSpPr txBox="1"/>
          <p:nvPr/>
        </p:nvSpPr>
        <p:spPr>
          <a:xfrm>
            <a:off x="611188" y="1748473"/>
            <a:ext cx="7920037" cy="415417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algn="ctr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None/>
            </a:pPr>
            <a:r>
              <a:rPr lang="zh-CN" altLang="en-US" sz="4400">
                <a:solidFill>
                  <a:schemeClr val="accent1"/>
                </a:solidFill>
                <a:latin typeface="楷体" panose="02010609060101010101" charset="-122"/>
                <a:ea typeface="楷体" panose="02010609060101010101" charset="-122"/>
              </a:rPr>
              <a:t>希望大家通过理论学习、实践积累，</a:t>
            </a:r>
            <a:r>
              <a:rPr lang="zh-CN" altLang="en-US" sz="4400">
                <a:solidFill>
                  <a:schemeClr val="accent1"/>
                </a:solidFill>
                <a:latin typeface="楷体" panose="02010609060101010101" charset="-122"/>
                <a:ea typeface="楷体" panose="02010609060101010101" charset="-122"/>
                <a:sym typeface="+mn-ea"/>
              </a:rPr>
              <a:t>逐步</a:t>
            </a:r>
            <a:r>
              <a:rPr lang="zh-CN" altLang="en-US" sz="4400">
                <a:solidFill>
                  <a:schemeClr val="accent1"/>
                </a:solidFill>
                <a:latin typeface="楷体" panose="02010609060101010101" charset="-122"/>
                <a:ea typeface="楷体" panose="02010609060101010101" charset="-122"/>
              </a:rPr>
              <a:t>掌握好应用模拟电子技术的基本知识和技能，为以后的学习、工作打下良好的基础。踏踏实实地做系统复习，预祝大家考出理想的成绩</a:t>
            </a:r>
            <a:r>
              <a:rPr lang="en-US" altLang="zh-CN" sz="4400">
                <a:solidFill>
                  <a:schemeClr val="accent1"/>
                </a:solidFill>
                <a:latin typeface="楷体" panose="02010609060101010101" charset="-122"/>
                <a:ea typeface="楷体" panose="02010609060101010101" charset="-122"/>
              </a:rPr>
              <a:t>!</a:t>
            </a:r>
            <a:endParaRPr lang="en-US" altLang="zh-CN" sz="4400">
              <a:solidFill>
                <a:schemeClr val="accent1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</p:spTree>
  </p:cSld>
  <p:clrMapOvr>
    <a:masterClrMapping/>
  </p:clrMapOvr>
  <p:transition spd="slow">
    <p:random/>
  </p:transition>
</p:sld>
</file>

<file path=ppt/tags/tag1.xml><?xml version="1.0" encoding="utf-8"?>
<p:tagLst xmlns:p="http://schemas.openxmlformats.org/presentationml/2006/main">
  <p:tag name="commondata" val="eyJoZGlkIjoiZjY3OWUyZGI2NTcyZWY1ODRkYmNhODhkMmQ5ZDVmOWUifQ=="/>
</p:tagLst>
</file>

<file path=ppt/theme/theme1.xml><?xml version="1.0" encoding="utf-8"?>
<a:theme xmlns:a="http://schemas.openxmlformats.org/drawingml/2006/main" name="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FFFFFF"/>
        </a:dk1>
        <a:lt1>
          <a:srgbClr val="0000FF"/>
        </a:lt1>
        <a:dk2>
          <a:srgbClr val="FFFF00"/>
        </a:dk2>
        <a:lt2>
          <a:srgbClr val="0000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CDCDC"/>
        </a:accent4>
        <a:accent5>
          <a:srgbClr val="FFCAAA"/>
        </a:accent5>
        <a:accent6>
          <a:srgbClr val="00E5E5"/>
        </a:accent6>
        <a:hlink>
          <a:srgbClr val="FF0000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7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27272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2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9"/>
        </a:accent5>
        <a:accent6>
          <a:srgbClr val="0000E5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BE5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9E5B7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732</Words>
  <Application>WPS 演示</Application>
  <PresentationFormat>在屏幕上显示</PresentationFormat>
  <Paragraphs>69</Paragraphs>
  <Slides>10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5</vt:i4>
      </vt:variant>
      <vt:variant>
        <vt:lpstr>幻灯片标题</vt:lpstr>
      </vt:variant>
      <vt:variant>
        <vt:i4>10</vt:i4>
      </vt:variant>
    </vt:vector>
  </HeadingPairs>
  <TitlesOfParts>
    <vt:vector size="25" baseType="lpstr">
      <vt:lpstr>Arial</vt:lpstr>
      <vt:lpstr>宋体</vt:lpstr>
      <vt:lpstr>Wingdings</vt:lpstr>
      <vt:lpstr>Times New Roman</vt:lpstr>
      <vt:lpstr>黑体</vt:lpstr>
      <vt:lpstr>楷体</vt:lpstr>
      <vt:lpstr>微软雅黑</vt:lpstr>
      <vt:lpstr>Arial Unicode MS</vt:lpstr>
      <vt:lpstr>Calibri</vt:lpstr>
      <vt:lpstr>默认设计模板</vt:lpstr>
      <vt:lpstr>MSPhotoEd.3</vt:lpstr>
      <vt:lpstr>Paint.Picture</vt:lpstr>
      <vt:lpstr>Paint.Picture</vt:lpstr>
      <vt:lpstr>Paint.Picture</vt:lpstr>
      <vt:lpstr>Paint.Picture</vt:lpstr>
      <vt:lpstr>考试安排</vt:lpstr>
      <vt:lpstr>知识要点</vt:lpstr>
      <vt:lpstr>考试题型：简答、分析、计算</vt:lpstr>
      <vt:lpstr>PowerPoint 演示文稿</vt:lpstr>
      <vt:lpstr>PowerPoint 演示文稿</vt:lpstr>
      <vt:lpstr>4.正弦信号发生电路</vt:lpstr>
      <vt:lpstr>5.功率放大电路</vt:lpstr>
      <vt:lpstr>6.线性稳压电源</vt:lpstr>
      <vt:lpstr>7.开关稳压电路</vt:lpstr>
      <vt:lpstr>谢谢同学们!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lenovo</dc:creator>
  <cp:lastModifiedBy>吴星明</cp:lastModifiedBy>
  <cp:revision>385</cp:revision>
  <dcterms:created xsi:type="dcterms:W3CDTF">2017-06-09T01:48:00Z</dcterms:created>
  <dcterms:modified xsi:type="dcterms:W3CDTF">2024-06-15T01:18:46Z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2052-12.1.0.16729</vt:lpwstr>
  </property>
  <property fmtid="{D5CDD505-2E9C-101B-9397-08002B2CF9AE}" pid="3" name="ICV">
    <vt:lpwstr>544B671535A8498FA211C6A307A53182_13</vt:lpwstr>
  </property>
</Properties>
</file>